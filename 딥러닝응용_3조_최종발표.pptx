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1" r:id="rId4"/>
  </p:sldMasterIdLst>
  <p:notesMasterIdLst>
    <p:notesMasterId r:id="rId18"/>
  </p:notesMasterIdLst>
  <p:sldIdLst>
    <p:sldId id="256" r:id="rId5"/>
    <p:sldId id="257" r:id="rId6"/>
    <p:sldId id="258" r:id="rId7"/>
    <p:sldId id="260" r:id="rId8"/>
    <p:sldId id="259" r:id="rId9"/>
    <p:sldId id="261" r:id="rId10"/>
    <p:sldId id="270" r:id="rId11"/>
    <p:sldId id="264" r:id="rId12"/>
    <p:sldId id="265" r:id="rId13"/>
    <p:sldId id="268" r:id="rId14"/>
    <p:sldId id="266" r:id="rId15"/>
    <p:sldId id="269" r:id="rId16"/>
    <p:sldId id="267"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CCCCC"/>
    <a:srgbClr val="2676AC"/>
    <a:srgbClr val="EBECF1"/>
    <a:srgbClr val="3B3535"/>
    <a:srgbClr val="F1F2F5"/>
    <a:srgbClr val="EDEEF3"/>
    <a:srgbClr val="A3A3A3"/>
    <a:srgbClr val="9D9D9D"/>
    <a:srgbClr val="929292"/>
    <a:srgbClr val="E6E8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682C3E0-EFE3-4D6B-A4EB-282364353C02}" v="5" dt="2026-05-08T03:41:44.707"/>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9673" autoAdjust="0"/>
  </p:normalViewPr>
  <p:slideViewPr>
    <p:cSldViewPr snapToGrid="0">
      <p:cViewPr varScale="1">
        <p:scale>
          <a:sx n="128" d="100"/>
          <a:sy n="128" d="100"/>
        </p:scale>
        <p:origin x="1512" y="76"/>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하 현성" userId="545a4ab8-e4ee-4590-b348-fc04c608cfe8" providerId="ADAL" clId="{D7EE3CC3-84C1-417B-9413-2A5A64C9CA42}"/>
    <pc:docChg chg="modSld">
      <pc:chgData name="하 현성" userId="545a4ab8-e4ee-4590-b348-fc04c608cfe8" providerId="ADAL" clId="{D7EE3CC3-84C1-417B-9413-2A5A64C9CA42}" dt="2026-05-08T03:41:44.707" v="4" actId="207"/>
      <pc:docMkLst>
        <pc:docMk/>
      </pc:docMkLst>
      <pc:sldChg chg="modSp mod">
        <pc:chgData name="하 현성" userId="545a4ab8-e4ee-4590-b348-fc04c608cfe8" providerId="ADAL" clId="{D7EE3CC3-84C1-417B-9413-2A5A64C9CA42}" dt="2026-05-08T03:41:39.524" v="3" actId="207"/>
        <pc:sldMkLst>
          <pc:docMk/>
          <pc:sldMk cId="797869273" sldId="261"/>
        </pc:sldMkLst>
        <pc:spChg chg="mod">
          <ac:chgData name="하 현성" userId="545a4ab8-e4ee-4590-b348-fc04c608cfe8" providerId="ADAL" clId="{D7EE3CC3-84C1-417B-9413-2A5A64C9CA42}" dt="2026-05-08T03:41:24.471" v="2" actId="207"/>
          <ac:spMkLst>
            <pc:docMk/>
            <pc:sldMk cId="797869273" sldId="261"/>
            <ac:spMk id="7" creationId="{D7F909FE-EA72-4430-84E5-711DDED494E4}"/>
          </ac:spMkLst>
        </pc:spChg>
        <pc:spChg chg="mod">
          <ac:chgData name="하 현성" userId="545a4ab8-e4ee-4590-b348-fc04c608cfe8" providerId="ADAL" clId="{D7EE3CC3-84C1-417B-9413-2A5A64C9CA42}" dt="2026-05-08T03:41:24.471" v="2" actId="207"/>
          <ac:spMkLst>
            <pc:docMk/>
            <pc:sldMk cId="797869273" sldId="261"/>
            <ac:spMk id="9" creationId="{505D91E8-F199-4B9F-93A0-3A3C6FB4450D}"/>
          </ac:spMkLst>
        </pc:spChg>
        <pc:spChg chg="mod">
          <ac:chgData name="하 현성" userId="545a4ab8-e4ee-4590-b348-fc04c608cfe8" providerId="ADAL" clId="{D7EE3CC3-84C1-417B-9413-2A5A64C9CA42}" dt="2026-05-08T03:41:15.507" v="0" actId="207"/>
          <ac:spMkLst>
            <pc:docMk/>
            <pc:sldMk cId="797869273" sldId="261"/>
            <ac:spMk id="12" creationId="{B4D160E4-B85C-4F6B-992E-79BD9580D8BF}"/>
          </ac:spMkLst>
        </pc:spChg>
        <pc:spChg chg="mod">
          <ac:chgData name="하 현성" userId="545a4ab8-e4ee-4590-b348-fc04c608cfe8" providerId="ADAL" clId="{D7EE3CC3-84C1-417B-9413-2A5A64C9CA42}" dt="2026-05-08T03:41:15.507" v="0" actId="207"/>
          <ac:spMkLst>
            <pc:docMk/>
            <pc:sldMk cId="797869273" sldId="261"/>
            <ac:spMk id="14" creationId="{F3B4D038-5F48-47D0-B924-6182A661C3D2}"/>
          </ac:spMkLst>
        </pc:spChg>
        <pc:spChg chg="mod">
          <ac:chgData name="하 현성" userId="545a4ab8-e4ee-4590-b348-fc04c608cfe8" providerId="ADAL" clId="{D7EE3CC3-84C1-417B-9413-2A5A64C9CA42}" dt="2026-05-08T03:41:15.507" v="0" actId="207"/>
          <ac:spMkLst>
            <pc:docMk/>
            <pc:sldMk cId="797869273" sldId="261"/>
            <ac:spMk id="16" creationId="{A52EA78F-89A1-4DCB-9025-CA3124B9C5C0}"/>
          </ac:spMkLst>
        </pc:spChg>
        <pc:spChg chg="mod">
          <ac:chgData name="하 현성" userId="545a4ab8-e4ee-4590-b348-fc04c608cfe8" providerId="ADAL" clId="{D7EE3CC3-84C1-417B-9413-2A5A64C9CA42}" dt="2026-05-08T03:41:39.524" v="3" actId="207"/>
          <ac:spMkLst>
            <pc:docMk/>
            <pc:sldMk cId="797869273" sldId="261"/>
            <ac:spMk id="19" creationId="{30E731E0-7D1D-4D66-82D2-7CE3BF61D67E}"/>
          </ac:spMkLst>
        </pc:spChg>
        <pc:spChg chg="mod">
          <ac:chgData name="하 현성" userId="545a4ab8-e4ee-4590-b348-fc04c608cfe8" providerId="ADAL" clId="{D7EE3CC3-84C1-417B-9413-2A5A64C9CA42}" dt="2026-05-08T03:41:24.471" v="2" actId="207"/>
          <ac:spMkLst>
            <pc:docMk/>
            <pc:sldMk cId="797869273" sldId="261"/>
            <ac:spMk id="22" creationId="{643DCCE1-B3BE-4827-A6A7-12FF1B638CA9}"/>
          </ac:spMkLst>
        </pc:spChg>
      </pc:sldChg>
      <pc:sldChg chg="modSp mod">
        <pc:chgData name="하 현성" userId="545a4ab8-e4ee-4590-b348-fc04c608cfe8" providerId="ADAL" clId="{D7EE3CC3-84C1-417B-9413-2A5A64C9CA42}" dt="2026-05-08T03:41:44.707" v="4" actId="207"/>
        <pc:sldMkLst>
          <pc:docMk/>
          <pc:sldMk cId="1763201014" sldId="262"/>
        </pc:sldMkLst>
        <pc:spChg chg="mod">
          <ac:chgData name="하 현성" userId="545a4ab8-e4ee-4590-b348-fc04c608cfe8" providerId="ADAL" clId="{D7EE3CC3-84C1-417B-9413-2A5A64C9CA42}" dt="2026-05-08T03:41:44.707" v="4" actId="207"/>
          <ac:spMkLst>
            <pc:docMk/>
            <pc:sldMk cId="1763201014" sldId="262"/>
            <ac:spMk id="11" creationId="{03057C49-52E1-4DD5-95D1-DDEEC5107A29}"/>
          </ac:spMkLst>
        </pc:spChg>
        <pc:spChg chg="mod">
          <ac:chgData name="하 현성" userId="545a4ab8-e4ee-4590-b348-fc04c608cfe8" providerId="ADAL" clId="{D7EE3CC3-84C1-417B-9413-2A5A64C9CA42}" dt="2026-05-08T03:41:44.707" v="4" actId="207"/>
          <ac:spMkLst>
            <pc:docMk/>
            <pc:sldMk cId="1763201014" sldId="262"/>
            <ac:spMk id="17" creationId="{9655BF96-6805-47BC-8A01-845DE1108082}"/>
          </ac:spMkLst>
        </pc:spChg>
      </pc:sldChg>
    </pc:docChg>
  </pc:docChgLst>
  <pc:docChgLst>
    <pc:chgData name="하 현성" userId="545a4ab8-e4ee-4590-b348-fc04c608cfe8" providerId="ADAL" clId="{19A5CB6E-E37B-4EDD-80DF-4815AA54A118}"/>
    <pc:docChg chg="undo custSel modSld">
      <pc:chgData name="하 현성" userId="545a4ab8-e4ee-4590-b348-fc04c608cfe8" providerId="ADAL" clId="{19A5CB6E-E37B-4EDD-80DF-4815AA54A118}" dt="2026-05-08T12:41:53.690" v="108" actId="1076"/>
      <pc:docMkLst>
        <pc:docMk/>
      </pc:docMkLst>
      <pc:sldChg chg="modSp mod">
        <pc:chgData name="하 현성" userId="545a4ab8-e4ee-4590-b348-fc04c608cfe8" providerId="ADAL" clId="{19A5CB6E-E37B-4EDD-80DF-4815AA54A118}" dt="2026-05-08T12:41:53.690" v="108" actId="1076"/>
        <pc:sldMkLst>
          <pc:docMk/>
          <pc:sldMk cId="1423671779" sldId="256"/>
        </pc:sldMkLst>
        <pc:grpChg chg="mod">
          <ac:chgData name="하 현성" userId="545a4ab8-e4ee-4590-b348-fc04c608cfe8" providerId="ADAL" clId="{19A5CB6E-E37B-4EDD-80DF-4815AA54A118}" dt="2026-05-08T12:41:53.690" v="108" actId="1076"/>
          <ac:grpSpMkLst>
            <pc:docMk/>
            <pc:sldMk cId="1423671779" sldId="256"/>
            <ac:grpSpMk id="21" creationId="{EBE95E33-541A-7ECA-DBE6-55DDF3E50930}"/>
          </ac:grpSpMkLst>
        </pc:grpChg>
      </pc:sldChg>
      <pc:sldChg chg="modNotesTx">
        <pc:chgData name="하 현성" userId="545a4ab8-e4ee-4590-b348-fc04c608cfe8" providerId="ADAL" clId="{19A5CB6E-E37B-4EDD-80DF-4815AA54A118}" dt="2026-05-08T11:18:38.379" v="71" actId="20577"/>
        <pc:sldMkLst>
          <pc:docMk/>
          <pc:sldMk cId="1651085585" sldId="257"/>
        </pc:sldMkLst>
      </pc:sldChg>
      <pc:sldChg chg="modNotesTx">
        <pc:chgData name="하 현성" userId="545a4ab8-e4ee-4590-b348-fc04c608cfe8" providerId="ADAL" clId="{19A5CB6E-E37B-4EDD-80DF-4815AA54A118}" dt="2026-05-08T11:28:35.603" v="106" actId="20577"/>
        <pc:sldMkLst>
          <pc:docMk/>
          <pc:sldMk cId="797869273" sldId="26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B455BE-1399-48B6-9FDD-6D8F9FE4BCA3}" type="datetimeFigureOut">
              <a:rPr lang="ko-KR" altLang="en-US" smtClean="0"/>
              <a:t>2026-06-08</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98DF1B-83BF-4DB2-ADDA-54159C83935C}" type="slidenum">
              <a:rPr lang="ko-KR" altLang="en-US" smtClean="0"/>
              <a:t>‹#›</a:t>
            </a:fld>
            <a:endParaRPr lang="ko-KR" altLang="en-US"/>
          </a:p>
        </p:txBody>
      </p:sp>
    </p:spTree>
    <p:extLst>
      <p:ext uri="{BB962C8B-B14F-4D97-AF65-F5344CB8AC3E}">
        <p14:creationId xmlns:p14="http://schemas.microsoft.com/office/powerpoint/2010/main" val="199206974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안녕하세요, 딥러닝응용 3조 김주헌, 하현성입니다. 저희는 제조 공정에서 발생하는 결함을 시계열 센서와 카메라 이미지를 함께 사용하는 멀티모달 딥러닝으로 탐지하는 프로젝트를 진행했습니다. 오늘 발표에서는 저희가 어떤 문제를 풀었고, 어떤 방법을 썼으며, 어떤 결과를 얻었는지를 차례로 말씀드리겠습니다.</a:t>
            </a:r>
          </a:p>
        </p:txBody>
      </p:sp>
      <p:sp>
        <p:nvSpPr>
          <p:cNvPr id="4" name="슬라이드 번호 개체 틀 3"/>
          <p:cNvSpPr>
            <a:spLocks noGrp="1"/>
          </p:cNvSpPr>
          <p:nvPr>
            <p:ph type="sldNum" sz="quarter" idx="5"/>
          </p:nvPr>
        </p:nvSpPr>
        <p:spPr/>
        <p:txBody>
          <a:bodyPr/>
          <a:lstStyle/>
          <a:p>
            <a:fld id="{F498DF1B-83BF-4DB2-ADDA-54159C83935C}" type="slidenum">
              <a:rPr lang="ko-KR" altLang="en-US" smtClean="0"/>
              <a:t>1</a:t>
            </a:fld>
            <a:endParaRPr lang="ko-KR" altLang="en-US"/>
          </a:p>
        </p:txBody>
      </p:sp>
    </p:spTree>
    <p:extLst>
      <p:ext uri="{BB962C8B-B14F-4D97-AF65-F5344CB8AC3E}">
        <p14:creationId xmlns:p14="http://schemas.microsoft.com/office/powerpoint/2010/main" val="692920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dirty="0" err="1"/>
              <a:t>제조</a:t>
            </a:r>
            <a:r>
              <a:rPr dirty="0"/>
              <a:t> </a:t>
            </a:r>
            <a:r>
              <a:rPr dirty="0" err="1"/>
              <a:t>라인의</a:t>
            </a:r>
            <a:r>
              <a:rPr dirty="0"/>
              <a:t> </a:t>
            </a:r>
            <a:r>
              <a:rPr dirty="0" err="1"/>
              <a:t>자동</a:t>
            </a:r>
            <a:r>
              <a:rPr dirty="0"/>
              <a:t> </a:t>
            </a:r>
            <a:r>
              <a:rPr dirty="0" err="1"/>
              <a:t>검수</a:t>
            </a:r>
            <a:r>
              <a:rPr dirty="0"/>
              <a:t> </a:t>
            </a:r>
            <a:r>
              <a:rPr dirty="0" err="1"/>
              <a:t>시스템은</a:t>
            </a:r>
            <a:r>
              <a:rPr dirty="0"/>
              <a:t> </a:t>
            </a:r>
            <a:r>
              <a:rPr dirty="0" err="1"/>
              <a:t>보통</a:t>
            </a:r>
            <a:r>
              <a:rPr dirty="0"/>
              <a:t> 두 </a:t>
            </a:r>
            <a:r>
              <a:rPr dirty="0" err="1"/>
              <a:t>종류의</a:t>
            </a:r>
            <a:r>
              <a:rPr dirty="0"/>
              <a:t> </a:t>
            </a:r>
            <a:r>
              <a:rPr dirty="0" err="1"/>
              <a:t>데이터를</a:t>
            </a:r>
            <a:r>
              <a:rPr dirty="0"/>
              <a:t> </a:t>
            </a:r>
            <a:r>
              <a:rPr dirty="0" err="1"/>
              <a:t>활용합니다</a:t>
            </a:r>
            <a:r>
              <a:rPr dirty="0"/>
              <a:t>. 첫 </a:t>
            </a:r>
            <a:r>
              <a:rPr dirty="0" err="1"/>
              <a:t>번째는</a:t>
            </a:r>
            <a:r>
              <a:rPr dirty="0"/>
              <a:t> </a:t>
            </a:r>
            <a:r>
              <a:rPr dirty="0" err="1"/>
              <a:t>로봇의</a:t>
            </a:r>
            <a:r>
              <a:rPr dirty="0"/>
              <a:t> </a:t>
            </a:r>
            <a:r>
              <a:rPr dirty="0" err="1"/>
              <a:t>부하나</a:t>
            </a:r>
            <a:r>
              <a:rPr dirty="0"/>
              <a:t> </a:t>
            </a:r>
            <a:r>
              <a:rPr dirty="0" err="1"/>
              <a:t>관절</a:t>
            </a:r>
            <a:r>
              <a:rPr dirty="0"/>
              <a:t> </a:t>
            </a:r>
            <a:r>
              <a:rPr dirty="0" err="1"/>
              <a:t>각도</a:t>
            </a:r>
            <a:r>
              <a:rPr dirty="0"/>
              <a:t>, </a:t>
            </a:r>
            <a:r>
              <a:rPr dirty="0" err="1"/>
              <a:t>컨베이어</a:t>
            </a:r>
            <a:r>
              <a:rPr dirty="0"/>
              <a:t> </a:t>
            </a:r>
            <a:r>
              <a:rPr dirty="0" err="1"/>
              <a:t>온도</a:t>
            </a:r>
            <a:r>
              <a:rPr dirty="0"/>
              <a:t> </a:t>
            </a:r>
            <a:r>
              <a:rPr dirty="0" err="1"/>
              <a:t>같은</a:t>
            </a:r>
            <a:r>
              <a:rPr dirty="0"/>
              <a:t> </a:t>
            </a:r>
            <a:r>
              <a:rPr dirty="0" err="1"/>
              <a:t>센서</a:t>
            </a:r>
            <a:r>
              <a:rPr dirty="0"/>
              <a:t> </a:t>
            </a:r>
            <a:r>
              <a:rPr dirty="0" err="1"/>
              <a:t>측정값이고</a:t>
            </a:r>
            <a:r>
              <a:rPr dirty="0"/>
              <a:t>, 두 </a:t>
            </a:r>
            <a:r>
              <a:rPr dirty="0" err="1"/>
              <a:t>번째는</a:t>
            </a:r>
            <a:r>
              <a:rPr dirty="0"/>
              <a:t> </a:t>
            </a:r>
            <a:r>
              <a:rPr dirty="0" err="1"/>
              <a:t>카메라로</a:t>
            </a:r>
            <a:r>
              <a:rPr dirty="0"/>
              <a:t> </a:t>
            </a:r>
            <a:r>
              <a:rPr dirty="0" err="1"/>
              <a:t>찍은</a:t>
            </a:r>
            <a:r>
              <a:rPr dirty="0"/>
              <a:t> </a:t>
            </a:r>
            <a:r>
              <a:rPr dirty="0" err="1"/>
              <a:t>제품</a:t>
            </a:r>
            <a:r>
              <a:rPr dirty="0"/>
              <a:t> </a:t>
            </a:r>
            <a:r>
              <a:rPr dirty="0" err="1"/>
              <a:t>이미지입니다</a:t>
            </a:r>
            <a:r>
              <a:rPr dirty="0"/>
              <a:t>. </a:t>
            </a:r>
            <a:r>
              <a:rPr dirty="0" err="1"/>
              <a:t>그런데</a:t>
            </a:r>
            <a:r>
              <a:rPr dirty="0"/>
              <a:t> 이 두 </a:t>
            </a:r>
            <a:r>
              <a:rPr dirty="0" err="1"/>
              <a:t>가지를</a:t>
            </a:r>
            <a:r>
              <a:rPr dirty="0"/>
              <a:t> </a:t>
            </a:r>
            <a:r>
              <a:rPr dirty="0" err="1"/>
              <a:t>따로따로</a:t>
            </a:r>
            <a:r>
              <a:rPr dirty="0"/>
              <a:t> </a:t>
            </a:r>
            <a:r>
              <a:rPr dirty="0" err="1"/>
              <a:t>쓰면</a:t>
            </a:r>
            <a:r>
              <a:rPr dirty="0"/>
              <a:t> </a:t>
            </a:r>
            <a:r>
              <a:rPr dirty="0" err="1"/>
              <a:t>각자</a:t>
            </a:r>
            <a:r>
              <a:rPr dirty="0"/>
              <a:t> </a:t>
            </a:r>
            <a:r>
              <a:rPr dirty="0" err="1"/>
              <a:t>놓치는</a:t>
            </a:r>
            <a:r>
              <a:rPr dirty="0"/>
              <a:t> </a:t>
            </a:r>
            <a:r>
              <a:rPr dirty="0" err="1"/>
              <a:t>부분이</a:t>
            </a:r>
            <a:r>
              <a:rPr dirty="0"/>
              <a:t> </a:t>
            </a:r>
            <a:r>
              <a:rPr dirty="0" err="1"/>
              <a:t>생깁니다</a:t>
            </a:r>
            <a:r>
              <a:rPr dirty="0"/>
              <a:t>. </a:t>
            </a:r>
            <a:r>
              <a:rPr dirty="0" err="1"/>
              <a:t>센서값만</a:t>
            </a:r>
            <a:r>
              <a:rPr dirty="0"/>
              <a:t> </a:t>
            </a:r>
            <a:r>
              <a:rPr dirty="0" err="1"/>
              <a:t>보면</a:t>
            </a:r>
            <a:r>
              <a:rPr dirty="0"/>
              <a:t> </a:t>
            </a:r>
            <a:r>
              <a:rPr dirty="0" err="1"/>
              <a:t>부품이</a:t>
            </a:r>
            <a:r>
              <a:rPr dirty="0"/>
              <a:t> </a:t>
            </a:r>
            <a:r>
              <a:rPr dirty="0" err="1"/>
              <a:t>시각적으로</a:t>
            </a:r>
            <a:r>
              <a:rPr dirty="0"/>
              <a:t> </a:t>
            </a:r>
            <a:r>
              <a:rPr dirty="0" err="1"/>
              <a:t>빠진</a:t>
            </a:r>
            <a:r>
              <a:rPr dirty="0"/>
              <a:t> </a:t>
            </a:r>
            <a:r>
              <a:rPr dirty="0" err="1"/>
              <a:t>결함을</a:t>
            </a:r>
            <a:r>
              <a:rPr dirty="0"/>
              <a:t> </a:t>
            </a:r>
            <a:r>
              <a:rPr dirty="0" err="1"/>
              <a:t>알기</a:t>
            </a:r>
            <a:r>
              <a:rPr dirty="0"/>
              <a:t> </a:t>
            </a:r>
            <a:r>
              <a:rPr dirty="0" err="1"/>
              <a:t>어렵고</a:t>
            </a:r>
            <a:r>
              <a:rPr dirty="0"/>
              <a:t>, </a:t>
            </a:r>
            <a:r>
              <a:rPr dirty="0" err="1"/>
              <a:t>이미지만</a:t>
            </a:r>
            <a:r>
              <a:rPr dirty="0"/>
              <a:t> </a:t>
            </a:r>
            <a:r>
              <a:rPr dirty="0" err="1"/>
              <a:t>보면</a:t>
            </a:r>
            <a:r>
              <a:rPr dirty="0"/>
              <a:t> </a:t>
            </a:r>
            <a:r>
              <a:rPr dirty="0" err="1"/>
              <a:t>로봇이</a:t>
            </a:r>
            <a:r>
              <a:rPr dirty="0"/>
              <a:t> </a:t>
            </a:r>
            <a:r>
              <a:rPr dirty="0" err="1"/>
              <a:t>비정상적인</a:t>
            </a:r>
            <a:r>
              <a:rPr dirty="0"/>
              <a:t> </a:t>
            </a:r>
            <a:r>
              <a:rPr dirty="0" err="1"/>
              <a:t>힘으로</a:t>
            </a:r>
            <a:r>
              <a:rPr dirty="0"/>
              <a:t> </a:t>
            </a:r>
            <a:r>
              <a:rPr dirty="0" err="1"/>
              <a:t>작동하는</a:t>
            </a:r>
            <a:r>
              <a:rPr dirty="0"/>
              <a:t> </a:t>
            </a:r>
            <a:r>
              <a:rPr dirty="0" err="1"/>
              <a:t>상황은</a:t>
            </a:r>
            <a:r>
              <a:rPr dirty="0"/>
              <a:t> 알 수 </a:t>
            </a:r>
            <a:r>
              <a:rPr dirty="0" err="1"/>
              <a:t>없습니다</a:t>
            </a:r>
            <a:r>
              <a:rPr dirty="0"/>
              <a:t>. </a:t>
            </a:r>
            <a:r>
              <a:rPr dirty="0" err="1"/>
              <a:t>그래서</a:t>
            </a:r>
            <a:r>
              <a:rPr dirty="0"/>
              <a:t> 두 </a:t>
            </a:r>
            <a:r>
              <a:rPr dirty="0" err="1"/>
              <a:t>모달리티를</a:t>
            </a:r>
            <a:r>
              <a:rPr dirty="0"/>
              <a:t> </a:t>
            </a:r>
            <a:r>
              <a:rPr dirty="0" err="1"/>
              <a:t>결합하는</a:t>
            </a:r>
            <a:r>
              <a:rPr dirty="0"/>
              <a:t> </a:t>
            </a:r>
            <a:r>
              <a:rPr dirty="0" err="1"/>
              <a:t>멀티모달</a:t>
            </a:r>
            <a:r>
              <a:rPr dirty="0"/>
              <a:t> </a:t>
            </a:r>
            <a:r>
              <a:rPr dirty="0" err="1"/>
              <a:t>접근이</a:t>
            </a:r>
            <a:r>
              <a:rPr dirty="0"/>
              <a:t> </a:t>
            </a:r>
            <a:r>
              <a:rPr dirty="0" err="1"/>
              <a:t>필요</a:t>
            </a:r>
            <a:r>
              <a:rPr lang="ko-KR" altLang="en-US" dirty="0"/>
              <a:t>합니다</a:t>
            </a:r>
            <a:r>
              <a:rPr dirty="0"/>
              <a:t>.</a:t>
            </a:r>
            <a:r>
              <a:rPr lang="en-US" dirty="0"/>
              <a:t> </a:t>
            </a:r>
            <a:r>
              <a:rPr lang="ko-KR" altLang="en-US" dirty="0"/>
              <a:t>그 중에서도 저희 조는 </a:t>
            </a:r>
            <a:r>
              <a:rPr dirty="0" err="1"/>
              <a:t>정말</a:t>
            </a:r>
            <a:r>
              <a:rPr dirty="0"/>
              <a:t> </a:t>
            </a:r>
            <a:r>
              <a:rPr dirty="0" err="1"/>
              <a:t>결합이</a:t>
            </a:r>
            <a:r>
              <a:rPr dirty="0"/>
              <a:t> </a:t>
            </a:r>
            <a:r>
              <a:rPr dirty="0" err="1"/>
              <a:t>항상</a:t>
            </a:r>
            <a:r>
              <a:rPr dirty="0"/>
              <a:t> 더 </a:t>
            </a:r>
            <a:r>
              <a:rPr dirty="0" err="1"/>
              <a:t>좋은가</a:t>
            </a:r>
            <a:r>
              <a:rPr dirty="0"/>
              <a:t>, </a:t>
            </a:r>
            <a:r>
              <a:rPr dirty="0" err="1"/>
              <a:t>그렇다면</a:t>
            </a:r>
            <a:r>
              <a:rPr dirty="0"/>
              <a:t> </a:t>
            </a:r>
            <a:r>
              <a:rPr dirty="0" err="1"/>
              <a:t>어떤</a:t>
            </a:r>
            <a:r>
              <a:rPr dirty="0"/>
              <a:t> </a:t>
            </a:r>
            <a:r>
              <a:rPr dirty="0" err="1"/>
              <a:t>조건에서</a:t>
            </a:r>
            <a:r>
              <a:rPr dirty="0"/>
              <a:t> </a:t>
            </a:r>
            <a:r>
              <a:rPr dirty="0" err="1"/>
              <a:t>효과가</a:t>
            </a:r>
            <a:r>
              <a:rPr dirty="0"/>
              <a:t> </a:t>
            </a:r>
            <a:r>
              <a:rPr dirty="0" err="1"/>
              <a:t>있는가</a:t>
            </a:r>
            <a:r>
              <a:rPr lang="ko-KR" altLang="en-US" dirty="0"/>
              <a:t>라는</a:t>
            </a:r>
            <a:r>
              <a:rPr dirty="0" err="1"/>
              <a:t>질문에</a:t>
            </a:r>
            <a:r>
              <a:rPr dirty="0"/>
              <a:t> </a:t>
            </a:r>
            <a:r>
              <a:rPr dirty="0" err="1"/>
              <a:t>실험으로</a:t>
            </a:r>
            <a:r>
              <a:rPr dirty="0"/>
              <a:t> </a:t>
            </a:r>
            <a:r>
              <a:rPr dirty="0" err="1"/>
              <a:t>답하는</a:t>
            </a:r>
            <a:r>
              <a:rPr dirty="0"/>
              <a:t> </a:t>
            </a:r>
            <a:r>
              <a:rPr dirty="0" err="1"/>
              <a:t>것이</a:t>
            </a:r>
            <a:r>
              <a:rPr dirty="0"/>
              <a:t> </a:t>
            </a:r>
            <a:r>
              <a:rPr dirty="0" err="1"/>
              <a:t>목표였습니다</a:t>
            </a:r>
            <a:r>
              <a:rPr dirty="0"/>
              <a:t>.</a:t>
            </a:r>
          </a:p>
        </p:txBody>
      </p:sp>
      <p:sp>
        <p:nvSpPr>
          <p:cNvPr id="4" name="슬라이드 번호 개체 틀 3"/>
          <p:cNvSpPr>
            <a:spLocks noGrp="1"/>
          </p:cNvSpPr>
          <p:nvPr>
            <p:ph type="sldNum" sz="quarter" idx="5"/>
          </p:nvPr>
        </p:nvSpPr>
        <p:spPr/>
        <p:txBody>
          <a:bodyPr/>
          <a:lstStyle/>
          <a:p>
            <a:fld id="{F498DF1B-83BF-4DB2-ADDA-54159C83935C}" type="slidenum">
              <a:rPr lang="ko-KR" altLang="en-US" smtClean="0"/>
              <a:t>2</a:t>
            </a:fld>
            <a:endParaRPr lang="ko-KR" altLang="en-US"/>
          </a:p>
        </p:txBody>
      </p:sp>
    </p:spTree>
    <p:extLst>
      <p:ext uri="{BB962C8B-B14F-4D97-AF65-F5344CB8AC3E}">
        <p14:creationId xmlns:p14="http://schemas.microsoft.com/office/powerpoint/2010/main" val="23009327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dirty="0" err="1"/>
              <a:t>저희</a:t>
            </a:r>
            <a:r>
              <a:rPr dirty="0"/>
              <a:t> </a:t>
            </a:r>
            <a:r>
              <a:rPr dirty="0" err="1"/>
              <a:t>프로젝트는</a:t>
            </a:r>
            <a:r>
              <a:rPr dirty="0"/>
              <a:t> 세 </a:t>
            </a:r>
            <a:r>
              <a:rPr dirty="0" err="1"/>
              <a:t>가지</a:t>
            </a:r>
            <a:r>
              <a:rPr dirty="0"/>
              <a:t> </a:t>
            </a:r>
            <a:r>
              <a:rPr dirty="0" err="1"/>
              <a:t>구체적인</a:t>
            </a:r>
            <a:r>
              <a:rPr dirty="0"/>
              <a:t> </a:t>
            </a:r>
            <a:r>
              <a:rPr dirty="0" err="1"/>
              <a:t>질문에</a:t>
            </a:r>
            <a:r>
              <a:rPr dirty="0"/>
              <a:t> </a:t>
            </a:r>
            <a:r>
              <a:rPr dirty="0" err="1"/>
              <a:t>답하려</a:t>
            </a:r>
            <a:r>
              <a:rPr dirty="0"/>
              <a:t> </a:t>
            </a:r>
            <a:r>
              <a:rPr dirty="0" err="1"/>
              <a:t>했습니다</a:t>
            </a:r>
            <a:r>
              <a:rPr dirty="0"/>
              <a:t>. </a:t>
            </a:r>
            <a:r>
              <a:rPr dirty="0" err="1"/>
              <a:t>첫째</a:t>
            </a:r>
            <a:r>
              <a:rPr dirty="0"/>
              <a:t>, </a:t>
            </a:r>
            <a:r>
              <a:rPr dirty="0" err="1"/>
              <a:t>멀티모달</a:t>
            </a:r>
            <a:r>
              <a:rPr dirty="0"/>
              <a:t> </a:t>
            </a:r>
            <a:r>
              <a:rPr dirty="0" err="1"/>
              <a:t>결합</a:t>
            </a:r>
            <a:r>
              <a:rPr dirty="0"/>
              <a:t> </a:t>
            </a:r>
            <a:r>
              <a:rPr dirty="0" err="1"/>
              <a:t>모델이</a:t>
            </a:r>
            <a:r>
              <a:rPr dirty="0"/>
              <a:t> </a:t>
            </a:r>
            <a:r>
              <a:rPr dirty="0" err="1"/>
              <a:t>센서</a:t>
            </a:r>
            <a:r>
              <a:rPr dirty="0"/>
              <a:t> </a:t>
            </a:r>
            <a:r>
              <a:rPr dirty="0" err="1"/>
              <a:t>단독</a:t>
            </a:r>
            <a:r>
              <a:rPr dirty="0"/>
              <a:t>, </a:t>
            </a:r>
            <a:r>
              <a:rPr dirty="0" err="1"/>
              <a:t>이미지</a:t>
            </a:r>
            <a:r>
              <a:rPr dirty="0"/>
              <a:t> </a:t>
            </a:r>
            <a:r>
              <a:rPr dirty="0" err="1"/>
              <a:t>단독보다</a:t>
            </a:r>
            <a:r>
              <a:rPr dirty="0"/>
              <a:t> </a:t>
            </a:r>
            <a:r>
              <a:rPr dirty="0" err="1"/>
              <a:t>실제로</a:t>
            </a:r>
            <a:r>
              <a:rPr dirty="0"/>
              <a:t> 더 </a:t>
            </a:r>
            <a:r>
              <a:rPr dirty="0" err="1"/>
              <a:t>좋은</a:t>
            </a:r>
            <a:r>
              <a:rPr dirty="0"/>
              <a:t> </a:t>
            </a:r>
            <a:r>
              <a:rPr dirty="0" err="1"/>
              <a:t>성능을</a:t>
            </a:r>
            <a:r>
              <a:rPr dirty="0"/>
              <a:t> </a:t>
            </a:r>
            <a:r>
              <a:rPr dirty="0" err="1"/>
              <a:t>내는가</a:t>
            </a:r>
            <a:r>
              <a:rPr dirty="0"/>
              <a:t>. </a:t>
            </a:r>
            <a:r>
              <a:rPr dirty="0" err="1"/>
              <a:t>둘째</a:t>
            </a:r>
            <a:r>
              <a:rPr dirty="0"/>
              <a:t>, 두 </a:t>
            </a:r>
            <a:r>
              <a:rPr dirty="0" err="1"/>
              <a:t>모달리티</a:t>
            </a:r>
            <a:r>
              <a:rPr dirty="0"/>
              <a:t> 중 </a:t>
            </a:r>
            <a:r>
              <a:rPr dirty="0" err="1"/>
              <a:t>한쪽이</a:t>
            </a:r>
            <a:r>
              <a:rPr dirty="0"/>
              <a:t> </a:t>
            </a:r>
            <a:r>
              <a:rPr dirty="0" err="1"/>
              <a:t>너무</a:t>
            </a:r>
            <a:r>
              <a:rPr dirty="0"/>
              <a:t> </a:t>
            </a:r>
            <a:r>
              <a:rPr dirty="0" err="1"/>
              <a:t>강하거나</a:t>
            </a:r>
            <a:r>
              <a:rPr dirty="0"/>
              <a:t> </a:t>
            </a:r>
            <a:r>
              <a:rPr dirty="0" err="1"/>
              <a:t>약할</a:t>
            </a:r>
            <a:r>
              <a:rPr dirty="0"/>
              <a:t> 때 </a:t>
            </a:r>
            <a:r>
              <a:rPr dirty="0" err="1"/>
              <a:t>융합</a:t>
            </a:r>
            <a:r>
              <a:rPr dirty="0"/>
              <a:t> </a:t>
            </a:r>
            <a:r>
              <a:rPr dirty="0" err="1"/>
              <a:t>효과가</a:t>
            </a:r>
            <a:r>
              <a:rPr dirty="0"/>
              <a:t> </a:t>
            </a:r>
            <a:r>
              <a:rPr dirty="0" err="1"/>
              <a:t>어떻게</a:t>
            </a:r>
            <a:r>
              <a:rPr dirty="0"/>
              <a:t> </a:t>
            </a:r>
            <a:r>
              <a:rPr dirty="0" err="1"/>
              <a:t>달라지는가</a:t>
            </a:r>
            <a:r>
              <a:rPr dirty="0"/>
              <a:t>. </a:t>
            </a:r>
            <a:r>
              <a:rPr dirty="0" err="1"/>
              <a:t>셋째</a:t>
            </a:r>
            <a:r>
              <a:rPr dirty="0"/>
              <a:t>, </a:t>
            </a:r>
            <a:r>
              <a:rPr dirty="0" err="1"/>
              <a:t>카메라</a:t>
            </a:r>
            <a:r>
              <a:rPr dirty="0"/>
              <a:t> </a:t>
            </a:r>
            <a:r>
              <a:rPr dirty="0" err="1"/>
              <a:t>이미지가</a:t>
            </a:r>
            <a:r>
              <a:rPr dirty="0"/>
              <a:t> </a:t>
            </a:r>
            <a:r>
              <a:rPr dirty="0" err="1"/>
              <a:t>항상</a:t>
            </a:r>
            <a:r>
              <a:rPr dirty="0"/>
              <a:t> </a:t>
            </a:r>
            <a:r>
              <a:rPr dirty="0" err="1"/>
              <a:t>들어오는</a:t>
            </a:r>
            <a:r>
              <a:rPr dirty="0"/>
              <a:t> </a:t>
            </a:r>
            <a:r>
              <a:rPr dirty="0" err="1"/>
              <a:t>것이</a:t>
            </a:r>
            <a:r>
              <a:rPr dirty="0"/>
              <a:t> </a:t>
            </a:r>
            <a:r>
              <a:rPr dirty="0" err="1"/>
              <a:t>아닐</a:t>
            </a:r>
            <a:r>
              <a:rPr dirty="0"/>
              <a:t> 때, 즉 </a:t>
            </a:r>
            <a:r>
              <a:rPr dirty="0" err="1"/>
              <a:t>이미지가</a:t>
            </a:r>
            <a:r>
              <a:rPr dirty="0"/>
              <a:t> </a:t>
            </a:r>
            <a:r>
              <a:rPr dirty="0" err="1"/>
              <a:t>없는</a:t>
            </a:r>
            <a:r>
              <a:rPr dirty="0"/>
              <a:t> </a:t>
            </a:r>
            <a:r>
              <a:rPr dirty="0" err="1"/>
              <a:t>순간에도</a:t>
            </a:r>
            <a:r>
              <a:rPr dirty="0"/>
              <a:t> </a:t>
            </a:r>
            <a:r>
              <a:rPr dirty="0" err="1"/>
              <a:t>모델이</a:t>
            </a:r>
            <a:r>
              <a:rPr dirty="0"/>
              <a:t> </a:t>
            </a:r>
            <a:r>
              <a:rPr dirty="0" err="1"/>
              <a:t>안정적으로</a:t>
            </a:r>
            <a:r>
              <a:rPr dirty="0"/>
              <a:t> </a:t>
            </a:r>
            <a:r>
              <a:rPr dirty="0" err="1"/>
              <a:t>작동할</a:t>
            </a:r>
            <a:r>
              <a:rPr dirty="0"/>
              <a:t> 수 </a:t>
            </a:r>
            <a:r>
              <a:rPr dirty="0" err="1"/>
              <a:t>있는가입니다</a:t>
            </a:r>
            <a:r>
              <a:rPr dirty="0"/>
              <a:t>.</a:t>
            </a:r>
            <a:r>
              <a:rPr lang="ko-KR" altLang="en-US" dirty="0"/>
              <a:t> 이러한 질문을 통해 단순히 </a:t>
            </a:r>
            <a:r>
              <a:rPr lang="ko-KR" altLang="en-US" dirty="0" err="1"/>
              <a:t>멀티모달이</a:t>
            </a:r>
            <a:r>
              <a:rPr lang="ko-KR" altLang="en-US" dirty="0"/>
              <a:t> 더 좋다가 아닌 어떤 조건에서 어떻게 좋은지를 이해하고자 했습니다</a:t>
            </a:r>
            <a:r>
              <a:rPr lang="en-US" altLang="ko-KR" dirty="0"/>
              <a:t>.</a:t>
            </a:r>
            <a:endParaRPr dirty="0"/>
          </a:p>
        </p:txBody>
      </p:sp>
      <p:sp>
        <p:nvSpPr>
          <p:cNvPr id="4" name="슬라이드 번호 개체 틀 3"/>
          <p:cNvSpPr>
            <a:spLocks noGrp="1"/>
          </p:cNvSpPr>
          <p:nvPr>
            <p:ph type="sldNum" sz="quarter" idx="5"/>
          </p:nvPr>
        </p:nvSpPr>
        <p:spPr/>
        <p:txBody>
          <a:bodyPr/>
          <a:lstStyle/>
          <a:p>
            <a:fld id="{F498DF1B-83BF-4DB2-ADDA-54159C83935C}" type="slidenum">
              <a:rPr lang="ko-KR" altLang="en-US" smtClean="0"/>
              <a:t>3</a:t>
            </a:fld>
            <a:endParaRPr lang="ko-KR" altLang="en-US"/>
          </a:p>
        </p:txBody>
      </p:sp>
    </p:spTree>
    <p:extLst>
      <p:ext uri="{BB962C8B-B14F-4D97-AF65-F5344CB8AC3E}">
        <p14:creationId xmlns:p14="http://schemas.microsoft.com/office/powerpoint/2010/main" val="17332430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dirty="0" err="1"/>
              <a:t>저희가</a:t>
            </a:r>
            <a:r>
              <a:rPr dirty="0"/>
              <a:t> </a:t>
            </a:r>
            <a:r>
              <a:rPr dirty="0" err="1"/>
              <a:t>사용한</a:t>
            </a:r>
            <a:r>
              <a:rPr dirty="0"/>
              <a:t> </a:t>
            </a:r>
            <a:r>
              <a:rPr dirty="0" err="1"/>
              <a:t>데이터는</a:t>
            </a:r>
            <a:r>
              <a:rPr dirty="0"/>
              <a:t> </a:t>
            </a:r>
            <a:r>
              <a:rPr dirty="0" err="1"/>
              <a:t>사우스캐롤라이나</a:t>
            </a:r>
            <a:r>
              <a:rPr dirty="0"/>
              <a:t> </a:t>
            </a:r>
            <a:r>
              <a:rPr dirty="0" err="1"/>
              <a:t>대학</a:t>
            </a:r>
            <a:r>
              <a:rPr dirty="0"/>
              <a:t> Future Factories </a:t>
            </a:r>
            <a:r>
              <a:rPr dirty="0" err="1"/>
              <a:t>연구실에서</a:t>
            </a:r>
            <a:r>
              <a:rPr dirty="0"/>
              <a:t> </a:t>
            </a:r>
            <a:r>
              <a:rPr dirty="0" err="1"/>
              <a:t>공개한</a:t>
            </a:r>
            <a:r>
              <a:rPr dirty="0"/>
              <a:t> </a:t>
            </a:r>
            <a:r>
              <a:rPr dirty="0" err="1"/>
              <a:t>산업용</a:t>
            </a:r>
            <a:r>
              <a:rPr dirty="0"/>
              <a:t> </a:t>
            </a:r>
            <a:r>
              <a:rPr dirty="0" err="1"/>
              <a:t>데이터셋입니다</a:t>
            </a:r>
            <a:r>
              <a:rPr dirty="0"/>
              <a:t>. </a:t>
            </a:r>
            <a:r>
              <a:rPr dirty="0" err="1"/>
              <a:t>실제</a:t>
            </a:r>
            <a:r>
              <a:rPr dirty="0"/>
              <a:t> </a:t>
            </a:r>
            <a:r>
              <a:rPr dirty="0" err="1"/>
              <a:t>조립</a:t>
            </a:r>
            <a:r>
              <a:rPr dirty="0"/>
              <a:t> </a:t>
            </a:r>
            <a:r>
              <a:rPr dirty="0" err="1"/>
              <a:t>라인을</a:t>
            </a:r>
            <a:r>
              <a:rPr dirty="0"/>
              <a:t> </a:t>
            </a:r>
            <a:r>
              <a:rPr dirty="0" err="1"/>
              <a:t>그대로</a:t>
            </a:r>
            <a:r>
              <a:rPr dirty="0"/>
              <a:t> </a:t>
            </a:r>
            <a:r>
              <a:rPr dirty="0" err="1"/>
              <a:t>옮긴</a:t>
            </a:r>
            <a:r>
              <a:rPr dirty="0"/>
              <a:t> </a:t>
            </a:r>
            <a:r>
              <a:rPr dirty="0" err="1"/>
              <a:t>시설에서</a:t>
            </a:r>
            <a:r>
              <a:rPr dirty="0"/>
              <a:t> </a:t>
            </a:r>
            <a:r>
              <a:rPr dirty="0" err="1"/>
              <a:t>로봇</a:t>
            </a:r>
            <a:r>
              <a:rPr dirty="0"/>
              <a:t> 4대와 </a:t>
            </a:r>
            <a:r>
              <a:rPr dirty="0" err="1"/>
              <a:t>컨베이어가</a:t>
            </a:r>
            <a:r>
              <a:rPr dirty="0"/>
              <a:t> 30시간 </a:t>
            </a:r>
            <a:r>
              <a:rPr dirty="0" err="1"/>
              <a:t>동안</a:t>
            </a:r>
            <a:r>
              <a:rPr dirty="0"/>
              <a:t> </a:t>
            </a:r>
            <a:r>
              <a:rPr dirty="0" err="1"/>
              <a:t>로켓</a:t>
            </a:r>
            <a:r>
              <a:rPr dirty="0"/>
              <a:t> </a:t>
            </a:r>
            <a:r>
              <a:rPr dirty="0" err="1"/>
              <a:t>모형을</a:t>
            </a:r>
            <a:r>
              <a:rPr dirty="0"/>
              <a:t> </a:t>
            </a:r>
            <a:r>
              <a:rPr dirty="0" err="1"/>
              <a:t>만들었고</a:t>
            </a:r>
            <a:r>
              <a:rPr dirty="0"/>
              <a:t>, </a:t>
            </a:r>
            <a:r>
              <a:rPr dirty="0" err="1"/>
              <a:t>그동안</a:t>
            </a:r>
            <a:r>
              <a:rPr dirty="0"/>
              <a:t> 16만 6천 </a:t>
            </a:r>
            <a:r>
              <a:rPr dirty="0" err="1"/>
              <a:t>건의</a:t>
            </a:r>
            <a:r>
              <a:rPr dirty="0"/>
              <a:t> </a:t>
            </a:r>
            <a:r>
              <a:rPr dirty="0" err="1"/>
              <a:t>측정</a:t>
            </a:r>
            <a:r>
              <a:rPr dirty="0"/>
              <a:t> </a:t>
            </a:r>
            <a:r>
              <a:rPr dirty="0" err="1"/>
              <a:t>데이터가</a:t>
            </a:r>
            <a:r>
              <a:rPr dirty="0"/>
              <a:t> </a:t>
            </a:r>
            <a:r>
              <a:rPr dirty="0" err="1"/>
              <a:t>쌓였습니다</a:t>
            </a:r>
            <a:r>
              <a:rPr dirty="0"/>
              <a:t>. </a:t>
            </a:r>
            <a:r>
              <a:rPr dirty="0" err="1"/>
              <a:t>측정</a:t>
            </a:r>
            <a:r>
              <a:rPr dirty="0"/>
              <a:t> </a:t>
            </a:r>
            <a:r>
              <a:rPr dirty="0" err="1"/>
              <a:t>데이터에는</a:t>
            </a:r>
            <a:r>
              <a:rPr dirty="0"/>
              <a:t> 두 </a:t>
            </a:r>
            <a:r>
              <a:rPr dirty="0" err="1"/>
              <a:t>종류가</a:t>
            </a:r>
            <a:r>
              <a:rPr dirty="0"/>
              <a:t> </a:t>
            </a:r>
            <a:r>
              <a:rPr dirty="0" err="1"/>
              <a:t>들어</a:t>
            </a:r>
            <a:r>
              <a:rPr dirty="0"/>
              <a:t> </a:t>
            </a:r>
            <a:r>
              <a:rPr dirty="0" err="1"/>
              <a:t>있습니다</a:t>
            </a:r>
            <a:r>
              <a:rPr dirty="0"/>
              <a:t>. 22개 </a:t>
            </a:r>
            <a:r>
              <a:rPr dirty="0" err="1"/>
              <a:t>센서값은</a:t>
            </a:r>
            <a:r>
              <a:rPr dirty="0"/>
              <a:t> </a:t>
            </a:r>
            <a:r>
              <a:rPr dirty="0" err="1"/>
              <a:t>모든</a:t>
            </a:r>
            <a:r>
              <a:rPr dirty="0"/>
              <a:t> </a:t>
            </a:r>
            <a:r>
              <a:rPr dirty="0" err="1"/>
              <a:t>측정</a:t>
            </a:r>
            <a:r>
              <a:rPr dirty="0"/>
              <a:t> </a:t>
            </a:r>
            <a:r>
              <a:rPr dirty="0" err="1"/>
              <a:t>순간에</a:t>
            </a:r>
            <a:r>
              <a:rPr dirty="0"/>
              <a:t> </a:t>
            </a:r>
            <a:r>
              <a:rPr dirty="0" err="1"/>
              <a:t>기록되었고</a:t>
            </a:r>
            <a:r>
              <a:rPr dirty="0"/>
              <a:t>, </a:t>
            </a:r>
            <a:r>
              <a:rPr dirty="0" err="1"/>
              <a:t>카메라</a:t>
            </a:r>
            <a:r>
              <a:rPr dirty="0"/>
              <a:t> 두 </a:t>
            </a:r>
            <a:r>
              <a:rPr dirty="0" err="1"/>
              <a:t>대가</a:t>
            </a:r>
            <a:r>
              <a:rPr dirty="0"/>
              <a:t> </a:t>
            </a:r>
            <a:r>
              <a:rPr dirty="0" err="1"/>
              <a:t>찍은</a:t>
            </a:r>
            <a:r>
              <a:rPr dirty="0"/>
              <a:t> </a:t>
            </a:r>
            <a:r>
              <a:rPr dirty="0" err="1"/>
              <a:t>이미지는</a:t>
            </a:r>
            <a:r>
              <a:rPr dirty="0"/>
              <a:t> </a:t>
            </a:r>
            <a:r>
              <a:rPr dirty="0" err="1"/>
              <a:t>부품이</a:t>
            </a:r>
            <a:r>
              <a:rPr dirty="0"/>
              <a:t> </a:t>
            </a:r>
            <a:r>
              <a:rPr dirty="0" err="1"/>
              <a:t>명확히</a:t>
            </a:r>
            <a:r>
              <a:rPr dirty="0"/>
              <a:t> </a:t>
            </a:r>
            <a:r>
              <a:rPr dirty="0" err="1"/>
              <a:t>보이는</a:t>
            </a:r>
            <a:r>
              <a:rPr dirty="0"/>
              <a:t> </a:t>
            </a:r>
            <a:r>
              <a:rPr dirty="0" err="1"/>
              <a:t>특정</a:t>
            </a:r>
            <a:r>
              <a:rPr dirty="0"/>
              <a:t> </a:t>
            </a:r>
            <a:r>
              <a:rPr dirty="0" err="1"/>
              <a:t>공정</a:t>
            </a:r>
            <a:r>
              <a:rPr dirty="0"/>
              <a:t> </a:t>
            </a:r>
            <a:r>
              <a:rPr dirty="0" err="1"/>
              <a:t>단계에서</a:t>
            </a:r>
            <a:r>
              <a:rPr dirty="0"/>
              <a:t> </a:t>
            </a:r>
            <a:r>
              <a:rPr dirty="0" err="1"/>
              <a:t>사용했습니다</a:t>
            </a:r>
            <a:r>
              <a:rPr dirty="0"/>
              <a:t>. </a:t>
            </a:r>
            <a:r>
              <a:rPr dirty="0" err="1"/>
              <a:t>결함은</a:t>
            </a:r>
            <a:r>
              <a:rPr dirty="0"/>
              <a:t> </a:t>
            </a:r>
            <a:r>
              <a:rPr dirty="0" err="1"/>
              <a:t>의도적으로</a:t>
            </a:r>
            <a:r>
              <a:rPr dirty="0"/>
              <a:t> </a:t>
            </a:r>
            <a:r>
              <a:rPr dirty="0" err="1"/>
              <a:t>부품을</a:t>
            </a:r>
            <a:r>
              <a:rPr dirty="0"/>
              <a:t> </a:t>
            </a:r>
            <a:r>
              <a:rPr dirty="0" err="1"/>
              <a:t>빼고</a:t>
            </a:r>
            <a:r>
              <a:rPr dirty="0"/>
              <a:t> </a:t>
            </a:r>
            <a:r>
              <a:rPr dirty="0" err="1"/>
              <a:t>조립하게</a:t>
            </a:r>
            <a:r>
              <a:rPr dirty="0"/>
              <a:t> </a:t>
            </a:r>
            <a:r>
              <a:rPr dirty="0" err="1"/>
              <a:t>해서</a:t>
            </a:r>
            <a:r>
              <a:rPr dirty="0"/>
              <a:t> </a:t>
            </a:r>
            <a:r>
              <a:rPr dirty="0" err="1"/>
              <a:t>정상</a:t>
            </a:r>
            <a:r>
              <a:rPr dirty="0"/>
              <a:t> </a:t>
            </a:r>
            <a:r>
              <a:rPr dirty="0" err="1"/>
              <a:t>외에</a:t>
            </a:r>
            <a:r>
              <a:rPr dirty="0"/>
              <a:t> </a:t>
            </a:r>
            <a:r>
              <a:rPr dirty="0" err="1"/>
              <a:t>NoNose</a:t>
            </a:r>
            <a:r>
              <a:rPr dirty="0"/>
              <a:t>, NoBody1 </a:t>
            </a:r>
            <a:r>
              <a:rPr dirty="0" err="1"/>
              <a:t>같은</a:t>
            </a:r>
            <a:r>
              <a:rPr dirty="0"/>
              <a:t> </a:t>
            </a:r>
            <a:r>
              <a:rPr dirty="0" err="1"/>
              <a:t>결함</a:t>
            </a:r>
            <a:r>
              <a:rPr dirty="0"/>
              <a:t> </a:t>
            </a:r>
            <a:r>
              <a:rPr dirty="0" err="1"/>
              <a:t>유형이</a:t>
            </a:r>
            <a:r>
              <a:rPr dirty="0"/>
              <a:t> </a:t>
            </a:r>
            <a:r>
              <a:rPr dirty="0" err="1"/>
              <a:t>만들어졌고</a:t>
            </a:r>
            <a:r>
              <a:rPr dirty="0"/>
              <a:t>, 매 </a:t>
            </a:r>
            <a:r>
              <a:rPr dirty="0" err="1"/>
              <a:t>측정</a:t>
            </a:r>
            <a:r>
              <a:rPr dirty="0"/>
              <a:t> </a:t>
            </a:r>
            <a:r>
              <a:rPr dirty="0" err="1"/>
              <a:t>순간마다</a:t>
            </a:r>
            <a:r>
              <a:rPr dirty="0"/>
              <a:t> 그 </a:t>
            </a:r>
            <a:r>
              <a:rPr dirty="0" err="1"/>
              <a:t>시점에</a:t>
            </a:r>
            <a:r>
              <a:rPr dirty="0"/>
              <a:t> </a:t>
            </a:r>
            <a:r>
              <a:rPr dirty="0" err="1"/>
              <a:t>어떤</a:t>
            </a:r>
            <a:r>
              <a:rPr dirty="0"/>
              <a:t> </a:t>
            </a:r>
            <a:r>
              <a:rPr dirty="0" err="1"/>
              <a:t>상태였는지가</a:t>
            </a:r>
            <a:r>
              <a:rPr dirty="0"/>
              <a:t> </a:t>
            </a:r>
            <a:r>
              <a:rPr dirty="0" err="1"/>
              <a:t>라벨로</a:t>
            </a:r>
            <a:r>
              <a:rPr dirty="0"/>
              <a:t> </a:t>
            </a:r>
            <a:r>
              <a:rPr dirty="0" err="1"/>
              <a:t>기록되어</a:t>
            </a:r>
            <a:r>
              <a:rPr dirty="0"/>
              <a:t> </a:t>
            </a:r>
            <a:r>
              <a:rPr dirty="0" err="1"/>
              <a:t>있습니다</a:t>
            </a:r>
            <a:r>
              <a:rPr dirty="0"/>
              <a:t>. 즉 </a:t>
            </a:r>
            <a:r>
              <a:rPr dirty="0" err="1"/>
              <a:t>저희</a:t>
            </a:r>
            <a:r>
              <a:rPr dirty="0"/>
              <a:t> </a:t>
            </a:r>
            <a:r>
              <a:rPr dirty="0" err="1"/>
              <a:t>문제는</a:t>
            </a:r>
            <a:r>
              <a:rPr dirty="0"/>
              <a:t> ‘</a:t>
            </a:r>
            <a:r>
              <a:rPr dirty="0" err="1"/>
              <a:t>지금</a:t>
            </a:r>
            <a:r>
              <a:rPr dirty="0"/>
              <a:t> 이 </a:t>
            </a:r>
            <a:r>
              <a:rPr dirty="0" err="1"/>
              <a:t>순간</a:t>
            </a:r>
            <a:r>
              <a:rPr dirty="0"/>
              <a:t> </a:t>
            </a:r>
            <a:r>
              <a:rPr dirty="0" err="1"/>
              <a:t>어떤</a:t>
            </a:r>
            <a:r>
              <a:rPr dirty="0"/>
              <a:t> </a:t>
            </a:r>
            <a:r>
              <a:rPr dirty="0" err="1"/>
              <a:t>상태인가’를</a:t>
            </a:r>
            <a:r>
              <a:rPr dirty="0"/>
              <a:t> 매 </a:t>
            </a:r>
            <a:r>
              <a:rPr dirty="0" err="1"/>
              <a:t>시점마다</a:t>
            </a:r>
            <a:r>
              <a:rPr dirty="0"/>
              <a:t> </a:t>
            </a:r>
            <a:r>
              <a:rPr dirty="0" err="1"/>
              <a:t>분류하는</a:t>
            </a:r>
            <a:r>
              <a:rPr dirty="0"/>
              <a:t> </a:t>
            </a:r>
            <a:r>
              <a:rPr dirty="0" err="1"/>
              <a:t>과제입니다</a:t>
            </a:r>
            <a:r>
              <a:rPr dirty="0"/>
              <a:t>.</a:t>
            </a:r>
          </a:p>
        </p:txBody>
      </p:sp>
      <p:sp>
        <p:nvSpPr>
          <p:cNvPr id="4" name="슬라이드 번호 개체 틀 3"/>
          <p:cNvSpPr>
            <a:spLocks noGrp="1"/>
          </p:cNvSpPr>
          <p:nvPr>
            <p:ph type="sldNum" sz="quarter" idx="5"/>
          </p:nvPr>
        </p:nvSpPr>
        <p:spPr/>
        <p:txBody>
          <a:bodyPr/>
          <a:lstStyle/>
          <a:p>
            <a:fld id="{F498DF1B-83BF-4DB2-ADDA-54159C83935C}" type="slidenum">
              <a:rPr lang="ko-KR" altLang="en-US" smtClean="0"/>
              <a:t>4</a:t>
            </a:fld>
            <a:endParaRPr lang="ko-KR" altLang="en-US"/>
          </a:p>
        </p:txBody>
      </p:sp>
    </p:spTree>
    <p:extLst>
      <p:ext uri="{BB962C8B-B14F-4D97-AF65-F5344CB8AC3E}">
        <p14:creationId xmlns:p14="http://schemas.microsoft.com/office/powerpoint/2010/main" val="10637923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dirty="0"/>
              <a:t>세 </a:t>
            </a:r>
            <a:r>
              <a:rPr dirty="0" err="1"/>
              <a:t>가지</a:t>
            </a:r>
            <a:r>
              <a:rPr dirty="0"/>
              <a:t> </a:t>
            </a:r>
            <a:r>
              <a:rPr dirty="0" err="1"/>
              <a:t>모델을</a:t>
            </a:r>
            <a:r>
              <a:rPr dirty="0"/>
              <a:t> </a:t>
            </a:r>
            <a:r>
              <a:rPr dirty="0" err="1"/>
              <a:t>만들어</a:t>
            </a:r>
            <a:r>
              <a:rPr dirty="0"/>
              <a:t> </a:t>
            </a:r>
            <a:r>
              <a:rPr dirty="0" err="1"/>
              <a:t>비교했습니다</a:t>
            </a:r>
            <a:r>
              <a:rPr dirty="0"/>
              <a:t>. 첫 </a:t>
            </a:r>
            <a:r>
              <a:rPr dirty="0" err="1"/>
              <a:t>번째는</a:t>
            </a:r>
            <a:r>
              <a:rPr dirty="0"/>
              <a:t> </a:t>
            </a:r>
            <a:r>
              <a:rPr dirty="0" err="1"/>
              <a:t>센서</a:t>
            </a:r>
            <a:r>
              <a:rPr dirty="0"/>
              <a:t> </a:t>
            </a:r>
            <a:r>
              <a:rPr dirty="0" err="1"/>
              <a:t>단독</a:t>
            </a:r>
            <a:r>
              <a:rPr dirty="0"/>
              <a:t> </a:t>
            </a:r>
            <a:r>
              <a:rPr dirty="0" err="1"/>
              <a:t>모델로</a:t>
            </a:r>
            <a:r>
              <a:rPr dirty="0"/>
              <a:t>, </a:t>
            </a:r>
            <a:r>
              <a:rPr dirty="0" err="1"/>
              <a:t>양방향</a:t>
            </a:r>
            <a:r>
              <a:rPr dirty="0"/>
              <a:t> </a:t>
            </a:r>
            <a:r>
              <a:rPr dirty="0" err="1"/>
              <a:t>LSTM을</a:t>
            </a:r>
            <a:r>
              <a:rPr dirty="0"/>
              <a:t> </a:t>
            </a:r>
            <a:r>
              <a:rPr dirty="0" err="1"/>
              <a:t>사용해</a:t>
            </a:r>
            <a:r>
              <a:rPr dirty="0"/>
              <a:t> 22채널 </a:t>
            </a:r>
            <a:r>
              <a:rPr dirty="0" err="1"/>
              <a:t>센서값의</a:t>
            </a:r>
            <a:r>
              <a:rPr dirty="0"/>
              <a:t> </a:t>
            </a:r>
            <a:r>
              <a:rPr dirty="0" err="1"/>
              <a:t>시간적</a:t>
            </a:r>
            <a:r>
              <a:rPr dirty="0"/>
              <a:t> </a:t>
            </a:r>
            <a:r>
              <a:rPr dirty="0" err="1"/>
              <a:t>흐름을</a:t>
            </a:r>
            <a:r>
              <a:rPr dirty="0"/>
              <a:t> </a:t>
            </a:r>
            <a:r>
              <a:rPr dirty="0" err="1"/>
              <a:t>분석합니다</a:t>
            </a:r>
            <a:r>
              <a:rPr dirty="0"/>
              <a:t>. 이 </a:t>
            </a:r>
            <a:r>
              <a:rPr dirty="0" err="1"/>
              <a:t>모델은</a:t>
            </a:r>
            <a:r>
              <a:rPr dirty="0"/>
              <a:t> </a:t>
            </a:r>
            <a:r>
              <a:rPr dirty="0" err="1"/>
              <a:t>센서가</a:t>
            </a:r>
            <a:r>
              <a:rPr dirty="0"/>
              <a:t> </a:t>
            </a:r>
            <a:r>
              <a:rPr dirty="0" err="1"/>
              <a:t>항상</a:t>
            </a:r>
            <a:r>
              <a:rPr dirty="0"/>
              <a:t> </a:t>
            </a:r>
            <a:r>
              <a:rPr dirty="0" err="1"/>
              <a:t>측정되기</a:t>
            </a:r>
            <a:r>
              <a:rPr dirty="0"/>
              <a:t> </a:t>
            </a:r>
            <a:r>
              <a:rPr dirty="0" err="1"/>
              <a:t>때문에</a:t>
            </a:r>
            <a:r>
              <a:rPr dirty="0"/>
              <a:t> </a:t>
            </a:r>
            <a:r>
              <a:rPr dirty="0" err="1"/>
              <a:t>모든</a:t>
            </a:r>
            <a:r>
              <a:rPr dirty="0"/>
              <a:t> </a:t>
            </a:r>
            <a:r>
              <a:rPr dirty="0" err="1"/>
              <a:t>시점에서</a:t>
            </a:r>
            <a:r>
              <a:rPr dirty="0"/>
              <a:t> </a:t>
            </a:r>
            <a:r>
              <a:rPr dirty="0" err="1"/>
              <a:t>작동합니다</a:t>
            </a:r>
            <a:r>
              <a:rPr dirty="0"/>
              <a:t>. 두 </a:t>
            </a:r>
            <a:r>
              <a:rPr dirty="0" err="1"/>
              <a:t>번째는</a:t>
            </a:r>
            <a:r>
              <a:rPr dirty="0"/>
              <a:t> </a:t>
            </a:r>
            <a:r>
              <a:rPr dirty="0" err="1"/>
              <a:t>이미지</a:t>
            </a:r>
            <a:r>
              <a:rPr dirty="0"/>
              <a:t> </a:t>
            </a:r>
            <a:r>
              <a:rPr dirty="0" err="1"/>
              <a:t>단독</a:t>
            </a:r>
            <a:r>
              <a:rPr dirty="0"/>
              <a:t> </a:t>
            </a:r>
            <a:r>
              <a:rPr dirty="0" err="1"/>
              <a:t>모델로</a:t>
            </a:r>
            <a:r>
              <a:rPr dirty="0"/>
              <a:t>, </a:t>
            </a:r>
            <a:r>
              <a:rPr dirty="0" err="1"/>
              <a:t>ImageNet으로</a:t>
            </a:r>
            <a:r>
              <a:rPr dirty="0"/>
              <a:t> </a:t>
            </a:r>
            <a:r>
              <a:rPr dirty="0" err="1"/>
              <a:t>사전학습된</a:t>
            </a:r>
            <a:r>
              <a:rPr dirty="0"/>
              <a:t> ResNet18을 </a:t>
            </a:r>
            <a:r>
              <a:rPr dirty="0" err="1"/>
              <a:t>사용합니다</a:t>
            </a:r>
            <a:r>
              <a:rPr dirty="0"/>
              <a:t>. </a:t>
            </a:r>
            <a:r>
              <a:rPr dirty="0" err="1"/>
              <a:t>카메라가</a:t>
            </a:r>
            <a:r>
              <a:rPr dirty="0"/>
              <a:t> 두 </a:t>
            </a:r>
            <a:r>
              <a:rPr dirty="0" err="1"/>
              <a:t>대이기</a:t>
            </a:r>
            <a:r>
              <a:rPr dirty="0"/>
              <a:t> </a:t>
            </a:r>
            <a:r>
              <a:rPr dirty="0" err="1"/>
              <a:t>때문에</a:t>
            </a:r>
            <a:r>
              <a:rPr dirty="0"/>
              <a:t> 두 </a:t>
            </a:r>
            <a:r>
              <a:rPr dirty="0" err="1"/>
              <a:t>이미지를</a:t>
            </a:r>
            <a:r>
              <a:rPr dirty="0"/>
              <a:t> </a:t>
            </a:r>
            <a:r>
              <a:rPr dirty="0" err="1"/>
              <a:t>각각</a:t>
            </a:r>
            <a:r>
              <a:rPr dirty="0"/>
              <a:t> </a:t>
            </a:r>
            <a:r>
              <a:rPr dirty="0" err="1"/>
              <a:t>통과시킨</a:t>
            </a:r>
            <a:r>
              <a:rPr dirty="0"/>
              <a:t> 뒤 </a:t>
            </a:r>
            <a:r>
              <a:rPr dirty="0" err="1"/>
              <a:t>특징을</a:t>
            </a:r>
            <a:r>
              <a:rPr dirty="0"/>
              <a:t> </a:t>
            </a:r>
            <a:r>
              <a:rPr dirty="0" err="1"/>
              <a:t>평균내는</a:t>
            </a:r>
            <a:r>
              <a:rPr dirty="0"/>
              <a:t> </a:t>
            </a:r>
            <a:r>
              <a:rPr dirty="0" err="1"/>
              <a:t>방식으로</a:t>
            </a:r>
            <a:r>
              <a:rPr dirty="0"/>
              <a:t> 두 </a:t>
            </a:r>
            <a:r>
              <a:rPr dirty="0" err="1"/>
              <a:t>시점의</a:t>
            </a:r>
            <a:r>
              <a:rPr dirty="0"/>
              <a:t> </a:t>
            </a:r>
            <a:r>
              <a:rPr dirty="0" err="1"/>
              <a:t>정보를</a:t>
            </a:r>
            <a:r>
              <a:rPr dirty="0"/>
              <a:t> </a:t>
            </a:r>
            <a:r>
              <a:rPr dirty="0" err="1"/>
              <a:t>모두</a:t>
            </a:r>
            <a:r>
              <a:rPr dirty="0"/>
              <a:t> </a:t>
            </a:r>
            <a:r>
              <a:rPr dirty="0" err="1"/>
              <a:t>활용했습니다</a:t>
            </a:r>
            <a:r>
              <a:rPr dirty="0"/>
              <a:t>. 세 </a:t>
            </a:r>
            <a:r>
              <a:rPr dirty="0" err="1"/>
              <a:t>번째는</a:t>
            </a:r>
            <a:r>
              <a:rPr dirty="0"/>
              <a:t> </a:t>
            </a:r>
            <a:r>
              <a:rPr dirty="0" err="1"/>
              <a:t>융합</a:t>
            </a:r>
            <a:r>
              <a:rPr dirty="0"/>
              <a:t> </a:t>
            </a:r>
            <a:r>
              <a:rPr dirty="0" err="1"/>
              <a:t>모델인데</a:t>
            </a:r>
            <a:r>
              <a:rPr dirty="0"/>
              <a:t>, 두 </a:t>
            </a:r>
            <a:r>
              <a:rPr dirty="0" err="1"/>
              <a:t>모델의</a:t>
            </a:r>
            <a:r>
              <a:rPr dirty="0"/>
              <a:t> </a:t>
            </a:r>
            <a:r>
              <a:rPr dirty="0" err="1"/>
              <a:t>예측</a:t>
            </a:r>
            <a:r>
              <a:rPr dirty="0"/>
              <a:t> </a:t>
            </a:r>
            <a:r>
              <a:rPr dirty="0" err="1"/>
              <a:t>확률을</a:t>
            </a:r>
            <a:r>
              <a:rPr dirty="0"/>
              <a:t> </a:t>
            </a:r>
            <a:r>
              <a:rPr dirty="0" err="1"/>
              <a:t>가중</a:t>
            </a:r>
            <a:r>
              <a:rPr dirty="0"/>
              <a:t> </a:t>
            </a:r>
            <a:r>
              <a:rPr dirty="0" err="1"/>
              <a:t>결합하는</a:t>
            </a:r>
            <a:r>
              <a:rPr dirty="0"/>
              <a:t> Decision-level </a:t>
            </a:r>
            <a:r>
              <a:rPr dirty="0" err="1"/>
              <a:t>방식을</a:t>
            </a:r>
            <a:r>
              <a:rPr dirty="0"/>
              <a:t> </a:t>
            </a:r>
            <a:r>
              <a:rPr dirty="0" err="1"/>
              <a:t>채택했습니다</a:t>
            </a:r>
            <a:r>
              <a:rPr dirty="0"/>
              <a:t>. 이 </a:t>
            </a:r>
            <a:r>
              <a:rPr dirty="0" err="1"/>
              <a:t>방식의</a:t>
            </a:r>
            <a:r>
              <a:rPr dirty="0"/>
              <a:t> </a:t>
            </a:r>
            <a:r>
              <a:rPr dirty="0" err="1"/>
              <a:t>장점은</a:t>
            </a:r>
            <a:r>
              <a:rPr dirty="0"/>
              <a:t> </a:t>
            </a:r>
            <a:r>
              <a:rPr dirty="0" err="1"/>
              <a:t>이미지가</a:t>
            </a:r>
            <a:r>
              <a:rPr dirty="0"/>
              <a:t> </a:t>
            </a:r>
            <a:r>
              <a:rPr dirty="0" err="1"/>
              <a:t>들어오지</a:t>
            </a:r>
            <a:r>
              <a:rPr dirty="0"/>
              <a:t> </a:t>
            </a:r>
            <a:r>
              <a:rPr dirty="0" err="1"/>
              <a:t>않는</a:t>
            </a:r>
            <a:r>
              <a:rPr dirty="0"/>
              <a:t> </a:t>
            </a:r>
            <a:r>
              <a:rPr dirty="0" err="1"/>
              <a:t>순간에는</a:t>
            </a:r>
            <a:r>
              <a:rPr dirty="0"/>
              <a:t> </a:t>
            </a:r>
            <a:r>
              <a:rPr dirty="0" err="1"/>
              <a:t>자동으로</a:t>
            </a:r>
            <a:r>
              <a:rPr dirty="0"/>
              <a:t> </a:t>
            </a:r>
            <a:r>
              <a:rPr dirty="0" err="1"/>
              <a:t>센서</a:t>
            </a:r>
            <a:r>
              <a:rPr dirty="0"/>
              <a:t> </a:t>
            </a:r>
            <a:r>
              <a:rPr dirty="0" err="1"/>
              <a:t>모델만</a:t>
            </a:r>
            <a:r>
              <a:rPr dirty="0"/>
              <a:t> </a:t>
            </a:r>
            <a:r>
              <a:rPr dirty="0" err="1"/>
              <a:t>사용하도록</a:t>
            </a:r>
            <a:r>
              <a:rPr dirty="0"/>
              <a:t> </a:t>
            </a:r>
            <a:r>
              <a:rPr dirty="0" err="1"/>
              <a:t>설계할</a:t>
            </a:r>
            <a:r>
              <a:rPr dirty="0"/>
              <a:t> 수 </a:t>
            </a:r>
            <a:r>
              <a:rPr dirty="0" err="1"/>
              <a:t>있어서</a:t>
            </a:r>
            <a:r>
              <a:rPr dirty="0"/>
              <a:t>, </a:t>
            </a:r>
            <a:r>
              <a:rPr dirty="0" err="1"/>
              <a:t>결측</a:t>
            </a:r>
            <a:r>
              <a:rPr dirty="0"/>
              <a:t> </a:t>
            </a:r>
            <a:r>
              <a:rPr dirty="0" err="1"/>
              <a:t>상황에서도</a:t>
            </a:r>
            <a:r>
              <a:rPr dirty="0"/>
              <a:t> </a:t>
            </a:r>
            <a:r>
              <a:rPr dirty="0" err="1"/>
              <a:t>안정적으로</a:t>
            </a:r>
            <a:r>
              <a:rPr dirty="0"/>
              <a:t> </a:t>
            </a:r>
            <a:r>
              <a:rPr dirty="0" err="1"/>
              <a:t>작동한다는</a:t>
            </a:r>
            <a:r>
              <a:rPr dirty="0"/>
              <a:t> </a:t>
            </a:r>
            <a:r>
              <a:rPr dirty="0" err="1"/>
              <a:t>점입니다</a:t>
            </a:r>
            <a:r>
              <a:rPr dirty="0"/>
              <a:t>.</a:t>
            </a:r>
          </a:p>
        </p:txBody>
      </p:sp>
      <p:sp>
        <p:nvSpPr>
          <p:cNvPr id="4" name="슬라이드 번호 개체 틀 3"/>
          <p:cNvSpPr>
            <a:spLocks noGrp="1"/>
          </p:cNvSpPr>
          <p:nvPr>
            <p:ph type="sldNum" sz="quarter" idx="5"/>
          </p:nvPr>
        </p:nvSpPr>
        <p:spPr/>
        <p:txBody>
          <a:bodyPr/>
          <a:lstStyle/>
          <a:p>
            <a:fld id="{F498DF1B-83BF-4DB2-ADDA-54159C83935C}" type="slidenum">
              <a:rPr lang="ko-KR" altLang="en-US" smtClean="0"/>
              <a:t>5</a:t>
            </a:fld>
            <a:endParaRPr lang="ko-KR" altLang="en-US"/>
          </a:p>
        </p:txBody>
      </p:sp>
    </p:spTree>
    <p:extLst>
      <p:ext uri="{BB962C8B-B14F-4D97-AF65-F5344CB8AC3E}">
        <p14:creationId xmlns:p14="http://schemas.microsoft.com/office/powerpoint/2010/main" val="42431347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전체 시스템은 이렇게 구성됩니다. 센서값은 항상 들어오기 때문에 매 시점마다 BiLSTM이 예측 확률을 만듭니다. 카메라 이미지는 부품이 보이는 시점에 들어오는데, 두 대의 이미지를 각각 ResNet18에 통과시켜 특징을 합친 뒤 이미지 예측 확률을 만듭니다. 마지막에 두 확률을 가중 평균해서 최종 분류 결과를 냅니다. 만약 이미지가 들어오지 않는 시점이면 자동으로 센서 확률만 사용하기 때문에, 시스템은 어떤 상황에서도 멈추지 않고 작동합니다.</a:t>
            </a:r>
          </a:p>
        </p:txBody>
      </p:sp>
      <p:sp>
        <p:nvSpPr>
          <p:cNvPr id="4" name="슬라이드 번호 개체 틀 3"/>
          <p:cNvSpPr>
            <a:spLocks noGrp="1"/>
          </p:cNvSpPr>
          <p:nvPr>
            <p:ph type="sldNum" sz="quarter" idx="5"/>
          </p:nvPr>
        </p:nvSpPr>
        <p:spPr/>
        <p:txBody>
          <a:bodyPr/>
          <a:lstStyle/>
          <a:p>
            <a:fld id="{F498DF1B-83BF-4DB2-ADDA-54159C83935C}" type="slidenum">
              <a:rPr lang="ko-KR" altLang="en-US" smtClean="0"/>
              <a:t>6</a:t>
            </a:fld>
            <a:endParaRPr lang="ko-KR" altLang="en-US"/>
          </a:p>
        </p:txBody>
      </p:sp>
    </p:spTree>
    <p:extLst>
      <p:ext uri="{BB962C8B-B14F-4D97-AF65-F5344CB8AC3E}">
        <p14:creationId xmlns:p14="http://schemas.microsoft.com/office/powerpoint/2010/main" val="286610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저희</a:t>
            </a:r>
            <a:r>
              <a:rPr dirty="0"/>
              <a:t> </a:t>
            </a:r>
            <a:r>
              <a:rPr dirty="0" err="1"/>
              <a:t>프로젝트가</a:t>
            </a:r>
            <a:r>
              <a:rPr dirty="0"/>
              <a:t> </a:t>
            </a:r>
            <a:r>
              <a:rPr dirty="0" err="1"/>
              <a:t>어떻게</a:t>
            </a:r>
            <a:r>
              <a:rPr dirty="0"/>
              <a:t> </a:t>
            </a:r>
            <a:r>
              <a:rPr dirty="0" err="1"/>
              <a:t>발전했는지</a:t>
            </a:r>
            <a:r>
              <a:rPr dirty="0"/>
              <a:t> </a:t>
            </a:r>
            <a:r>
              <a:rPr dirty="0" err="1"/>
              <a:t>말씀드리겠습니다</a:t>
            </a:r>
            <a:r>
              <a:rPr dirty="0"/>
              <a:t>. </a:t>
            </a:r>
            <a:r>
              <a:rPr dirty="0" err="1"/>
              <a:t>사실</a:t>
            </a:r>
            <a:r>
              <a:rPr dirty="0"/>
              <a:t> </a:t>
            </a:r>
            <a:r>
              <a:rPr dirty="0" err="1"/>
              <a:t>중간발표</a:t>
            </a:r>
            <a:r>
              <a:rPr dirty="0"/>
              <a:t> </a:t>
            </a:r>
            <a:r>
              <a:rPr dirty="0" err="1"/>
              <a:t>때는</a:t>
            </a:r>
            <a:r>
              <a:rPr dirty="0"/>
              <a:t> </a:t>
            </a:r>
            <a:r>
              <a:rPr dirty="0" err="1"/>
              <a:t>융합</a:t>
            </a:r>
            <a:r>
              <a:rPr dirty="0"/>
              <a:t> </a:t>
            </a:r>
            <a:r>
              <a:rPr dirty="0" err="1"/>
              <a:t>모델이</a:t>
            </a:r>
            <a:r>
              <a:rPr dirty="0"/>
              <a:t> </a:t>
            </a:r>
            <a:r>
              <a:rPr dirty="0" err="1"/>
              <a:t>전체</a:t>
            </a:r>
            <a:r>
              <a:rPr dirty="0"/>
              <a:t> </a:t>
            </a:r>
            <a:r>
              <a:rPr dirty="0" err="1"/>
              <a:t>구간에서</a:t>
            </a:r>
            <a:r>
              <a:rPr dirty="0"/>
              <a:t> F1 0.88로, </a:t>
            </a:r>
            <a:r>
              <a:rPr dirty="0" err="1"/>
              <a:t>센서</a:t>
            </a:r>
            <a:r>
              <a:rPr dirty="0"/>
              <a:t> </a:t>
            </a:r>
            <a:r>
              <a:rPr dirty="0" err="1"/>
              <a:t>단독</a:t>
            </a:r>
            <a:r>
              <a:rPr dirty="0"/>
              <a:t> 0.93보다 </a:t>
            </a:r>
            <a:r>
              <a:rPr dirty="0" err="1"/>
              <a:t>오히려</a:t>
            </a:r>
            <a:r>
              <a:rPr dirty="0"/>
              <a:t> </a:t>
            </a:r>
            <a:r>
              <a:rPr dirty="0" err="1"/>
              <a:t>낮았습니다</a:t>
            </a:r>
            <a:r>
              <a:rPr dirty="0"/>
              <a:t>. </a:t>
            </a:r>
            <a:r>
              <a:rPr dirty="0" err="1"/>
              <a:t>멀티모달인데</a:t>
            </a:r>
            <a:r>
              <a:rPr dirty="0"/>
              <a:t> </a:t>
            </a:r>
            <a:r>
              <a:rPr dirty="0" err="1"/>
              <a:t>단독보다</a:t>
            </a:r>
            <a:r>
              <a:rPr dirty="0"/>
              <a:t> </a:t>
            </a:r>
            <a:r>
              <a:rPr dirty="0" err="1"/>
              <a:t>못한</a:t>
            </a:r>
            <a:r>
              <a:rPr dirty="0"/>
              <a:t> </a:t>
            </a:r>
            <a:r>
              <a:rPr dirty="0" err="1"/>
              <a:t>결과였</a:t>
            </a:r>
            <a:r>
              <a:rPr lang="ko-KR" altLang="en-US" dirty="0"/>
              <a:t>고</a:t>
            </a:r>
            <a:r>
              <a:rPr lang="en-US" altLang="ko-KR" dirty="0"/>
              <a:t>,</a:t>
            </a:r>
            <a:r>
              <a:rPr dirty="0"/>
              <a:t> </a:t>
            </a:r>
            <a:r>
              <a:rPr dirty="0" err="1"/>
              <a:t>저희는</a:t>
            </a:r>
            <a:r>
              <a:rPr dirty="0"/>
              <a:t> 그 </a:t>
            </a:r>
            <a:r>
              <a:rPr dirty="0" err="1"/>
              <a:t>원인을</a:t>
            </a:r>
            <a:r>
              <a:rPr dirty="0"/>
              <a:t> </a:t>
            </a:r>
            <a:r>
              <a:rPr dirty="0" err="1"/>
              <a:t>데이터</a:t>
            </a:r>
            <a:r>
              <a:rPr dirty="0"/>
              <a:t> </a:t>
            </a:r>
            <a:r>
              <a:rPr dirty="0" err="1"/>
              <a:t>불균형으로</a:t>
            </a:r>
            <a:r>
              <a:rPr dirty="0"/>
              <a:t> </a:t>
            </a:r>
            <a:r>
              <a:rPr lang="ko-KR" altLang="en-US" dirty="0"/>
              <a:t>생각</a:t>
            </a:r>
            <a:r>
              <a:rPr dirty="0" err="1"/>
              <a:t>했습니다</a:t>
            </a:r>
            <a:r>
              <a:rPr dirty="0"/>
              <a:t>. </a:t>
            </a:r>
            <a:r>
              <a:rPr dirty="0" err="1"/>
              <a:t>이미지는</a:t>
            </a:r>
            <a:r>
              <a:rPr dirty="0"/>
              <a:t> 9천여 </a:t>
            </a:r>
            <a:r>
              <a:rPr lang="ko-KR" altLang="en-US" dirty="0"/>
              <a:t>시점</a:t>
            </a:r>
            <a:r>
              <a:rPr dirty="0" err="1"/>
              <a:t>인데</a:t>
            </a:r>
            <a:r>
              <a:rPr dirty="0"/>
              <a:t> </a:t>
            </a:r>
            <a:r>
              <a:rPr dirty="0" err="1"/>
              <a:t>센서는</a:t>
            </a:r>
            <a:r>
              <a:rPr dirty="0"/>
              <a:t> 12만 </a:t>
            </a:r>
            <a:r>
              <a:rPr dirty="0" err="1"/>
              <a:t>시퀀</a:t>
            </a:r>
            <a:r>
              <a:rPr lang="ko-KR" altLang="en-US" dirty="0" err="1"/>
              <a:t>스가</a:t>
            </a:r>
            <a:r>
              <a:rPr lang="ko-KR" altLang="en-US" dirty="0"/>
              <a:t> 넘어</a:t>
            </a:r>
            <a:r>
              <a:rPr dirty="0"/>
              <a:t>, </a:t>
            </a:r>
            <a:r>
              <a:rPr dirty="0" err="1"/>
              <a:t>융합에서</a:t>
            </a:r>
            <a:r>
              <a:rPr dirty="0"/>
              <a:t> </a:t>
            </a:r>
            <a:r>
              <a:rPr dirty="0" err="1"/>
              <a:t>이미지가</a:t>
            </a:r>
            <a:r>
              <a:rPr dirty="0"/>
              <a:t> </a:t>
            </a:r>
            <a:r>
              <a:rPr dirty="0" err="1"/>
              <a:t>정보를</a:t>
            </a:r>
            <a:r>
              <a:rPr dirty="0"/>
              <a:t> </a:t>
            </a:r>
            <a:r>
              <a:rPr dirty="0" err="1"/>
              <a:t>더하기보다</a:t>
            </a:r>
            <a:r>
              <a:rPr dirty="0"/>
              <a:t> </a:t>
            </a:r>
            <a:r>
              <a:rPr dirty="0" err="1"/>
              <a:t>노이즈로</a:t>
            </a:r>
            <a:r>
              <a:rPr dirty="0"/>
              <a:t> </a:t>
            </a:r>
            <a:r>
              <a:rPr dirty="0" err="1"/>
              <a:t>작용한</a:t>
            </a:r>
            <a:r>
              <a:rPr dirty="0"/>
              <a:t> </a:t>
            </a:r>
            <a:r>
              <a:rPr lang="ko-KR" altLang="en-US" dirty="0"/>
              <a:t>것으로 보입니다</a:t>
            </a:r>
            <a:r>
              <a:rPr dirty="0"/>
              <a:t>. </a:t>
            </a:r>
            <a:r>
              <a:rPr dirty="0" err="1"/>
              <a:t>그래서</a:t>
            </a:r>
            <a:r>
              <a:rPr dirty="0"/>
              <a:t> </a:t>
            </a:r>
            <a:r>
              <a:rPr dirty="0" err="1"/>
              <a:t>최종</a:t>
            </a:r>
            <a:r>
              <a:rPr dirty="0"/>
              <a:t> </a:t>
            </a:r>
            <a:r>
              <a:rPr dirty="0" err="1"/>
              <a:t>단계에서</a:t>
            </a:r>
            <a:r>
              <a:rPr dirty="0"/>
              <a:t> </a:t>
            </a:r>
            <a:r>
              <a:rPr dirty="0" err="1"/>
              <a:t>이미지</a:t>
            </a:r>
            <a:r>
              <a:rPr dirty="0"/>
              <a:t> </a:t>
            </a:r>
            <a:r>
              <a:rPr dirty="0" err="1"/>
              <a:t>커버리지를</a:t>
            </a:r>
            <a:r>
              <a:rPr dirty="0"/>
              <a:t> </a:t>
            </a:r>
            <a:r>
              <a:rPr dirty="0" err="1"/>
              <a:t>늘리고</a:t>
            </a:r>
            <a:r>
              <a:rPr dirty="0"/>
              <a:t> </a:t>
            </a:r>
            <a:r>
              <a:rPr dirty="0" err="1"/>
              <a:t>융합</a:t>
            </a:r>
            <a:r>
              <a:rPr dirty="0"/>
              <a:t> </a:t>
            </a:r>
            <a:r>
              <a:rPr dirty="0" err="1"/>
              <a:t>방식을</a:t>
            </a:r>
            <a:r>
              <a:rPr dirty="0"/>
              <a:t> </a:t>
            </a:r>
            <a:r>
              <a:rPr lang="ko-KR" altLang="en-US" dirty="0"/>
              <a:t>단순 특징 결합으로 </a:t>
            </a:r>
            <a:r>
              <a:rPr lang="ko-KR" altLang="en-US" dirty="0" err="1"/>
              <a:t>이어붙이는</a:t>
            </a:r>
            <a:r>
              <a:rPr lang="ko-KR" altLang="en-US" dirty="0"/>
              <a:t> 방식에서 </a:t>
            </a:r>
            <a:r>
              <a:rPr lang="en-US" altLang="ko-KR" dirty="0"/>
              <a:t>Decision Fusion</a:t>
            </a:r>
            <a:r>
              <a:rPr lang="ko-KR" altLang="en-US" dirty="0"/>
              <a:t>으로 변경하여 이미지가 약하면 그 비중을 낮춰 손해를 보지 않게 했습니다</a:t>
            </a:r>
            <a:r>
              <a:rPr lang="en-US" altLang="ko-KR" dirty="0"/>
              <a:t>.</a:t>
            </a:r>
            <a:r>
              <a:rPr lang="ko-KR" altLang="en-US" dirty="0"/>
              <a:t> 그 결과</a:t>
            </a:r>
            <a:r>
              <a:rPr dirty="0"/>
              <a:t> 두 </a:t>
            </a:r>
            <a:r>
              <a:rPr dirty="0" err="1"/>
              <a:t>모달리티가</a:t>
            </a:r>
            <a:r>
              <a:rPr dirty="0"/>
              <a:t> </a:t>
            </a:r>
            <a:r>
              <a:rPr dirty="0" err="1"/>
              <a:t>균형</a:t>
            </a:r>
            <a:r>
              <a:rPr dirty="0"/>
              <a:t> </a:t>
            </a:r>
            <a:r>
              <a:rPr dirty="0" err="1"/>
              <a:t>있게</a:t>
            </a:r>
            <a:r>
              <a:rPr dirty="0"/>
              <a:t> </a:t>
            </a:r>
            <a:r>
              <a:rPr dirty="0" err="1"/>
              <a:t>함께</a:t>
            </a:r>
            <a:r>
              <a:rPr dirty="0"/>
              <a:t> </a:t>
            </a:r>
            <a:r>
              <a:rPr dirty="0" err="1"/>
              <a:t>들어오는</a:t>
            </a:r>
            <a:r>
              <a:rPr dirty="0"/>
              <a:t> </a:t>
            </a:r>
            <a:r>
              <a:rPr dirty="0" err="1"/>
              <a:t>구간에서는</a:t>
            </a:r>
            <a:r>
              <a:rPr dirty="0"/>
              <a:t> </a:t>
            </a:r>
            <a:r>
              <a:rPr dirty="0" err="1"/>
              <a:t>융합이</a:t>
            </a:r>
            <a:r>
              <a:rPr dirty="0"/>
              <a:t> 두 </a:t>
            </a:r>
            <a:r>
              <a:rPr dirty="0" err="1"/>
              <a:t>단독</a:t>
            </a:r>
            <a:r>
              <a:rPr lang="en-US" dirty="0"/>
              <a:t> </a:t>
            </a:r>
            <a:r>
              <a:rPr lang="ko-KR" altLang="en-US" dirty="0"/>
              <a:t>결과를</a:t>
            </a:r>
            <a:r>
              <a:rPr dirty="0"/>
              <a:t> </a:t>
            </a:r>
            <a:r>
              <a:rPr dirty="0" err="1"/>
              <a:t>모두</a:t>
            </a:r>
            <a:r>
              <a:rPr dirty="0"/>
              <a:t> </a:t>
            </a:r>
            <a:r>
              <a:rPr dirty="0" err="1"/>
              <a:t>넘어섰습니다</a:t>
            </a:r>
            <a:r>
              <a:rPr dirty="0"/>
              <a:t>. </a:t>
            </a:r>
            <a:r>
              <a:rPr lang="ko-KR" altLang="en-US" dirty="0"/>
              <a:t>이를 통해</a:t>
            </a:r>
            <a:r>
              <a:rPr dirty="0"/>
              <a:t> </a:t>
            </a:r>
            <a:r>
              <a:rPr dirty="0" err="1"/>
              <a:t>저희가</a:t>
            </a:r>
            <a:r>
              <a:rPr dirty="0"/>
              <a:t> </a:t>
            </a:r>
            <a:r>
              <a:rPr dirty="0" err="1"/>
              <a:t>세운</a:t>
            </a:r>
            <a:r>
              <a:rPr dirty="0"/>
              <a:t> </a:t>
            </a:r>
            <a:r>
              <a:rPr dirty="0" err="1"/>
              <a:t>가설</a:t>
            </a:r>
            <a:r>
              <a:rPr dirty="0"/>
              <a:t>, ‘</a:t>
            </a:r>
            <a:r>
              <a:rPr dirty="0" err="1"/>
              <a:t>멀티모달의</a:t>
            </a:r>
            <a:r>
              <a:rPr dirty="0"/>
              <a:t> </a:t>
            </a:r>
            <a:r>
              <a:rPr dirty="0" err="1"/>
              <a:t>성공은</a:t>
            </a:r>
            <a:r>
              <a:rPr dirty="0"/>
              <a:t> </a:t>
            </a:r>
            <a:r>
              <a:rPr dirty="0" err="1"/>
              <a:t>데이터</a:t>
            </a:r>
            <a:r>
              <a:rPr dirty="0"/>
              <a:t> </a:t>
            </a:r>
            <a:r>
              <a:rPr dirty="0" err="1"/>
              <a:t>균형에</a:t>
            </a:r>
            <a:r>
              <a:rPr dirty="0"/>
              <a:t> </a:t>
            </a:r>
            <a:r>
              <a:rPr dirty="0" err="1"/>
              <a:t>달려</a:t>
            </a:r>
            <a:r>
              <a:rPr dirty="0"/>
              <a:t> </a:t>
            </a:r>
            <a:r>
              <a:rPr dirty="0" err="1"/>
              <a:t>있다’를</a:t>
            </a:r>
            <a:r>
              <a:rPr dirty="0"/>
              <a:t> </a:t>
            </a:r>
            <a:r>
              <a:rPr dirty="0" err="1"/>
              <a:t>직접</a:t>
            </a:r>
            <a:r>
              <a:rPr dirty="0"/>
              <a:t> </a:t>
            </a:r>
            <a:r>
              <a:rPr dirty="0" err="1"/>
              <a:t>검증</a:t>
            </a:r>
            <a:r>
              <a:rPr lang="ko-KR" altLang="en-US" dirty="0"/>
              <a:t>할 수 있었습니다</a:t>
            </a:r>
            <a:r>
              <a:rPr lang="en-US" altLang="ko-KR" dirty="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dirty="0" err="1"/>
              <a:t>앞서</a:t>
            </a:r>
            <a:r>
              <a:rPr dirty="0"/>
              <a:t> </a:t>
            </a:r>
            <a:r>
              <a:rPr dirty="0" err="1"/>
              <a:t>세운</a:t>
            </a:r>
            <a:r>
              <a:rPr dirty="0"/>
              <a:t> </a:t>
            </a:r>
            <a:r>
              <a:rPr dirty="0" err="1"/>
              <a:t>가설을</a:t>
            </a:r>
            <a:r>
              <a:rPr dirty="0"/>
              <a:t> </a:t>
            </a:r>
            <a:r>
              <a:rPr dirty="0" err="1"/>
              <a:t>검증한</a:t>
            </a:r>
            <a:r>
              <a:rPr dirty="0"/>
              <a:t> </a:t>
            </a:r>
            <a:r>
              <a:rPr dirty="0" err="1"/>
              <a:t>핵심</a:t>
            </a:r>
            <a:r>
              <a:rPr dirty="0"/>
              <a:t> </a:t>
            </a:r>
            <a:r>
              <a:rPr dirty="0" err="1"/>
              <a:t>근거가</a:t>
            </a:r>
            <a:r>
              <a:rPr dirty="0"/>
              <a:t> 이 </a:t>
            </a:r>
            <a:r>
              <a:rPr dirty="0" err="1"/>
              <a:t>그래프입니다</a:t>
            </a:r>
            <a:r>
              <a:rPr dirty="0"/>
              <a:t>. 두 </a:t>
            </a:r>
            <a:r>
              <a:rPr dirty="0" err="1"/>
              <a:t>모달리티</a:t>
            </a:r>
            <a:r>
              <a:rPr dirty="0"/>
              <a:t> </a:t>
            </a:r>
            <a:r>
              <a:rPr dirty="0" err="1"/>
              <a:t>데이터가</a:t>
            </a:r>
            <a:r>
              <a:rPr dirty="0"/>
              <a:t> </a:t>
            </a:r>
            <a:r>
              <a:rPr dirty="0" err="1"/>
              <a:t>모두</a:t>
            </a:r>
            <a:r>
              <a:rPr dirty="0"/>
              <a:t> </a:t>
            </a:r>
            <a:r>
              <a:rPr dirty="0" err="1"/>
              <a:t>있는</a:t>
            </a:r>
            <a:r>
              <a:rPr dirty="0"/>
              <a:t> 3,912개 </a:t>
            </a:r>
            <a:r>
              <a:rPr dirty="0" err="1"/>
              <a:t>시점에서</a:t>
            </a:r>
            <a:r>
              <a:rPr dirty="0"/>
              <a:t> </a:t>
            </a:r>
            <a:r>
              <a:rPr dirty="0" err="1"/>
              <a:t>측정했고</a:t>
            </a:r>
            <a:r>
              <a:rPr dirty="0"/>
              <a:t>, </a:t>
            </a:r>
            <a:r>
              <a:rPr dirty="0" err="1"/>
              <a:t>지표는</a:t>
            </a:r>
            <a:r>
              <a:rPr dirty="0"/>
              <a:t> </a:t>
            </a:r>
            <a:r>
              <a:rPr dirty="0" err="1"/>
              <a:t>클래스</a:t>
            </a:r>
            <a:r>
              <a:rPr dirty="0"/>
              <a:t> </a:t>
            </a:r>
            <a:r>
              <a:rPr dirty="0" err="1"/>
              <a:t>불균형을</a:t>
            </a:r>
            <a:r>
              <a:rPr dirty="0"/>
              <a:t> </a:t>
            </a:r>
            <a:r>
              <a:rPr dirty="0" err="1"/>
              <a:t>고려한</a:t>
            </a:r>
            <a:r>
              <a:rPr dirty="0"/>
              <a:t> Weighted F1입니다. </a:t>
            </a:r>
            <a:r>
              <a:rPr dirty="0" err="1"/>
              <a:t>센서</a:t>
            </a:r>
            <a:r>
              <a:rPr dirty="0"/>
              <a:t> </a:t>
            </a:r>
            <a:r>
              <a:rPr dirty="0" err="1"/>
              <a:t>단독</a:t>
            </a:r>
            <a:r>
              <a:rPr dirty="0"/>
              <a:t> 0.907, </a:t>
            </a:r>
            <a:r>
              <a:rPr dirty="0" err="1"/>
              <a:t>이미지</a:t>
            </a:r>
            <a:r>
              <a:rPr dirty="0"/>
              <a:t> </a:t>
            </a:r>
            <a:r>
              <a:rPr dirty="0" err="1"/>
              <a:t>단독</a:t>
            </a:r>
            <a:r>
              <a:rPr dirty="0"/>
              <a:t> 0.925, </a:t>
            </a:r>
            <a:r>
              <a:rPr dirty="0" err="1"/>
              <a:t>그리고</a:t>
            </a:r>
            <a:r>
              <a:rPr dirty="0"/>
              <a:t> 두 </a:t>
            </a:r>
            <a:r>
              <a:rPr dirty="0" err="1"/>
              <a:t>모델의</a:t>
            </a:r>
            <a:r>
              <a:rPr dirty="0"/>
              <a:t> </a:t>
            </a:r>
            <a:r>
              <a:rPr dirty="0" err="1"/>
              <a:t>예측</a:t>
            </a:r>
            <a:r>
              <a:rPr dirty="0"/>
              <a:t> </a:t>
            </a:r>
            <a:r>
              <a:rPr dirty="0" err="1"/>
              <a:t>확률을</a:t>
            </a:r>
            <a:r>
              <a:rPr dirty="0"/>
              <a:t> </a:t>
            </a:r>
            <a:r>
              <a:rPr dirty="0" err="1"/>
              <a:t>가중</a:t>
            </a:r>
            <a:r>
              <a:rPr dirty="0"/>
              <a:t> </a:t>
            </a:r>
            <a:r>
              <a:rPr dirty="0" err="1"/>
              <a:t>결합한</a:t>
            </a:r>
            <a:r>
              <a:rPr dirty="0"/>
              <a:t> </a:t>
            </a:r>
            <a:r>
              <a:rPr dirty="0" err="1"/>
              <a:t>융합</a:t>
            </a:r>
            <a:r>
              <a:rPr dirty="0"/>
              <a:t> </a:t>
            </a:r>
            <a:r>
              <a:rPr dirty="0" err="1"/>
              <a:t>모델이</a:t>
            </a:r>
            <a:r>
              <a:rPr dirty="0"/>
              <a:t> 0.986으로 </a:t>
            </a:r>
            <a:r>
              <a:rPr lang="ko-KR" altLang="en-US" dirty="0"/>
              <a:t>이미지가 있는 구간에서 </a:t>
            </a:r>
            <a:r>
              <a:rPr dirty="0"/>
              <a:t>두 </a:t>
            </a:r>
            <a:r>
              <a:rPr dirty="0" err="1"/>
              <a:t>단독을</a:t>
            </a:r>
            <a:r>
              <a:rPr dirty="0"/>
              <a:t> </a:t>
            </a:r>
            <a:r>
              <a:rPr dirty="0" err="1"/>
              <a:t>모두</a:t>
            </a:r>
            <a:r>
              <a:rPr dirty="0"/>
              <a:t> </a:t>
            </a:r>
            <a:r>
              <a:rPr dirty="0" err="1"/>
              <a:t>뚜렷하게</a:t>
            </a:r>
            <a:r>
              <a:rPr dirty="0"/>
              <a:t> </a:t>
            </a:r>
            <a:r>
              <a:rPr lang="ko-KR" altLang="en-US" dirty="0"/>
              <a:t>앞섰습니다</a:t>
            </a:r>
            <a:r>
              <a:rPr lang="en-US" dirty="0"/>
              <a:t>. </a:t>
            </a:r>
            <a:r>
              <a:rPr dirty="0" err="1"/>
              <a:t>부트스트랩</a:t>
            </a:r>
            <a:r>
              <a:rPr dirty="0"/>
              <a:t> </a:t>
            </a:r>
            <a:r>
              <a:rPr dirty="0" err="1"/>
              <a:t>검정</a:t>
            </a:r>
            <a:r>
              <a:rPr dirty="0"/>
              <a:t> </a:t>
            </a:r>
            <a:r>
              <a:rPr dirty="0" err="1"/>
              <a:t>결과</a:t>
            </a:r>
            <a:r>
              <a:rPr dirty="0"/>
              <a:t> </a:t>
            </a:r>
            <a:r>
              <a:rPr dirty="0" err="1"/>
              <a:t>융합과</a:t>
            </a:r>
            <a:r>
              <a:rPr dirty="0"/>
              <a:t> </a:t>
            </a:r>
            <a:r>
              <a:rPr dirty="0" err="1"/>
              <a:t>센서의</a:t>
            </a:r>
            <a:r>
              <a:rPr dirty="0"/>
              <a:t> </a:t>
            </a:r>
            <a:r>
              <a:rPr dirty="0" err="1"/>
              <a:t>차이가</a:t>
            </a:r>
            <a:r>
              <a:rPr dirty="0"/>
              <a:t> </a:t>
            </a:r>
            <a:r>
              <a:rPr dirty="0" err="1"/>
              <a:t>평균</a:t>
            </a:r>
            <a:r>
              <a:rPr dirty="0"/>
              <a:t> 0.078, 95% </a:t>
            </a:r>
            <a:r>
              <a:rPr dirty="0" err="1"/>
              <a:t>신뢰구간</a:t>
            </a:r>
            <a:r>
              <a:rPr lang="ko-KR" altLang="en-US" dirty="0"/>
              <a:t>이</a:t>
            </a:r>
            <a:r>
              <a:rPr dirty="0"/>
              <a:t> 0보다 </a:t>
            </a:r>
            <a:r>
              <a:rPr dirty="0" err="1"/>
              <a:t>커서</a:t>
            </a:r>
            <a:r>
              <a:rPr dirty="0"/>
              <a:t> </a:t>
            </a:r>
            <a:r>
              <a:rPr dirty="0" err="1"/>
              <a:t>통계적으로</a:t>
            </a:r>
            <a:r>
              <a:rPr dirty="0"/>
              <a:t> </a:t>
            </a:r>
            <a:r>
              <a:rPr dirty="0" err="1"/>
              <a:t>유의했습니다</a:t>
            </a:r>
            <a:r>
              <a:rPr dirty="0"/>
              <a:t>. 두 </a:t>
            </a:r>
            <a:r>
              <a:rPr dirty="0" err="1"/>
              <a:t>모달리티가</a:t>
            </a:r>
            <a:r>
              <a:rPr dirty="0"/>
              <a:t> </a:t>
            </a:r>
            <a:r>
              <a:rPr dirty="0" err="1"/>
              <a:t>서로</a:t>
            </a:r>
            <a:r>
              <a:rPr dirty="0"/>
              <a:t> </a:t>
            </a:r>
            <a:r>
              <a:rPr dirty="0" err="1"/>
              <a:t>다른</a:t>
            </a:r>
            <a:r>
              <a:rPr dirty="0"/>
              <a:t> </a:t>
            </a:r>
            <a:r>
              <a:rPr dirty="0" err="1"/>
              <a:t>정보를</a:t>
            </a:r>
            <a:r>
              <a:rPr dirty="0"/>
              <a:t> </a:t>
            </a:r>
            <a:r>
              <a:rPr dirty="0" err="1"/>
              <a:t>담고</a:t>
            </a:r>
            <a:r>
              <a:rPr dirty="0"/>
              <a:t> </a:t>
            </a:r>
            <a:r>
              <a:rPr dirty="0" err="1"/>
              <a:t>있고</a:t>
            </a:r>
            <a:r>
              <a:rPr dirty="0"/>
              <a:t>, </a:t>
            </a:r>
            <a:r>
              <a:rPr dirty="0" err="1"/>
              <a:t>융합이</a:t>
            </a:r>
            <a:r>
              <a:rPr dirty="0"/>
              <a:t> </a:t>
            </a:r>
            <a:r>
              <a:rPr dirty="0" err="1"/>
              <a:t>그것을</a:t>
            </a:r>
            <a:r>
              <a:rPr dirty="0"/>
              <a:t> </a:t>
            </a:r>
            <a:r>
              <a:rPr dirty="0" err="1"/>
              <a:t>종합해</a:t>
            </a:r>
            <a:r>
              <a:rPr dirty="0"/>
              <a:t> 더 </a:t>
            </a:r>
            <a:r>
              <a:rPr dirty="0" err="1"/>
              <a:t>정확히</a:t>
            </a:r>
            <a:r>
              <a:rPr dirty="0"/>
              <a:t> </a:t>
            </a:r>
            <a:r>
              <a:rPr dirty="0" err="1"/>
              <a:t>판단한다는</a:t>
            </a:r>
            <a:r>
              <a:rPr dirty="0"/>
              <a:t> </a:t>
            </a:r>
            <a:r>
              <a:rPr dirty="0" err="1"/>
              <a:t>것을</a:t>
            </a:r>
            <a:r>
              <a:rPr dirty="0"/>
              <a:t> </a:t>
            </a:r>
            <a:r>
              <a:rPr dirty="0" err="1"/>
              <a:t>보여줍니다</a:t>
            </a:r>
            <a:r>
              <a:rPr dirty="0"/>
              <a:t>.</a:t>
            </a:r>
          </a:p>
        </p:txBody>
      </p:sp>
      <p:sp>
        <p:nvSpPr>
          <p:cNvPr id="4" name="슬라이드 번호 개체 틀 3"/>
          <p:cNvSpPr>
            <a:spLocks noGrp="1"/>
          </p:cNvSpPr>
          <p:nvPr>
            <p:ph type="sldNum" sz="quarter" idx="5"/>
          </p:nvPr>
        </p:nvSpPr>
        <p:spPr/>
        <p:txBody>
          <a:bodyPr/>
          <a:lstStyle/>
          <a:p>
            <a:fld id="{F498DF1B-83BF-4DB2-ADDA-54159C83935C}" type="slidenum">
              <a:rPr lang="ko-KR" altLang="en-US" smtClean="0"/>
              <a:t>8</a:t>
            </a:fld>
            <a:endParaRPr lang="ko-KR" altLang="en-US"/>
          </a:p>
        </p:txBody>
      </p:sp>
    </p:spTree>
    <p:extLst>
      <p:ext uri="{BB962C8B-B14F-4D97-AF65-F5344CB8AC3E}">
        <p14:creationId xmlns:p14="http://schemas.microsoft.com/office/powerpoint/2010/main" val="32559797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dirty="0" err="1"/>
              <a:t>그렇다면</a:t>
            </a:r>
            <a:r>
              <a:rPr dirty="0"/>
              <a:t> </a:t>
            </a:r>
            <a:r>
              <a:rPr dirty="0" err="1"/>
              <a:t>이미지가</a:t>
            </a:r>
            <a:r>
              <a:rPr dirty="0"/>
              <a:t> </a:t>
            </a:r>
            <a:r>
              <a:rPr dirty="0" err="1"/>
              <a:t>항상</a:t>
            </a:r>
            <a:r>
              <a:rPr dirty="0"/>
              <a:t> </a:t>
            </a:r>
            <a:r>
              <a:rPr dirty="0" err="1"/>
              <a:t>좋은</a:t>
            </a:r>
            <a:r>
              <a:rPr dirty="0"/>
              <a:t> </a:t>
            </a:r>
            <a:r>
              <a:rPr dirty="0" err="1"/>
              <a:t>상태로</a:t>
            </a:r>
            <a:r>
              <a:rPr dirty="0"/>
              <a:t> </a:t>
            </a:r>
            <a:r>
              <a:rPr dirty="0" err="1"/>
              <a:t>들어오지</a:t>
            </a:r>
            <a:r>
              <a:rPr dirty="0"/>
              <a:t> </a:t>
            </a:r>
            <a:r>
              <a:rPr lang="ko-KR" altLang="en-US" dirty="0"/>
              <a:t>않고</a:t>
            </a:r>
            <a:r>
              <a:rPr lang="en-US" altLang="ko-KR" dirty="0"/>
              <a:t>, </a:t>
            </a:r>
            <a:r>
              <a:rPr dirty="0" err="1"/>
              <a:t>조명이</a:t>
            </a:r>
            <a:r>
              <a:rPr dirty="0"/>
              <a:t> </a:t>
            </a:r>
            <a:r>
              <a:rPr dirty="0" err="1"/>
              <a:t>나쁘거나</a:t>
            </a:r>
            <a:r>
              <a:rPr dirty="0"/>
              <a:t> </a:t>
            </a:r>
            <a:r>
              <a:rPr dirty="0" err="1"/>
              <a:t>학습이</a:t>
            </a:r>
            <a:r>
              <a:rPr dirty="0"/>
              <a:t> </a:t>
            </a:r>
            <a:r>
              <a:rPr dirty="0" err="1"/>
              <a:t>부족해</a:t>
            </a:r>
            <a:r>
              <a:rPr dirty="0"/>
              <a:t> </a:t>
            </a:r>
            <a:r>
              <a:rPr dirty="0" err="1"/>
              <a:t>이미지가</a:t>
            </a:r>
            <a:r>
              <a:rPr dirty="0"/>
              <a:t> </a:t>
            </a:r>
            <a:r>
              <a:rPr dirty="0" err="1"/>
              <a:t>약할</a:t>
            </a:r>
            <a:r>
              <a:rPr dirty="0"/>
              <a:t> 때, </a:t>
            </a:r>
            <a:r>
              <a:rPr dirty="0" err="1"/>
              <a:t>그걸</a:t>
            </a:r>
            <a:r>
              <a:rPr dirty="0"/>
              <a:t> </a:t>
            </a:r>
            <a:r>
              <a:rPr dirty="0" err="1"/>
              <a:t>결합하면</a:t>
            </a:r>
            <a:r>
              <a:rPr dirty="0"/>
              <a:t> </a:t>
            </a:r>
            <a:r>
              <a:rPr lang="ko-KR" altLang="en-US" dirty="0"/>
              <a:t>결과가 나빠지지 않을까 하는 의문이 들었습니다</a:t>
            </a:r>
            <a:r>
              <a:rPr dirty="0"/>
              <a:t>. </a:t>
            </a:r>
            <a:r>
              <a:rPr dirty="0" err="1"/>
              <a:t>그래서</a:t>
            </a:r>
            <a:r>
              <a:rPr dirty="0"/>
              <a:t> </a:t>
            </a:r>
            <a:r>
              <a:rPr dirty="0" err="1"/>
              <a:t>이미지</a:t>
            </a:r>
            <a:r>
              <a:rPr dirty="0"/>
              <a:t> </a:t>
            </a:r>
            <a:r>
              <a:rPr dirty="0" err="1"/>
              <a:t>모델을</a:t>
            </a:r>
            <a:r>
              <a:rPr dirty="0"/>
              <a:t> </a:t>
            </a:r>
            <a:r>
              <a:rPr dirty="0" err="1"/>
              <a:t>일부러</a:t>
            </a:r>
            <a:r>
              <a:rPr dirty="0"/>
              <a:t> 덜 </a:t>
            </a:r>
            <a:r>
              <a:rPr dirty="0" err="1"/>
              <a:t>학습시켜</a:t>
            </a:r>
            <a:r>
              <a:rPr dirty="0"/>
              <a:t> </a:t>
            </a:r>
            <a:r>
              <a:rPr dirty="0" err="1"/>
              <a:t>약하게</a:t>
            </a:r>
            <a:r>
              <a:rPr dirty="0"/>
              <a:t> </a:t>
            </a:r>
            <a:r>
              <a:rPr dirty="0" err="1"/>
              <a:t>만든</a:t>
            </a:r>
            <a:r>
              <a:rPr dirty="0"/>
              <a:t> </a:t>
            </a:r>
            <a:r>
              <a:rPr dirty="0" err="1"/>
              <a:t>경우와</a:t>
            </a:r>
            <a:r>
              <a:rPr dirty="0"/>
              <a:t>, </a:t>
            </a:r>
            <a:r>
              <a:rPr dirty="0" err="1"/>
              <a:t>충분히</a:t>
            </a:r>
            <a:r>
              <a:rPr dirty="0"/>
              <a:t> </a:t>
            </a:r>
            <a:r>
              <a:rPr dirty="0" err="1"/>
              <a:t>학습시켜</a:t>
            </a:r>
            <a:r>
              <a:rPr dirty="0"/>
              <a:t> </a:t>
            </a:r>
            <a:r>
              <a:rPr dirty="0" err="1"/>
              <a:t>강하게</a:t>
            </a:r>
            <a:r>
              <a:rPr dirty="0"/>
              <a:t> </a:t>
            </a:r>
            <a:r>
              <a:rPr dirty="0" err="1"/>
              <a:t>만든</a:t>
            </a:r>
            <a:r>
              <a:rPr dirty="0"/>
              <a:t> </a:t>
            </a:r>
            <a:r>
              <a:rPr dirty="0" err="1"/>
              <a:t>경우</a:t>
            </a:r>
            <a:r>
              <a:rPr dirty="0"/>
              <a:t> 두 </a:t>
            </a:r>
            <a:r>
              <a:rPr dirty="0" err="1"/>
              <a:t>가지를</a:t>
            </a:r>
            <a:r>
              <a:rPr dirty="0"/>
              <a:t> </a:t>
            </a:r>
            <a:r>
              <a:rPr dirty="0" err="1"/>
              <a:t>비교했습니다</a:t>
            </a:r>
            <a:r>
              <a:rPr dirty="0"/>
              <a:t>. </a:t>
            </a:r>
            <a:r>
              <a:rPr dirty="0" err="1"/>
              <a:t>결과를</a:t>
            </a:r>
            <a:r>
              <a:rPr dirty="0"/>
              <a:t> </a:t>
            </a:r>
            <a:r>
              <a:rPr dirty="0" err="1"/>
              <a:t>보시면</a:t>
            </a:r>
            <a:r>
              <a:rPr dirty="0"/>
              <a:t> </a:t>
            </a:r>
            <a:r>
              <a:rPr dirty="0" err="1"/>
              <a:t>이미지가</a:t>
            </a:r>
            <a:r>
              <a:rPr dirty="0"/>
              <a:t> </a:t>
            </a:r>
            <a:r>
              <a:rPr dirty="0" err="1"/>
              <a:t>약할</a:t>
            </a:r>
            <a:r>
              <a:rPr dirty="0"/>
              <a:t> 때 </a:t>
            </a:r>
            <a:r>
              <a:rPr dirty="0" err="1"/>
              <a:t>융합은</a:t>
            </a:r>
            <a:r>
              <a:rPr dirty="0"/>
              <a:t> </a:t>
            </a:r>
            <a:r>
              <a:rPr dirty="0" err="1"/>
              <a:t>센서와</a:t>
            </a:r>
            <a:r>
              <a:rPr dirty="0"/>
              <a:t> </a:t>
            </a:r>
            <a:r>
              <a:rPr dirty="0" err="1"/>
              <a:t>같은</a:t>
            </a:r>
            <a:r>
              <a:rPr dirty="0"/>
              <a:t> </a:t>
            </a:r>
            <a:r>
              <a:rPr dirty="0" err="1"/>
              <a:t>수준을</a:t>
            </a:r>
            <a:r>
              <a:rPr dirty="0"/>
              <a:t> </a:t>
            </a:r>
            <a:r>
              <a:rPr dirty="0" err="1"/>
              <a:t>그대로</a:t>
            </a:r>
            <a:r>
              <a:rPr dirty="0"/>
              <a:t> </a:t>
            </a:r>
            <a:r>
              <a:rPr dirty="0" err="1"/>
              <a:t>유지합니</a:t>
            </a:r>
            <a:r>
              <a:rPr lang="ko-KR" altLang="en-US" dirty="0"/>
              <a:t>다</a:t>
            </a:r>
            <a:r>
              <a:rPr dirty="0"/>
              <a:t>. </a:t>
            </a:r>
            <a:r>
              <a:rPr dirty="0" err="1"/>
              <a:t>반대로</a:t>
            </a:r>
            <a:r>
              <a:rPr dirty="0"/>
              <a:t> </a:t>
            </a:r>
            <a:r>
              <a:rPr dirty="0" err="1"/>
              <a:t>이미지가</a:t>
            </a:r>
            <a:r>
              <a:rPr dirty="0"/>
              <a:t> </a:t>
            </a:r>
            <a:r>
              <a:rPr dirty="0" err="1"/>
              <a:t>강할</a:t>
            </a:r>
            <a:r>
              <a:rPr dirty="0"/>
              <a:t> </a:t>
            </a:r>
            <a:r>
              <a:rPr dirty="0" err="1"/>
              <a:t>때는</a:t>
            </a:r>
            <a:r>
              <a:rPr dirty="0"/>
              <a:t> </a:t>
            </a:r>
            <a:r>
              <a:rPr dirty="0" err="1"/>
              <a:t>센서보다</a:t>
            </a:r>
            <a:r>
              <a:rPr dirty="0"/>
              <a:t> 약 0.06 </a:t>
            </a:r>
            <a:r>
              <a:rPr dirty="0" err="1"/>
              <a:t>향상됩니다</a:t>
            </a:r>
            <a:r>
              <a:rPr dirty="0"/>
              <a:t>. 즉 </a:t>
            </a:r>
            <a:r>
              <a:rPr dirty="0" err="1"/>
              <a:t>융합은</a:t>
            </a:r>
            <a:r>
              <a:rPr dirty="0"/>
              <a:t> </a:t>
            </a:r>
            <a:r>
              <a:rPr dirty="0" err="1"/>
              <a:t>이미지가</a:t>
            </a:r>
            <a:r>
              <a:rPr dirty="0"/>
              <a:t> </a:t>
            </a:r>
            <a:r>
              <a:rPr dirty="0" err="1"/>
              <a:t>도움이</a:t>
            </a:r>
            <a:r>
              <a:rPr dirty="0"/>
              <a:t> 안 </a:t>
            </a:r>
            <a:r>
              <a:rPr dirty="0" err="1"/>
              <a:t>되면</a:t>
            </a:r>
            <a:r>
              <a:rPr dirty="0"/>
              <a:t> </a:t>
            </a:r>
            <a:r>
              <a:rPr dirty="0" err="1"/>
              <a:t>센서</a:t>
            </a:r>
            <a:r>
              <a:rPr dirty="0"/>
              <a:t> </a:t>
            </a:r>
            <a:r>
              <a:rPr dirty="0" err="1"/>
              <a:t>수준을</a:t>
            </a:r>
            <a:r>
              <a:rPr dirty="0"/>
              <a:t> </a:t>
            </a:r>
            <a:r>
              <a:rPr dirty="0" err="1"/>
              <a:t>지키고</a:t>
            </a:r>
            <a:r>
              <a:rPr dirty="0"/>
              <a:t>, </a:t>
            </a:r>
            <a:r>
              <a:rPr dirty="0" err="1"/>
              <a:t>유용하면</a:t>
            </a:r>
            <a:r>
              <a:rPr dirty="0"/>
              <a:t> </a:t>
            </a:r>
            <a:r>
              <a:rPr dirty="0" err="1"/>
              <a:t>그만큼</a:t>
            </a:r>
            <a:r>
              <a:rPr dirty="0"/>
              <a:t> </a:t>
            </a:r>
            <a:r>
              <a:rPr dirty="0" err="1"/>
              <a:t>이득을</a:t>
            </a:r>
            <a:r>
              <a:rPr dirty="0"/>
              <a:t> </a:t>
            </a:r>
            <a:r>
              <a:rPr dirty="0" err="1"/>
              <a:t>가져갑니다</a:t>
            </a:r>
            <a:r>
              <a:rPr dirty="0"/>
              <a:t>. </a:t>
            </a:r>
            <a:r>
              <a:rPr dirty="0" err="1"/>
              <a:t>결측과</a:t>
            </a:r>
            <a:r>
              <a:rPr dirty="0"/>
              <a:t> </a:t>
            </a:r>
            <a:r>
              <a:rPr dirty="0" err="1"/>
              <a:t>품질</a:t>
            </a:r>
            <a:r>
              <a:rPr dirty="0"/>
              <a:t> </a:t>
            </a:r>
            <a:r>
              <a:rPr dirty="0" err="1"/>
              <a:t>저하가</a:t>
            </a:r>
            <a:r>
              <a:rPr dirty="0"/>
              <a:t> </a:t>
            </a:r>
            <a:r>
              <a:rPr dirty="0" err="1"/>
              <a:t>흔한</a:t>
            </a:r>
            <a:r>
              <a:rPr dirty="0"/>
              <a:t> </a:t>
            </a:r>
            <a:r>
              <a:rPr dirty="0" err="1"/>
              <a:t>실제</a:t>
            </a:r>
            <a:r>
              <a:rPr dirty="0"/>
              <a:t> </a:t>
            </a:r>
            <a:r>
              <a:rPr dirty="0" err="1"/>
              <a:t>산업</a:t>
            </a:r>
            <a:r>
              <a:rPr dirty="0"/>
              <a:t> </a:t>
            </a:r>
            <a:r>
              <a:rPr dirty="0" err="1"/>
              <a:t>현장에서</a:t>
            </a:r>
            <a:r>
              <a:rPr lang="en-US" dirty="0"/>
              <a:t> </a:t>
            </a:r>
            <a:r>
              <a:rPr lang="ko-KR" altLang="en-US" dirty="0"/>
              <a:t>이러한 특징이 유용할 것이라 생각됩니다</a:t>
            </a:r>
            <a:r>
              <a:rPr lang="en-US" altLang="ko-KR" dirty="0"/>
              <a:t>.</a:t>
            </a:r>
            <a:endParaRPr dirty="0"/>
          </a:p>
        </p:txBody>
      </p:sp>
      <p:sp>
        <p:nvSpPr>
          <p:cNvPr id="4" name="슬라이드 번호 개체 틀 3"/>
          <p:cNvSpPr>
            <a:spLocks noGrp="1"/>
          </p:cNvSpPr>
          <p:nvPr>
            <p:ph type="sldNum" sz="quarter" idx="5"/>
          </p:nvPr>
        </p:nvSpPr>
        <p:spPr/>
        <p:txBody>
          <a:bodyPr/>
          <a:lstStyle/>
          <a:p>
            <a:fld id="{F498DF1B-83BF-4DB2-ADDA-54159C83935C}" type="slidenum">
              <a:rPr lang="ko-KR" altLang="en-US" smtClean="0"/>
              <a:t>9</a:t>
            </a:fld>
            <a:endParaRPr lang="ko-KR" altLang="en-US"/>
          </a:p>
        </p:txBody>
      </p:sp>
    </p:spTree>
    <p:extLst>
      <p:ext uri="{BB962C8B-B14F-4D97-AF65-F5344CB8AC3E}">
        <p14:creationId xmlns:p14="http://schemas.microsoft.com/office/powerpoint/2010/main" val="8637029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결함</a:t>
            </a:r>
            <a:r>
              <a:rPr dirty="0"/>
              <a:t> </a:t>
            </a:r>
            <a:r>
              <a:rPr dirty="0" err="1"/>
              <a:t>유형별로</a:t>
            </a:r>
            <a:r>
              <a:rPr dirty="0"/>
              <a:t> </a:t>
            </a:r>
            <a:r>
              <a:rPr dirty="0" err="1"/>
              <a:t>모델이</a:t>
            </a:r>
            <a:r>
              <a:rPr dirty="0"/>
              <a:t> </a:t>
            </a:r>
            <a:r>
              <a:rPr dirty="0" err="1"/>
              <a:t>얼마나</a:t>
            </a:r>
            <a:r>
              <a:rPr dirty="0"/>
              <a:t> 잘 </a:t>
            </a:r>
            <a:r>
              <a:rPr dirty="0" err="1"/>
              <a:t>작동하는지</a:t>
            </a:r>
            <a:r>
              <a:rPr dirty="0"/>
              <a:t> </a:t>
            </a:r>
            <a:r>
              <a:rPr dirty="0" err="1"/>
              <a:t>분석한</a:t>
            </a:r>
            <a:r>
              <a:rPr dirty="0"/>
              <a:t> </a:t>
            </a:r>
            <a:r>
              <a:rPr dirty="0" err="1"/>
              <a:t>결과입니다</a:t>
            </a:r>
            <a:r>
              <a:rPr dirty="0"/>
              <a:t>. </a:t>
            </a:r>
            <a:r>
              <a:rPr dirty="0" err="1"/>
              <a:t>NoNose</a:t>
            </a:r>
            <a:r>
              <a:rPr dirty="0"/>
              <a:t> </a:t>
            </a:r>
            <a:r>
              <a:rPr dirty="0" err="1"/>
              <a:t>같은</a:t>
            </a:r>
            <a:r>
              <a:rPr dirty="0"/>
              <a:t> </a:t>
            </a:r>
            <a:r>
              <a:rPr dirty="0" err="1"/>
              <a:t>단순한</a:t>
            </a:r>
            <a:r>
              <a:rPr dirty="0"/>
              <a:t> </a:t>
            </a:r>
            <a:r>
              <a:rPr dirty="0" err="1"/>
              <a:t>단일</a:t>
            </a:r>
            <a:r>
              <a:rPr dirty="0"/>
              <a:t> </a:t>
            </a:r>
            <a:r>
              <a:rPr dirty="0" err="1"/>
              <a:t>부품</a:t>
            </a:r>
            <a:r>
              <a:rPr dirty="0"/>
              <a:t> </a:t>
            </a:r>
            <a:r>
              <a:rPr dirty="0" err="1"/>
              <a:t>결함은</a:t>
            </a:r>
            <a:r>
              <a:rPr dirty="0"/>
              <a:t> F1 0.98로 </a:t>
            </a:r>
            <a:r>
              <a:rPr dirty="0" err="1"/>
              <a:t>거의</a:t>
            </a:r>
            <a:r>
              <a:rPr dirty="0"/>
              <a:t> </a:t>
            </a:r>
            <a:r>
              <a:rPr dirty="0" err="1"/>
              <a:t>완벽하게</a:t>
            </a:r>
            <a:r>
              <a:rPr dirty="0"/>
              <a:t> </a:t>
            </a:r>
            <a:r>
              <a:rPr dirty="0" err="1"/>
              <a:t>검출됩니다</a:t>
            </a:r>
            <a:r>
              <a:rPr dirty="0"/>
              <a:t>. 두 </a:t>
            </a:r>
            <a:r>
              <a:rPr dirty="0" err="1"/>
              <a:t>부품이</a:t>
            </a:r>
            <a:r>
              <a:rPr dirty="0"/>
              <a:t> </a:t>
            </a:r>
            <a:r>
              <a:rPr dirty="0" err="1"/>
              <a:t>빠진</a:t>
            </a:r>
            <a:r>
              <a:rPr dirty="0"/>
              <a:t> </a:t>
            </a:r>
            <a:r>
              <a:rPr dirty="0" err="1"/>
              <a:t>복합</a:t>
            </a:r>
            <a:r>
              <a:rPr dirty="0"/>
              <a:t> </a:t>
            </a:r>
            <a:r>
              <a:rPr dirty="0" err="1"/>
              <a:t>결함은</a:t>
            </a:r>
            <a:r>
              <a:rPr dirty="0"/>
              <a:t> 0.89로 </a:t>
            </a:r>
            <a:r>
              <a:rPr dirty="0" err="1"/>
              <a:t>양호한</a:t>
            </a:r>
            <a:r>
              <a:rPr dirty="0"/>
              <a:t> </a:t>
            </a:r>
            <a:r>
              <a:rPr dirty="0" err="1"/>
              <a:t>편입니다</a:t>
            </a:r>
            <a:r>
              <a:rPr dirty="0"/>
              <a:t>. </a:t>
            </a:r>
            <a:r>
              <a:rPr dirty="0" err="1"/>
              <a:t>그런데</a:t>
            </a:r>
            <a:r>
              <a:rPr dirty="0"/>
              <a:t> 세 </a:t>
            </a:r>
            <a:r>
              <a:rPr dirty="0" err="1"/>
              <a:t>부품이</a:t>
            </a:r>
            <a:r>
              <a:rPr dirty="0"/>
              <a:t> </a:t>
            </a:r>
            <a:r>
              <a:rPr dirty="0" err="1"/>
              <a:t>동시에</a:t>
            </a:r>
            <a:r>
              <a:rPr dirty="0"/>
              <a:t> </a:t>
            </a:r>
            <a:r>
              <a:rPr dirty="0" err="1"/>
              <a:t>빠진</a:t>
            </a:r>
            <a:r>
              <a:rPr dirty="0"/>
              <a:t> </a:t>
            </a:r>
            <a:r>
              <a:rPr dirty="0" err="1"/>
              <a:t>가장</a:t>
            </a:r>
            <a:r>
              <a:rPr dirty="0"/>
              <a:t> </a:t>
            </a:r>
            <a:r>
              <a:rPr dirty="0" err="1"/>
              <a:t>복잡한</a:t>
            </a:r>
            <a:r>
              <a:rPr dirty="0"/>
              <a:t> </a:t>
            </a:r>
            <a:r>
              <a:rPr dirty="0" err="1"/>
              <a:t>결함은</a:t>
            </a:r>
            <a:r>
              <a:rPr dirty="0"/>
              <a:t> 0.62로 </a:t>
            </a:r>
            <a:r>
              <a:rPr dirty="0" err="1"/>
              <a:t>검출</a:t>
            </a:r>
            <a:r>
              <a:rPr dirty="0"/>
              <a:t> </a:t>
            </a:r>
            <a:r>
              <a:rPr dirty="0" err="1"/>
              <a:t>성능이</a:t>
            </a:r>
            <a:r>
              <a:rPr dirty="0"/>
              <a:t> </a:t>
            </a:r>
            <a:r>
              <a:rPr dirty="0" err="1"/>
              <a:t>크게</a:t>
            </a:r>
            <a:r>
              <a:rPr dirty="0"/>
              <a:t> </a:t>
            </a:r>
            <a:r>
              <a:rPr dirty="0" err="1"/>
              <a:t>떨어집니다</a:t>
            </a:r>
            <a:r>
              <a:rPr dirty="0"/>
              <a:t>. </a:t>
            </a:r>
            <a:r>
              <a:rPr dirty="0" err="1"/>
              <a:t>이는</a:t>
            </a:r>
            <a:r>
              <a:rPr dirty="0"/>
              <a:t> </a:t>
            </a:r>
            <a:r>
              <a:rPr dirty="0" err="1"/>
              <a:t>결함이</a:t>
            </a:r>
            <a:r>
              <a:rPr dirty="0"/>
              <a:t> </a:t>
            </a:r>
            <a:r>
              <a:rPr dirty="0" err="1"/>
              <a:t>누적될수록</a:t>
            </a:r>
            <a:r>
              <a:rPr dirty="0"/>
              <a:t> 각 </a:t>
            </a:r>
            <a:r>
              <a:rPr dirty="0" err="1"/>
              <a:t>결함</a:t>
            </a:r>
            <a:r>
              <a:rPr dirty="0"/>
              <a:t> </a:t>
            </a:r>
            <a:r>
              <a:rPr dirty="0" err="1"/>
              <a:t>유형의</a:t>
            </a:r>
            <a:r>
              <a:rPr dirty="0"/>
              <a:t> </a:t>
            </a:r>
            <a:r>
              <a:rPr dirty="0" err="1"/>
              <a:t>시각적·센서적</a:t>
            </a:r>
            <a:r>
              <a:rPr dirty="0"/>
              <a:t> </a:t>
            </a:r>
            <a:r>
              <a:rPr dirty="0" err="1"/>
              <a:t>특징이</a:t>
            </a:r>
            <a:r>
              <a:rPr dirty="0"/>
              <a:t> </a:t>
            </a:r>
            <a:r>
              <a:rPr dirty="0" err="1"/>
              <a:t>서로</a:t>
            </a:r>
            <a:r>
              <a:rPr dirty="0"/>
              <a:t> </a:t>
            </a:r>
            <a:r>
              <a:rPr dirty="0" err="1"/>
              <a:t>닮아져서</a:t>
            </a:r>
            <a:r>
              <a:rPr dirty="0"/>
              <a:t> </a:t>
            </a:r>
            <a:r>
              <a:rPr dirty="0" err="1"/>
              <a:t>모델이</a:t>
            </a:r>
            <a:r>
              <a:rPr dirty="0"/>
              <a:t> </a:t>
            </a:r>
            <a:r>
              <a:rPr dirty="0" err="1"/>
              <a:t>구분하기</a:t>
            </a:r>
            <a:r>
              <a:rPr dirty="0"/>
              <a:t> </a:t>
            </a:r>
            <a:r>
              <a:rPr dirty="0" err="1"/>
              <a:t>어려워지기</a:t>
            </a:r>
            <a:r>
              <a:rPr dirty="0"/>
              <a:t> </a:t>
            </a:r>
            <a:r>
              <a:rPr dirty="0" err="1"/>
              <a:t>때문입니다</a:t>
            </a:r>
            <a:r>
              <a:rPr dirty="0"/>
              <a:t>. </a:t>
            </a:r>
            <a:r>
              <a:rPr lang="ko-KR" altLang="en-US" dirty="0"/>
              <a:t>향후 이러한 부분을 개선한다면 더 나은 모델이 될 것이라 생각됩니다</a:t>
            </a:r>
            <a:r>
              <a:rPr lang="en-US" altLang="ko-KR" dirty="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dirty="0" err="1"/>
              <a:t>결론입니다</a:t>
            </a:r>
            <a:r>
              <a:rPr dirty="0"/>
              <a:t>. </a:t>
            </a:r>
            <a:r>
              <a:rPr dirty="0" err="1"/>
              <a:t>저희</a:t>
            </a:r>
            <a:r>
              <a:rPr dirty="0"/>
              <a:t> </a:t>
            </a:r>
            <a:r>
              <a:rPr dirty="0" err="1"/>
              <a:t>프로젝트는</a:t>
            </a:r>
            <a:r>
              <a:rPr dirty="0"/>
              <a:t> 세 </a:t>
            </a:r>
            <a:r>
              <a:rPr dirty="0" err="1"/>
              <a:t>가지를</a:t>
            </a:r>
            <a:r>
              <a:rPr dirty="0"/>
              <a:t> </a:t>
            </a:r>
            <a:r>
              <a:rPr dirty="0" err="1"/>
              <a:t>확인했습니다</a:t>
            </a:r>
            <a:r>
              <a:rPr dirty="0"/>
              <a:t>. </a:t>
            </a:r>
            <a:r>
              <a:rPr dirty="0" err="1"/>
              <a:t>첫째</a:t>
            </a:r>
            <a:r>
              <a:rPr dirty="0"/>
              <a:t>, 두 </a:t>
            </a:r>
            <a:r>
              <a:rPr dirty="0" err="1"/>
              <a:t>모달리티가</a:t>
            </a:r>
            <a:r>
              <a:rPr dirty="0"/>
              <a:t> </a:t>
            </a:r>
            <a:r>
              <a:rPr dirty="0" err="1"/>
              <a:t>함께</a:t>
            </a:r>
            <a:r>
              <a:rPr dirty="0"/>
              <a:t> </a:t>
            </a:r>
            <a:r>
              <a:rPr dirty="0" err="1"/>
              <a:t>입력되는</a:t>
            </a:r>
            <a:r>
              <a:rPr dirty="0"/>
              <a:t> </a:t>
            </a:r>
            <a:r>
              <a:rPr dirty="0" err="1"/>
              <a:t>시점에서</a:t>
            </a:r>
            <a:r>
              <a:rPr dirty="0"/>
              <a:t> </a:t>
            </a:r>
            <a:r>
              <a:rPr dirty="0" err="1"/>
              <a:t>융합</a:t>
            </a:r>
            <a:r>
              <a:rPr dirty="0"/>
              <a:t> </a:t>
            </a:r>
            <a:r>
              <a:rPr dirty="0" err="1"/>
              <a:t>모델이</a:t>
            </a:r>
            <a:r>
              <a:rPr dirty="0"/>
              <a:t> </a:t>
            </a:r>
            <a:r>
              <a:rPr dirty="0" err="1"/>
              <a:t>센서</a:t>
            </a:r>
            <a:r>
              <a:rPr dirty="0"/>
              <a:t> </a:t>
            </a:r>
            <a:r>
              <a:rPr dirty="0" err="1"/>
              <a:t>단독</a:t>
            </a:r>
            <a:r>
              <a:rPr dirty="0"/>
              <a:t> 0.907, </a:t>
            </a:r>
            <a:r>
              <a:rPr dirty="0" err="1"/>
              <a:t>이미지</a:t>
            </a:r>
            <a:r>
              <a:rPr dirty="0"/>
              <a:t> </a:t>
            </a:r>
            <a:r>
              <a:rPr dirty="0" err="1"/>
              <a:t>단독</a:t>
            </a:r>
            <a:r>
              <a:rPr dirty="0"/>
              <a:t> 0.925보다 </a:t>
            </a:r>
            <a:r>
              <a:rPr dirty="0" err="1"/>
              <a:t>높은</a:t>
            </a:r>
            <a:r>
              <a:rPr dirty="0"/>
              <a:t> F1 0.986을 </a:t>
            </a:r>
            <a:r>
              <a:rPr dirty="0" err="1"/>
              <a:t>기록했고</a:t>
            </a:r>
            <a:r>
              <a:rPr dirty="0"/>
              <a:t>, 이 </a:t>
            </a:r>
            <a:r>
              <a:rPr dirty="0" err="1"/>
              <a:t>차이는</a:t>
            </a:r>
            <a:r>
              <a:rPr dirty="0"/>
              <a:t> </a:t>
            </a:r>
            <a:r>
              <a:rPr dirty="0" err="1"/>
              <a:t>통계적으로도</a:t>
            </a:r>
            <a:r>
              <a:rPr dirty="0"/>
              <a:t> </a:t>
            </a:r>
            <a:r>
              <a:rPr dirty="0" err="1"/>
              <a:t>유의했습니다</a:t>
            </a:r>
            <a:r>
              <a:rPr dirty="0"/>
              <a:t>. </a:t>
            </a:r>
            <a:r>
              <a:rPr dirty="0" err="1"/>
              <a:t>둘째</a:t>
            </a:r>
            <a:r>
              <a:rPr dirty="0"/>
              <a:t>, </a:t>
            </a:r>
            <a:r>
              <a:rPr dirty="0" err="1"/>
              <a:t>이미지의</a:t>
            </a:r>
            <a:r>
              <a:rPr dirty="0"/>
              <a:t> </a:t>
            </a:r>
            <a:r>
              <a:rPr dirty="0" err="1"/>
              <a:t>강도를</a:t>
            </a:r>
            <a:r>
              <a:rPr dirty="0"/>
              <a:t> </a:t>
            </a:r>
            <a:r>
              <a:rPr dirty="0" err="1"/>
              <a:t>약하게도</a:t>
            </a:r>
            <a:r>
              <a:rPr dirty="0"/>
              <a:t> </a:t>
            </a:r>
            <a:r>
              <a:rPr dirty="0" err="1"/>
              <a:t>강하게도</a:t>
            </a:r>
            <a:r>
              <a:rPr dirty="0"/>
              <a:t> </a:t>
            </a:r>
            <a:r>
              <a:rPr dirty="0" err="1"/>
              <a:t>바꿔</a:t>
            </a:r>
            <a:r>
              <a:rPr dirty="0"/>
              <a:t> 본 </a:t>
            </a:r>
            <a:r>
              <a:rPr dirty="0" err="1"/>
              <a:t>결과</a:t>
            </a:r>
            <a:r>
              <a:rPr dirty="0"/>
              <a:t>, </a:t>
            </a:r>
            <a:r>
              <a:rPr dirty="0" err="1"/>
              <a:t>이미지가</a:t>
            </a:r>
            <a:r>
              <a:rPr dirty="0"/>
              <a:t> </a:t>
            </a:r>
            <a:r>
              <a:rPr dirty="0" err="1"/>
              <a:t>약할</a:t>
            </a:r>
            <a:r>
              <a:rPr dirty="0"/>
              <a:t> 때 </a:t>
            </a:r>
            <a:r>
              <a:rPr dirty="0" err="1"/>
              <a:t>융합은</a:t>
            </a:r>
            <a:r>
              <a:rPr dirty="0"/>
              <a:t> </a:t>
            </a:r>
            <a:r>
              <a:rPr dirty="0" err="1"/>
              <a:t>센서</a:t>
            </a:r>
            <a:r>
              <a:rPr dirty="0"/>
              <a:t> </a:t>
            </a:r>
            <a:r>
              <a:rPr dirty="0" err="1"/>
              <a:t>수준을</a:t>
            </a:r>
            <a:r>
              <a:rPr dirty="0"/>
              <a:t> </a:t>
            </a:r>
            <a:r>
              <a:rPr dirty="0" err="1"/>
              <a:t>안전하게</a:t>
            </a:r>
            <a:r>
              <a:rPr dirty="0"/>
              <a:t> </a:t>
            </a:r>
            <a:r>
              <a:rPr dirty="0" err="1"/>
              <a:t>유지하고</a:t>
            </a:r>
            <a:r>
              <a:rPr dirty="0"/>
              <a:t> </a:t>
            </a:r>
            <a:r>
              <a:rPr dirty="0" err="1"/>
              <a:t>이미지가</a:t>
            </a:r>
            <a:r>
              <a:rPr dirty="0"/>
              <a:t> </a:t>
            </a:r>
            <a:r>
              <a:rPr dirty="0" err="1"/>
              <a:t>강할</a:t>
            </a:r>
            <a:r>
              <a:rPr dirty="0"/>
              <a:t> </a:t>
            </a:r>
            <a:r>
              <a:rPr dirty="0" err="1"/>
              <a:t>때는</a:t>
            </a:r>
            <a:r>
              <a:rPr dirty="0"/>
              <a:t> </a:t>
            </a:r>
            <a:r>
              <a:rPr dirty="0" err="1"/>
              <a:t>그만큼</a:t>
            </a:r>
            <a:r>
              <a:rPr dirty="0"/>
              <a:t> </a:t>
            </a:r>
            <a:r>
              <a:rPr dirty="0" err="1"/>
              <a:t>이득을</a:t>
            </a:r>
            <a:r>
              <a:rPr dirty="0"/>
              <a:t> </a:t>
            </a:r>
            <a:r>
              <a:rPr dirty="0" err="1"/>
              <a:t>가져갔습니다</a:t>
            </a:r>
            <a:r>
              <a:rPr dirty="0"/>
              <a:t>. 즉 </a:t>
            </a:r>
            <a:r>
              <a:rPr dirty="0" err="1"/>
              <a:t>융합은</a:t>
            </a:r>
            <a:r>
              <a:rPr dirty="0"/>
              <a:t> </a:t>
            </a:r>
            <a:r>
              <a:rPr dirty="0" err="1"/>
              <a:t>손해</a:t>
            </a:r>
            <a:r>
              <a:rPr dirty="0"/>
              <a:t> </a:t>
            </a:r>
            <a:r>
              <a:rPr dirty="0" err="1"/>
              <a:t>없이</a:t>
            </a:r>
            <a:r>
              <a:rPr dirty="0"/>
              <a:t> </a:t>
            </a:r>
            <a:r>
              <a:rPr dirty="0" err="1"/>
              <a:t>작동하며</a:t>
            </a:r>
            <a:r>
              <a:rPr dirty="0"/>
              <a:t> </a:t>
            </a:r>
            <a:r>
              <a:rPr dirty="0" err="1"/>
              <a:t>정보가</a:t>
            </a:r>
            <a:r>
              <a:rPr dirty="0"/>
              <a:t> </a:t>
            </a:r>
            <a:r>
              <a:rPr dirty="0" err="1"/>
              <a:t>좋을수록</a:t>
            </a:r>
            <a:r>
              <a:rPr dirty="0"/>
              <a:t> 더 </a:t>
            </a:r>
            <a:r>
              <a:rPr dirty="0" err="1"/>
              <a:t>좋아집니다</a:t>
            </a:r>
            <a:r>
              <a:rPr dirty="0"/>
              <a:t>. </a:t>
            </a:r>
            <a:r>
              <a:rPr dirty="0" err="1"/>
              <a:t>셋째</a:t>
            </a:r>
            <a:r>
              <a:rPr dirty="0"/>
              <a:t>, </a:t>
            </a:r>
            <a:r>
              <a:rPr dirty="0" err="1"/>
              <a:t>이미지가</a:t>
            </a:r>
            <a:r>
              <a:rPr dirty="0"/>
              <a:t> </a:t>
            </a:r>
            <a:r>
              <a:rPr dirty="0" err="1"/>
              <a:t>들어오지</a:t>
            </a:r>
            <a:r>
              <a:rPr dirty="0"/>
              <a:t> </a:t>
            </a:r>
            <a:r>
              <a:rPr dirty="0" err="1"/>
              <a:t>않는</a:t>
            </a:r>
            <a:r>
              <a:rPr dirty="0"/>
              <a:t> </a:t>
            </a:r>
            <a:r>
              <a:rPr dirty="0" err="1"/>
              <a:t>시점에는</a:t>
            </a:r>
            <a:r>
              <a:rPr dirty="0"/>
              <a:t> </a:t>
            </a:r>
            <a:r>
              <a:rPr dirty="0" err="1"/>
              <a:t>자동으로</a:t>
            </a:r>
            <a:r>
              <a:rPr dirty="0"/>
              <a:t> </a:t>
            </a:r>
            <a:r>
              <a:rPr dirty="0" err="1"/>
              <a:t>센서</a:t>
            </a:r>
            <a:r>
              <a:rPr dirty="0"/>
              <a:t> </a:t>
            </a:r>
            <a:r>
              <a:rPr dirty="0" err="1"/>
              <a:t>모델만</a:t>
            </a:r>
            <a:r>
              <a:rPr dirty="0"/>
              <a:t> </a:t>
            </a:r>
            <a:r>
              <a:rPr dirty="0" err="1"/>
              <a:t>사용하도록</a:t>
            </a:r>
            <a:r>
              <a:rPr dirty="0"/>
              <a:t> </a:t>
            </a:r>
            <a:r>
              <a:rPr dirty="0" err="1"/>
              <a:t>설계해서</a:t>
            </a:r>
            <a:r>
              <a:rPr dirty="0"/>
              <a:t>, </a:t>
            </a:r>
            <a:r>
              <a:rPr dirty="0" err="1"/>
              <a:t>결측</a:t>
            </a:r>
            <a:r>
              <a:rPr dirty="0"/>
              <a:t> </a:t>
            </a:r>
            <a:r>
              <a:rPr dirty="0" err="1"/>
              <a:t>상황에서도</a:t>
            </a:r>
            <a:r>
              <a:rPr dirty="0"/>
              <a:t> </a:t>
            </a:r>
            <a:r>
              <a:rPr dirty="0" err="1"/>
              <a:t>시스템이</a:t>
            </a:r>
            <a:r>
              <a:rPr dirty="0"/>
              <a:t> </a:t>
            </a:r>
            <a:r>
              <a:rPr dirty="0" err="1"/>
              <a:t>안정적으로</a:t>
            </a:r>
            <a:r>
              <a:rPr dirty="0"/>
              <a:t> </a:t>
            </a:r>
            <a:r>
              <a:rPr dirty="0" err="1"/>
              <a:t>작동합니다</a:t>
            </a:r>
            <a:r>
              <a:rPr dirty="0"/>
              <a:t>. 즉 </a:t>
            </a:r>
            <a:r>
              <a:rPr dirty="0" err="1"/>
              <a:t>저희</a:t>
            </a:r>
            <a:r>
              <a:rPr dirty="0"/>
              <a:t> </a:t>
            </a:r>
            <a:r>
              <a:rPr dirty="0" err="1"/>
              <a:t>프로젝트의</a:t>
            </a:r>
            <a:r>
              <a:rPr dirty="0"/>
              <a:t> </a:t>
            </a:r>
            <a:r>
              <a:rPr dirty="0" err="1"/>
              <a:t>의의는</a:t>
            </a:r>
            <a:r>
              <a:rPr dirty="0"/>
              <a:t> </a:t>
            </a:r>
            <a:r>
              <a:rPr dirty="0" err="1"/>
              <a:t>단순히</a:t>
            </a:r>
            <a:r>
              <a:rPr dirty="0"/>
              <a:t> </a:t>
            </a:r>
            <a:r>
              <a:rPr dirty="0" err="1"/>
              <a:t>멀티모달이</a:t>
            </a:r>
            <a:r>
              <a:rPr dirty="0"/>
              <a:t> </a:t>
            </a:r>
            <a:r>
              <a:rPr dirty="0" err="1"/>
              <a:t>좋다는</a:t>
            </a:r>
            <a:r>
              <a:rPr dirty="0"/>
              <a:t> </a:t>
            </a:r>
            <a:r>
              <a:rPr dirty="0" err="1"/>
              <a:t>결론을</a:t>
            </a:r>
            <a:r>
              <a:rPr dirty="0"/>
              <a:t> </a:t>
            </a:r>
            <a:r>
              <a:rPr dirty="0" err="1"/>
              <a:t>내리는</a:t>
            </a:r>
            <a:r>
              <a:rPr dirty="0"/>
              <a:t> </a:t>
            </a:r>
            <a:r>
              <a:rPr dirty="0" err="1"/>
              <a:t>것이</a:t>
            </a:r>
            <a:r>
              <a:rPr dirty="0"/>
              <a:t> </a:t>
            </a:r>
            <a:r>
              <a:rPr dirty="0" err="1"/>
              <a:t>아니라</a:t>
            </a:r>
            <a:r>
              <a:rPr dirty="0"/>
              <a:t>, </a:t>
            </a:r>
            <a:r>
              <a:rPr dirty="0" err="1"/>
              <a:t>어떤</a:t>
            </a:r>
            <a:r>
              <a:rPr dirty="0"/>
              <a:t> </a:t>
            </a:r>
            <a:r>
              <a:rPr dirty="0" err="1"/>
              <a:t>조건에서</a:t>
            </a:r>
            <a:r>
              <a:rPr dirty="0"/>
              <a:t> </a:t>
            </a:r>
            <a:r>
              <a:rPr dirty="0" err="1"/>
              <a:t>어떻게</a:t>
            </a:r>
            <a:r>
              <a:rPr dirty="0"/>
              <a:t> </a:t>
            </a:r>
            <a:r>
              <a:rPr dirty="0" err="1"/>
              <a:t>좋은지를</a:t>
            </a:r>
            <a:r>
              <a:rPr dirty="0"/>
              <a:t> </a:t>
            </a:r>
            <a:r>
              <a:rPr dirty="0" err="1"/>
              <a:t>실험으로</a:t>
            </a:r>
            <a:r>
              <a:rPr dirty="0"/>
              <a:t> </a:t>
            </a:r>
            <a:r>
              <a:rPr dirty="0" err="1"/>
              <a:t>밝히고</a:t>
            </a:r>
            <a:r>
              <a:rPr dirty="0"/>
              <a:t>, </a:t>
            </a:r>
            <a:r>
              <a:rPr dirty="0" err="1"/>
              <a:t>실제</a:t>
            </a:r>
            <a:r>
              <a:rPr dirty="0"/>
              <a:t> </a:t>
            </a:r>
            <a:r>
              <a:rPr dirty="0" err="1"/>
              <a:t>산업</a:t>
            </a:r>
            <a:r>
              <a:rPr dirty="0"/>
              <a:t> </a:t>
            </a:r>
            <a:r>
              <a:rPr dirty="0" err="1"/>
              <a:t>환경에</a:t>
            </a:r>
            <a:r>
              <a:rPr dirty="0"/>
              <a:t> </a:t>
            </a:r>
            <a:r>
              <a:rPr dirty="0" err="1"/>
              <a:t>적용</a:t>
            </a:r>
            <a:r>
              <a:rPr dirty="0"/>
              <a:t> </a:t>
            </a:r>
            <a:r>
              <a:rPr dirty="0" err="1"/>
              <a:t>가능한</a:t>
            </a:r>
            <a:r>
              <a:rPr dirty="0"/>
              <a:t> </a:t>
            </a:r>
            <a:r>
              <a:rPr dirty="0" err="1"/>
              <a:t>구조를</a:t>
            </a:r>
            <a:r>
              <a:rPr lang="en-US" dirty="0"/>
              <a:t> </a:t>
            </a:r>
            <a:r>
              <a:rPr lang="ko-KR" altLang="en-US" dirty="0"/>
              <a:t>고려하여</a:t>
            </a:r>
            <a:r>
              <a:rPr dirty="0"/>
              <a:t> </a:t>
            </a:r>
            <a:r>
              <a:rPr dirty="0" err="1"/>
              <a:t>설계했다는</a:t>
            </a:r>
            <a:r>
              <a:rPr dirty="0"/>
              <a:t> </a:t>
            </a:r>
            <a:r>
              <a:rPr dirty="0" err="1"/>
              <a:t>점입니다</a:t>
            </a:r>
            <a:r>
              <a:rPr dirty="0"/>
              <a:t>.</a:t>
            </a:r>
          </a:p>
        </p:txBody>
      </p:sp>
      <p:sp>
        <p:nvSpPr>
          <p:cNvPr id="4" name="슬라이드 번호 개체 틀 3"/>
          <p:cNvSpPr>
            <a:spLocks noGrp="1"/>
          </p:cNvSpPr>
          <p:nvPr>
            <p:ph type="sldNum" sz="quarter" idx="5"/>
          </p:nvPr>
        </p:nvSpPr>
        <p:spPr/>
        <p:txBody>
          <a:bodyPr/>
          <a:lstStyle/>
          <a:p>
            <a:fld id="{F498DF1B-83BF-4DB2-ADDA-54159C83935C}" type="slidenum">
              <a:rPr lang="ko-KR" altLang="en-US" smtClean="0"/>
              <a:t>11</a:t>
            </a:fld>
            <a:endParaRPr lang="ko-KR" altLang="en-US"/>
          </a:p>
        </p:txBody>
      </p:sp>
    </p:spTree>
    <p:extLst>
      <p:ext uri="{BB962C8B-B14F-4D97-AF65-F5344CB8AC3E}">
        <p14:creationId xmlns:p14="http://schemas.microsoft.com/office/powerpoint/2010/main" val="9509602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한계도</a:t>
            </a:r>
            <a:r>
              <a:rPr dirty="0"/>
              <a:t> </a:t>
            </a:r>
            <a:r>
              <a:rPr dirty="0" err="1"/>
              <a:t>분명히</a:t>
            </a:r>
            <a:r>
              <a:rPr dirty="0"/>
              <a:t> </a:t>
            </a:r>
            <a:r>
              <a:rPr dirty="0" err="1"/>
              <a:t>있습니다</a:t>
            </a:r>
            <a:r>
              <a:rPr dirty="0"/>
              <a:t>. </a:t>
            </a:r>
            <a:r>
              <a:rPr dirty="0" err="1"/>
              <a:t>첫째</a:t>
            </a:r>
            <a:r>
              <a:rPr dirty="0"/>
              <a:t>, </a:t>
            </a:r>
            <a:r>
              <a:rPr dirty="0" err="1"/>
              <a:t>단일</a:t>
            </a:r>
            <a:r>
              <a:rPr dirty="0"/>
              <a:t> </a:t>
            </a:r>
            <a:r>
              <a:rPr dirty="0" err="1"/>
              <a:t>데이터셋으로만</a:t>
            </a:r>
            <a:r>
              <a:rPr dirty="0"/>
              <a:t> </a:t>
            </a:r>
            <a:r>
              <a:rPr dirty="0" err="1"/>
              <a:t>검증해서</a:t>
            </a:r>
            <a:r>
              <a:rPr dirty="0"/>
              <a:t> </a:t>
            </a:r>
            <a:r>
              <a:rPr dirty="0" err="1"/>
              <a:t>다른</a:t>
            </a:r>
            <a:r>
              <a:rPr dirty="0"/>
              <a:t> </a:t>
            </a:r>
            <a:r>
              <a:rPr dirty="0" err="1"/>
              <a:t>제조</a:t>
            </a:r>
            <a:r>
              <a:rPr dirty="0"/>
              <a:t> </a:t>
            </a:r>
            <a:r>
              <a:rPr dirty="0" err="1"/>
              <a:t>환경에서도</a:t>
            </a:r>
            <a:r>
              <a:rPr dirty="0"/>
              <a:t> </a:t>
            </a:r>
            <a:r>
              <a:rPr dirty="0" err="1"/>
              <a:t>같은</a:t>
            </a:r>
            <a:r>
              <a:rPr dirty="0"/>
              <a:t> </a:t>
            </a:r>
            <a:r>
              <a:rPr dirty="0" err="1"/>
              <a:t>효과가</a:t>
            </a:r>
            <a:r>
              <a:rPr dirty="0"/>
              <a:t> </a:t>
            </a:r>
            <a:r>
              <a:rPr dirty="0" err="1"/>
              <a:t>나타날지는</a:t>
            </a:r>
            <a:r>
              <a:rPr dirty="0"/>
              <a:t> </a:t>
            </a:r>
            <a:r>
              <a:rPr dirty="0" err="1"/>
              <a:t>추가</a:t>
            </a:r>
            <a:r>
              <a:rPr dirty="0"/>
              <a:t> </a:t>
            </a:r>
            <a:r>
              <a:rPr dirty="0" err="1"/>
              <a:t>검증이</a:t>
            </a:r>
            <a:r>
              <a:rPr dirty="0"/>
              <a:t> </a:t>
            </a:r>
            <a:r>
              <a:rPr dirty="0" err="1"/>
              <a:t>필요합니다</a:t>
            </a:r>
            <a:r>
              <a:rPr dirty="0"/>
              <a:t>. </a:t>
            </a:r>
            <a:r>
              <a:rPr dirty="0" err="1"/>
              <a:t>둘째</a:t>
            </a:r>
            <a:r>
              <a:rPr dirty="0"/>
              <a:t>, </a:t>
            </a:r>
            <a:r>
              <a:rPr dirty="0" err="1"/>
              <a:t>융합의</a:t>
            </a:r>
            <a:r>
              <a:rPr dirty="0"/>
              <a:t> </a:t>
            </a:r>
            <a:r>
              <a:rPr dirty="0" err="1"/>
              <a:t>이득은</a:t>
            </a:r>
            <a:r>
              <a:rPr dirty="0"/>
              <a:t> </a:t>
            </a:r>
            <a:r>
              <a:rPr dirty="0" err="1"/>
              <a:t>이미지가</a:t>
            </a:r>
            <a:r>
              <a:rPr dirty="0"/>
              <a:t> </a:t>
            </a:r>
            <a:r>
              <a:rPr dirty="0" err="1"/>
              <a:t>실제로</a:t>
            </a:r>
            <a:r>
              <a:rPr dirty="0"/>
              <a:t> </a:t>
            </a:r>
            <a:r>
              <a:rPr dirty="0" err="1"/>
              <a:t>들어오는</a:t>
            </a:r>
            <a:r>
              <a:rPr dirty="0"/>
              <a:t> </a:t>
            </a:r>
            <a:r>
              <a:rPr dirty="0" err="1"/>
              <a:t>시점</a:t>
            </a:r>
            <a:r>
              <a:rPr dirty="0"/>
              <a:t>, 즉 </a:t>
            </a:r>
            <a:r>
              <a:rPr dirty="0" err="1"/>
              <a:t>전체의</a:t>
            </a:r>
            <a:r>
              <a:rPr dirty="0"/>
              <a:t> 약 41% </a:t>
            </a:r>
            <a:r>
              <a:rPr dirty="0" err="1"/>
              <a:t>구간에</a:t>
            </a:r>
            <a:r>
              <a:rPr dirty="0"/>
              <a:t> </a:t>
            </a:r>
            <a:r>
              <a:rPr dirty="0" err="1"/>
              <a:t>집중됩니다</a:t>
            </a:r>
            <a:r>
              <a:rPr dirty="0"/>
              <a:t>. 이 </a:t>
            </a:r>
            <a:r>
              <a:rPr dirty="0" err="1"/>
              <a:t>구간에선</a:t>
            </a:r>
            <a:r>
              <a:rPr dirty="0"/>
              <a:t> </a:t>
            </a:r>
            <a:r>
              <a:rPr dirty="0" err="1"/>
              <a:t>향상이</a:t>
            </a:r>
            <a:r>
              <a:rPr dirty="0"/>
              <a:t> </a:t>
            </a:r>
            <a:r>
              <a:rPr dirty="0" err="1"/>
              <a:t>뚜렷하고</a:t>
            </a:r>
            <a:r>
              <a:rPr dirty="0"/>
              <a:t> </a:t>
            </a:r>
            <a:r>
              <a:rPr dirty="0" err="1"/>
              <a:t>통계적으로</a:t>
            </a:r>
            <a:r>
              <a:rPr dirty="0"/>
              <a:t> </a:t>
            </a:r>
            <a:r>
              <a:rPr dirty="0" err="1"/>
              <a:t>유의했지만</a:t>
            </a:r>
            <a:r>
              <a:rPr dirty="0"/>
              <a:t>, </a:t>
            </a:r>
            <a:r>
              <a:rPr dirty="0" err="1"/>
              <a:t>전체</a:t>
            </a:r>
            <a:r>
              <a:rPr dirty="0"/>
              <a:t> </a:t>
            </a:r>
            <a:r>
              <a:rPr dirty="0" err="1"/>
              <a:t>시점으로</a:t>
            </a:r>
            <a:r>
              <a:rPr dirty="0"/>
              <a:t> </a:t>
            </a:r>
            <a:r>
              <a:rPr dirty="0" err="1"/>
              <a:t>평균을</a:t>
            </a:r>
            <a:r>
              <a:rPr dirty="0"/>
              <a:t> </a:t>
            </a:r>
            <a:r>
              <a:rPr dirty="0" err="1"/>
              <a:t>내면</a:t>
            </a:r>
            <a:r>
              <a:rPr dirty="0"/>
              <a:t> </a:t>
            </a:r>
            <a:r>
              <a:rPr dirty="0" err="1"/>
              <a:t>이득의</a:t>
            </a:r>
            <a:r>
              <a:rPr dirty="0"/>
              <a:t> </a:t>
            </a:r>
            <a:r>
              <a:rPr dirty="0" err="1"/>
              <a:t>폭은</a:t>
            </a:r>
            <a:r>
              <a:rPr dirty="0"/>
              <a:t> </a:t>
            </a:r>
            <a:r>
              <a:rPr dirty="0" err="1"/>
              <a:t>줄어듭니다</a:t>
            </a:r>
            <a:r>
              <a:rPr dirty="0"/>
              <a:t>. </a:t>
            </a:r>
            <a:r>
              <a:rPr dirty="0" err="1"/>
              <a:t>따라서</a:t>
            </a:r>
            <a:r>
              <a:rPr dirty="0"/>
              <a:t> </a:t>
            </a:r>
            <a:r>
              <a:rPr dirty="0" err="1"/>
              <a:t>이미지</a:t>
            </a:r>
            <a:r>
              <a:rPr dirty="0"/>
              <a:t> </a:t>
            </a:r>
            <a:r>
              <a:rPr dirty="0" err="1"/>
              <a:t>커버리지를</a:t>
            </a:r>
            <a:r>
              <a:rPr dirty="0"/>
              <a:t> 더 </a:t>
            </a:r>
            <a:r>
              <a:rPr dirty="0" err="1"/>
              <a:t>넓히는</a:t>
            </a:r>
            <a:r>
              <a:rPr dirty="0"/>
              <a:t> </a:t>
            </a:r>
            <a:r>
              <a:rPr dirty="0" err="1"/>
              <a:t>것이</a:t>
            </a:r>
            <a:r>
              <a:rPr dirty="0"/>
              <a:t> </a:t>
            </a:r>
            <a:r>
              <a:rPr dirty="0" err="1"/>
              <a:t>중요한</a:t>
            </a:r>
            <a:r>
              <a:rPr dirty="0"/>
              <a:t> </a:t>
            </a:r>
            <a:r>
              <a:rPr dirty="0" err="1"/>
              <a:t>과제입니다</a:t>
            </a:r>
            <a:r>
              <a:rPr dirty="0"/>
              <a:t>. </a:t>
            </a:r>
            <a:r>
              <a:rPr dirty="0" err="1"/>
              <a:t>셋째</a:t>
            </a:r>
            <a:r>
              <a:rPr dirty="0"/>
              <a:t>, 세 </a:t>
            </a:r>
            <a:r>
              <a:rPr dirty="0" err="1"/>
              <a:t>부품이</a:t>
            </a:r>
            <a:r>
              <a:rPr dirty="0"/>
              <a:t> </a:t>
            </a:r>
            <a:r>
              <a:rPr dirty="0" err="1"/>
              <a:t>동시에</a:t>
            </a:r>
            <a:r>
              <a:rPr dirty="0"/>
              <a:t> </a:t>
            </a:r>
            <a:r>
              <a:rPr dirty="0" err="1"/>
              <a:t>빠진</a:t>
            </a:r>
            <a:r>
              <a:rPr dirty="0"/>
              <a:t> </a:t>
            </a:r>
            <a:r>
              <a:rPr dirty="0" err="1"/>
              <a:t>복합</a:t>
            </a:r>
            <a:r>
              <a:rPr dirty="0"/>
              <a:t> </a:t>
            </a:r>
            <a:r>
              <a:rPr dirty="0" err="1"/>
              <a:t>결함은</a:t>
            </a:r>
            <a:r>
              <a:rPr dirty="0"/>
              <a:t> F1 0.62로 </a:t>
            </a:r>
            <a:r>
              <a:rPr dirty="0" err="1"/>
              <a:t>개선</a:t>
            </a:r>
            <a:r>
              <a:rPr dirty="0"/>
              <a:t> </a:t>
            </a:r>
            <a:r>
              <a:rPr dirty="0" err="1"/>
              <a:t>여지가</a:t>
            </a:r>
            <a:r>
              <a:rPr dirty="0"/>
              <a:t> </a:t>
            </a:r>
            <a:r>
              <a:rPr dirty="0" err="1"/>
              <a:t>큽니다</a:t>
            </a:r>
            <a:r>
              <a:rPr dirty="0"/>
              <a:t>. </a:t>
            </a:r>
            <a:r>
              <a:rPr dirty="0" err="1"/>
              <a:t>향후</a:t>
            </a:r>
            <a:r>
              <a:rPr dirty="0"/>
              <a:t> </a:t>
            </a:r>
            <a:r>
              <a:rPr lang="ko-KR" altLang="en-US" dirty="0"/>
              <a:t>개선 </a:t>
            </a:r>
            <a:r>
              <a:rPr dirty="0" err="1"/>
              <a:t>방향은</a:t>
            </a:r>
            <a:r>
              <a:rPr dirty="0"/>
              <a:t> </a:t>
            </a:r>
            <a:r>
              <a:rPr dirty="0" err="1"/>
              <a:t>다른</a:t>
            </a:r>
            <a:r>
              <a:rPr dirty="0"/>
              <a:t> </a:t>
            </a:r>
            <a:r>
              <a:rPr dirty="0" err="1"/>
              <a:t>제조</a:t>
            </a:r>
            <a:r>
              <a:rPr dirty="0"/>
              <a:t> </a:t>
            </a:r>
            <a:r>
              <a:rPr dirty="0" err="1"/>
              <a:t>환경</a:t>
            </a:r>
            <a:r>
              <a:rPr dirty="0"/>
              <a:t> </a:t>
            </a:r>
            <a:r>
              <a:rPr dirty="0" err="1"/>
              <a:t>데이터로</a:t>
            </a:r>
            <a:r>
              <a:rPr dirty="0"/>
              <a:t> </a:t>
            </a:r>
            <a:r>
              <a:rPr dirty="0" err="1"/>
              <a:t>일반화</a:t>
            </a:r>
            <a:r>
              <a:rPr dirty="0"/>
              <a:t> </a:t>
            </a:r>
            <a:r>
              <a:rPr dirty="0" err="1"/>
              <a:t>검증</a:t>
            </a:r>
            <a:r>
              <a:rPr dirty="0"/>
              <a:t>, </a:t>
            </a:r>
            <a:r>
              <a:rPr dirty="0" err="1"/>
              <a:t>도메인</a:t>
            </a:r>
            <a:r>
              <a:rPr dirty="0"/>
              <a:t> </a:t>
            </a:r>
            <a:r>
              <a:rPr dirty="0" err="1"/>
              <a:t>지식을</a:t>
            </a:r>
            <a:r>
              <a:rPr dirty="0"/>
              <a:t> </a:t>
            </a:r>
            <a:r>
              <a:rPr dirty="0" err="1"/>
              <a:t>학습에</a:t>
            </a:r>
            <a:r>
              <a:rPr dirty="0"/>
              <a:t> </a:t>
            </a:r>
            <a:r>
              <a:rPr dirty="0" err="1"/>
              <a:t>반영하는</a:t>
            </a:r>
            <a:r>
              <a:rPr dirty="0"/>
              <a:t> Knowledge Infusion, </a:t>
            </a:r>
            <a:r>
              <a:rPr dirty="0" err="1"/>
              <a:t>그리고</a:t>
            </a:r>
            <a:r>
              <a:rPr dirty="0"/>
              <a:t> </a:t>
            </a:r>
            <a:r>
              <a:rPr dirty="0" err="1"/>
              <a:t>복합</a:t>
            </a:r>
            <a:r>
              <a:rPr dirty="0"/>
              <a:t> </a:t>
            </a:r>
            <a:r>
              <a:rPr dirty="0" err="1"/>
              <a:t>결함을</a:t>
            </a:r>
            <a:r>
              <a:rPr dirty="0"/>
              <a:t> </a:t>
            </a:r>
            <a:r>
              <a:rPr dirty="0" err="1"/>
              <a:t>위한</a:t>
            </a:r>
            <a:r>
              <a:rPr dirty="0"/>
              <a:t> </a:t>
            </a:r>
            <a:r>
              <a:rPr dirty="0" err="1"/>
              <a:t>특화</a:t>
            </a:r>
            <a:r>
              <a:rPr dirty="0"/>
              <a:t> </a:t>
            </a:r>
            <a:r>
              <a:rPr dirty="0" err="1"/>
              <a:t>모델이나</a:t>
            </a:r>
            <a:r>
              <a:rPr dirty="0"/>
              <a:t> </a:t>
            </a:r>
            <a:r>
              <a:rPr dirty="0" err="1"/>
              <a:t>데이터</a:t>
            </a:r>
            <a:r>
              <a:rPr dirty="0"/>
              <a:t> </a:t>
            </a:r>
            <a:r>
              <a:rPr dirty="0" err="1"/>
              <a:t>증강</a:t>
            </a:r>
            <a:r>
              <a:rPr lang="en-US" dirty="0"/>
              <a:t> </a:t>
            </a:r>
            <a:r>
              <a:rPr lang="ko-KR" altLang="en-US" dirty="0"/>
              <a:t>등이 있습니다</a:t>
            </a:r>
            <a:r>
              <a:rPr lang="en-US" altLang="ko-KR" dirty="0"/>
              <a: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이상으로 발표를 마치겠습니다. 감사합니다. 질문 받겠습니다.</a:t>
            </a:r>
          </a:p>
        </p:txBody>
      </p:sp>
      <p:sp>
        <p:nvSpPr>
          <p:cNvPr id="4" name="슬라이드 번호 개체 틀 3"/>
          <p:cNvSpPr>
            <a:spLocks noGrp="1"/>
          </p:cNvSpPr>
          <p:nvPr>
            <p:ph type="sldNum" sz="quarter" idx="5"/>
          </p:nvPr>
        </p:nvSpPr>
        <p:spPr/>
        <p:txBody>
          <a:bodyPr/>
          <a:lstStyle/>
          <a:p>
            <a:fld id="{F498DF1B-83BF-4DB2-ADDA-54159C83935C}" type="slidenum">
              <a:rPr lang="ko-KR" altLang="en-US" smtClean="0"/>
              <a:t>13</a:t>
            </a:fld>
            <a:endParaRPr lang="ko-KR" altLang="en-US"/>
          </a:p>
        </p:txBody>
      </p:sp>
    </p:spTree>
    <p:extLst>
      <p:ext uri="{BB962C8B-B14F-4D97-AF65-F5344CB8AC3E}">
        <p14:creationId xmlns:p14="http://schemas.microsoft.com/office/powerpoint/2010/main" val="69453913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a:p>
        </p:txBody>
      </p:sp>
      <p:sp>
        <p:nvSpPr>
          <p:cNvPr id="4" name="Date Placeholder 3"/>
          <p:cNvSpPr>
            <a:spLocks noGrp="1"/>
          </p:cNvSpPr>
          <p:nvPr>
            <p:ph type="dt" sz="half" idx="10"/>
          </p:nvPr>
        </p:nvSpPr>
        <p:spPr/>
        <p:txBody>
          <a:bodyPr/>
          <a:lstStyle/>
          <a:p>
            <a:fld id="{3E3DD42A-90C7-487F-8239-3BC9C7AE3FA4}" type="datetimeFigureOut">
              <a:rPr lang="ko-KR" altLang="en-US" smtClean="0"/>
              <a:t>2026-06-08</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D469D645-73ED-4348-97C8-7DB3ADE2B2C4}" type="slidenum">
              <a:rPr lang="ko-KR" altLang="en-US" smtClean="0"/>
              <a:t>‹#›</a:t>
            </a:fld>
            <a:endParaRPr lang="ko-KR" altLang="en-US"/>
          </a:p>
        </p:txBody>
      </p:sp>
    </p:spTree>
    <p:extLst>
      <p:ext uri="{BB962C8B-B14F-4D97-AF65-F5344CB8AC3E}">
        <p14:creationId xmlns:p14="http://schemas.microsoft.com/office/powerpoint/2010/main" val="28089316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3E3DD42A-90C7-487F-8239-3BC9C7AE3FA4}" type="datetimeFigureOut">
              <a:rPr lang="ko-KR" altLang="en-US" smtClean="0"/>
              <a:t>2026-06-08</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D469D645-73ED-4348-97C8-7DB3ADE2B2C4}" type="slidenum">
              <a:rPr lang="ko-KR" altLang="en-US" smtClean="0"/>
              <a:t>‹#›</a:t>
            </a:fld>
            <a:endParaRPr lang="ko-KR" altLang="en-US"/>
          </a:p>
        </p:txBody>
      </p:sp>
    </p:spTree>
    <p:extLst>
      <p:ext uri="{BB962C8B-B14F-4D97-AF65-F5344CB8AC3E}">
        <p14:creationId xmlns:p14="http://schemas.microsoft.com/office/powerpoint/2010/main" val="40916993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a:p>
        </p:txBody>
      </p:sp>
      <p:sp>
        <p:nvSpPr>
          <p:cNvPr id="5" name="Date Placeholder 4"/>
          <p:cNvSpPr>
            <a:spLocks noGrp="1"/>
          </p:cNvSpPr>
          <p:nvPr>
            <p:ph type="dt" sz="half" idx="10"/>
          </p:nvPr>
        </p:nvSpPr>
        <p:spPr/>
        <p:txBody>
          <a:bodyPr/>
          <a:lstStyle/>
          <a:p>
            <a:fld id="{3E3DD42A-90C7-487F-8239-3BC9C7AE3FA4}" type="datetimeFigureOut">
              <a:rPr lang="ko-KR" altLang="en-US" smtClean="0"/>
              <a:t>2026-06-08</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D469D645-73ED-4348-97C8-7DB3ADE2B2C4}" type="slidenum">
              <a:rPr lang="ko-KR" altLang="en-US" smtClean="0"/>
              <a:t>‹#›</a:t>
            </a:fld>
            <a:endParaRPr lang="ko-KR" altLang="en-US"/>
          </a:p>
        </p:txBody>
      </p:sp>
    </p:spTree>
    <p:extLst>
      <p:ext uri="{BB962C8B-B14F-4D97-AF65-F5344CB8AC3E}">
        <p14:creationId xmlns:p14="http://schemas.microsoft.com/office/powerpoint/2010/main" val="42707930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cSld name="비교">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ko-KR" altLang="en-US"/>
              <a:t>마스터 제목 스타일 편집</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a:p>
        </p:txBody>
      </p:sp>
      <p:sp>
        <p:nvSpPr>
          <p:cNvPr id="7" name="Date Placeholder 6"/>
          <p:cNvSpPr>
            <a:spLocks noGrp="1"/>
          </p:cNvSpPr>
          <p:nvPr>
            <p:ph type="dt" sz="half" idx="10"/>
          </p:nvPr>
        </p:nvSpPr>
        <p:spPr/>
        <p:txBody>
          <a:bodyPr/>
          <a:lstStyle/>
          <a:p>
            <a:fld id="{3E3DD42A-90C7-487F-8239-3BC9C7AE3FA4}" type="datetimeFigureOut">
              <a:rPr lang="ko-KR" altLang="en-US" smtClean="0"/>
              <a:t>2026-06-08</a:t>
            </a:fld>
            <a:endParaRPr lang="ko-KR" altLang="en-US"/>
          </a:p>
        </p:txBody>
      </p:sp>
      <p:sp>
        <p:nvSpPr>
          <p:cNvPr id="8" name="Footer Placeholder 7"/>
          <p:cNvSpPr>
            <a:spLocks noGrp="1"/>
          </p:cNvSpPr>
          <p:nvPr>
            <p:ph type="ftr" sz="quarter" idx="11"/>
          </p:nvPr>
        </p:nvSpPr>
        <p:spPr/>
        <p:txBody>
          <a:bodyPr/>
          <a:lstStyle/>
          <a:p>
            <a:endParaRPr lang="ko-KR" altLang="en-US"/>
          </a:p>
        </p:txBody>
      </p:sp>
      <p:sp>
        <p:nvSpPr>
          <p:cNvPr id="9" name="Slide Number Placeholder 8"/>
          <p:cNvSpPr>
            <a:spLocks noGrp="1"/>
          </p:cNvSpPr>
          <p:nvPr>
            <p:ph type="sldNum" sz="quarter" idx="12"/>
          </p:nvPr>
        </p:nvSpPr>
        <p:spPr/>
        <p:txBody>
          <a:bodyPr/>
          <a:lstStyle/>
          <a:p>
            <a:fld id="{D469D645-73ED-4348-97C8-7DB3ADE2B2C4}" type="slidenum">
              <a:rPr lang="ko-KR" altLang="en-US" smtClean="0"/>
              <a:t>‹#›</a:t>
            </a:fld>
            <a:endParaRPr lang="ko-KR" altLang="en-US"/>
          </a:p>
        </p:txBody>
      </p:sp>
    </p:spTree>
    <p:extLst>
      <p:ext uri="{BB962C8B-B14F-4D97-AF65-F5344CB8AC3E}">
        <p14:creationId xmlns:p14="http://schemas.microsoft.com/office/powerpoint/2010/main" val="387728492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a:p>
        </p:txBody>
      </p:sp>
      <p:sp>
        <p:nvSpPr>
          <p:cNvPr id="3" name="Date Placeholder 2"/>
          <p:cNvSpPr>
            <a:spLocks noGrp="1"/>
          </p:cNvSpPr>
          <p:nvPr>
            <p:ph type="dt" sz="half" idx="10"/>
          </p:nvPr>
        </p:nvSpPr>
        <p:spPr/>
        <p:txBody>
          <a:bodyPr/>
          <a:lstStyle/>
          <a:p>
            <a:fld id="{3E3DD42A-90C7-487F-8239-3BC9C7AE3FA4}" type="datetimeFigureOut">
              <a:rPr lang="ko-KR" altLang="en-US" smtClean="0"/>
              <a:t>2026-06-08</a:t>
            </a:fld>
            <a:endParaRPr lang="ko-KR" altLang="en-US"/>
          </a:p>
        </p:txBody>
      </p:sp>
      <p:sp>
        <p:nvSpPr>
          <p:cNvPr id="4" name="Footer Placeholder 3"/>
          <p:cNvSpPr>
            <a:spLocks noGrp="1"/>
          </p:cNvSpPr>
          <p:nvPr>
            <p:ph type="ftr" sz="quarter" idx="11"/>
          </p:nvPr>
        </p:nvSpPr>
        <p:spPr/>
        <p:txBody>
          <a:bodyPr/>
          <a:lstStyle/>
          <a:p>
            <a:endParaRPr lang="ko-KR" altLang="en-US"/>
          </a:p>
        </p:txBody>
      </p:sp>
      <p:sp>
        <p:nvSpPr>
          <p:cNvPr id="5" name="Slide Number Placeholder 4"/>
          <p:cNvSpPr>
            <a:spLocks noGrp="1"/>
          </p:cNvSpPr>
          <p:nvPr>
            <p:ph type="sldNum" sz="quarter" idx="12"/>
          </p:nvPr>
        </p:nvSpPr>
        <p:spPr/>
        <p:txBody>
          <a:bodyPr/>
          <a:lstStyle/>
          <a:p>
            <a:fld id="{D469D645-73ED-4348-97C8-7DB3ADE2B2C4}" type="slidenum">
              <a:rPr lang="ko-KR" altLang="en-US" smtClean="0"/>
              <a:t>‹#›</a:t>
            </a:fld>
            <a:endParaRPr lang="ko-KR" altLang="en-US"/>
          </a:p>
        </p:txBody>
      </p:sp>
    </p:spTree>
    <p:extLst>
      <p:ext uri="{BB962C8B-B14F-4D97-AF65-F5344CB8AC3E}">
        <p14:creationId xmlns:p14="http://schemas.microsoft.com/office/powerpoint/2010/main" val="8891470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3E3DD42A-90C7-487F-8239-3BC9C7AE3FA4}" type="datetimeFigureOut">
              <a:rPr lang="ko-KR" altLang="en-US" smtClean="0"/>
              <a:t>2026-06-08</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D469D645-73ED-4348-97C8-7DB3ADE2B2C4}" type="slidenum">
              <a:rPr lang="ko-KR" altLang="en-US" smtClean="0"/>
              <a:t>‹#›</a:t>
            </a:fld>
            <a:endParaRPr lang="ko-KR" altLang="en-US"/>
          </a:p>
        </p:txBody>
      </p:sp>
    </p:spTree>
    <p:extLst>
      <p:ext uri="{BB962C8B-B14F-4D97-AF65-F5344CB8AC3E}">
        <p14:creationId xmlns:p14="http://schemas.microsoft.com/office/powerpoint/2010/main" val="28285761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picTx">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endParaRPr lang="en-US"/>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ko-KR" altLang="en-US"/>
              <a:t>그림을 추가하려면 아이콘을 클릭하십시오</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3E3DD42A-90C7-487F-8239-3BC9C7AE3FA4}" type="datetimeFigureOut">
              <a:rPr lang="ko-KR" altLang="en-US" smtClean="0"/>
              <a:t>2026-06-08</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D469D645-73ED-4348-97C8-7DB3ADE2B2C4}" type="slidenum">
              <a:rPr lang="ko-KR" altLang="en-US" smtClean="0"/>
              <a:t>‹#›</a:t>
            </a:fld>
            <a:endParaRPr lang="ko-KR" altLang="en-US"/>
          </a:p>
        </p:txBody>
      </p:sp>
    </p:spTree>
    <p:extLst>
      <p:ext uri="{BB962C8B-B14F-4D97-AF65-F5344CB8AC3E}">
        <p14:creationId xmlns:p14="http://schemas.microsoft.com/office/powerpoint/2010/main" val="319582899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vertTx">
  <p:cSld name="제목 및 세로 텍스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a:p>
        </p:txBody>
      </p:sp>
      <p:sp>
        <p:nvSpPr>
          <p:cNvPr id="4" name="Date Placeholder 3"/>
          <p:cNvSpPr>
            <a:spLocks noGrp="1"/>
          </p:cNvSpPr>
          <p:nvPr>
            <p:ph type="dt" sz="half" idx="10"/>
          </p:nvPr>
        </p:nvSpPr>
        <p:spPr/>
        <p:txBody>
          <a:bodyPr/>
          <a:lstStyle/>
          <a:p>
            <a:fld id="{3E3DD42A-90C7-487F-8239-3BC9C7AE3FA4}" type="datetimeFigureOut">
              <a:rPr lang="ko-KR" altLang="en-US" smtClean="0"/>
              <a:t>2026-06-08</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D469D645-73ED-4348-97C8-7DB3ADE2B2C4}" type="slidenum">
              <a:rPr lang="ko-KR" altLang="en-US" smtClean="0"/>
              <a:t>‹#›</a:t>
            </a:fld>
            <a:endParaRPr lang="ko-KR" altLang="en-US"/>
          </a:p>
        </p:txBody>
      </p:sp>
    </p:spTree>
    <p:extLst>
      <p:ext uri="{BB962C8B-B14F-4D97-AF65-F5344CB8AC3E}">
        <p14:creationId xmlns:p14="http://schemas.microsoft.com/office/powerpoint/2010/main" val="26377846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ko-KR" altLang="en-US"/>
              <a:t>마스터 제목 스타일 편집</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a:p>
        </p:txBody>
      </p:sp>
      <p:sp>
        <p:nvSpPr>
          <p:cNvPr id="4" name="Date Placeholder 3"/>
          <p:cNvSpPr>
            <a:spLocks noGrp="1"/>
          </p:cNvSpPr>
          <p:nvPr>
            <p:ph type="dt" sz="half" idx="10"/>
          </p:nvPr>
        </p:nvSpPr>
        <p:spPr/>
        <p:txBody>
          <a:bodyPr/>
          <a:lstStyle/>
          <a:p>
            <a:fld id="{3E3DD42A-90C7-487F-8239-3BC9C7AE3FA4}" type="datetimeFigureOut">
              <a:rPr lang="ko-KR" altLang="en-US" smtClean="0"/>
              <a:t>2026-06-08</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D469D645-73ED-4348-97C8-7DB3ADE2B2C4}" type="slidenum">
              <a:rPr lang="ko-KR" altLang="en-US" smtClean="0"/>
              <a:t>‹#›</a:t>
            </a:fld>
            <a:endParaRPr lang="ko-KR" altLang="en-US"/>
          </a:p>
        </p:txBody>
      </p:sp>
    </p:spTree>
    <p:extLst>
      <p:ext uri="{BB962C8B-B14F-4D97-AF65-F5344CB8AC3E}">
        <p14:creationId xmlns:p14="http://schemas.microsoft.com/office/powerpoint/2010/main" val="1443012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E3DD42A-90C7-487F-8239-3BC9C7AE3FA4}" type="datetimeFigureOut">
              <a:rPr lang="ko-KR" altLang="en-US" smtClean="0"/>
              <a:t>2026-06-08</a:t>
            </a:fld>
            <a:endParaRPr lang="ko-KR"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469D645-73ED-4348-97C8-7DB3ADE2B2C4}" type="slidenum">
              <a:rPr lang="ko-KR" altLang="en-US" smtClean="0"/>
              <a:t>‹#›</a:t>
            </a:fld>
            <a:endParaRPr lang="ko-KR" altLang="en-US"/>
          </a:p>
        </p:txBody>
      </p:sp>
      <p:sp>
        <p:nvSpPr>
          <p:cNvPr id="200" name="BottomBar"/>
          <p:cNvSpPr/>
          <p:nvPr/>
        </p:nvSpPr>
        <p:spPr>
          <a:xfrm>
            <a:off x="0" y="6705600"/>
            <a:ext cx="12192000" cy="152400"/>
          </a:xfrm>
          <a:prstGeom prst="rect">
            <a:avLst/>
          </a:prstGeom>
          <a:gradFill>
            <a:gsLst>
              <a:gs pos="0">
                <a:srgbClr val="2676AC"/>
              </a:gs>
              <a:gs pos="35000">
                <a:srgbClr val="16A295"/>
              </a:gs>
              <a:gs pos="65000">
                <a:srgbClr val="93B64E"/>
              </a:gs>
              <a:gs pos="100000">
                <a:srgbClr val="AE729E"/>
              </a:gs>
            </a:gsLst>
            <a:lin ang="0" scaled="1"/>
          </a:gradFill>
          <a:ln>
            <a:noFill/>
          </a:ln>
        </p:spPr>
        <p:txBody>
          <a:bodyPr/>
          <a:lstStyle/>
          <a:p>
            <a:endParaRPr lang="ko-KR"/>
          </a:p>
        </p:txBody>
      </p:sp>
    </p:spTree>
    <p:extLst>
      <p:ext uri="{BB962C8B-B14F-4D97-AF65-F5344CB8AC3E}">
        <p14:creationId xmlns:p14="http://schemas.microsoft.com/office/powerpoint/2010/main" val="1557720870"/>
      </p:ext>
    </p:extLst>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9" r:id="rId6"/>
    <p:sldLayoutId id="2147483770" r:id="rId7"/>
    <p:sldLayoutId id="2147483771" r:id="rId8"/>
    <p:sldLayoutId id="2147483772" r:id="rId9"/>
  </p:sldLayoutIdLst>
  <p:txStyles>
    <p:titleStyle>
      <a:lvl1pPr algn="l" defTabSz="914400" rtl="0" eaLnBrk="1" latinLnBrk="1" hangingPunct="1">
        <a:lnSpc>
          <a:spcPct val="90000"/>
        </a:lnSpc>
        <a:spcBef>
          <a:spcPct val="0"/>
        </a:spcBef>
        <a:buNone/>
        <a:defRPr sz="4400" kern="1200">
          <a:solidFill>
            <a:srgbClr val="1B2A4A"/>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rgbClr val="333333"/>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rgbClr val="333333"/>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rgbClr val="333333"/>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rgbClr val="333333"/>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rgbClr val="333333"/>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rgbClr val="333333"/>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rgbClr val="333333"/>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rgbClr val="333333"/>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rgbClr val="333333"/>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직사각형 2">
            <a:extLst>
              <a:ext uri="{FF2B5EF4-FFF2-40B4-BE49-F238E27FC236}">
                <a16:creationId xmlns:a16="http://schemas.microsoft.com/office/drawing/2014/main" id="{62C759EB-AE6E-48F6-AB6F-B6041826839F}"/>
              </a:ext>
            </a:extLst>
          </p:cNvPr>
          <p:cNvSpPr/>
          <p:nvPr/>
        </p:nvSpPr>
        <p:spPr>
          <a:xfrm>
            <a:off x="0" y="0"/>
            <a:ext cx="12192000" cy="101600"/>
          </a:xfrm>
          <a:prstGeom prst="rect">
            <a:avLst/>
          </a:prstGeom>
          <a:solidFill>
            <a:srgbClr val="267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grpSp>
        <p:nvGrpSpPr>
          <p:cNvPr id="21" name="그룹 20">
            <a:extLst>
              <a:ext uri="{FF2B5EF4-FFF2-40B4-BE49-F238E27FC236}">
                <a16:creationId xmlns:a16="http://schemas.microsoft.com/office/drawing/2014/main" id="{EBE95E33-541A-7ECA-DBE6-55DDF3E50930}"/>
              </a:ext>
            </a:extLst>
          </p:cNvPr>
          <p:cNvGrpSpPr/>
          <p:nvPr/>
        </p:nvGrpSpPr>
        <p:grpSpPr>
          <a:xfrm>
            <a:off x="1938392" y="1634163"/>
            <a:ext cx="7411092" cy="3302001"/>
            <a:chOff x="1250023" y="1632449"/>
            <a:chExt cx="7411092" cy="3302001"/>
          </a:xfrm>
        </p:grpSpPr>
        <p:sp>
          <p:nvSpPr>
            <p:cNvPr id="4" name="TextBox 3">
              <a:extLst>
                <a:ext uri="{FF2B5EF4-FFF2-40B4-BE49-F238E27FC236}">
                  <a16:creationId xmlns:a16="http://schemas.microsoft.com/office/drawing/2014/main" id="{3C0DAF61-DDE0-4C67-A740-1F6B1CD7178B}"/>
                </a:ext>
              </a:extLst>
            </p:cNvPr>
            <p:cNvSpPr txBox="1"/>
            <p:nvPr/>
          </p:nvSpPr>
          <p:spPr>
            <a:xfrm>
              <a:off x="1250023" y="1632449"/>
              <a:ext cx="7411092" cy="2286000"/>
            </a:xfrm>
            <a:prstGeom prst="rect">
              <a:avLst/>
            </a:prstGeom>
            <a:noFill/>
          </p:spPr>
          <p:txBody>
            <a:bodyPr vertOverflow="overflow" vert="horz" wrap="square" rtlCol="0" anchor="t">
              <a:noAutofit/>
            </a:bodyPr>
            <a:lstStyle/>
            <a:p>
              <a:pPr algn="l"/>
              <a:r>
                <a:rPr lang="en-US" altLang="ko-KR" sz="2600" b="1">
                  <a:solidFill>
                    <a:srgbClr val="1B2A4A"/>
                  </a:solidFill>
                  <a:latin typeface="나눔고딕" panose="020D0604000000000000" pitchFamily="50" charset="-127"/>
                  <a:ea typeface="나눔고딕" panose="020D0604000000000000" pitchFamily="50" charset="-127"/>
                  <a:cs typeface="Arial" panose="020B0604020202020204" pitchFamily="34" charset="0"/>
                </a:rPr>
                <a:t>멀티모달 딥러닝 기반</a:t>
              </a:r>
              <a:endParaRPr lang="ko-KR" altLang="en-US" sz="2600" b="1">
                <a:solidFill>
                  <a:srgbClr val="1B2A4A"/>
                </a:solidFill>
                <a:latin typeface="나눔고딕" panose="020D0604000000000000" pitchFamily="50" charset="-127"/>
                <a:ea typeface="나눔고딕" panose="020D0604000000000000" pitchFamily="50" charset="-127"/>
                <a:cs typeface="Arial" panose="020B0604020202020204" pitchFamily="34" charset="0"/>
              </a:endParaRPr>
            </a:p>
            <a:p>
              <a:r>
                <a:rPr sz="2600" b="1">
                  <a:solidFill>
                    <a:srgbClr val="1B2A4A"/>
                  </a:solidFill>
                </a:rPr>
                <a:t>제조 공정 이상 탐지</a:t>
              </a:r>
            </a:p>
          </p:txBody>
        </p:sp>
        <p:sp>
          <p:nvSpPr>
            <p:cNvPr id="6" name="TextBox 5">
              <a:extLst>
                <a:ext uri="{FF2B5EF4-FFF2-40B4-BE49-F238E27FC236}">
                  <a16:creationId xmlns:a16="http://schemas.microsoft.com/office/drawing/2014/main" id="{FF4E0AD3-7E47-44C0-A762-E4DB795E0B7E}"/>
                </a:ext>
              </a:extLst>
            </p:cNvPr>
            <p:cNvSpPr txBox="1"/>
            <p:nvPr/>
          </p:nvSpPr>
          <p:spPr>
            <a:xfrm>
              <a:off x="1250023" y="3251699"/>
              <a:ext cx="6971016" cy="762000"/>
            </a:xfrm>
            <a:prstGeom prst="rect">
              <a:avLst/>
            </a:prstGeom>
            <a:noFill/>
          </p:spPr>
          <p:txBody>
            <a:bodyPr vertOverflow="overflow" vert="horz" wrap="square" rtlCol="0" anchor="t">
              <a:noAutofit/>
            </a:bodyPr>
            <a:lstStyle/>
            <a:p>
              <a:pPr algn="l"/>
              <a:r>
                <a:rPr lang="en-US" altLang="ko-KR" sz="1400">
                  <a:solidFill>
                    <a:srgbClr val="555555"/>
                  </a:solidFill>
                  <a:latin typeface="나눔고딕" panose="020D0604000000000000" pitchFamily="50" charset="-127"/>
                  <a:ea typeface="나눔고딕" panose="020D0604000000000000" pitchFamily="50" charset="-127"/>
                  <a:cs typeface="Arial" panose="020B0604020202020204" pitchFamily="34" charset="0"/>
                </a:rPr>
                <a:t>시계열 센서와 카메라 이미지를 함께 활용한 결함 자동 검출</a:t>
              </a:r>
              <a:endParaRPr lang="ko-KR" altLang="en-US" sz="1400">
                <a:solidFill>
                  <a:srgbClr val="555555"/>
                </a:solidFill>
                <a:latin typeface="나눔고딕" panose="020D0604000000000000" pitchFamily="50" charset="-127"/>
                <a:ea typeface="나눔고딕" panose="020D0604000000000000" pitchFamily="50" charset="-127"/>
                <a:cs typeface="Arial" panose="020B0604020202020204" pitchFamily="34" charset="0"/>
              </a:endParaRPr>
            </a:p>
          </p:txBody>
        </p:sp>
        <p:sp>
          <p:nvSpPr>
            <p:cNvPr id="7" name="TextBox 6">
              <a:extLst>
                <a:ext uri="{FF2B5EF4-FFF2-40B4-BE49-F238E27FC236}">
                  <a16:creationId xmlns:a16="http://schemas.microsoft.com/office/drawing/2014/main" id="{2E156A38-9E34-40E2-BAAB-0D515E2FAD93}"/>
                </a:ext>
              </a:extLst>
            </p:cNvPr>
            <p:cNvSpPr txBox="1"/>
            <p:nvPr/>
          </p:nvSpPr>
          <p:spPr>
            <a:xfrm>
              <a:off x="1250023" y="3791450"/>
              <a:ext cx="7298076" cy="381000"/>
            </a:xfrm>
            <a:prstGeom prst="rect">
              <a:avLst/>
            </a:prstGeom>
            <a:noFill/>
          </p:spPr>
          <p:txBody>
            <a:bodyPr vertOverflow="overflow" vert="horz" wrap="square" rtlCol="0" anchor="t">
              <a:noAutofit/>
            </a:bodyPr>
            <a:lstStyle/>
            <a:p>
              <a:pPr algn="l"/>
              <a:r>
                <a:rPr lang="en-US" altLang="ko-KR" sz="1400">
                  <a:solidFill>
                    <a:srgbClr val="2676AC"/>
                  </a:solidFill>
                  <a:latin typeface="나눔고딕" panose="020D0604000000000000" pitchFamily="50" charset="-127"/>
                  <a:ea typeface="나눔고딕" panose="020D0604000000000000" pitchFamily="50" charset="-127"/>
                  <a:cs typeface="Arial" panose="020B0604020202020204" pitchFamily="34" charset="0"/>
                </a:rPr>
                <a:t>아주대학교 딥러닝응용  |  최종 발표</a:t>
              </a:r>
              <a:endParaRPr lang="ko-KR" altLang="en-US" sz="1400">
                <a:solidFill>
                  <a:srgbClr val="2676AC"/>
                </a:solidFill>
                <a:latin typeface="나눔고딕" panose="020D0604000000000000" pitchFamily="50" charset="-127"/>
                <a:ea typeface="나눔고딕" panose="020D0604000000000000" pitchFamily="50" charset="-127"/>
                <a:cs typeface="Arial" panose="020B0604020202020204" pitchFamily="34" charset="0"/>
              </a:endParaRPr>
            </a:p>
          </p:txBody>
        </p:sp>
        <p:sp>
          <p:nvSpPr>
            <p:cNvPr id="9" name="TextBox 8">
              <a:extLst>
                <a:ext uri="{FF2B5EF4-FFF2-40B4-BE49-F238E27FC236}">
                  <a16:creationId xmlns:a16="http://schemas.microsoft.com/office/drawing/2014/main" id="{23E903E7-1FBD-4E21-BB75-28CCF49C4405}"/>
                </a:ext>
              </a:extLst>
            </p:cNvPr>
            <p:cNvSpPr txBox="1"/>
            <p:nvPr/>
          </p:nvSpPr>
          <p:spPr>
            <a:xfrm>
              <a:off x="1250023" y="4553450"/>
              <a:ext cx="2099353" cy="381000"/>
            </a:xfrm>
            <a:prstGeom prst="rect">
              <a:avLst/>
            </a:prstGeom>
            <a:noFill/>
          </p:spPr>
          <p:txBody>
            <a:bodyPr vertOverflow="overflow" vert="horz" wrap="square" rtlCol="0" anchor="t">
              <a:noAutofit/>
            </a:bodyPr>
            <a:lstStyle/>
            <a:p>
              <a:r>
                <a:rPr lang="en-US" altLang="ko-KR" sz="1400">
                  <a:solidFill>
                    <a:srgbClr val="777777"/>
                  </a:solidFill>
                  <a:latin typeface="나눔고딕" panose="020D0604000000000000" pitchFamily="50" charset="-127"/>
                  <a:ea typeface="나눔고딕" panose="020D0604000000000000" pitchFamily="50" charset="-127"/>
                  <a:cs typeface="Arial" panose="020B0604020202020204" pitchFamily="34" charset="0"/>
                </a:rPr>
                <a:t>[3</a:t>
              </a:r>
              <a:r>
                <a:rPr lang="ko-KR" altLang="en-US" sz="1400">
                  <a:solidFill>
                    <a:srgbClr val="777777"/>
                  </a:solidFill>
                  <a:latin typeface="나눔고딕" panose="020D0604000000000000" pitchFamily="50" charset="-127"/>
                  <a:ea typeface="나눔고딕" panose="020D0604000000000000" pitchFamily="50" charset="-127"/>
                  <a:cs typeface="Arial" panose="020B0604020202020204" pitchFamily="34" charset="0"/>
                </a:rPr>
                <a:t>조</a:t>
              </a:r>
              <a:r>
                <a:rPr lang="en-US" altLang="ko-KR" sz="1400">
                  <a:solidFill>
                    <a:srgbClr val="777777"/>
                  </a:solidFill>
                  <a:latin typeface="나눔고딕" panose="020D0604000000000000" pitchFamily="50" charset="-127"/>
                  <a:ea typeface="나눔고딕" panose="020D0604000000000000" pitchFamily="50" charset="-127"/>
                  <a:cs typeface="Arial" panose="020B0604020202020204" pitchFamily="34" charset="0"/>
                </a:rPr>
                <a:t>] </a:t>
              </a:r>
              <a:r>
                <a:rPr lang="ko-KR" altLang="en-US" sz="1400">
                  <a:solidFill>
                    <a:srgbClr val="777777"/>
                  </a:solidFill>
                  <a:latin typeface="나눔고딕" panose="020D0604000000000000" pitchFamily="50" charset="-127"/>
                  <a:ea typeface="나눔고딕" panose="020D0604000000000000" pitchFamily="50" charset="-127"/>
                  <a:cs typeface="Arial" panose="020B0604020202020204" pitchFamily="34" charset="0"/>
                </a:rPr>
                <a:t>김주헌</a:t>
              </a:r>
              <a:r>
                <a:rPr lang="en-US" altLang="ko-KR" sz="1400">
                  <a:solidFill>
                    <a:srgbClr val="777777"/>
                  </a:solidFill>
                  <a:latin typeface="나눔고딕" panose="020D0604000000000000" pitchFamily="50" charset="-127"/>
                  <a:ea typeface="나눔고딕" panose="020D0604000000000000" pitchFamily="50" charset="-127"/>
                  <a:cs typeface="Arial" panose="020B0604020202020204" pitchFamily="34" charset="0"/>
                </a:rPr>
                <a:t>, </a:t>
              </a:r>
              <a:r>
                <a:rPr lang="ko-KR" altLang="en-US" sz="1400">
                  <a:solidFill>
                    <a:srgbClr val="777777"/>
                  </a:solidFill>
                  <a:latin typeface="나눔고딕" panose="020D0604000000000000" pitchFamily="50" charset="-127"/>
                  <a:ea typeface="나눔고딕" panose="020D0604000000000000" pitchFamily="50" charset="-127"/>
                  <a:cs typeface="Arial" panose="020B0604020202020204" pitchFamily="34" charset="0"/>
                </a:rPr>
                <a:t>하현성</a:t>
              </a:r>
            </a:p>
          </p:txBody>
        </p:sp>
      </p:grpSp>
    </p:spTree>
    <p:extLst>
      <p:ext uri="{BB962C8B-B14F-4D97-AF65-F5344CB8AC3E}">
        <p14:creationId xmlns:p14="http://schemas.microsoft.com/office/powerpoint/2010/main" val="14236717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직사각형 2">
            <a:extLst>
              <a:ext uri="{FF2B5EF4-FFF2-40B4-BE49-F238E27FC236}">
                <a16:creationId xmlns:a16="http://schemas.microsoft.com/office/drawing/2014/main" id="{B0C173FE-BDB9-44F4-9507-2BDC13B0A1C6}"/>
              </a:ext>
            </a:extLst>
          </p:cNvPr>
          <p:cNvSpPr/>
          <p:nvPr/>
        </p:nvSpPr>
        <p:spPr>
          <a:xfrm>
            <a:off x="0" y="0"/>
            <a:ext cx="12192000" cy="889000"/>
          </a:xfrm>
          <a:prstGeom prst="rect">
            <a:avLst/>
          </a:prstGeom>
          <a:solidFill>
            <a:srgbClr val="1B2A4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타원 3">
            <a:extLst>
              <a:ext uri="{FF2B5EF4-FFF2-40B4-BE49-F238E27FC236}">
                <a16:creationId xmlns:a16="http://schemas.microsoft.com/office/drawing/2014/main" id="{48E27B50-23DB-4868-9BF9-20C20352E441}"/>
              </a:ext>
            </a:extLst>
          </p:cNvPr>
          <p:cNvSpPr/>
          <p:nvPr/>
        </p:nvSpPr>
        <p:spPr>
          <a:xfrm>
            <a:off x="381000" y="190500"/>
            <a:ext cx="508000" cy="508000"/>
          </a:xfrm>
          <a:prstGeom prst="ellipse">
            <a:avLst/>
          </a:prstGeom>
          <a:solidFill>
            <a:srgbClr val="16A295"/>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ctr"/>
            <a:r>
              <a:rPr lang="en-US" altLang="ko-KR" sz="1600" b="1">
                <a:solidFill>
                  <a:srgbClr val="FFFFFF"/>
                </a:solidFill>
              </a:rPr>
              <a:t>01</a:t>
            </a:r>
            <a:endParaRPr lang="ko-KR" altLang="en-US" sz="1600" b="1">
              <a:solidFill>
                <a:srgbClr val="FFFFFF"/>
              </a:solidFill>
            </a:endParaRPr>
          </a:p>
        </p:txBody>
      </p:sp>
      <p:sp>
        <p:nvSpPr>
          <p:cNvPr id="5" name="TextBox 4">
            <a:extLst>
              <a:ext uri="{FF2B5EF4-FFF2-40B4-BE49-F238E27FC236}">
                <a16:creationId xmlns:a16="http://schemas.microsoft.com/office/drawing/2014/main" id="{C43E53DA-9CC3-4755-ADC0-C9AC56C8FBBD}"/>
              </a:ext>
            </a:extLst>
          </p:cNvPr>
          <p:cNvSpPr txBox="1"/>
          <p:nvPr/>
        </p:nvSpPr>
        <p:spPr>
          <a:xfrm>
            <a:off x="1079500" y="190500"/>
            <a:ext cx="5080000" cy="508000"/>
          </a:xfrm>
          <a:prstGeom prst="rect">
            <a:avLst/>
          </a:prstGeom>
          <a:noFill/>
        </p:spPr>
        <p:txBody>
          <a:bodyPr vertOverflow="overflow" vert="horz" wrap="square" rtlCol="0" anchor="t">
            <a:noAutofit/>
          </a:bodyPr>
          <a:lstStyle/>
          <a:p>
            <a:pPr algn="l">
              <a:lnSpc>
                <a:spcPct val="130000"/>
              </a:lnSpc>
            </a:pPr>
            <a:r>
              <a:rPr lang="ko-KR" altLang="en-US" sz="2200" b="1">
                <a:solidFill>
                  <a:srgbClr val="FFFFFF"/>
                </a:solidFill>
                <a:latin typeface="나눔고딕" panose="020D0604000000000000" pitchFamily="50" charset="-127"/>
                <a:ea typeface="나눔고딕" panose="020D0604000000000000" pitchFamily="50" charset="-127"/>
                <a:cs typeface="Arial" panose="020B0604020202020204" pitchFamily="34" charset="0"/>
              </a:rPr>
              <a:t>왜 멀티모달이 필요한가</a:t>
            </a:r>
          </a:p>
        </p:txBody>
      </p:sp>
      <p:sp>
        <p:nvSpPr>
          <p:cNvPr id="6" name="사각형: 둥근 모서리 5">
            <a:extLst>
              <a:ext uri="{FF2B5EF4-FFF2-40B4-BE49-F238E27FC236}">
                <a16:creationId xmlns:a16="http://schemas.microsoft.com/office/drawing/2014/main" id="{9A273F3F-2AEF-447C-BC82-BB76D864C141}"/>
              </a:ext>
            </a:extLst>
          </p:cNvPr>
          <p:cNvSpPr/>
          <p:nvPr/>
        </p:nvSpPr>
        <p:spPr>
          <a:xfrm>
            <a:off x="508000" y="1795407"/>
            <a:ext cx="3429000" cy="2286000"/>
          </a:xfrm>
          <a:prstGeom prst="roundRect">
            <a:avLst/>
          </a:prstGeom>
          <a:solidFill>
            <a:srgbClr val="F0F4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7" name="타원 6">
            <a:extLst>
              <a:ext uri="{FF2B5EF4-FFF2-40B4-BE49-F238E27FC236}">
                <a16:creationId xmlns:a16="http://schemas.microsoft.com/office/drawing/2014/main" id="{C73788D4-5A1F-400E-890E-B6BFD40CDCE1}"/>
              </a:ext>
            </a:extLst>
          </p:cNvPr>
          <p:cNvSpPr/>
          <p:nvPr/>
        </p:nvSpPr>
        <p:spPr>
          <a:xfrm>
            <a:off x="698500" y="1960507"/>
            <a:ext cx="558800" cy="558800"/>
          </a:xfrm>
          <a:prstGeom prst="ellipse">
            <a:avLst/>
          </a:prstGeom>
          <a:solidFill>
            <a:srgbClr val="E8584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ctr"/>
            <a:r>
              <a:rPr lang="en-US" altLang="ko-KR" b="1">
                <a:solidFill>
                  <a:srgbClr val="FFFFFF"/>
                </a:solidFill>
              </a:rPr>
              <a:t>1</a:t>
            </a:r>
            <a:endParaRPr lang="ko-KR" altLang="en-US" b="1">
              <a:solidFill>
                <a:srgbClr val="FFFFFF"/>
              </a:solidFill>
            </a:endParaRPr>
          </a:p>
        </p:txBody>
      </p:sp>
      <p:sp>
        <p:nvSpPr>
          <p:cNvPr id="8" name="TextBox 7">
            <a:extLst>
              <a:ext uri="{FF2B5EF4-FFF2-40B4-BE49-F238E27FC236}">
                <a16:creationId xmlns:a16="http://schemas.microsoft.com/office/drawing/2014/main" id="{15996D88-2BF2-4E0A-A04D-9CEDE1D6FCF3}"/>
              </a:ext>
            </a:extLst>
          </p:cNvPr>
          <p:cNvSpPr txBox="1"/>
          <p:nvPr/>
        </p:nvSpPr>
        <p:spPr>
          <a:xfrm>
            <a:off x="698500" y="2766485"/>
            <a:ext cx="3048000" cy="381000"/>
          </a:xfrm>
          <a:prstGeom prst="rect">
            <a:avLst/>
          </a:prstGeom>
          <a:noFill/>
        </p:spPr>
        <p:txBody>
          <a:bodyPr vertOverflow="overflow" vert="horz" wrap="square" rtlCol="0" anchor="t">
            <a:noAutofit/>
          </a:bodyPr>
          <a:lstStyle/>
          <a:p>
            <a:pPr algn="l"/>
            <a:r>
              <a:rPr lang="ko-KR" altLang="en-US" sz="1400" b="1">
                <a:solidFill>
                  <a:srgbClr val="1B2A4A"/>
                </a:solidFill>
                <a:latin typeface="나눔고딕" panose="020D0604000000000000" pitchFamily="50" charset="-127"/>
                <a:ea typeface="나눔고딕" panose="020D0604000000000000" pitchFamily="50" charset="-127"/>
                <a:cs typeface="Arial" panose="020B0604020202020204" pitchFamily="34" charset="0"/>
              </a:rPr>
              <a:t>센서만 보면?</a:t>
            </a:r>
          </a:p>
        </p:txBody>
      </p:sp>
      <p:sp>
        <p:nvSpPr>
          <p:cNvPr id="9" name="TextBox 8">
            <a:extLst>
              <a:ext uri="{FF2B5EF4-FFF2-40B4-BE49-F238E27FC236}">
                <a16:creationId xmlns:a16="http://schemas.microsoft.com/office/drawing/2014/main" id="{0BFC10EF-A748-466A-8A6C-C1187D2021BF}"/>
              </a:ext>
            </a:extLst>
          </p:cNvPr>
          <p:cNvSpPr txBox="1"/>
          <p:nvPr/>
        </p:nvSpPr>
        <p:spPr>
          <a:xfrm>
            <a:off x="698500" y="3185585"/>
            <a:ext cx="3048000" cy="805180"/>
          </a:xfrm>
          <a:prstGeom prst="rect">
            <a:avLst/>
          </a:prstGeom>
          <a:noFill/>
        </p:spPr>
        <p:txBody>
          <a:bodyPr vertOverflow="overflow" vert="horz" wrap="square" rtlCol="0" anchor="t">
            <a:noAutofit/>
          </a:bodyPr>
          <a:lstStyle/>
          <a:p>
            <a:pPr algn="l"/>
            <a:r>
              <a:rPr lang="ko-KR" altLang="en-US" sz="1100">
                <a:solidFill>
                  <a:srgbClr val="555555"/>
                </a:solidFill>
                <a:latin typeface="나눔고딕" panose="020D0604000000000000" pitchFamily="50" charset="-127"/>
                <a:ea typeface="나눔고딕" panose="020D0604000000000000" pitchFamily="50" charset="-127"/>
                <a:cs typeface="Arial" panose="020B0604020202020204" pitchFamily="34" charset="0"/>
              </a:rPr>
              <a:t>진동·온도·각도는 알지만 부품이 시각적으로 빠진 결함은 알기 어려움</a:t>
            </a:r>
          </a:p>
        </p:txBody>
      </p:sp>
      <p:sp>
        <p:nvSpPr>
          <p:cNvPr id="10" name="사각형: 둥근 모서리 9">
            <a:extLst>
              <a:ext uri="{FF2B5EF4-FFF2-40B4-BE49-F238E27FC236}">
                <a16:creationId xmlns:a16="http://schemas.microsoft.com/office/drawing/2014/main" id="{DA909A98-DF5F-43AB-A3AD-DAFD96B69844}"/>
              </a:ext>
            </a:extLst>
          </p:cNvPr>
          <p:cNvSpPr/>
          <p:nvPr/>
        </p:nvSpPr>
        <p:spPr>
          <a:xfrm>
            <a:off x="4381500" y="1795407"/>
            <a:ext cx="3429000" cy="2286000"/>
          </a:xfrm>
          <a:prstGeom prst="roundRect">
            <a:avLst/>
          </a:prstGeom>
          <a:solidFill>
            <a:srgbClr val="F0F4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1" name="타원 10">
            <a:extLst>
              <a:ext uri="{FF2B5EF4-FFF2-40B4-BE49-F238E27FC236}">
                <a16:creationId xmlns:a16="http://schemas.microsoft.com/office/drawing/2014/main" id="{AD77D43F-E4C2-47A6-A3F4-17EB0C92814C}"/>
              </a:ext>
            </a:extLst>
          </p:cNvPr>
          <p:cNvSpPr/>
          <p:nvPr/>
        </p:nvSpPr>
        <p:spPr>
          <a:xfrm>
            <a:off x="4572000" y="1960507"/>
            <a:ext cx="558800" cy="558800"/>
          </a:xfrm>
          <a:prstGeom prst="ellipse">
            <a:avLst/>
          </a:prstGeom>
          <a:solidFill>
            <a:srgbClr val="267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ctr"/>
            <a:r>
              <a:rPr lang="en-US" altLang="ko-KR" b="1">
                <a:solidFill>
                  <a:srgbClr val="FFFFFF"/>
                </a:solidFill>
              </a:rPr>
              <a:t>2</a:t>
            </a:r>
            <a:endParaRPr lang="ko-KR" altLang="en-US" b="1">
              <a:solidFill>
                <a:srgbClr val="FFFFFF"/>
              </a:solidFill>
            </a:endParaRPr>
          </a:p>
        </p:txBody>
      </p:sp>
      <p:sp>
        <p:nvSpPr>
          <p:cNvPr id="12" name="TextBox 11">
            <a:extLst>
              <a:ext uri="{FF2B5EF4-FFF2-40B4-BE49-F238E27FC236}">
                <a16:creationId xmlns:a16="http://schemas.microsoft.com/office/drawing/2014/main" id="{8539E669-4223-4495-B9BD-16B39089B15E}"/>
              </a:ext>
            </a:extLst>
          </p:cNvPr>
          <p:cNvSpPr txBox="1"/>
          <p:nvPr/>
        </p:nvSpPr>
        <p:spPr>
          <a:xfrm>
            <a:off x="4572000" y="2766485"/>
            <a:ext cx="3048000" cy="381000"/>
          </a:xfrm>
          <a:prstGeom prst="rect">
            <a:avLst/>
          </a:prstGeom>
          <a:noFill/>
        </p:spPr>
        <p:txBody>
          <a:bodyPr vertOverflow="overflow" vert="horz" wrap="square" rtlCol="0" anchor="t">
            <a:noAutofit/>
          </a:bodyPr>
          <a:lstStyle/>
          <a:p>
            <a:pPr algn="l"/>
            <a:r>
              <a:rPr lang="ko-KR" altLang="en-US" sz="1400" b="1">
                <a:solidFill>
                  <a:srgbClr val="1B2A4A"/>
                </a:solidFill>
                <a:latin typeface="나눔고딕" panose="020D0604000000000000" pitchFamily="50" charset="-127"/>
                <a:ea typeface="나눔고딕" panose="020D0604000000000000" pitchFamily="50" charset="-127"/>
                <a:cs typeface="Arial" panose="020B0604020202020204" pitchFamily="34" charset="0"/>
              </a:rPr>
              <a:t>이미지만 보면?</a:t>
            </a:r>
          </a:p>
        </p:txBody>
      </p:sp>
      <p:sp>
        <p:nvSpPr>
          <p:cNvPr id="13" name="TextBox 12">
            <a:extLst>
              <a:ext uri="{FF2B5EF4-FFF2-40B4-BE49-F238E27FC236}">
                <a16:creationId xmlns:a16="http://schemas.microsoft.com/office/drawing/2014/main" id="{3E72EADB-F944-40B1-8E9C-01DB9245986F}"/>
              </a:ext>
            </a:extLst>
          </p:cNvPr>
          <p:cNvSpPr txBox="1"/>
          <p:nvPr/>
        </p:nvSpPr>
        <p:spPr>
          <a:xfrm>
            <a:off x="4572000" y="3185585"/>
            <a:ext cx="3048000" cy="805180"/>
          </a:xfrm>
          <a:prstGeom prst="rect">
            <a:avLst/>
          </a:prstGeom>
          <a:noFill/>
        </p:spPr>
        <p:txBody>
          <a:bodyPr vertOverflow="overflow" vert="horz" wrap="square" rtlCol="0" anchor="t">
            <a:noAutofit/>
          </a:bodyPr>
          <a:lstStyle/>
          <a:p>
            <a:pPr algn="l"/>
            <a:r>
              <a:rPr lang="ko-KR" altLang="en-US" sz="1100">
                <a:solidFill>
                  <a:srgbClr val="555555"/>
                </a:solidFill>
                <a:latin typeface="나눔고딕" panose="020D0604000000000000" pitchFamily="50" charset="-127"/>
                <a:ea typeface="나눔고딕" panose="020D0604000000000000" pitchFamily="50" charset="-127"/>
                <a:cs typeface="Arial" panose="020B0604020202020204" pitchFamily="34" charset="0"/>
              </a:rPr>
              <a:t>시각적 결함은 보이지만 로봇의 비정상 부하·동작 등은 알 수 없음</a:t>
            </a:r>
          </a:p>
        </p:txBody>
      </p:sp>
      <p:sp>
        <p:nvSpPr>
          <p:cNvPr id="14" name="사각형: 둥근 모서리 13">
            <a:extLst>
              <a:ext uri="{FF2B5EF4-FFF2-40B4-BE49-F238E27FC236}">
                <a16:creationId xmlns:a16="http://schemas.microsoft.com/office/drawing/2014/main" id="{959A7773-03D9-44AC-BF27-C60E7BED8DBC}"/>
              </a:ext>
            </a:extLst>
          </p:cNvPr>
          <p:cNvSpPr/>
          <p:nvPr/>
        </p:nvSpPr>
        <p:spPr>
          <a:xfrm>
            <a:off x="8255000" y="1795407"/>
            <a:ext cx="3429000" cy="2286000"/>
          </a:xfrm>
          <a:prstGeom prst="roundRect">
            <a:avLst/>
          </a:prstGeom>
          <a:solidFill>
            <a:srgbClr val="F0F4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5" name="타원 14">
            <a:extLst>
              <a:ext uri="{FF2B5EF4-FFF2-40B4-BE49-F238E27FC236}">
                <a16:creationId xmlns:a16="http://schemas.microsoft.com/office/drawing/2014/main" id="{A8C3D7CA-D422-4BD2-B749-77AAD111C442}"/>
              </a:ext>
            </a:extLst>
          </p:cNvPr>
          <p:cNvSpPr/>
          <p:nvPr/>
        </p:nvSpPr>
        <p:spPr>
          <a:xfrm>
            <a:off x="8445500" y="1960507"/>
            <a:ext cx="558800" cy="558800"/>
          </a:xfrm>
          <a:prstGeom prst="ellipse">
            <a:avLst/>
          </a:prstGeom>
          <a:solidFill>
            <a:srgbClr val="F29E1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ctr"/>
            <a:r>
              <a:rPr lang="en-US" altLang="ko-KR" b="1">
                <a:solidFill>
                  <a:srgbClr val="FFFFFF"/>
                </a:solidFill>
              </a:rPr>
              <a:t>3</a:t>
            </a:r>
            <a:endParaRPr lang="ko-KR" altLang="en-US" b="1">
              <a:solidFill>
                <a:srgbClr val="FFFFFF"/>
              </a:solidFill>
            </a:endParaRPr>
          </a:p>
        </p:txBody>
      </p:sp>
      <p:sp>
        <p:nvSpPr>
          <p:cNvPr id="16" name="TextBox 15">
            <a:extLst>
              <a:ext uri="{FF2B5EF4-FFF2-40B4-BE49-F238E27FC236}">
                <a16:creationId xmlns:a16="http://schemas.microsoft.com/office/drawing/2014/main" id="{2E5936FC-FE61-42EE-B66E-AD61043C53DE}"/>
              </a:ext>
            </a:extLst>
          </p:cNvPr>
          <p:cNvSpPr txBox="1"/>
          <p:nvPr/>
        </p:nvSpPr>
        <p:spPr>
          <a:xfrm>
            <a:off x="8445500" y="2766485"/>
            <a:ext cx="3048000" cy="381000"/>
          </a:xfrm>
          <a:prstGeom prst="rect">
            <a:avLst/>
          </a:prstGeom>
          <a:noFill/>
        </p:spPr>
        <p:txBody>
          <a:bodyPr vertOverflow="overflow" vert="horz" wrap="square" rtlCol="0" anchor="t">
            <a:noAutofit/>
          </a:bodyPr>
          <a:lstStyle/>
          <a:p>
            <a:pPr algn="l"/>
            <a:r>
              <a:rPr lang="ko-KR" altLang="en-US" sz="1400" b="1">
                <a:solidFill>
                  <a:srgbClr val="1B2A4A"/>
                </a:solidFill>
                <a:latin typeface="나눔고딕" panose="020D0604000000000000" pitchFamily="50" charset="-127"/>
                <a:ea typeface="나눔고딕" panose="020D0604000000000000" pitchFamily="50" charset="-127"/>
                <a:cs typeface="Arial" panose="020B0604020202020204" pitchFamily="34" charset="0"/>
              </a:rPr>
              <a:t>두 데이터를 함께 쓰면?</a:t>
            </a:r>
          </a:p>
        </p:txBody>
      </p:sp>
      <p:sp>
        <p:nvSpPr>
          <p:cNvPr id="17" name="TextBox 16">
            <a:extLst>
              <a:ext uri="{FF2B5EF4-FFF2-40B4-BE49-F238E27FC236}">
                <a16:creationId xmlns:a16="http://schemas.microsoft.com/office/drawing/2014/main" id="{E9519485-7AED-4405-A759-96C3E903A76C}"/>
              </a:ext>
            </a:extLst>
          </p:cNvPr>
          <p:cNvSpPr txBox="1"/>
          <p:nvPr/>
        </p:nvSpPr>
        <p:spPr>
          <a:xfrm>
            <a:off x="8445500" y="3185585"/>
            <a:ext cx="3048000" cy="805180"/>
          </a:xfrm>
          <a:prstGeom prst="rect">
            <a:avLst/>
          </a:prstGeom>
          <a:noFill/>
        </p:spPr>
        <p:txBody>
          <a:bodyPr vertOverflow="overflow" vert="horz" wrap="square" rtlCol="0" anchor="t">
            <a:noAutofit/>
          </a:bodyPr>
          <a:lstStyle/>
          <a:p>
            <a:pPr algn="l"/>
            <a:r>
              <a:rPr lang="ko-KR" altLang="en-US" sz="1100">
                <a:solidFill>
                  <a:srgbClr val="555555"/>
                </a:solidFill>
                <a:latin typeface="나눔고딕" panose="020D0604000000000000" pitchFamily="50" charset="-127"/>
                <a:ea typeface="나눔고딕" panose="020D0604000000000000" pitchFamily="50" charset="-127"/>
                <a:cs typeface="Arial" panose="020B0604020202020204" pitchFamily="34" charset="0"/>
              </a:rPr>
              <a:t>서로의 한계를 보완할 수 있다는 기대 — 멀티모달 접근의 출발점</a:t>
            </a:r>
          </a:p>
        </p:txBody>
      </p:sp>
      <p:sp>
        <p:nvSpPr>
          <p:cNvPr id="18" name="사각형: 둥근 모서리 17">
            <a:extLst>
              <a:ext uri="{FF2B5EF4-FFF2-40B4-BE49-F238E27FC236}">
                <a16:creationId xmlns:a16="http://schemas.microsoft.com/office/drawing/2014/main" id="{3BDF29AB-32B2-4ABC-AEB6-8C0EE16496B9}"/>
              </a:ext>
            </a:extLst>
          </p:cNvPr>
          <p:cNvSpPr/>
          <p:nvPr/>
        </p:nvSpPr>
        <p:spPr>
          <a:xfrm>
            <a:off x="508000" y="4335407"/>
            <a:ext cx="11176000" cy="635000"/>
          </a:xfrm>
          <a:prstGeom prst="roundRect">
            <a:avLst/>
          </a:prstGeom>
          <a:solidFill>
            <a:srgbClr val="EBF5F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9" name="TextBox 18">
            <a:extLst>
              <a:ext uri="{FF2B5EF4-FFF2-40B4-BE49-F238E27FC236}">
                <a16:creationId xmlns:a16="http://schemas.microsoft.com/office/drawing/2014/main" id="{ECB4E20F-CA0E-4EF6-A20A-82BB4499ECA0}"/>
              </a:ext>
            </a:extLst>
          </p:cNvPr>
          <p:cNvSpPr txBox="1"/>
          <p:nvPr/>
        </p:nvSpPr>
        <p:spPr>
          <a:xfrm>
            <a:off x="698500" y="4506499"/>
            <a:ext cx="10795000" cy="444500"/>
          </a:xfrm>
          <a:prstGeom prst="rect">
            <a:avLst/>
          </a:prstGeom>
          <a:noFill/>
        </p:spPr>
        <p:txBody>
          <a:bodyPr vertOverflow="overflow" vert="horz" wrap="square" rtlCol="0" anchor="t">
            <a:noAutofit/>
          </a:bodyPr>
          <a:lstStyle/>
          <a:p>
            <a:pPr algn="l"/>
            <a:r>
              <a:rPr lang="ko-KR" altLang="en-US" sz="1400" b="1">
                <a:solidFill>
                  <a:srgbClr val="2676AC"/>
                </a:solidFill>
                <a:latin typeface="나눔고딕" panose="020D0604000000000000" pitchFamily="50" charset="-127"/>
                <a:ea typeface="나눔고딕" panose="020D0604000000000000" pitchFamily="50" charset="-127"/>
                <a:cs typeface="Arial" panose="020B0604020202020204" pitchFamily="34" charset="0"/>
              </a:rPr>
              <a:t>→  핵심 질문: 결합은 정말 항상 더 나은가? 어떤 조건에서 효과적인가?</a:t>
            </a:r>
          </a:p>
        </p:txBody>
      </p:sp>
    </p:spTree>
    <p:extLst>
      <p:ext uri="{BB962C8B-B14F-4D97-AF65-F5344CB8AC3E}">
        <p14:creationId xmlns:p14="http://schemas.microsoft.com/office/powerpoint/2010/main" val="16510855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직사각형 2">
            <a:extLst>
              <a:ext uri="{FF2B5EF4-FFF2-40B4-BE49-F238E27FC236}">
                <a16:creationId xmlns:a16="http://schemas.microsoft.com/office/drawing/2014/main" id="{64F2F343-49D9-45BA-933C-349D18958A8C}"/>
              </a:ext>
            </a:extLst>
          </p:cNvPr>
          <p:cNvSpPr/>
          <p:nvPr/>
        </p:nvSpPr>
        <p:spPr>
          <a:xfrm>
            <a:off x="0" y="0"/>
            <a:ext cx="12192000" cy="889000"/>
          </a:xfrm>
          <a:prstGeom prst="rect">
            <a:avLst/>
          </a:prstGeom>
          <a:solidFill>
            <a:srgbClr val="1B2A4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타원 3">
            <a:extLst>
              <a:ext uri="{FF2B5EF4-FFF2-40B4-BE49-F238E27FC236}">
                <a16:creationId xmlns:a16="http://schemas.microsoft.com/office/drawing/2014/main" id="{F279297E-1192-4907-A5E6-BFAAC5E1F3CB}"/>
              </a:ext>
            </a:extLst>
          </p:cNvPr>
          <p:cNvSpPr/>
          <p:nvPr/>
        </p:nvSpPr>
        <p:spPr>
          <a:xfrm>
            <a:off x="381000" y="190500"/>
            <a:ext cx="508000" cy="508000"/>
          </a:xfrm>
          <a:prstGeom prst="ellipse">
            <a:avLst/>
          </a:prstGeom>
          <a:solidFill>
            <a:srgbClr val="16A295"/>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sz="1600" b="1">
                <a:solidFill>
                  <a:srgbClr val="FFFFFF"/>
                </a:solidFill>
              </a:rPr>
              <a:t>02</a:t>
            </a:r>
            <a:endParaRPr lang="ko-KR" altLang="en-US" sz="1600" b="1">
              <a:solidFill>
                <a:srgbClr val="FFFFFF"/>
              </a:solidFill>
            </a:endParaRPr>
          </a:p>
        </p:txBody>
      </p:sp>
      <p:sp>
        <p:nvSpPr>
          <p:cNvPr id="5" name="TextBox 4">
            <a:extLst>
              <a:ext uri="{FF2B5EF4-FFF2-40B4-BE49-F238E27FC236}">
                <a16:creationId xmlns:a16="http://schemas.microsoft.com/office/drawing/2014/main" id="{72CF5864-6C9A-40FE-A90D-FD95FABB8883}"/>
              </a:ext>
            </a:extLst>
          </p:cNvPr>
          <p:cNvSpPr txBox="1"/>
          <p:nvPr/>
        </p:nvSpPr>
        <p:spPr>
          <a:xfrm>
            <a:off x="1079500" y="190500"/>
            <a:ext cx="5080000" cy="508000"/>
          </a:xfrm>
          <a:prstGeom prst="rect">
            <a:avLst/>
          </a:prstGeom>
          <a:noFill/>
        </p:spPr>
        <p:txBody>
          <a:bodyPr vertOverflow="overflow" vert="horz" wrap="square" rtlCol="0" anchor="t">
            <a:noAutofit/>
          </a:bodyPr>
          <a:lstStyle/>
          <a:p>
            <a:pPr algn="l">
              <a:lnSpc>
                <a:spcPct val="130000"/>
              </a:lnSpc>
            </a:pPr>
            <a:r>
              <a:rPr lang="ko-KR" altLang="en-US" sz="2200" b="1">
                <a:solidFill>
                  <a:srgbClr val="FFFFFF"/>
                </a:solidFill>
                <a:latin typeface="나눔고딕" panose="020D0604000000000000" pitchFamily="50" charset="-127"/>
                <a:ea typeface="나눔고딕" panose="020D0604000000000000" pitchFamily="50" charset="-127"/>
                <a:cs typeface="Arial" panose="020B0604020202020204" pitchFamily="34" charset="0"/>
              </a:rPr>
              <a:t>프로젝트 목표</a:t>
            </a:r>
          </a:p>
        </p:txBody>
      </p:sp>
      <p:grpSp>
        <p:nvGrpSpPr>
          <p:cNvPr id="23" name="그룹 22">
            <a:extLst>
              <a:ext uri="{FF2B5EF4-FFF2-40B4-BE49-F238E27FC236}">
                <a16:creationId xmlns:a16="http://schemas.microsoft.com/office/drawing/2014/main" id="{5F3AB159-139A-0CE4-327C-F4D77DD803D5}"/>
              </a:ext>
            </a:extLst>
          </p:cNvPr>
          <p:cNvGrpSpPr/>
          <p:nvPr/>
        </p:nvGrpSpPr>
        <p:grpSpPr>
          <a:xfrm>
            <a:off x="698500" y="1600200"/>
            <a:ext cx="10795000" cy="3657600"/>
            <a:chOff x="508000" y="1079500"/>
            <a:chExt cx="10795000" cy="3657600"/>
          </a:xfrm>
        </p:grpSpPr>
        <p:sp>
          <p:nvSpPr>
            <p:cNvPr id="6" name="TextBox 5">
              <a:extLst>
                <a:ext uri="{FF2B5EF4-FFF2-40B4-BE49-F238E27FC236}">
                  <a16:creationId xmlns:a16="http://schemas.microsoft.com/office/drawing/2014/main" id="{A0639D39-7C95-4595-9A73-52E2B28BA140}"/>
                </a:ext>
              </a:extLst>
            </p:cNvPr>
            <p:cNvSpPr txBox="1"/>
            <p:nvPr/>
          </p:nvSpPr>
          <p:spPr>
            <a:xfrm>
              <a:off x="508000" y="1079500"/>
              <a:ext cx="10606783" cy="381000"/>
            </a:xfrm>
            <a:prstGeom prst="rect">
              <a:avLst/>
            </a:prstGeom>
            <a:noFill/>
          </p:spPr>
          <p:txBody>
            <a:bodyPr vertOverflow="overflow" vert="horz" wrap="square" rtlCol="0" anchor="t">
              <a:noAutofit/>
            </a:bodyPr>
            <a:lstStyle/>
            <a:p>
              <a:pPr algn="l"/>
              <a:r>
                <a:rPr lang="en-US" altLang="ko-KR" sz="1600" b="1">
                  <a:solidFill>
                    <a:srgbClr val="2676AC"/>
                  </a:solidFill>
                  <a:latin typeface="나눔고딕" panose="020D0604000000000000" pitchFamily="50" charset="-127"/>
                  <a:ea typeface="나눔고딕" panose="020D0604000000000000" pitchFamily="50" charset="-127"/>
                  <a:cs typeface="Arial" panose="020B0604020202020204" pitchFamily="34" charset="0"/>
                </a:rPr>
                <a:t>우리가 답하려는 세 가지 질문</a:t>
              </a:r>
              <a:endParaRPr lang="ko-KR" altLang="en-US" sz="1600" b="1">
                <a:solidFill>
                  <a:srgbClr val="2676AC"/>
                </a:solidFill>
                <a:latin typeface="나눔고딕" panose="020D0604000000000000" pitchFamily="50" charset="-127"/>
                <a:ea typeface="나눔고딕" panose="020D0604000000000000" pitchFamily="50" charset="-127"/>
                <a:cs typeface="Arial" panose="020B0604020202020204" pitchFamily="34" charset="0"/>
              </a:endParaRPr>
            </a:p>
          </p:txBody>
        </p:sp>
        <p:sp>
          <p:nvSpPr>
            <p:cNvPr id="7" name="사각형: 둥근 모서리 6">
              <a:extLst>
                <a:ext uri="{FF2B5EF4-FFF2-40B4-BE49-F238E27FC236}">
                  <a16:creationId xmlns:a16="http://schemas.microsoft.com/office/drawing/2014/main" id="{0D10900D-DD54-484D-8D37-9901F4C89756}"/>
                </a:ext>
              </a:extLst>
            </p:cNvPr>
            <p:cNvSpPr/>
            <p:nvPr/>
          </p:nvSpPr>
          <p:spPr>
            <a:xfrm>
              <a:off x="508000" y="1587500"/>
              <a:ext cx="3048000" cy="2286000"/>
            </a:xfrm>
            <a:prstGeom prst="roundRect">
              <a:avLst/>
            </a:prstGeom>
            <a:solidFill>
              <a:srgbClr val="FFFFFF"/>
            </a:solidFill>
            <a:ln w="25400" cap="flat" cmpd="sng" algn="ctr">
              <a:solidFill>
                <a:srgbClr val="2676A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8" name="타원 7">
              <a:extLst>
                <a:ext uri="{FF2B5EF4-FFF2-40B4-BE49-F238E27FC236}">
                  <a16:creationId xmlns:a16="http://schemas.microsoft.com/office/drawing/2014/main" id="{FA028449-C84E-4C1B-9017-AF23C4F6A054}"/>
                </a:ext>
              </a:extLst>
            </p:cNvPr>
            <p:cNvSpPr/>
            <p:nvPr/>
          </p:nvSpPr>
          <p:spPr>
            <a:xfrm>
              <a:off x="765281" y="1805183"/>
              <a:ext cx="558800" cy="558800"/>
            </a:xfrm>
            <a:prstGeom prst="ellipse">
              <a:avLst/>
            </a:prstGeom>
            <a:solidFill>
              <a:srgbClr val="267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ctr"/>
              <a:r>
                <a:rPr lang="en-US" altLang="ko-KR" b="1">
                  <a:solidFill>
                    <a:srgbClr val="FFFFFF"/>
                  </a:solidFill>
                </a:rPr>
                <a:t>1</a:t>
              </a:r>
              <a:endParaRPr lang="ko-KR" altLang="en-US" b="1">
                <a:solidFill>
                  <a:srgbClr val="FFFFFF"/>
                </a:solidFill>
              </a:endParaRPr>
            </a:p>
          </p:txBody>
        </p:sp>
        <p:sp>
          <p:nvSpPr>
            <p:cNvPr id="9" name="TextBox 8">
              <a:extLst>
                <a:ext uri="{FF2B5EF4-FFF2-40B4-BE49-F238E27FC236}">
                  <a16:creationId xmlns:a16="http://schemas.microsoft.com/office/drawing/2014/main" id="{4BE1EC74-9750-4E51-BE3F-E3C049FCAC73}"/>
                </a:ext>
              </a:extLst>
            </p:cNvPr>
            <p:cNvSpPr txBox="1"/>
            <p:nvPr/>
          </p:nvSpPr>
          <p:spPr>
            <a:xfrm>
              <a:off x="765281" y="2524158"/>
              <a:ext cx="3048000" cy="355600"/>
            </a:xfrm>
            <a:prstGeom prst="rect">
              <a:avLst/>
            </a:prstGeom>
            <a:noFill/>
          </p:spPr>
          <p:txBody>
            <a:bodyPr vertOverflow="overflow" vert="horz" wrap="square" rtlCol="0" anchor="t">
              <a:noAutofit/>
            </a:bodyPr>
            <a:lstStyle/>
            <a:p>
              <a:pPr algn="l"/>
              <a:r>
                <a:rPr lang="en-US" altLang="ko-KR" sz="1500" b="1" dirty="0" err="1">
                  <a:solidFill>
                    <a:srgbClr val="2676AC"/>
                  </a:solidFill>
                  <a:latin typeface="나눔고딕" panose="020D0604000000000000" pitchFamily="50" charset="-127"/>
                  <a:ea typeface="나눔고딕" panose="020D0604000000000000" pitchFamily="50" charset="-127"/>
                  <a:cs typeface="Arial" panose="020B0604020202020204" pitchFamily="34" charset="0"/>
                </a:rPr>
                <a:t>결합이</a:t>
              </a:r>
              <a:r>
                <a:rPr lang="en-US" altLang="ko-KR" sz="1500" b="1" dirty="0">
                  <a:solidFill>
                    <a:srgbClr val="2676AC"/>
                  </a:solidFill>
                  <a:latin typeface="나눔고딕" panose="020D0604000000000000" pitchFamily="50" charset="-127"/>
                  <a:ea typeface="나눔고딕" panose="020D0604000000000000" pitchFamily="50" charset="-127"/>
                  <a:cs typeface="Arial" panose="020B0604020202020204" pitchFamily="34" charset="0"/>
                </a:rPr>
                <a:t> </a:t>
              </a:r>
              <a:r>
                <a:rPr lang="en-US" altLang="ko-KR" sz="1500" b="1" dirty="0" err="1">
                  <a:solidFill>
                    <a:srgbClr val="2676AC"/>
                  </a:solidFill>
                  <a:latin typeface="나눔고딕" panose="020D0604000000000000" pitchFamily="50" charset="-127"/>
                  <a:ea typeface="나눔고딕" panose="020D0604000000000000" pitchFamily="50" charset="-127"/>
                  <a:cs typeface="Arial" panose="020B0604020202020204" pitchFamily="34" charset="0"/>
                </a:rPr>
                <a:t>단독보다</a:t>
              </a:r>
              <a:r>
                <a:rPr lang="en-US" altLang="ko-KR" sz="1500" b="1" dirty="0">
                  <a:solidFill>
                    <a:srgbClr val="2676AC"/>
                  </a:solidFill>
                  <a:latin typeface="나눔고딕" panose="020D0604000000000000" pitchFamily="50" charset="-127"/>
                  <a:ea typeface="나눔고딕" panose="020D0604000000000000" pitchFamily="50" charset="-127"/>
                  <a:cs typeface="Arial" panose="020B0604020202020204" pitchFamily="34" charset="0"/>
                </a:rPr>
                <a:t> </a:t>
              </a:r>
              <a:r>
                <a:rPr lang="en-US" altLang="ko-KR" sz="1500" b="1" dirty="0" err="1">
                  <a:solidFill>
                    <a:srgbClr val="2676AC"/>
                  </a:solidFill>
                  <a:latin typeface="나눔고딕" panose="020D0604000000000000" pitchFamily="50" charset="-127"/>
                  <a:ea typeface="나눔고딕" panose="020D0604000000000000" pitchFamily="50" charset="-127"/>
                  <a:cs typeface="Arial" panose="020B0604020202020204" pitchFamily="34" charset="0"/>
                </a:rPr>
                <a:t>나은가</a:t>
              </a:r>
              <a:endParaRPr lang="ko-KR" altLang="en-US" sz="1500" b="1" dirty="0">
                <a:solidFill>
                  <a:srgbClr val="2676AC"/>
                </a:solidFill>
                <a:latin typeface="나눔고딕" panose="020D0604000000000000" pitchFamily="50" charset="-127"/>
                <a:ea typeface="나눔고딕" panose="020D0604000000000000" pitchFamily="50" charset="-127"/>
                <a:cs typeface="Arial" panose="020B0604020202020204" pitchFamily="34" charset="0"/>
              </a:endParaRPr>
            </a:p>
          </p:txBody>
        </p:sp>
        <p:sp>
          <p:nvSpPr>
            <p:cNvPr id="10" name="TextBox 9">
              <a:extLst>
                <a:ext uri="{FF2B5EF4-FFF2-40B4-BE49-F238E27FC236}">
                  <a16:creationId xmlns:a16="http://schemas.microsoft.com/office/drawing/2014/main" id="{C07B4BBF-534C-43CD-9A4D-BDE0E4D82B9F}"/>
                </a:ext>
              </a:extLst>
            </p:cNvPr>
            <p:cNvSpPr txBox="1"/>
            <p:nvPr/>
          </p:nvSpPr>
          <p:spPr>
            <a:xfrm>
              <a:off x="765281" y="2943258"/>
              <a:ext cx="3048000" cy="952500"/>
            </a:xfrm>
            <a:prstGeom prst="rect">
              <a:avLst/>
            </a:prstGeom>
            <a:noFill/>
          </p:spPr>
          <p:txBody>
            <a:bodyPr vertOverflow="overflow" vert="horz" wrap="square" rtlCol="0" anchor="t">
              <a:noAutofit/>
            </a:bodyPr>
            <a:lstStyle/>
            <a:p>
              <a:pPr algn="l"/>
              <a:r>
                <a:rPr lang="ko-KR" altLang="en-US" sz="1200">
                  <a:solidFill>
                    <a:srgbClr val="444444"/>
                  </a:solidFill>
                  <a:latin typeface="나눔고딕" panose="020D0604000000000000" pitchFamily="50" charset="-127"/>
                  <a:ea typeface="나눔고딕" panose="020D0604000000000000" pitchFamily="50" charset="-127"/>
                  <a:cs typeface="Arial" panose="020B0604020202020204" pitchFamily="34" charset="0"/>
                </a:rPr>
                <a:t>센서·이미지·융합 세 모델을</a:t>
              </a:r>
            </a:p>
            <a:p>
              <a:r>
                <a:rPr sz="1200">
                  <a:solidFill>
                    <a:srgbClr val="444444"/>
                  </a:solidFill>
                </a:rPr>
                <a:t>같은 조건에서 직접 비교</a:t>
              </a:r>
            </a:p>
          </p:txBody>
        </p:sp>
        <p:sp>
          <p:nvSpPr>
            <p:cNvPr id="12" name="사각형: 둥근 모서리 11">
              <a:extLst>
                <a:ext uri="{FF2B5EF4-FFF2-40B4-BE49-F238E27FC236}">
                  <a16:creationId xmlns:a16="http://schemas.microsoft.com/office/drawing/2014/main" id="{3F50AED4-79D2-4514-B234-E3195E11449D}"/>
                </a:ext>
              </a:extLst>
            </p:cNvPr>
            <p:cNvSpPr/>
            <p:nvPr/>
          </p:nvSpPr>
          <p:spPr>
            <a:xfrm>
              <a:off x="4381500" y="1587500"/>
              <a:ext cx="3048000" cy="2286000"/>
            </a:xfrm>
            <a:prstGeom prst="roundRect">
              <a:avLst/>
            </a:prstGeom>
            <a:solidFill>
              <a:srgbClr val="FFFFFF"/>
            </a:solidFill>
            <a:ln w="25400" cap="flat" cmpd="sng" algn="ctr">
              <a:solidFill>
                <a:srgbClr val="16A295"/>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3" name="타원 12">
              <a:extLst>
                <a:ext uri="{FF2B5EF4-FFF2-40B4-BE49-F238E27FC236}">
                  <a16:creationId xmlns:a16="http://schemas.microsoft.com/office/drawing/2014/main" id="{0C2FA366-2311-42DF-9390-21A4FC725CCF}"/>
                </a:ext>
              </a:extLst>
            </p:cNvPr>
            <p:cNvSpPr/>
            <p:nvPr/>
          </p:nvSpPr>
          <p:spPr>
            <a:xfrm>
              <a:off x="4638781" y="1805183"/>
              <a:ext cx="558800" cy="558800"/>
            </a:xfrm>
            <a:prstGeom prst="ellipse">
              <a:avLst/>
            </a:prstGeom>
            <a:solidFill>
              <a:srgbClr val="16A295"/>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ctr"/>
              <a:r>
                <a:rPr lang="en-US" altLang="ko-KR" b="1">
                  <a:solidFill>
                    <a:srgbClr val="FFFFFF"/>
                  </a:solidFill>
                </a:rPr>
                <a:t>2</a:t>
              </a:r>
              <a:endParaRPr lang="ko-KR" altLang="en-US" b="1">
                <a:solidFill>
                  <a:srgbClr val="FFFFFF"/>
                </a:solidFill>
              </a:endParaRPr>
            </a:p>
          </p:txBody>
        </p:sp>
        <p:sp>
          <p:nvSpPr>
            <p:cNvPr id="14" name="TextBox 13">
              <a:extLst>
                <a:ext uri="{FF2B5EF4-FFF2-40B4-BE49-F238E27FC236}">
                  <a16:creationId xmlns:a16="http://schemas.microsoft.com/office/drawing/2014/main" id="{DC19206D-A76F-4BB5-BD39-0F868D2F5FA7}"/>
                </a:ext>
              </a:extLst>
            </p:cNvPr>
            <p:cNvSpPr txBox="1"/>
            <p:nvPr/>
          </p:nvSpPr>
          <p:spPr>
            <a:xfrm>
              <a:off x="4638781" y="2524158"/>
              <a:ext cx="3048000" cy="355600"/>
            </a:xfrm>
            <a:prstGeom prst="rect">
              <a:avLst/>
            </a:prstGeom>
            <a:noFill/>
          </p:spPr>
          <p:txBody>
            <a:bodyPr vertOverflow="overflow" vert="horz" wrap="square" rtlCol="0" anchor="t">
              <a:noAutofit/>
            </a:bodyPr>
            <a:lstStyle/>
            <a:p>
              <a:pPr algn="l"/>
              <a:r>
                <a:rPr lang="en-US" altLang="ko-KR" sz="1500" b="1">
                  <a:solidFill>
                    <a:srgbClr val="16A295"/>
                  </a:solidFill>
                  <a:latin typeface="나눔고딕" panose="020D0604000000000000" pitchFamily="50" charset="-127"/>
                  <a:ea typeface="나눔고딕" panose="020D0604000000000000" pitchFamily="50" charset="-127"/>
                  <a:cs typeface="Arial" panose="020B0604020202020204" pitchFamily="34" charset="0"/>
                </a:rPr>
                <a:t>언제 이득이 발생하는가</a:t>
              </a:r>
              <a:endParaRPr lang="ko-KR" altLang="en-US" sz="1500" b="1">
                <a:solidFill>
                  <a:srgbClr val="16A295"/>
                </a:solidFill>
                <a:latin typeface="나눔고딕" panose="020D0604000000000000" pitchFamily="50" charset="-127"/>
                <a:ea typeface="나눔고딕" panose="020D0604000000000000" pitchFamily="50" charset="-127"/>
                <a:cs typeface="Arial" panose="020B0604020202020204" pitchFamily="34" charset="0"/>
              </a:endParaRPr>
            </a:p>
          </p:txBody>
        </p:sp>
        <p:sp>
          <p:nvSpPr>
            <p:cNvPr id="15" name="TextBox 14">
              <a:extLst>
                <a:ext uri="{FF2B5EF4-FFF2-40B4-BE49-F238E27FC236}">
                  <a16:creationId xmlns:a16="http://schemas.microsoft.com/office/drawing/2014/main" id="{A5158363-372F-41F1-BC04-59E175D89C52}"/>
                </a:ext>
              </a:extLst>
            </p:cNvPr>
            <p:cNvSpPr txBox="1"/>
            <p:nvPr/>
          </p:nvSpPr>
          <p:spPr>
            <a:xfrm>
              <a:off x="4638781" y="2943258"/>
              <a:ext cx="3048000" cy="952500"/>
            </a:xfrm>
            <a:prstGeom prst="rect">
              <a:avLst/>
            </a:prstGeom>
            <a:noFill/>
          </p:spPr>
          <p:txBody>
            <a:bodyPr vertOverflow="overflow" vert="horz" wrap="square" rtlCol="0" anchor="t">
              <a:noAutofit/>
            </a:bodyPr>
            <a:lstStyle/>
            <a:p>
              <a:pPr algn="l"/>
              <a:r>
                <a:rPr lang="ko-KR" altLang="en-US" sz="1200">
                  <a:solidFill>
                    <a:srgbClr val="444444"/>
                  </a:solidFill>
                  <a:latin typeface="나눔고딕" panose="020D0604000000000000" pitchFamily="50" charset="-127"/>
                  <a:ea typeface="나눔고딕" panose="020D0604000000000000" pitchFamily="50" charset="-127"/>
                  <a:cs typeface="Arial" panose="020B0604020202020204" pitchFamily="34" charset="0"/>
                </a:rPr>
                <a:t>두 모달리티의 강도를</a:t>
              </a:r>
            </a:p>
            <a:p>
              <a:r>
                <a:rPr sz="1200">
                  <a:solidFill>
                    <a:srgbClr val="444444"/>
                  </a:solidFill>
                </a:rPr>
                <a:t>다양하게 조절하여</a:t>
              </a:r>
            </a:p>
            <a:p>
              <a:r>
                <a:rPr sz="1200">
                  <a:solidFill>
                    <a:srgbClr val="444444"/>
                  </a:solidFill>
                </a:rPr>
                <a:t>융합 효과의 일관성 검증</a:t>
              </a:r>
            </a:p>
          </p:txBody>
        </p:sp>
        <p:sp>
          <p:nvSpPr>
            <p:cNvPr id="17" name="사각형: 둥근 모서리 16">
              <a:extLst>
                <a:ext uri="{FF2B5EF4-FFF2-40B4-BE49-F238E27FC236}">
                  <a16:creationId xmlns:a16="http://schemas.microsoft.com/office/drawing/2014/main" id="{BD2E5B76-71D6-4872-BB9C-ABB15EAFAA0A}"/>
                </a:ext>
              </a:extLst>
            </p:cNvPr>
            <p:cNvSpPr/>
            <p:nvPr/>
          </p:nvSpPr>
          <p:spPr>
            <a:xfrm>
              <a:off x="8255000" y="1587500"/>
              <a:ext cx="3048000" cy="2286000"/>
            </a:xfrm>
            <a:prstGeom prst="roundRect">
              <a:avLst/>
            </a:prstGeom>
            <a:solidFill>
              <a:srgbClr val="FFFFFF"/>
            </a:solidFill>
            <a:ln w="25400" cap="flat" cmpd="sng" algn="ctr">
              <a:solidFill>
                <a:srgbClr val="93B64E"/>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8" name="타원 17">
              <a:extLst>
                <a:ext uri="{FF2B5EF4-FFF2-40B4-BE49-F238E27FC236}">
                  <a16:creationId xmlns:a16="http://schemas.microsoft.com/office/drawing/2014/main" id="{91B52DC5-B94F-4010-BCFA-DC5FFEE86617}"/>
                </a:ext>
              </a:extLst>
            </p:cNvPr>
            <p:cNvSpPr/>
            <p:nvPr/>
          </p:nvSpPr>
          <p:spPr>
            <a:xfrm>
              <a:off x="8512281" y="1805183"/>
              <a:ext cx="558800" cy="558800"/>
            </a:xfrm>
            <a:prstGeom prst="ellipse">
              <a:avLst/>
            </a:prstGeom>
            <a:solidFill>
              <a:srgbClr val="93B64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ctr"/>
              <a:r>
                <a:rPr lang="en-US" altLang="ko-KR" b="1">
                  <a:solidFill>
                    <a:srgbClr val="FFFFFF"/>
                  </a:solidFill>
                </a:rPr>
                <a:t>3</a:t>
              </a:r>
              <a:endParaRPr lang="ko-KR" altLang="en-US" b="1">
                <a:solidFill>
                  <a:srgbClr val="FFFFFF"/>
                </a:solidFill>
              </a:endParaRPr>
            </a:p>
          </p:txBody>
        </p:sp>
        <p:sp>
          <p:nvSpPr>
            <p:cNvPr id="19" name="TextBox 18">
              <a:extLst>
                <a:ext uri="{FF2B5EF4-FFF2-40B4-BE49-F238E27FC236}">
                  <a16:creationId xmlns:a16="http://schemas.microsoft.com/office/drawing/2014/main" id="{B6A0EC6B-2D35-4AD0-B4A4-3966345D54C8}"/>
                </a:ext>
              </a:extLst>
            </p:cNvPr>
            <p:cNvSpPr txBox="1"/>
            <p:nvPr/>
          </p:nvSpPr>
          <p:spPr>
            <a:xfrm>
              <a:off x="8512281" y="2524158"/>
              <a:ext cx="2602502" cy="355600"/>
            </a:xfrm>
            <a:prstGeom prst="rect">
              <a:avLst/>
            </a:prstGeom>
            <a:noFill/>
          </p:spPr>
          <p:txBody>
            <a:bodyPr vertOverflow="overflow" vert="horz" wrap="square" rtlCol="0" anchor="t">
              <a:noAutofit/>
            </a:bodyPr>
            <a:lstStyle/>
            <a:p>
              <a:pPr algn="l"/>
              <a:r>
                <a:rPr lang="en-US" altLang="ko-KR" sz="1500" b="1">
                  <a:solidFill>
                    <a:srgbClr val="93B64E"/>
                  </a:solidFill>
                  <a:latin typeface="나눔고딕" panose="020D0604000000000000" pitchFamily="50" charset="-127"/>
                  <a:ea typeface="나눔고딕" panose="020D0604000000000000" pitchFamily="50" charset="-127"/>
                  <a:cs typeface="Arial" panose="020B0604020202020204" pitchFamily="34" charset="0"/>
                </a:rPr>
                <a:t>이미지가 없는 순간엔</a:t>
              </a:r>
              <a:endParaRPr lang="ko-KR" altLang="en-US" sz="1500" b="1">
                <a:solidFill>
                  <a:srgbClr val="93B64E"/>
                </a:solidFill>
                <a:latin typeface="나눔고딕" panose="020D0604000000000000" pitchFamily="50" charset="-127"/>
                <a:ea typeface="나눔고딕" panose="020D0604000000000000" pitchFamily="50" charset="-127"/>
                <a:cs typeface="Arial" panose="020B0604020202020204" pitchFamily="34" charset="0"/>
              </a:endParaRPr>
            </a:p>
          </p:txBody>
        </p:sp>
        <p:sp>
          <p:nvSpPr>
            <p:cNvPr id="20" name="TextBox 19">
              <a:extLst>
                <a:ext uri="{FF2B5EF4-FFF2-40B4-BE49-F238E27FC236}">
                  <a16:creationId xmlns:a16="http://schemas.microsoft.com/office/drawing/2014/main" id="{F9B8E14A-D287-4F92-AA49-AADA410682D2}"/>
                </a:ext>
              </a:extLst>
            </p:cNvPr>
            <p:cNvSpPr txBox="1"/>
            <p:nvPr/>
          </p:nvSpPr>
          <p:spPr>
            <a:xfrm>
              <a:off x="8512281" y="2943258"/>
              <a:ext cx="2602502" cy="952500"/>
            </a:xfrm>
            <a:prstGeom prst="rect">
              <a:avLst/>
            </a:prstGeom>
            <a:noFill/>
          </p:spPr>
          <p:txBody>
            <a:bodyPr vertOverflow="overflow" vert="horz" wrap="square" rtlCol="0" anchor="t">
              <a:noAutofit/>
            </a:bodyPr>
            <a:lstStyle/>
            <a:p>
              <a:pPr algn="l"/>
              <a:r>
                <a:rPr lang="ko-KR" altLang="en-US" sz="1200">
                  <a:solidFill>
                    <a:srgbClr val="444444"/>
                  </a:solidFill>
                  <a:latin typeface="나눔고딕" panose="020D0604000000000000" pitchFamily="50" charset="-127"/>
                  <a:ea typeface="나눔고딕" panose="020D0604000000000000" pitchFamily="50" charset="-127"/>
                  <a:cs typeface="Arial" panose="020B0604020202020204" pitchFamily="34" charset="0"/>
                </a:rPr>
                <a:t>카메라 데이터가 없는 시점에도</a:t>
              </a:r>
            </a:p>
            <a:p>
              <a:r>
                <a:rPr sz="1200">
                  <a:solidFill>
                    <a:srgbClr val="444444"/>
                  </a:solidFill>
                </a:rPr>
                <a:t>안정적으로 작동하는</a:t>
              </a:r>
            </a:p>
            <a:p>
              <a:r>
                <a:rPr sz="1200">
                  <a:solidFill>
                    <a:srgbClr val="444444"/>
                  </a:solidFill>
                </a:rPr>
                <a:t>견고한 융합 설계</a:t>
              </a:r>
            </a:p>
          </p:txBody>
        </p:sp>
        <p:sp>
          <p:nvSpPr>
            <p:cNvPr id="21" name="사각형: 둥근 모서리 20">
              <a:extLst>
                <a:ext uri="{FF2B5EF4-FFF2-40B4-BE49-F238E27FC236}">
                  <a16:creationId xmlns:a16="http://schemas.microsoft.com/office/drawing/2014/main" id="{5D8CE290-11EE-4720-B950-D0F4FDB322F3}"/>
                </a:ext>
              </a:extLst>
            </p:cNvPr>
            <p:cNvSpPr/>
            <p:nvPr/>
          </p:nvSpPr>
          <p:spPr>
            <a:xfrm>
              <a:off x="508000" y="4127500"/>
              <a:ext cx="10795000" cy="609600"/>
            </a:xfrm>
            <a:prstGeom prst="roundRect">
              <a:avLst/>
            </a:prstGeom>
            <a:solidFill>
              <a:srgbClr val="F5F9F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22" name="TextBox 21">
              <a:extLst>
                <a:ext uri="{FF2B5EF4-FFF2-40B4-BE49-F238E27FC236}">
                  <a16:creationId xmlns:a16="http://schemas.microsoft.com/office/drawing/2014/main" id="{A6641A26-DEA1-4E71-8F56-F64745B9F16C}"/>
                </a:ext>
              </a:extLst>
            </p:cNvPr>
            <p:cNvSpPr txBox="1"/>
            <p:nvPr/>
          </p:nvSpPr>
          <p:spPr>
            <a:xfrm>
              <a:off x="762000" y="4216400"/>
              <a:ext cx="10352783" cy="444500"/>
            </a:xfrm>
            <a:prstGeom prst="rect">
              <a:avLst/>
            </a:prstGeom>
            <a:noFill/>
          </p:spPr>
          <p:txBody>
            <a:bodyPr vertOverflow="overflow" vert="horz" wrap="square" rtlCol="0" anchor="ctr">
              <a:noAutofit/>
            </a:bodyPr>
            <a:lstStyle/>
            <a:p>
              <a:pPr algn="l"/>
              <a:r>
                <a:rPr lang="ko-KR" altLang="en-US" sz="1400" b="1" dirty="0">
                  <a:solidFill>
                    <a:srgbClr val="1B2A4A"/>
                  </a:solidFill>
                  <a:latin typeface="나눔고딕" panose="020D0604000000000000" pitchFamily="50" charset="-127"/>
                  <a:ea typeface="나눔고딕" panose="020D0604000000000000" pitchFamily="50" charset="-127"/>
                  <a:cs typeface="Arial" panose="020B0604020202020204" pitchFamily="34" charset="0"/>
                </a:rPr>
                <a:t>단순히 ‘</a:t>
              </a:r>
              <a:r>
                <a:rPr lang="ko-KR" altLang="en-US" sz="1400" b="1" dirty="0" err="1">
                  <a:solidFill>
                    <a:srgbClr val="1B2A4A"/>
                  </a:solidFill>
                  <a:latin typeface="나눔고딕" panose="020D0604000000000000" pitchFamily="50" charset="-127"/>
                  <a:ea typeface="나눔고딕" panose="020D0604000000000000" pitchFamily="50" charset="-127"/>
                  <a:cs typeface="Arial" panose="020B0604020202020204" pitchFamily="34" charset="0"/>
                </a:rPr>
                <a:t>멀티모달이</a:t>
              </a:r>
              <a:r>
                <a:rPr lang="ko-KR" altLang="en-US" sz="1400" b="1" dirty="0">
                  <a:solidFill>
                    <a:srgbClr val="1B2A4A"/>
                  </a:solidFill>
                  <a:latin typeface="나눔고딕" panose="020D0604000000000000" pitchFamily="50" charset="-127"/>
                  <a:ea typeface="나눔고딕" panose="020D0604000000000000" pitchFamily="50" charset="-127"/>
                  <a:cs typeface="Arial" panose="020B0604020202020204" pitchFamily="34" charset="0"/>
                </a:rPr>
                <a:t> </a:t>
              </a:r>
              <a:r>
                <a:rPr lang="ko-KR" altLang="en-US" sz="1400" b="1" dirty="0" err="1">
                  <a:solidFill>
                    <a:srgbClr val="1B2A4A"/>
                  </a:solidFill>
                  <a:latin typeface="나눔고딕" panose="020D0604000000000000" pitchFamily="50" charset="-127"/>
                  <a:ea typeface="나눔고딕" panose="020D0604000000000000" pitchFamily="50" charset="-127"/>
                  <a:cs typeface="Arial" panose="020B0604020202020204" pitchFamily="34" charset="0"/>
                </a:rPr>
                <a:t>좋다’가</a:t>
              </a:r>
              <a:r>
                <a:rPr lang="ko-KR" altLang="en-US" sz="1400" b="1" dirty="0">
                  <a:solidFill>
                    <a:srgbClr val="1B2A4A"/>
                  </a:solidFill>
                  <a:latin typeface="나눔고딕" panose="020D0604000000000000" pitchFamily="50" charset="-127"/>
                  <a:ea typeface="나눔고딕" panose="020D0604000000000000" pitchFamily="50" charset="-127"/>
                  <a:cs typeface="Arial" panose="020B0604020202020204" pitchFamily="34" charset="0"/>
                </a:rPr>
                <a:t> 아니라, ‘어떤 조건에서 어떻게 </a:t>
              </a:r>
              <a:r>
                <a:rPr lang="ko-KR" altLang="en-US" sz="1400" b="1" dirty="0" err="1">
                  <a:solidFill>
                    <a:srgbClr val="1B2A4A"/>
                  </a:solidFill>
                  <a:latin typeface="나눔고딕" panose="020D0604000000000000" pitchFamily="50" charset="-127"/>
                  <a:ea typeface="나눔고딕" panose="020D0604000000000000" pitchFamily="50" charset="-127"/>
                  <a:cs typeface="Arial" panose="020B0604020202020204" pitchFamily="34" charset="0"/>
                </a:rPr>
                <a:t>좋은가’를</a:t>
              </a:r>
              <a:r>
                <a:rPr lang="ko-KR" altLang="en-US" sz="1400" b="1" dirty="0">
                  <a:solidFill>
                    <a:srgbClr val="1B2A4A"/>
                  </a:solidFill>
                  <a:latin typeface="나눔고딕" panose="020D0604000000000000" pitchFamily="50" charset="-127"/>
                  <a:ea typeface="나눔고딕" panose="020D0604000000000000" pitchFamily="50" charset="-127"/>
                  <a:cs typeface="Arial" panose="020B0604020202020204" pitchFamily="34" charset="0"/>
                </a:rPr>
                <a:t> 설명</a:t>
              </a:r>
            </a:p>
          </p:txBody>
        </p:sp>
        <p:sp>
          <p:nvSpPr>
            <p:cNvPr id="11" name="화살표: 오른쪽 10">
              <a:extLst>
                <a:ext uri="{FF2B5EF4-FFF2-40B4-BE49-F238E27FC236}">
                  <a16:creationId xmlns:a16="http://schemas.microsoft.com/office/drawing/2014/main" id="{3450B821-5DF0-46D3-8A36-B63AA5080FCB}"/>
                </a:ext>
              </a:extLst>
            </p:cNvPr>
            <p:cNvSpPr/>
            <p:nvPr/>
          </p:nvSpPr>
          <p:spPr>
            <a:xfrm>
              <a:off x="3619500" y="2578100"/>
              <a:ext cx="698500" cy="381000"/>
            </a:xfrm>
            <a:prstGeom prst="rightArrow">
              <a:avLst/>
            </a:prstGeom>
            <a:solidFill>
              <a:srgbClr val="CCCCC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6" name="화살표: 오른쪽 15">
              <a:extLst>
                <a:ext uri="{FF2B5EF4-FFF2-40B4-BE49-F238E27FC236}">
                  <a16:creationId xmlns:a16="http://schemas.microsoft.com/office/drawing/2014/main" id="{69633D6C-C335-4D3A-94F8-788705375CCC}"/>
                </a:ext>
              </a:extLst>
            </p:cNvPr>
            <p:cNvSpPr/>
            <p:nvPr/>
          </p:nvSpPr>
          <p:spPr>
            <a:xfrm>
              <a:off x="7493000" y="2514600"/>
              <a:ext cx="698500" cy="381000"/>
            </a:xfrm>
            <a:prstGeom prst="rightArrow">
              <a:avLst/>
            </a:prstGeom>
            <a:solidFill>
              <a:srgbClr val="CCCCC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grpSp>
    </p:spTree>
    <p:extLst>
      <p:ext uri="{BB962C8B-B14F-4D97-AF65-F5344CB8AC3E}">
        <p14:creationId xmlns:p14="http://schemas.microsoft.com/office/powerpoint/2010/main" val="27520322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직사각형 2">
            <a:extLst>
              <a:ext uri="{FF2B5EF4-FFF2-40B4-BE49-F238E27FC236}">
                <a16:creationId xmlns:a16="http://schemas.microsoft.com/office/drawing/2014/main" id="{44F69472-44A6-4369-B22F-F106D9569905}"/>
              </a:ext>
            </a:extLst>
          </p:cNvPr>
          <p:cNvSpPr/>
          <p:nvPr/>
        </p:nvSpPr>
        <p:spPr>
          <a:xfrm>
            <a:off x="0" y="0"/>
            <a:ext cx="12192000" cy="889000"/>
          </a:xfrm>
          <a:prstGeom prst="rect">
            <a:avLst/>
          </a:prstGeom>
          <a:solidFill>
            <a:srgbClr val="1B2A4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타원 3">
            <a:extLst>
              <a:ext uri="{FF2B5EF4-FFF2-40B4-BE49-F238E27FC236}">
                <a16:creationId xmlns:a16="http://schemas.microsoft.com/office/drawing/2014/main" id="{19EBD975-E638-41F2-ADA6-952D8B13AACA}"/>
              </a:ext>
            </a:extLst>
          </p:cNvPr>
          <p:cNvSpPr/>
          <p:nvPr/>
        </p:nvSpPr>
        <p:spPr>
          <a:xfrm>
            <a:off x="381000" y="190500"/>
            <a:ext cx="508000" cy="508000"/>
          </a:xfrm>
          <a:prstGeom prst="ellipse">
            <a:avLst/>
          </a:prstGeom>
          <a:solidFill>
            <a:srgbClr val="16A295"/>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sz="1600" b="1">
                <a:solidFill>
                  <a:srgbClr val="FFFFFF"/>
                </a:solidFill>
              </a:rPr>
              <a:t>03</a:t>
            </a:r>
            <a:endParaRPr lang="ko-KR" altLang="en-US" sz="1600" b="1">
              <a:solidFill>
                <a:srgbClr val="FFFFFF"/>
              </a:solidFill>
            </a:endParaRPr>
          </a:p>
        </p:txBody>
      </p:sp>
      <p:sp>
        <p:nvSpPr>
          <p:cNvPr id="5" name="TextBox 4">
            <a:extLst>
              <a:ext uri="{FF2B5EF4-FFF2-40B4-BE49-F238E27FC236}">
                <a16:creationId xmlns:a16="http://schemas.microsoft.com/office/drawing/2014/main" id="{113D395D-7CB5-4918-BCDF-218B4B5BC332}"/>
              </a:ext>
            </a:extLst>
          </p:cNvPr>
          <p:cNvSpPr txBox="1"/>
          <p:nvPr/>
        </p:nvSpPr>
        <p:spPr>
          <a:xfrm>
            <a:off x="1079500" y="190500"/>
            <a:ext cx="5080000" cy="508000"/>
          </a:xfrm>
          <a:prstGeom prst="rect">
            <a:avLst/>
          </a:prstGeom>
          <a:noFill/>
        </p:spPr>
        <p:txBody>
          <a:bodyPr vertOverflow="overflow" vert="horz" wrap="square" rtlCol="0" anchor="t">
            <a:noAutofit/>
          </a:bodyPr>
          <a:lstStyle/>
          <a:p>
            <a:pPr algn="l">
              <a:lnSpc>
                <a:spcPct val="130000"/>
              </a:lnSpc>
            </a:pPr>
            <a:r>
              <a:rPr lang="ko-KR" altLang="en-US" sz="2200" b="1">
                <a:solidFill>
                  <a:srgbClr val="FFFFFF"/>
                </a:solidFill>
                <a:latin typeface="나눔고딕" panose="020D0604000000000000" pitchFamily="50" charset="-127"/>
                <a:ea typeface="나눔고딕" panose="020D0604000000000000" pitchFamily="50" charset="-127"/>
                <a:cs typeface="Arial" panose="020B0604020202020204" pitchFamily="34" charset="0"/>
              </a:rPr>
              <a:t>데이터셋: Future Factories Lab (USC)</a:t>
            </a:r>
          </a:p>
        </p:txBody>
      </p:sp>
      <p:sp>
        <p:nvSpPr>
          <p:cNvPr id="6" name="TextBox 5">
            <a:extLst>
              <a:ext uri="{FF2B5EF4-FFF2-40B4-BE49-F238E27FC236}">
                <a16:creationId xmlns:a16="http://schemas.microsoft.com/office/drawing/2014/main" id="{0FC210FD-6C21-435B-9045-5ED8170F5EAF}"/>
              </a:ext>
            </a:extLst>
          </p:cNvPr>
          <p:cNvSpPr txBox="1"/>
          <p:nvPr/>
        </p:nvSpPr>
        <p:spPr>
          <a:xfrm>
            <a:off x="508000" y="1174295"/>
            <a:ext cx="5080000" cy="381000"/>
          </a:xfrm>
          <a:prstGeom prst="rect">
            <a:avLst/>
          </a:prstGeom>
          <a:noFill/>
        </p:spPr>
        <p:txBody>
          <a:bodyPr vertOverflow="overflow" vert="horz" wrap="square" rtlCol="0" anchor="t">
            <a:noAutofit/>
          </a:bodyPr>
          <a:lstStyle/>
          <a:p>
            <a:pPr algn="l"/>
            <a:r>
              <a:rPr lang="en-US" altLang="ko-KR" sz="1600" b="1">
                <a:solidFill>
                  <a:srgbClr val="2676AC"/>
                </a:solidFill>
                <a:latin typeface="나눔고딕" panose="020D0604000000000000" pitchFamily="50" charset="-127"/>
                <a:ea typeface="나눔고딕" panose="020D0604000000000000" pitchFamily="50" charset="-127"/>
                <a:cs typeface="Arial" panose="020B0604020202020204" pitchFamily="34" charset="0"/>
              </a:rPr>
              <a:t>Future Factories Lab Dataset (USC)</a:t>
            </a:r>
            <a:endParaRPr lang="ko-KR" altLang="en-US" sz="1600" b="1">
              <a:solidFill>
                <a:srgbClr val="2676AC"/>
              </a:solidFill>
              <a:latin typeface="나눔고딕" panose="020D0604000000000000" pitchFamily="50" charset="-127"/>
              <a:ea typeface="나눔고딕" panose="020D0604000000000000" pitchFamily="50" charset="-127"/>
              <a:cs typeface="Arial" panose="020B0604020202020204" pitchFamily="34" charset="0"/>
            </a:endParaRPr>
          </a:p>
        </p:txBody>
      </p:sp>
      <p:sp>
        <p:nvSpPr>
          <p:cNvPr id="7" name="사각형: 둥근 모서리 6">
            <a:extLst>
              <a:ext uri="{FF2B5EF4-FFF2-40B4-BE49-F238E27FC236}">
                <a16:creationId xmlns:a16="http://schemas.microsoft.com/office/drawing/2014/main" id="{D41B44AC-E48C-4514-BD49-9D6B33BFEB01}"/>
              </a:ext>
            </a:extLst>
          </p:cNvPr>
          <p:cNvSpPr/>
          <p:nvPr/>
        </p:nvSpPr>
        <p:spPr>
          <a:xfrm>
            <a:off x="508000" y="1656895"/>
            <a:ext cx="5588000" cy="381000"/>
          </a:xfrm>
          <a:prstGeom prst="roundRect">
            <a:avLst/>
          </a:prstGeom>
          <a:solidFill>
            <a:srgbClr val="F5F7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8" name="TextBox 7">
            <a:extLst>
              <a:ext uri="{FF2B5EF4-FFF2-40B4-BE49-F238E27FC236}">
                <a16:creationId xmlns:a16="http://schemas.microsoft.com/office/drawing/2014/main" id="{749D75D6-073B-4DE6-B2AA-F29C7C8D9F68}"/>
              </a:ext>
            </a:extLst>
          </p:cNvPr>
          <p:cNvSpPr txBox="1"/>
          <p:nvPr/>
        </p:nvSpPr>
        <p:spPr>
          <a:xfrm>
            <a:off x="698500" y="1694995"/>
            <a:ext cx="5270500" cy="304800"/>
          </a:xfrm>
          <a:prstGeom prst="rect">
            <a:avLst/>
          </a:prstGeom>
          <a:noFill/>
        </p:spPr>
        <p:txBody>
          <a:bodyPr vertOverflow="overflow" vert="horz" wrap="square" rtlCol="0" anchor="t">
            <a:noAutofit/>
          </a:bodyPr>
          <a:lstStyle/>
          <a:p>
            <a:pPr algn="l"/>
            <a:r>
              <a:rPr lang="ko-KR" altLang="en-US" sz="1200">
                <a:solidFill>
                  <a:srgbClr val="333333"/>
                </a:solidFill>
                <a:latin typeface="나눔고딕" panose="020D0604000000000000" pitchFamily="50" charset="-127"/>
                <a:ea typeface="나눔고딕" panose="020D0604000000000000" pitchFamily="50" charset="-127"/>
                <a:cs typeface="Arial" panose="020B0604020202020204" pitchFamily="34" charset="0"/>
              </a:rPr>
              <a:t>조립 라인:  로봇 4대 + 컨베이어로 구성된 실제 산업 라인</a:t>
            </a:r>
          </a:p>
        </p:txBody>
      </p:sp>
      <p:sp>
        <p:nvSpPr>
          <p:cNvPr id="9" name="사각형: 둥근 모서리 8">
            <a:extLst>
              <a:ext uri="{FF2B5EF4-FFF2-40B4-BE49-F238E27FC236}">
                <a16:creationId xmlns:a16="http://schemas.microsoft.com/office/drawing/2014/main" id="{1FE7DB88-1722-48F8-B696-334F217387B1}"/>
              </a:ext>
            </a:extLst>
          </p:cNvPr>
          <p:cNvSpPr/>
          <p:nvPr/>
        </p:nvSpPr>
        <p:spPr>
          <a:xfrm>
            <a:off x="508000" y="2101395"/>
            <a:ext cx="5588000" cy="381000"/>
          </a:xfrm>
          <a:prstGeom prst="roundRect">
            <a:avLst/>
          </a:prstGeom>
          <a:solidFill>
            <a:srgbClr val="F5F7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0" name="TextBox 9">
            <a:extLst>
              <a:ext uri="{FF2B5EF4-FFF2-40B4-BE49-F238E27FC236}">
                <a16:creationId xmlns:a16="http://schemas.microsoft.com/office/drawing/2014/main" id="{F8F1F657-AD2B-494F-A655-424D39DC48B5}"/>
              </a:ext>
            </a:extLst>
          </p:cNvPr>
          <p:cNvSpPr txBox="1"/>
          <p:nvPr/>
        </p:nvSpPr>
        <p:spPr>
          <a:xfrm>
            <a:off x="698500" y="2139495"/>
            <a:ext cx="5270500" cy="304800"/>
          </a:xfrm>
          <a:prstGeom prst="rect">
            <a:avLst/>
          </a:prstGeom>
          <a:noFill/>
        </p:spPr>
        <p:txBody>
          <a:bodyPr vertOverflow="overflow" vert="horz" wrap="square" rtlCol="0" anchor="t">
            <a:noAutofit/>
          </a:bodyPr>
          <a:lstStyle/>
          <a:p>
            <a:pPr algn="l"/>
            <a:r>
              <a:rPr lang="ko-KR" altLang="en-US" sz="1200" dirty="0">
                <a:solidFill>
                  <a:srgbClr val="333333"/>
                </a:solidFill>
                <a:latin typeface="나눔고딕" panose="020D0604000000000000" pitchFamily="50" charset="-127"/>
                <a:ea typeface="나눔고딕" panose="020D0604000000000000" pitchFamily="50" charset="-127"/>
                <a:cs typeface="Arial" panose="020B0604020202020204" pitchFamily="34" charset="0"/>
              </a:rPr>
              <a:t>조립 대상:  4개 부품으로 된 로켓 모형</a:t>
            </a:r>
          </a:p>
        </p:txBody>
      </p:sp>
      <p:sp>
        <p:nvSpPr>
          <p:cNvPr id="11" name="사각형: 둥근 모서리 10">
            <a:extLst>
              <a:ext uri="{FF2B5EF4-FFF2-40B4-BE49-F238E27FC236}">
                <a16:creationId xmlns:a16="http://schemas.microsoft.com/office/drawing/2014/main" id="{276E0808-C1DE-4798-9D3C-93369AA53683}"/>
              </a:ext>
            </a:extLst>
          </p:cNvPr>
          <p:cNvSpPr/>
          <p:nvPr/>
        </p:nvSpPr>
        <p:spPr>
          <a:xfrm>
            <a:off x="508000" y="2545895"/>
            <a:ext cx="5588000" cy="381000"/>
          </a:xfrm>
          <a:prstGeom prst="roundRect">
            <a:avLst/>
          </a:prstGeom>
          <a:solidFill>
            <a:srgbClr val="F5F7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2" name="TextBox 11">
            <a:extLst>
              <a:ext uri="{FF2B5EF4-FFF2-40B4-BE49-F238E27FC236}">
                <a16:creationId xmlns:a16="http://schemas.microsoft.com/office/drawing/2014/main" id="{4F7220DD-14E3-49DA-A899-FB6C57395553}"/>
              </a:ext>
            </a:extLst>
          </p:cNvPr>
          <p:cNvSpPr txBox="1"/>
          <p:nvPr/>
        </p:nvSpPr>
        <p:spPr>
          <a:xfrm>
            <a:off x="698500" y="2583995"/>
            <a:ext cx="5270500" cy="304800"/>
          </a:xfrm>
          <a:prstGeom prst="rect">
            <a:avLst/>
          </a:prstGeom>
          <a:noFill/>
        </p:spPr>
        <p:txBody>
          <a:bodyPr vertOverflow="overflow" vert="horz" wrap="square" rtlCol="0" anchor="t">
            <a:noAutofit/>
          </a:bodyPr>
          <a:lstStyle/>
          <a:p>
            <a:pPr algn="l"/>
            <a:r>
              <a:rPr lang="ko-KR" altLang="en-US" sz="1200">
                <a:solidFill>
                  <a:srgbClr val="333333"/>
                </a:solidFill>
                <a:latin typeface="나눔고딕" panose="020D0604000000000000" pitchFamily="50" charset="-127"/>
                <a:ea typeface="나눔고딕" panose="020D0604000000000000" pitchFamily="50" charset="-127"/>
                <a:cs typeface="Arial" panose="020B0604020202020204" pitchFamily="34" charset="0"/>
              </a:rPr>
              <a:t>수집 시간:  30시간, 약 166,000 측정 시점</a:t>
            </a:r>
          </a:p>
        </p:txBody>
      </p:sp>
      <p:sp>
        <p:nvSpPr>
          <p:cNvPr id="13" name="사각형: 둥근 모서리 12">
            <a:extLst>
              <a:ext uri="{FF2B5EF4-FFF2-40B4-BE49-F238E27FC236}">
                <a16:creationId xmlns:a16="http://schemas.microsoft.com/office/drawing/2014/main" id="{FDEC831B-D5BD-4095-85D4-D5521CA4AA25}"/>
              </a:ext>
            </a:extLst>
          </p:cNvPr>
          <p:cNvSpPr/>
          <p:nvPr/>
        </p:nvSpPr>
        <p:spPr>
          <a:xfrm>
            <a:off x="508000" y="2990395"/>
            <a:ext cx="5588000" cy="381000"/>
          </a:xfrm>
          <a:prstGeom prst="roundRect">
            <a:avLst/>
          </a:prstGeom>
          <a:solidFill>
            <a:srgbClr val="F5F7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4" name="TextBox 13">
            <a:extLst>
              <a:ext uri="{FF2B5EF4-FFF2-40B4-BE49-F238E27FC236}">
                <a16:creationId xmlns:a16="http://schemas.microsoft.com/office/drawing/2014/main" id="{226B8F36-EED6-472F-A736-8B51F7BA4E79}"/>
              </a:ext>
            </a:extLst>
          </p:cNvPr>
          <p:cNvSpPr txBox="1"/>
          <p:nvPr/>
        </p:nvSpPr>
        <p:spPr>
          <a:xfrm>
            <a:off x="698500" y="3028495"/>
            <a:ext cx="5270500" cy="304800"/>
          </a:xfrm>
          <a:prstGeom prst="rect">
            <a:avLst/>
          </a:prstGeom>
          <a:noFill/>
        </p:spPr>
        <p:txBody>
          <a:bodyPr vertOverflow="overflow" vert="horz" wrap="square" rtlCol="0" anchor="t">
            <a:noAutofit/>
          </a:bodyPr>
          <a:lstStyle/>
          <a:p>
            <a:pPr algn="l"/>
            <a:r>
              <a:rPr lang="ko-KR" altLang="en-US" sz="1200">
                <a:solidFill>
                  <a:srgbClr val="333333"/>
                </a:solidFill>
                <a:latin typeface="나눔고딕" panose="020D0604000000000000" pitchFamily="50" charset="-127"/>
                <a:ea typeface="나눔고딕" panose="020D0604000000000000" pitchFamily="50" charset="-127"/>
                <a:cs typeface="Arial" panose="020B0604020202020204" pitchFamily="34" charset="0"/>
              </a:rPr>
              <a:t>센서 데이터:  22채널 — 모든 시점에 기록 (전 사이클 구간)</a:t>
            </a:r>
          </a:p>
        </p:txBody>
      </p:sp>
      <p:sp>
        <p:nvSpPr>
          <p:cNvPr id="15" name="사각형: 둥근 모서리 14">
            <a:extLst>
              <a:ext uri="{FF2B5EF4-FFF2-40B4-BE49-F238E27FC236}">
                <a16:creationId xmlns:a16="http://schemas.microsoft.com/office/drawing/2014/main" id="{C193E774-E4A3-47FD-871B-12E28412B0E6}"/>
              </a:ext>
            </a:extLst>
          </p:cNvPr>
          <p:cNvSpPr/>
          <p:nvPr/>
        </p:nvSpPr>
        <p:spPr>
          <a:xfrm>
            <a:off x="508000" y="3434895"/>
            <a:ext cx="5588000" cy="381000"/>
          </a:xfrm>
          <a:prstGeom prst="roundRect">
            <a:avLst/>
          </a:prstGeom>
          <a:solidFill>
            <a:srgbClr val="F5F7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6" name="TextBox 15">
            <a:extLst>
              <a:ext uri="{FF2B5EF4-FFF2-40B4-BE49-F238E27FC236}">
                <a16:creationId xmlns:a16="http://schemas.microsoft.com/office/drawing/2014/main" id="{D21068F9-F28A-487F-91EF-57F506834EEC}"/>
              </a:ext>
            </a:extLst>
          </p:cNvPr>
          <p:cNvSpPr txBox="1"/>
          <p:nvPr/>
        </p:nvSpPr>
        <p:spPr>
          <a:xfrm>
            <a:off x="698500" y="3472995"/>
            <a:ext cx="5270500" cy="304800"/>
          </a:xfrm>
          <a:prstGeom prst="rect">
            <a:avLst/>
          </a:prstGeom>
          <a:noFill/>
        </p:spPr>
        <p:txBody>
          <a:bodyPr vertOverflow="overflow" vert="horz" wrap="square" rtlCol="0" anchor="t">
            <a:noAutofit/>
          </a:bodyPr>
          <a:lstStyle/>
          <a:p>
            <a:r>
              <a:rPr lang="ko-KR" altLang="en-US" sz="1200" dirty="0">
                <a:solidFill>
                  <a:srgbClr val="333333"/>
                </a:solidFill>
                <a:latin typeface="나눔고딕" panose="020D0604000000000000" pitchFamily="50" charset="-127"/>
                <a:ea typeface="나눔고딕" panose="020D0604000000000000" pitchFamily="50" charset="-127"/>
                <a:cs typeface="Arial" panose="020B0604020202020204" pitchFamily="34" charset="0"/>
              </a:rPr>
              <a:t>이미지 데이터:  카메라 2대 — 부품이 보이는 일부 구간만 사용 </a:t>
            </a:r>
            <a:r>
              <a:rPr lang="en-US" altLang="ko-KR" sz="1200" dirty="0">
                <a:solidFill>
                  <a:srgbClr val="333333"/>
                </a:solidFill>
                <a:latin typeface="나눔고딕" panose="020D0604000000000000" pitchFamily="50" charset="-127"/>
                <a:ea typeface="나눔고딕" panose="020D0604000000000000" pitchFamily="50" charset="-127"/>
                <a:cs typeface="Arial" panose="020B0604020202020204" pitchFamily="34" charset="0"/>
              </a:rPr>
              <a:t>(</a:t>
            </a:r>
            <a:r>
              <a:rPr lang="ko-KR" altLang="en-US" sz="1200" dirty="0" err="1">
                <a:solidFill>
                  <a:srgbClr val="333333"/>
                </a:solidFill>
                <a:latin typeface="나눔고딕" panose="020D0604000000000000" pitchFamily="50" charset="-127"/>
                <a:ea typeface="나눔고딕" panose="020D0604000000000000" pitchFamily="50" charset="-127"/>
                <a:cs typeface="Arial" panose="020B0604020202020204" pitchFamily="34" charset="0"/>
              </a:rPr>
              <a:t>Cycle</a:t>
            </a:r>
            <a:r>
              <a:rPr lang="ko-KR" altLang="en-US" sz="1200" dirty="0">
                <a:solidFill>
                  <a:srgbClr val="333333"/>
                </a:solidFill>
                <a:latin typeface="나눔고딕" panose="020D0604000000000000" pitchFamily="50" charset="-127"/>
                <a:ea typeface="나눔고딕" panose="020D0604000000000000" pitchFamily="50" charset="-127"/>
                <a:cs typeface="Arial" panose="020B0604020202020204" pitchFamily="34" charset="0"/>
              </a:rPr>
              <a:t> 4·9</a:t>
            </a:r>
            <a:r>
              <a:rPr lang="en-US" altLang="ko-KR" sz="1200" dirty="0">
                <a:solidFill>
                  <a:srgbClr val="333333"/>
                </a:solidFill>
                <a:latin typeface="나눔고딕" panose="020D0604000000000000" pitchFamily="50" charset="-127"/>
                <a:ea typeface="나눔고딕" panose="020D0604000000000000" pitchFamily="50" charset="-127"/>
                <a:cs typeface="Arial" panose="020B0604020202020204" pitchFamily="34" charset="0"/>
              </a:rPr>
              <a:t>)</a:t>
            </a:r>
            <a:endParaRPr lang="ko-KR" altLang="en-US" sz="1200" dirty="0">
              <a:solidFill>
                <a:srgbClr val="333333"/>
              </a:solidFill>
              <a:latin typeface="나눔고딕" panose="020D0604000000000000" pitchFamily="50" charset="-127"/>
              <a:ea typeface="나눔고딕" panose="020D0604000000000000" pitchFamily="50" charset="-127"/>
              <a:cs typeface="Arial" panose="020B0604020202020204" pitchFamily="34" charset="0"/>
            </a:endParaRPr>
          </a:p>
        </p:txBody>
      </p:sp>
      <p:sp>
        <p:nvSpPr>
          <p:cNvPr id="17" name="TextBox 16">
            <a:extLst>
              <a:ext uri="{FF2B5EF4-FFF2-40B4-BE49-F238E27FC236}">
                <a16:creationId xmlns:a16="http://schemas.microsoft.com/office/drawing/2014/main" id="{9951BA10-3E6D-40E9-9DE0-CC15ADE521DB}"/>
              </a:ext>
            </a:extLst>
          </p:cNvPr>
          <p:cNvSpPr txBox="1"/>
          <p:nvPr/>
        </p:nvSpPr>
        <p:spPr>
          <a:xfrm>
            <a:off x="6604002" y="1275895"/>
            <a:ext cx="5080000" cy="317500"/>
          </a:xfrm>
          <a:prstGeom prst="rect">
            <a:avLst/>
          </a:prstGeom>
          <a:noFill/>
        </p:spPr>
        <p:txBody>
          <a:bodyPr vertOverflow="overflow" vert="horz" wrap="square" rtlCol="0" anchor="t">
            <a:noAutofit/>
          </a:bodyPr>
          <a:lstStyle/>
          <a:p>
            <a:pPr algn="l"/>
            <a:r>
              <a:rPr lang="ko-KR" altLang="en-US" sz="1400" b="1">
                <a:solidFill>
                  <a:srgbClr val="1B2A4A"/>
                </a:solidFill>
                <a:latin typeface="나눔고딕" panose="020D0604000000000000" pitchFamily="50" charset="-127"/>
                <a:ea typeface="나눔고딕" panose="020D0604000000000000" pitchFamily="50" charset="-127"/>
                <a:cs typeface="Arial" panose="020B0604020202020204" pitchFamily="34" charset="0"/>
              </a:rPr>
              <a:t>이상 유형 분류</a:t>
            </a:r>
          </a:p>
        </p:txBody>
      </p:sp>
      <p:graphicFrame>
        <p:nvGraphicFramePr>
          <p:cNvPr id="19" name="표 18">
            <a:extLst>
              <a:ext uri="{FF2B5EF4-FFF2-40B4-BE49-F238E27FC236}">
                <a16:creationId xmlns:a16="http://schemas.microsoft.com/office/drawing/2014/main" id="{CB84146B-07C4-4062-A314-23E8D7C31CCA}"/>
              </a:ext>
            </a:extLst>
          </p:cNvPr>
          <p:cNvGraphicFramePr>
            <a:graphicFrameLocks noGrp="1"/>
          </p:cNvGraphicFramePr>
          <p:nvPr>
            <p:extLst>
              <p:ext uri="{D42A27DB-BD31-4B8C-83A1-F6EECF244321}">
                <p14:modId xmlns:p14="http://schemas.microsoft.com/office/powerpoint/2010/main" val="1929447853"/>
              </p:ext>
            </p:extLst>
          </p:nvPr>
        </p:nvGraphicFramePr>
        <p:xfrm>
          <a:off x="6604002" y="1656895"/>
          <a:ext cx="5080000" cy="2158998"/>
        </p:xfrm>
        <a:graphic>
          <a:graphicData uri="http://schemas.openxmlformats.org/drawingml/2006/table">
            <a:tbl>
              <a:tblPr firstRow="1" bandRow="1">
                <a:tableStyleId>{5C22544A-7EE6-4342-B048-85BDC9FD1C3A}</a:tableStyleId>
              </a:tblPr>
              <a:tblGrid>
                <a:gridCol w="2540000">
                  <a:extLst>
                    <a:ext uri="{9D8B030D-6E8A-4147-A177-3AD203B41FA5}">
                      <a16:colId xmlns:a16="http://schemas.microsoft.com/office/drawing/2014/main" val="3642264490"/>
                    </a:ext>
                  </a:extLst>
                </a:gridCol>
                <a:gridCol w="2540000">
                  <a:extLst>
                    <a:ext uri="{9D8B030D-6E8A-4147-A177-3AD203B41FA5}">
                      <a16:colId xmlns:a16="http://schemas.microsoft.com/office/drawing/2014/main" val="1844567270"/>
                    </a:ext>
                  </a:extLst>
                </a:gridCol>
              </a:tblGrid>
              <a:tr h="359833">
                <a:tc>
                  <a:txBody>
                    <a:bodyPr/>
                    <a:lstStyle/>
                    <a:p>
                      <a:pPr algn="ctr">
                        <a:lnSpc>
                          <a:spcPct val="150000"/>
                        </a:lnSpc>
                      </a:pPr>
                      <a:r>
                        <a:rPr lang="ko-KR" altLang="en-US" sz="1100" b="1">
                          <a:solidFill>
                            <a:srgbClr val="FFFFFF"/>
                          </a:solidFill>
                        </a:rPr>
                        <a:t>이상 유형</a:t>
                      </a:r>
                    </a:p>
                  </a:txBody>
                  <a:tcPr>
                    <a:solidFill>
                      <a:srgbClr val="1B2A4A"/>
                    </a:solidFill>
                  </a:tcPr>
                </a:tc>
                <a:tc>
                  <a:txBody>
                    <a:bodyPr/>
                    <a:lstStyle/>
                    <a:p>
                      <a:pPr algn="ctr">
                        <a:lnSpc>
                          <a:spcPct val="150000"/>
                        </a:lnSpc>
                      </a:pPr>
                      <a:r>
                        <a:rPr lang="ko-KR" altLang="en-US" sz="1100" b="1">
                          <a:solidFill>
                            <a:srgbClr val="FFFFFF"/>
                          </a:solidFill>
                        </a:rPr>
                        <a:t>비율</a:t>
                      </a:r>
                    </a:p>
                  </a:txBody>
                  <a:tcPr>
                    <a:solidFill>
                      <a:srgbClr val="1B2A4A"/>
                    </a:solidFill>
                  </a:tcPr>
                </a:tc>
                <a:extLst>
                  <a:ext uri="{0D108BD9-81ED-4DB2-BD59-A6C34878D82A}">
                    <a16:rowId xmlns:a16="http://schemas.microsoft.com/office/drawing/2014/main" val="550871531"/>
                  </a:ext>
                </a:extLst>
              </a:tr>
              <a:tr h="359833">
                <a:tc>
                  <a:txBody>
                    <a:bodyPr/>
                    <a:lstStyle/>
                    <a:p>
                      <a:pPr algn="l">
                        <a:lnSpc>
                          <a:spcPct val="150000"/>
                        </a:lnSpc>
                      </a:pPr>
                      <a:r>
                        <a:rPr lang="ko-KR" altLang="en-US" sz="1100" err="1">
                          <a:solidFill>
                            <a:srgbClr val="333333"/>
                          </a:solidFill>
                        </a:rPr>
                        <a:t>No</a:t>
                      </a:r>
                      <a:r>
                        <a:rPr lang="ko-KR" altLang="en-US" sz="1100">
                          <a:solidFill>
                            <a:srgbClr val="333333"/>
                          </a:solidFill>
                        </a:rPr>
                        <a:t> </a:t>
                      </a:r>
                      <a:r>
                        <a:rPr lang="ko-KR" altLang="en-US" sz="1100" err="1">
                          <a:solidFill>
                            <a:srgbClr val="333333"/>
                          </a:solidFill>
                        </a:rPr>
                        <a:t>Anomaly</a:t>
                      </a:r>
                      <a:r>
                        <a:rPr lang="ko-KR" altLang="en-US" sz="1100">
                          <a:solidFill>
                            <a:srgbClr val="333333"/>
                          </a:solidFill>
                        </a:rPr>
                        <a:t> (정상)</a:t>
                      </a:r>
                    </a:p>
                  </a:txBody>
                  <a:tcPr/>
                </a:tc>
                <a:tc>
                  <a:txBody>
                    <a:bodyPr/>
                    <a:lstStyle/>
                    <a:p>
                      <a:pPr algn="ctr">
                        <a:lnSpc>
                          <a:spcPct val="150000"/>
                        </a:lnSpc>
                      </a:pPr>
                      <a:r>
                        <a:rPr lang="ko-KR" altLang="en-US" sz="1100">
                          <a:solidFill>
                            <a:srgbClr val="333333"/>
                          </a:solidFill>
                        </a:rPr>
                        <a:t>54.72%</a:t>
                      </a:r>
                    </a:p>
                  </a:txBody>
                  <a:tcPr/>
                </a:tc>
                <a:extLst>
                  <a:ext uri="{0D108BD9-81ED-4DB2-BD59-A6C34878D82A}">
                    <a16:rowId xmlns:a16="http://schemas.microsoft.com/office/drawing/2014/main" val="57346582"/>
                  </a:ext>
                </a:extLst>
              </a:tr>
              <a:tr h="359833">
                <a:tc>
                  <a:txBody>
                    <a:bodyPr/>
                    <a:lstStyle/>
                    <a:p>
                      <a:pPr algn="l">
                        <a:lnSpc>
                          <a:spcPct val="150000"/>
                        </a:lnSpc>
                      </a:pPr>
                      <a:r>
                        <a:rPr lang="ko-KR" altLang="en-US" sz="1100" err="1">
                          <a:solidFill>
                            <a:srgbClr val="333333"/>
                          </a:solidFill>
                        </a:rPr>
                        <a:t>NoNose</a:t>
                      </a:r>
                      <a:endParaRPr lang="ko-KR" altLang="en-US" sz="1100">
                        <a:solidFill>
                          <a:srgbClr val="333333"/>
                        </a:solidFill>
                      </a:endParaRPr>
                    </a:p>
                  </a:txBody>
                  <a:tcPr>
                    <a:solidFill>
                      <a:srgbClr val="F5F7FA"/>
                    </a:solidFill>
                  </a:tcPr>
                </a:tc>
                <a:tc>
                  <a:txBody>
                    <a:bodyPr/>
                    <a:lstStyle/>
                    <a:p>
                      <a:pPr algn="ctr">
                        <a:lnSpc>
                          <a:spcPct val="150000"/>
                        </a:lnSpc>
                      </a:pPr>
                      <a:r>
                        <a:rPr lang="ko-KR" altLang="en-US" sz="1100">
                          <a:solidFill>
                            <a:srgbClr val="333333"/>
                          </a:solidFill>
                        </a:rPr>
                        <a:t>11.63%</a:t>
                      </a:r>
                    </a:p>
                  </a:txBody>
                  <a:tcPr>
                    <a:solidFill>
                      <a:srgbClr val="F5F7FA"/>
                    </a:solidFill>
                  </a:tcPr>
                </a:tc>
                <a:extLst>
                  <a:ext uri="{0D108BD9-81ED-4DB2-BD59-A6C34878D82A}">
                    <a16:rowId xmlns:a16="http://schemas.microsoft.com/office/drawing/2014/main" val="4259242690"/>
                  </a:ext>
                </a:extLst>
              </a:tr>
              <a:tr h="359833">
                <a:tc>
                  <a:txBody>
                    <a:bodyPr/>
                    <a:lstStyle/>
                    <a:p>
                      <a:pPr algn="l">
                        <a:lnSpc>
                          <a:spcPct val="150000"/>
                        </a:lnSpc>
                      </a:pPr>
                      <a:r>
                        <a:rPr lang="ko-KR" altLang="en-US" sz="1100" err="1">
                          <a:solidFill>
                            <a:srgbClr val="333333"/>
                          </a:solidFill>
                        </a:rPr>
                        <a:t>NoNose</a:t>
                      </a:r>
                      <a:r>
                        <a:rPr lang="ko-KR" altLang="en-US" sz="1100">
                          <a:solidFill>
                            <a:srgbClr val="333333"/>
                          </a:solidFill>
                        </a:rPr>
                        <a:t>, NoBody2</a:t>
                      </a:r>
                    </a:p>
                  </a:txBody>
                  <a:tcPr/>
                </a:tc>
                <a:tc>
                  <a:txBody>
                    <a:bodyPr/>
                    <a:lstStyle/>
                    <a:p>
                      <a:pPr algn="ctr">
                        <a:lnSpc>
                          <a:spcPct val="150000"/>
                        </a:lnSpc>
                      </a:pPr>
                      <a:r>
                        <a:rPr lang="ko-KR" altLang="en-US" sz="1100">
                          <a:solidFill>
                            <a:srgbClr val="333333"/>
                          </a:solidFill>
                        </a:rPr>
                        <a:t>15.18%</a:t>
                      </a:r>
                    </a:p>
                  </a:txBody>
                  <a:tcPr/>
                </a:tc>
                <a:extLst>
                  <a:ext uri="{0D108BD9-81ED-4DB2-BD59-A6C34878D82A}">
                    <a16:rowId xmlns:a16="http://schemas.microsoft.com/office/drawing/2014/main" val="1689734928"/>
                  </a:ext>
                </a:extLst>
              </a:tr>
              <a:tr h="359833">
                <a:tc>
                  <a:txBody>
                    <a:bodyPr/>
                    <a:lstStyle/>
                    <a:p>
                      <a:pPr algn="l">
                        <a:lnSpc>
                          <a:spcPct val="150000"/>
                        </a:lnSpc>
                      </a:pPr>
                      <a:r>
                        <a:rPr lang="ko-KR" altLang="en-US" sz="1100">
                          <a:solidFill>
                            <a:srgbClr val="333333"/>
                          </a:solidFill>
                        </a:rPr>
                        <a:t>NoNose, NoBody2, NoBody1</a:t>
                      </a:r>
                    </a:p>
                  </a:txBody>
                  <a:tcPr>
                    <a:solidFill>
                      <a:srgbClr val="F5F7FA"/>
                    </a:solidFill>
                  </a:tcPr>
                </a:tc>
                <a:tc>
                  <a:txBody>
                    <a:bodyPr/>
                    <a:lstStyle/>
                    <a:p>
                      <a:pPr algn="ctr">
                        <a:lnSpc>
                          <a:spcPct val="150000"/>
                        </a:lnSpc>
                      </a:pPr>
                      <a:r>
                        <a:rPr lang="ko-KR" altLang="en-US" sz="1100">
                          <a:solidFill>
                            <a:srgbClr val="333333"/>
                          </a:solidFill>
                        </a:rPr>
                        <a:t>16.04%</a:t>
                      </a:r>
                    </a:p>
                  </a:txBody>
                  <a:tcPr>
                    <a:solidFill>
                      <a:srgbClr val="F5F7FA"/>
                    </a:solidFill>
                  </a:tcPr>
                </a:tc>
                <a:extLst>
                  <a:ext uri="{0D108BD9-81ED-4DB2-BD59-A6C34878D82A}">
                    <a16:rowId xmlns:a16="http://schemas.microsoft.com/office/drawing/2014/main" val="3607165976"/>
                  </a:ext>
                </a:extLst>
              </a:tr>
              <a:tr h="359833">
                <a:tc>
                  <a:txBody>
                    <a:bodyPr/>
                    <a:lstStyle/>
                    <a:p>
                      <a:pPr algn="l">
                        <a:lnSpc>
                          <a:spcPct val="150000"/>
                        </a:lnSpc>
                      </a:pPr>
                      <a:r>
                        <a:rPr lang="ko-KR" altLang="en-US" sz="1100">
                          <a:solidFill>
                            <a:srgbClr val="333333"/>
                          </a:solidFill>
                        </a:rPr>
                        <a:t>NoBody1, NoBody2 등</a:t>
                      </a:r>
                    </a:p>
                  </a:txBody>
                  <a:tcPr/>
                </a:tc>
                <a:tc>
                  <a:txBody>
                    <a:bodyPr/>
                    <a:lstStyle/>
                    <a:p>
                      <a:pPr algn="ctr">
                        <a:lnSpc>
                          <a:spcPct val="150000"/>
                        </a:lnSpc>
                      </a:pPr>
                      <a:r>
                        <a:rPr lang="ko-KR" altLang="en-US" sz="1100">
                          <a:solidFill>
                            <a:srgbClr val="333333"/>
                          </a:solidFill>
                        </a:rPr>
                        <a:t>합계 ~2.4%</a:t>
                      </a:r>
                    </a:p>
                  </a:txBody>
                  <a:tcPr/>
                </a:tc>
                <a:extLst>
                  <a:ext uri="{0D108BD9-81ED-4DB2-BD59-A6C34878D82A}">
                    <a16:rowId xmlns:a16="http://schemas.microsoft.com/office/drawing/2014/main" val="830743961"/>
                  </a:ext>
                </a:extLst>
              </a:tr>
            </a:tbl>
          </a:graphicData>
        </a:graphic>
      </p:graphicFrame>
      <p:sp>
        <p:nvSpPr>
          <p:cNvPr id="20" name="사각형: 둥근 모서리 19">
            <a:extLst>
              <a:ext uri="{FF2B5EF4-FFF2-40B4-BE49-F238E27FC236}">
                <a16:creationId xmlns:a16="http://schemas.microsoft.com/office/drawing/2014/main" id="{327A8F6E-5198-422A-8B6E-5F618B643376}"/>
              </a:ext>
            </a:extLst>
          </p:cNvPr>
          <p:cNvSpPr/>
          <p:nvPr/>
        </p:nvSpPr>
        <p:spPr>
          <a:xfrm>
            <a:off x="508000" y="4024135"/>
            <a:ext cx="11176000" cy="683668"/>
          </a:xfrm>
          <a:prstGeom prst="roundRect">
            <a:avLst/>
          </a:prstGeom>
          <a:solidFill>
            <a:srgbClr val="FFF8E7"/>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21" name="TextBox 20">
            <a:extLst>
              <a:ext uri="{FF2B5EF4-FFF2-40B4-BE49-F238E27FC236}">
                <a16:creationId xmlns:a16="http://schemas.microsoft.com/office/drawing/2014/main" id="{7CBCE0F1-738A-43FE-B6CA-3BA4F3DD9CBB}"/>
              </a:ext>
            </a:extLst>
          </p:cNvPr>
          <p:cNvSpPr txBox="1"/>
          <p:nvPr/>
        </p:nvSpPr>
        <p:spPr>
          <a:xfrm>
            <a:off x="698500" y="4087635"/>
            <a:ext cx="2540000" cy="279400"/>
          </a:xfrm>
          <a:prstGeom prst="rect">
            <a:avLst/>
          </a:prstGeom>
          <a:noFill/>
        </p:spPr>
        <p:txBody>
          <a:bodyPr vertOverflow="overflow" vert="horz" wrap="square" rtlCol="0" anchor="t">
            <a:noAutofit/>
          </a:bodyPr>
          <a:lstStyle/>
          <a:p>
            <a:pPr algn="l"/>
            <a:r>
              <a:rPr lang="ko-KR" altLang="en-US" sz="1200" b="1">
                <a:solidFill>
                  <a:srgbClr val="F29E16"/>
                </a:solidFill>
                <a:latin typeface="나눔고딕" panose="020D0604000000000000" pitchFamily="50" charset="-127"/>
                <a:ea typeface="나눔고딕" panose="020D0604000000000000" pitchFamily="50" charset="-127"/>
                <a:cs typeface="Arial" panose="020B0604020202020204" pitchFamily="34" charset="0"/>
              </a:rPr>
              <a:t>라벨 구조</a:t>
            </a:r>
          </a:p>
        </p:txBody>
      </p:sp>
      <p:sp>
        <p:nvSpPr>
          <p:cNvPr id="22" name="TextBox 21">
            <a:extLst>
              <a:ext uri="{FF2B5EF4-FFF2-40B4-BE49-F238E27FC236}">
                <a16:creationId xmlns:a16="http://schemas.microsoft.com/office/drawing/2014/main" id="{8EBD75B3-898E-40CF-8468-BCF0BF5705CF}"/>
              </a:ext>
            </a:extLst>
          </p:cNvPr>
          <p:cNvSpPr txBox="1"/>
          <p:nvPr/>
        </p:nvSpPr>
        <p:spPr>
          <a:xfrm>
            <a:off x="698500" y="4379735"/>
            <a:ext cx="10668000" cy="279400"/>
          </a:xfrm>
          <a:prstGeom prst="rect">
            <a:avLst/>
          </a:prstGeom>
          <a:noFill/>
        </p:spPr>
        <p:txBody>
          <a:bodyPr vertOverflow="overflow" vert="horz" wrap="square" rtlCol="0" anchor="t">
            <a:noAutofit/>
          </a:bodyPr>
          <a:lstStyle/>
          <a:p>
            <a:pPr algn="l"/>
            <a:r>
              <a:rPr lang="en-US" altLang="ko-KR" sz="1200" dirty="0">
                <a:solidFill>
                  <a:srgbClr val="555555"/>
                </a:solidFill>
                <a:latin typeface="나눔고딕" panose="020D0604000000000000" pitchFamily="50" charset="-127"/>
                <a:ea typeface="나눔고딕" panose="020D0604000000000000" pitchFamily="50" charset="-127"/>
                <a:cs typeface="Arial" panose="020B0604020202020204" pitchFamily="34" charset="0"/>
              </a:rPr>
              <a:t>매 </a:t>
            </a:r>
            <a:r>
              <a:rPr lang="en-US" altLang="ko-KR" sz="1200" dirty="0" err="1">
                <a:solidFill>
                  <a:srgbClr val="555555"/>
                </a:solidFill>
                <a:latin typeface="나눔고딕" panose="020D0604000000000000" pitchFamily="50" charset="-127"/>
                <a:ea typeface="나눔고딕" panose="020D0604000000000000" pitchFamily="50" charset="-127"/>
                <a:cs typeface="Arial" panose="020B0604020202020204" pitchFamily="34" charset="0"/>
              </a:rPr>
              <a:t>측정</a:t>
            </a:r>
            <a:r>
              <a:rPr lang="en-US" altLang="ko-KR" sz="1200" dirty="0">
                <a:solidFill>
                  <a:srgbClr val="555555"/>
                </a:solidFill>
                <a:latin typeface="나눔고딕" panose="020D0604000000000000" pitchFamily="50" charset="-127"/>
                <a:ea typeface="나눔고딕" panose="020D0604000000000000" pitchFamily="50" charset="-127"/>
                <a:cs typeface="Arial" panose="020B0604020202020204" pitchFamily="34" charset="0"/>
              </a:rPr>
              <a:t> </a:t>
            </a:r>
            <a:r>
              <a:rPr lang="en-US" altLang="ko-KR" sz="1200" dirty="0" err="1">
                <a:solidFill>
                  <a:srgbClr val="555555"/>
                </a:solidFill>
                <a:latin typeface="나눔고딕" panose="020D0604000000000000" pitchFamily="50" charset="-127"/>
                <a:ea typeface="나눔고딕" panose="020D0604000000000000" pitchFamily="50" charset="-127"/>
                <a:cs typeface="Arial" panose="020B0604020202020204" pitchFamily="34" charset="0"/>
              </a:rPr>
              <a:t>시점마다</a:t>
            </a:r>
            <a:r>
              <a:rPr lang="en-US" altLang="ko-KR" sz="1200" dirty="0">
                <a:solidFill>
                  <a:srgbClr val="555555"/>
                </a:solidFill>
                <a:latin typeface="나눔고딕" panose="020D0604000000000000" pitchFamily="50" charset="-127"/>
                <a:ea typeface="나눔고딕" panose="020D0604000000000000" pitchFamily="50" charset="-127"/>
                <a:cs typeface="Arial" panose="020B0604020202020204" pitchFamily="34" charset="0"/>
              </a:rPr>
              <a:t> 그 </a:t>
            </a:r>
            <a:r>
              <a:rPr lang="en-US" altLang="ko-KR" sz="1200" dirty="0" err="1">
                <a:solidFill>
                  <a:srgbClr val="555555"/>
                </a:solidFill>
                <a:latin typeface="나눔고딕" panose="020D0604000000000000" pitchFamily="50" charset="-127"/>
                <a:ea typeface="나눔고딕" panose="020D0604000000000000" pitchFamily="50" charset="-127"/>
                <a:cs typeface="Arial" panose="020B0604020202020204" pitchFamily="34" charset="0"/>
              </a:rPr>
              <a:t>순간의</a:t>
            </a:r>
            <a:r>
              <a:rPr lang="en-US" altLang="ko-KR" sz="1200" dirty="0">
                <a:solidFill>
                  <a:srgbClr val="555555"/>
                </a:solidFill>
                <a:latin typeface="나눔고딕" panose="020D0604000000000000" pitchFamily="50" charset="-127"/>
                <a:ea typeface="나눔고딕" panose="020D0604000000000000" pitchFamily="50" charset="-127"/>
                <a:cs typeface="Arial" panose="020B0604020202020204" pitchFamily="34" charset="0"/>
              </a:rPr>
              <a:t> </a:t>
            </a:r>
            <a:r>
              <a:rPr lang="en-US" altLang="ko-KR" sz="1200" dirty="0" err="1">
                <a:solidFill>
                  <a:srgbClr val="555555"/>
                </a:solidFill>
                <a:latin typeface="나눔고딕" panose="020D0604000000000000" pitchFamily="50" charset="-127"/>
                <a:ea typeface="나눔고딕" panose="020D0604000000000000" pitchFamily="50" charset="-127"/>
                <a:cs typeface="Arial" panose="020B0604020202020204" pitchFamily="34" charset="0"/>
              </a:rPr>
              <a:t>상태</a:t>
            </a:r>
            <a:r>
              <a:rPr lang="en-US" altLang="ko-KR" sz="1200" dirty="0">
                <a:solidFill>
                  <a:srgbClr val="555555"/>
                </a:solidFill>
                <a:latin typeface="나눔고딕" panose="020D0604000000000000" pitchFamily="50" charset="-127"/>
                <a:ea typeface="나눔고딕" panose="020D0604000000000000" pitchFamily="50" charset="-127"/>
                <a:cs typeface="Arial" panose="020B0604020202020204" pitchFamily="34" charset="0"/>
              </a:rPr>
              <a:t>(</a:t>
            </a:r>
            <a:r>
              <a:rPr lang="en-US" altLang="ko-KR" sz="1200" dirty="0" err="1">
                <a:solidFill>
                  <a:srgbClr val="555555"/>
                </a:solidFill>
                <a:latin typeface="나눔고딕" panose="020D0604000000000000" pitchFamily="50" charset="-127"/>
                <a:ea typeface="나눔고딕" panose="020D0604000000000000" pitchFamily="50" charset="-127"/>
                <a:cs typeface="Arial" panose="020B0604020202020204" pitchFamily="34" charset="0"/>
              </a:rPr>
              <a:t>정상</a:t>
            </a:r>
            <a:r>
              <a:rPr lang="en-US" altLang="ko-KR" sz="1200" dirty="0">
                <a:solidFill>
                  <a:srgbClr val="555555"/>
                </a:solidFill>
                <a:latin typeface="나눔고딕" panose="020D0604000000000000" pitchFamily="50" charset="-127"/>
                <a:ea typeface="나눔고딕" panose="020D0604000000000000" pitchFamily="50" charset="-127"/>
                <a:cs typeface="Arial" panose="020B0604020202020204" pitchFamily="34" charset="0"/>
              </a:rPr>
              <a:t>/</a:t>
            </a:r>
            <a:r>
              <a:rPr lang="en-US" altLang="ko-KR" sz="1200" dirty="0" err="1">
                <a:solidFill>
                  <a:srgbClr val="555555"/>
                </a:solidFill>
                <a:latin typeface="나눔고딕" panose="020D0604000000000000" pitchFamily="50" charset="-127"/>
                <a:ea typeface="나눔고딕" panose="020D0604000000000000" pitchFamily="50" charset="-127"/>
                <a:cs typeface="Arial" panose="020B0604020202020204" pitchFamily="34" charset="0"/>
              </a:rPr>
              <a:t>어떤</a:t>
            </a:r>
            <a:r>
              <a:rPr lang="en-US" altLang="ko-KR" sz="1200" dirty="0">
                <a:solidFill>
                  <a:srgbClr val="555555"/>
                </a:solidFill>
                <a:latin typeface="나눔고딕" panose="020D0604000000000000" pitchFamily="50" charset="-127"/>
                <a:ea typeface="나눔고딕" panose="020D0604000000000000" pitchFamily="50" charset="-127"/>
                <a:cs typeface="Arial" panose="020B0604020202020204" pitchFamily="34" charset="0"/>
              </a:rPr>
              <a:t> </a:t>
            </a:r>
            <a:r>
              <a:rPr lang="en-US" altLang="ko-KR" sz="1200" dirty="0" err="1">
                <a:solidFill>
                  <a:srgbClr val="555555"/>
                </a:solidFill>
                <a:latin typeface="나눔고딕" panose="020D0604000000000000" pitchFamily="50" charset="-127"/>
                <a:ea typeface="나눔고딕" panose="020D0604000000000000" pitchFamily="50" charset="-127"/>
                <a:cs typeface="Arial" panose="020B0604020202020204" pitchFamily="34" charset="0"/>
              </a:rPr>
              <a:t>부품</a:t>
            </a:r>
            <a:r>
              <a:rPr lang="en-US" altLang="ko-KR" sz="1200" dirty="0">
                <a:solidFill>
                  <a:srgbClr val="555555"/>
                </a:solidFill>
                <a:latin typeface="나눔고딕" panose="020D0604000000000000" pitchFamily="50" charset="-127"/>
                <a:ea typeface="나눔고딕" panose="020D0604000000000000" pitchFamily="50" charset="-127"/>
                <a:cs typeface="Arial" panose="020B0604020202020204" pitchFamily="34" charset="0"/>
              </a:rPr>
              <a:t> </a:t>
            </a:r>
            <a:r>
              <a:rPr lang="en-US" altLang="ko-KR" sz="1200" dirty="0" err="1">
                <a:solidFill>
                  <a:srgbClr val="555555"/>
                </a:solidFill>
                <a:latin typeface="나눔고딕" panose="020D0604000000000000" pitchFamily="50" charset="-127"/>
                <a:ea typeface="나눔고딕" panose="020D0604000000000000" pitchFamily="50" charset="-127"/>
                <a:cs typeface="Arial" panose="020B0604020202020204" pitchFamily="34" charset="0"/>
              </a:rPr>
              <a:t>빠짐</a:t>
            </a:r>
            <a:r>
              <a:rPr lang="en-US" altLang="ko-KR" sz="1200" dirty="0">
                <a:solidFill>
                  <a:srgbClr val="555555"/>
                </a:solidFill>
                <a:latin typeface="나눔고딕" panose="020D0604000000000000" pitchFamily="50" charset="-127"/>
                <a:ea typeface="나눔고딕" panose="020D0604000000000000" pitchFamily="50" charset="-127"/>
                <a:cs typeface="Arial" panose="020B0604020202020204" pitchFamily="34" charset="0"/>
              </a:rPr>
              <a:t>)가 </a:t>
            </a:r>
            <a:r>
              <a:rPr lang="en-US" altLang="ko-KR" sz="1200" dirty="0" err="1">
                <a:solidFill>
                  <a:srgbClr val="555555"/>
                </a:solidFill>
                <a:latin typeface="나눔고딕" panose="020D0604000000000000" pitchFamily="50" charset="-127"/>
                <a:ea typeface="나눔고딕" panose="020D0604000000000000" pitchFamily="50" charset="-127"/>
                <a:cs typeface="Arial" panose="020B0604020202020204" pitchFamily="34" charset="0"/>
              </a:rPr>
              <a:t>기록됨</a:t>
            </a:r>
            <a:r>
              <a:rPr lang="en-US" altLang="ko-KR" sz="1200" dirty="0">
                <a:solidFill>
                  <a:srgbClr val="555555"/>
                </a:solidFill>
                <a:latin typeface="나눔고딕" panose="020D0604000000000000" pitchFamily="50" charset="-127"/>
                <a:ea typeface="나눔고딕" panose="020D0604000000000000" pitchFamily="50" charset="-127"/>
                <a:cs typeface="Arial" panose="020B0604020202020204" pitchFamily="34" charset="0"/>
              </a:rPr>
              <a:t> </a:t>
            </a:r>
            <a:r>
              <a:rPr sz="1200" dirty="0">
                <a:solidFill>
                  <a:srgbClr val="555555"/>
                </a:solidFill>
              </a:rPr>
              <a:t>→ ‘</a:t>
            </a:r>
            <a:r>
              <a:rPr sz="1200" dirty="0" err="1">
                <a:solidFill>
                  <a:srgbClr val="555555"/>
                </a:solidFill>
              </a:rPr>
              <a:t>지금</a:t>
            </a:r>
            <a:r>
              <a:rPr sz="1200" dirty="0">
                <a:solidFill>
                  <a:srgbClr val="555555"/>
                </a:solidFill>
              </a:rPr>
              <a:t> 이 </a:t>
            </a:r>
            <a:r>
              <a:rPr sz="1200" dirty="0" err="1">
                <a:solidFill>
                  <a:srgbClr val="555555"/>
                </a:solidFill>
              </a:rPr>
              <a:t>순간</a:t>
            </a:r>
            <a:r>
              <a:rPr sz="1200" dirty="0">
                <a:solidFill>
                  <a:srgbClr val="555555"/>
                </a:solidFill>
              </a:rPr>
              <a:t> </a:t>
            </a:r>
            <a:r>
              <a:rPr sz="1200" dirty="0" err="1">
                <a:solidFill>
                  <a:srgbClr val="555555"/>
                </a:solidFill>
              </a:rPr>
              <a:t>어떤</a:t>
            </a:r>
            <a:r>
              <a:rPr sz="1200" dirty="0">
                <a:solidFill>
                  <a:srgbClr val="555555"/>
                </a:solidFill>
              </a:rPr>
              <a:t> </a:t>
            </a:r>
            <a:r>
              <a:rPr sz="1200" dirty="0" err="1">
                <a:solidFill>
                  <a:srgbClr val="555555"/>
                </a:solidFill>
              </a:rPr>
              <a:t>상태인가’를</a:t>
            </a:r>
            <a:r>
              <a:rPr sz="1200" dirty="0">
                <a:solidFill>
                  <a:srgbClr val="555555"/>
                </a:solidFill>
              </a:rPr>
              <a:t> 매 </a:t>
            </a:r>
            <a:r>
              <a:rPr sz="1200" dirty="0" err="1">
                <a:solidFill>
                  <a:srgbClr val="555555"/>
                </a:solidFill>
              </a:rPr>
              <a:t>시점</a:t>
            </a:r>
            <a:r>
              <a:rPr sz="1200" dirty="0">
                <a:solidFill>
                  <a:srgbClr val="555555"/>
                </a:solidFill>
              </a:rPr>
              <a:t> </a:t>
            </a:r>
            <a:r>
              <a:rPr sz="1200" dirty="0" err="1">
                <a:solidFill>
                  <a:srgbClr val="555555"/>
                </a:solidFill>
              </a:rPr>
              <a:t>분류하는</a:t>
            </a:r>
            <a:r>
              <a:rPr sz="1200" dirty="0">
                <a:solidFill>
                  <a:srgbClr val="555555"/>
                </a:solidFill>
              </a:rPr>
              <a:t> </a:t>
            </a:r>
            <a:r>
              <a:rPr sz="1200" dirty="0" err="1">
                <a:solidFill>
                  <a:srgbClr val="555555"/>
                </a:solidFill>
              </a:rPr>
              <a:t>과제</a:t>
            </a:r>
            <a:endParaRPr sz="1200" dirty="0">
              <a:solidFill>
                <a:srgbClr val="555555"/>
              </a:solidFill>
            </a:endParaRPr>
          </a:p>
        </p:txBody>
      </p:sp>
      <p:pic>
        <p:nvPicPr>
          <p:cNvPr id="2" name="그림 1">
            <a:extLst>
              <a:ext uri="{FF2B5EF4-FFF2-40B4-BE49-F238E27FC236}">
                <a16:creationId xmlns:a16="http://schemas.microsoft.com/office/drawing/2014/main" id="{53FE5D75-CCF6-EE81-3AB2-82F1B69D3423}"/>
              </a:ext>
            </a:extLst>
          </p:cNvPr>
          <p:cNvPicPr>
            <a:picLocks noChangeAspect="1"/>
          </p:cNvPicPr>
          <p:nvPr/>
        </p:nvPicPr>
        <p:blipFill>
          <a:blip r:embed="rId3"/>
          <a:stretch>
            <a:fillRect/>
          </a:stretch>
        </p:blipFill>
        <p:spPr>
          <a:xfrm>
            <a:off x="4855265" y="4906262"/>
            <a:ext cx="6828735" cy="1510715"/>
          </a:xfrm>
          <a:prstGeom prst="rect">
            <a:avLst/>
          </a:prstGeom>
        </p:spPr>
      </p:pic>
      <p:pic>
        <p:nvPicPr>
          <p:cNvPr id="24" name="그림 23">
            <a:extLst>
              <a:ext uri="{FF2B5EF4-FFF2-40B4-BE49-F238E27FC236}">
                <a16:creationId xmlns:a16="http://schemas.microsoft.com/office/drawing/2014/main" id="{1EE9E0AE-D743-BDDE-E63E-E38D2F67BD06}"/>
              </a:ext>
            </a:extLst>
          </p:cNvPr>
          <p:cNvPicPr>
            <a:picLocks noChangeAspect="1"/>
          </p:cNvPicPr>
          <p:nvPr/>
        </p:nvPicPr>
        <p:blipFill>
          <a:blip r:embed="rId4"/>
          <a:srcRect l="5060" t="6594" r="76515" b="77610"/>
          <a:stretch>
            <a:fillRect/>
          </a:stretch>
        </p:blipFill>
        <p:spPr>
          <a:xfrm>
            <a:off x="508000" y="5014000"/>
            <a:ext cx="1918253" cy="1295400"/>
          </a:xfrm>
          <a:prstGeom prst="rect">
            <a:avLst/>
          </a:prstGeom>
        </p:spPr>
      </p:pic>
      <p:pic>
        <p:nvPicPr>
          <p:cNvPr id="25" name="그림 24">
            <a:extLst>
              <a:ext uri="{FF2B5EF4-FFF2-40B4-BE49-F238E27FC236}">
                <a16:creationId xmlns:a16="http://schemas.microsoft.com/office/drawing/2014/main" id="{08243F84-CD14-7829-2FA5-0E99636F07A6}"/>
              </a:ext>
            </a:extLst>
          </p:cNvPr>
          <p:cNvPicPr>
            <a:picLocks noChangeAspect="1"/>
          </p:cNvPicPr>
          <p:nvPr/>
        </p:nvPicPr>
        <p:blipFill>
          <a:blip r:embed="rId4"/>
          <a:srcRect l="5012" t="30879" r="76563" b="53325"/>
          <a:stretch>
            <a:fillRect/>
          </a:stretch>
        </p:blipFill>
        <p:spPr>
          <a:xfrm>
            <a:off x="2441161" y="5013918"/>
            <a:ext cx="1918253" cy="1295400"/>
          </a:xfrm>
          <a:prstGeom prst="rect">
            <a:avLst/>
          </a:prstGeom>
        </p:spPr>
      </p:pic>
    </p:spTree>
    <p:extLst>
      <p:ext uri="{BB962C8B-B14F-4D97-AF65-F5344CB8AC3E}">
        <p14:creationId xmlns:p14="http://schemas.microsoft.com/office/powerpoint/2010/main" val="39273549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직사각형 2">
            <a:extLst>
              <a:ext uri="{FF2B5EF4-FFF2-40B4-BE49-F238E27FC236}">
                <a16:creationId xmlns:a16="http://schemas.microsoft.com/office/drawing/2014/main" id="{694D440F-2CDE-4A22-95E0-BC24D298F7E8}"/>
              </a:ext>
            </a:extLst>
          </p:cNvPr>
          <p:cNvSpPr/>
          <p:nvPr/>
        </p:nvSpPr>
        <p:spPr>
          <a:xfrm>
            <a:off x="0" y="-46234"/>
            <a:ext cx="12192000" cy="889000"/>
          </a:xfrm>
          <a:prstGeom prst="rect">
            <a:avLst/>
          </a:prstGeom>
          <a:solidFill>
            <a:srgbClr val="1B2A4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타원 3">
            <a:extLst>
              <a:ext uri="{FF2B5EF4-FFF2-40B4-BE49-F238E27FC236}">
                <a16:creationId xmlns:a16="http://schemas.microsoft.com/office/drawing/2014/main" id="{13BC0469-B0DB-42C8-AF7F-884DFE2A8C1E}"/>
              </a:ext>
            </a:extLst>
          </p:cNvPr>
          <p:cNvSpPr/>
          <p:nvPr/>
        </p:nvSpPr>
        <p:spPr>
          <a:xfrm>
            <a:off x="381000" y="190500"/>
            <a:ext cx="508000" cy="508000"/>
          </a:xfrm>
          <a:prstGeom prst="ellipse">
            <a:avLst/>
          </a:prstGeom>
          <a:solidFill>
            <a:srgbClr val="16A295"/>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sz="1600" b="1">
                <a:solidFill>
                  <a:srgbClr val="FFFFFF"/>
                </a:solidFill>
              </a:rPr>
              <a:t>04</a:t>
            </a:r>
            <a:endParaRPr lang="ko-KR" altLang="en-US" sz="1600" b="1">
              <a:solidFill>
                <a:srgbClr val="FFFFFF"/>
              </a:solidFill>
            </a:endParaRPr>
          </a:p>
        </p:txBody>
      </p:sp>
      <p:sp>
        <p:nvSpPr>
          <p:cNvPr id="5" name="TextBox 4">
            <a:extLst>
              <a:ext uri="{FF2B5EF4-FFF2-40B4-BE49-F238E27FC236}">
                <a16:creationId xmlns:a16="http://schemas.microsoft.com/office/drawing/2014/main" id="{0C12993F-6372-46DC-A47F-FD97393BD727}"/>
              </a:ext>
            </a:extLst>
          </p:cNvPr>
          <p:cNvSpPr txBox="1"/>
          <p:nvPr/>
        </p:nvSpPr>
        <p:spPr>
          <a:xfrm>
            <a:off x="1079500" y="190500"/>
            <a:ext cx="3810000" cy="508000"/>
          </a:xfrm>
          <a:prstGeom prst="rect">
            <a:avLst/>
          </a:prstGeom>
          <a:noFill/>
        </p:spPr>
        <p:txBody>
          <a:bodyPr vertOverflow="overflow" vert="horz" wrap="square" rtlCol="0" anchor="t">
            <a:noAutofit/>
          </a:bodyPr>
          <a:lstStyle/>
          <a:p>
            <a:pPr algn="l">
              <a:lnSpc>
                <a:spcPct val="130000"/>
              </a:lnSpc>
            </a:pPr>
            <a:r>
              <a:rPr lang="ko-KR" altLang="en-US" sz="2200" b="1">
                <a:solidFill>
                  <a:srgbClr val="FFFFFF"/>
                </a:solidFill>
                <a:latin typeface="나눔고딕" panose="020D0604000000000000" pitchFamily="50" charset="-127"/>
                <a:ea typeface="나눔고딕" panose="020D0604000000000000" pitchFamily="50" charset="-127"/>
                <a:cs typeface="Arial" panose="020B0604020202020204" pitchFamily="34" charset="0"/>
              </a:rPr>
              <a:t>세 가지 모델로 비교</a:t>
            </a:r>
          </a:p>
        </p:txBody>
      </p:sp>
      <p:grpSp>
        <p:nvGrpSpPr>
          <p:cNvPr id="2" name="그룹 1">
            <a:extLst>
              <a:ext uri="{FF2B5EF4-FFF2-40B4-BE49-F238E27FC236}">
                <a16:creationId xmlns:a16="http://schemas.microsoft.com/office/drawing/2014/main" id="{62693120-C24B-4A0A-E675-5C30414BC4FC}"/>
              </a:ext>
            </a:extLst>
          </p:cNvPr>
          <p:cNvGrpSpPr/>
          <p:nvPr/>
        </p:nvGrpSpPr>
        <p:grpSpPr>
          <a:xfrm>
            <a:off x="884266" y="2159903"/>
            <a:ext cx="10423468" cy="3089615"/>
            <a:chOff x="296518" y="2214568"/>
            <a:chExt cx="11341813" cy="3089615"/>
          </a:xfrm>
        </p:grpSpPr>
        <p:sp>
          <p:nvSpPr>
            <p:cNvPr id="6" name="사각형: 둥근 모서리 5">
              <a:extLst>
                <a:ext uri="{FF2B5EF4-FFF2-40B4-BE49-F238E27FC236}">
                  <a16:creationId xmlns:a16="http://schemas.microsoft.com/office/drawing/2014/main" id="{65127842-14A5-42F0-B28E-3ACFB2C79F05}"/>
                </a:ext>
              </a:extLst>
            </p:cNvPr>
            <p:cNvSpPr/>
            <p:nvPr/>
          </p:nvSpPr>
          <p:spPr>
            <a:xfrm>
              <a:off x="296518" y="2214568"/>
              <a:ext cx="3683000" cy="482600"/>
            </a:xfrm>
            <a:prstGeom prst="roundRect">
              <a:avLst/>
            </a:prstGeom>
            <a:solidFill>
              <a:srgbClr val="267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ko-KR" altLang="en-US" sz="1400" b="1">
                  <a:solidFill>
                    <a:srgbClr val="FFFFFF"/>
                  </a:solidFill>
                </a:rPr>
                <a:t>센서 단독 — BiLSTM</a:t>
              </a:r>
            </a:p>
          </p:txBody>
        </p:sp>
        <p:sp>
          <p:nvSpPr>
            <p:cNvPr id="7" name="사각형: 둥근 모서리 6">
              <a:extLst>
                <a:ext uri="{FF2B5EF4-FFF2-40B4-BE49-F238E27FC236}">
                  <a16:creationId xmlns:a16="http://schemas.microsoft.com/office/drawing/2014/main" id="{310A4AF8-297D-4FDA-B735-7155BB78FF46}"/>
                </a:ext>
              </a:extLst>
            </p:cNvPr>
            <p:cNvSpPr/>
            <p:nvPr/>
          </p:nvSpPr>
          <p:spPr>
            <a:xfrm>
              <a:off x="296518" y="2760668"/>
              <a:ext cx="3683000" cy="1095715"/>
            </a:xfrm>
            <a:prstGeom prst="roundRect">
              <a:avLst>
                <a:gd name="adj" fmla="val 4184"/>
              </a:avLst>
            </a:prstGeom>
            <a:solidFill>
              <a:srgbClr val="F8F9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8" name="TextBox 7">
              <a:extLst>
                <a:ext uri="{FF2B5EF4-FFF2-40B4-BE49-F238E27FC236}">
                  <a16:creationId xmlns:a16="http://schemas.microsoft.com/office/drawing/2014/main" id="{40A717B7-CFC2-4421-86C6-850E8CA586B0}"/>
                </a:ext>
              </a:extLst>
            </p:cNvPr>
            <p:cNvSpPr txBox="1"/>
            <p:nvPr/>
          </p:nvSpPr>
          <p:spPr>
            <a:xfrm>
              <a:off x="448918" y="2849568"/>
              <a:ext cx="3378200" cy="852758"/>
            </a:xfrm>
            <a:prstGeom prst="rect">
              <a:avLst/>
            </a:prstGeom>
            <a:noFill/>
          </p:spPr>
          <p:txBody>
            <a:bodyPr vertOverflow="overflow" vert="horz" wrap="square" rtlCol="0" anchor="t">
              <a:noAutofit/>
            </a:bodyPr>
            <a:lstStyle/>
            <a:p>
              <a:r>
                <a:rPr lang="en-US" altLang="ko-KR" sz="1100" dirty="0">
                  <a:solidFill>
                    <a:srgbClr val="444444"/>
                  </a:solidFill>
                </a:rPr>
                <a:t>• </a:t>
              </a:r>
              <a:r>
                <a:rPr lang="en-US" altLang="ko-KR" sz="1100" dirty="0">
                  <a:solidFill>
                    <a:srgbClr val="444444"/>
                  </a:solidFill>
                  <a:latin typeface="나눔고딕" panose="020D0604000000000000" pitchFamily="50" charset="-127"/>
                  <a:ea typeface="나눔고딕" panose="020D0604000000000000" pitchFamily="50" charset="-127"/>
                  <a:cs typeface="Arial" panose="020B0604020202020204" pitchFamily="34" charset="0"/>
                </a:rPr>
                <a:t>22채널 </a:t>
              </a:r>
              <a:r>
                <a:rPr lang="en-US" altLang="ko-KR" sz="1100" dirty="0" err="1">
                  <a:solidFill>
                    <a:srgbClr val="444444"/>
                  </a:solidFill>
                  <a:latin typeface="나눔고딕" panose="020D0604000000000000" pitchFamily="50" charset="-127"/>
                  <a:ea typeface="나눔고딕" panose="020D0604000000000000" pitchFamily="50" charset="-127"/>
                  <a:cs typeface="Arial" panose="020B0604020202020204" pitchFamily="34" charset="0"/>
                </a:rPr>
                <a:t>시계열</a:t>
              </a:r>
              <a:r>
                <a:rPr lang="en-US" altLang="ko-KR" sz="1100" dirty="0">
                  <a:solidFill>
                    <a:srgbClr val="444444"/>
                  </a:solidFill>
                  <a:latin typeface="나눔고딕" panose="020D0604000000000000" pitchFamily="50" charset="-127"/>
                  <a:ea typeface="나눔고딕" panose="020D0604000000000000" pitchFamily="50" charset="-127"/>
                  <a:cs typeface="Arial" panose="020B0604020202020204" pitchFamily="34" charset="0"/>
                </a:rPr>
                <a:t> </a:t>
              </a:r>
              <a:r>
                <a:rPr lang="en-US" altLang="ko-KR" sz="1100" dirty="0" err="1">
                  <a:solidFill>
                    <a:srgbClr val="444444"/>
                  </a:solidFill>
                  <a:latin typeface="나눔고딕" panose="020D0604000000000000" pitchFamily="50" charset="-127"/>
                  <a:ea typeface="나눔고딕" panose="020D0604000000000000" pitchFamily="50" charset="-127"/>
                  <a:cs typeface="Arial" panose="020B0604020202020204" pitchFamily="34" charset="0"/>
                </a:rPr>
                <a:t>데이터</a:t>
              </a:r>
              <a:endParaRPr lang="ko-KR" altLang="en-US" sz="1100" dirty="0">
                <a:solidFill>
                  <a:srgbClr val="444444"/>
                </a:solidFill>
                <a:latin typeface="나눔고딕" panose="020D0604000000000000" pitchFamily="50" charset="-127"/>
                <a:ea typeface="나눔고딕" panose="020D0604000000000000" pitchFamily="50" charset="-127"/>
                <a:cs typeface="Arial" panose="020B0604020202020204" pitchFamily="34" charset="0"/>
              </a:endParaRPr>
            </a:p>
            <a:p>
              <a:r>
                <a:rPr sz="1100" dirty="0">
                  <a:solidFill>
                    <a:srgbClr val="444444"/>
                  </a:solidFill>
                </a:rPr>
                <a:t>• </a:t>
              </a:r>
              <a:r>
                <a:rPr sz="1100" dirty="0" err="1">
                  <a:solidFill>
                    <a:srgbClr val="444444"/>
                  </a:solidFill>
                </a:rPr>
                <a:t>양방향</a:t>
              </a:r>
              <a:r>
                <a:rPr sz="1100" dirty="0">
                  <a:solidFill>
                    <a:srgbClr val="444444"/>
                  </a:solidFill>
                </a:rPr>
                <a:t> LSTM (2-layer)</a:t>
              </a:r>
            </a:p>
            <a:p>
              <a:r>
                <a:rPr sz="1100" dirty="0">
                  <a:solidFill>
                    <a:srgbClr val="444444"/>
                  </a:solidFill>
                </a:rPr>
                <a:t>• </a:t>
              </a:r>
              <a:r>
                <a:rPr sz="1100" dirty="0" err="1">
                  <a:solidFill>
                    <a:srgbClr val="444444"/>
                  </a:solidFill>
                </a:rPr>
                <a:t>시간</a:t>
              </a:r>
              <a:r>
                <a:rPr sz="1100" dirty="0">
                  <a:solidFill>
                    <a:srgbClr val="444444"/>
                  </a:solidFill>
                </a:rPr>
                <a:t> </a:t>
              </a:r>
              <a:r>
                <a:rPr sz="1100" dirty="0" err="1">
                  <a:solidFill>
                    <a:srgbClr val="444444"/>
                  </a:solidFill>
                </a:rPr>
                <a:t>흐름</a:t>
              </a:r>
              <a:r>
                <a:rPr sz="1100" dirty="0">
                  <a:solidFill>
                    <a:srgbClr val="444444"/>
                  </a:solidFill>
                </a:rPr>
                <a:t> </a:t>
              </a:r>
              <a:r>
                <a:rPr sz="1100" dirty="0" err="1">
                  <a:solidFill>
                    <a:srgbClr val="444444"/>
                  </a:solidFill>
                </a:rPr>
                <a:t>패턴</a:t>
              </a:r>
              <a:r>
                <a:rPr sz="1100" dirty="0">
                  <a:solidFill>
                    <a:srgbClr val="444444"/>
                  </a:solidFill>
                </a:rPr>
                <a:t> </a:t>
              </a:r>
              <a:r>
                <a:rPr sz="1100" dirty="0" err="1">
                  <a:solidFill>
                    <a:srgbClr val="444444"/>
                  </a:solidFill>
                </a:rPr>
                <a:t>분석</a:t>
              </a:r>
              <a:endParaRPr sz="1100" dirty="0">
                <a:solidFill>
                  <a:srgbClr val="444444"/>
                </a:solidFill>
              </a:endParaRPr>
            </a:p>
            <a:p>
              <a:r>
                <a:rPr sz="1100" dirty="0">
                  <a:solidFill>
                    <a:srgbClr val="444444"/>
                  </a:solidFill>
                </a:rPr>
                <a:t>• </a:t>
              </a:r>
              <a:r>
                <a:rPr sz="1100" dirty="0" err="1">
                  <a:solidFill>
                    <a:srgbClr val="444444"/>
                  </a:solidFill>
                </a:rPr>
                <a:t>모든</a:t>
              </a:r>
              <a:r>
                <a:rPr sz="1100" dirty="0">
                  <a:solidFill>
                    <a:srgbClr val="444444"/>
                  </a:solidFill>
                </a:rPr>
                <a:t> </a:t>
              </a:r>
              <a:r>
                <a:rPr sz="1100" dirty="0" err="1">
                  <a:solidFill>
                    <a:srgbClr val="444444"/>
                  </a:solidFill>
                </a:rPr>
                <a:t>시점에서</a:t>
              </a:r>
              <a:r>
                <a:rPr sz="1100" dirty="0">
                  <a:solidFill>
                    <a:srgbClr val="444444"/>
                  </a:solidFill>
                </a:rPr>
                <a:t> </a:t>
              </a:r>
              <a:r>
                <a:rPr sz="1100" dirty="0" err="1">
                  <a:solidFill>
                    <a:srgbClr val="444444"/>
                  </a:solidFill>
                </a:rPr>
                <a:t>작동</a:t>
              </a:r>
              <a:endParaRPr sz="1100" dirty="0">
                <a:solidFill>
                  <a:srgbClr val="444444"/>
                </a:solidFill>
              </a:endParaRPr>
            </a:p>
          </p:txBody>
        </p:sp>
        <p:sp>
          <p:nvSpPr>
            <p:cNvPr id="9" name="사각형: 둥근 모서리 8">
              <a:extLst>
                <a:ext uri="{FF2B5EF4-FFF2-40B4-BE49-F238E27FC236}">
                  <a16:creationId xmlns:a16="http://schemas.microsoft.com/office/drawing/2014/main" id="{73137C35-247D-4CAF-B0E7-3F74A27D7ACC}"/>
                </a:ext>
              </a:extLst>
            </p:cNvPr>
            <p:cNvSpPr/>
            <p:nvPr/>
          </p:nvSpPr>
          <p:spPr>
            <a:xfrm>
              <a:off x="296518" y="3945283"/>
              <a:ext cx="3683000" cy="579065"/>
            </a:xfrm>
            <a:prstGeom prst="roundRect">
              <a:avLst>
                <a:gd name="adj" fmla="val 13725"/>
              </a:avLst>
            </a:prstGeom>
            <a:solidFill>
              <a:srgbClr val="FFF3F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0" name="TextBox 9">
              <a:extLst>
                <a:ext uri="{FF2B5EF4-FFF2-40B4-BE49-F238E27FC236}">
                  <a16:creationId xmlns:a16="http://schemas.microsoft.com/office/drawing/2014/main" id="{E33E428B-44F8-4E37-BC47-8D2F449591A3}"/>
                </a:ext>
              </a:extLst>
            </p:cNvPr>
            <p:cNvSpPr txBox="1"/>
            <p:nvPr/>
          </p:nvSpPr>
          <p:spPr>
            <a:xfrm>
              <a:off x="448918" y="4096112"/>
              <a:ext cx="3378200" cy="428236"/>
            </a:xfrm>
            <a:prstGeom prst="rect">
              <a:avLst/>
            </a:prstGeom>
            <a:noFill/>
          </p:spPr>
          <p:txBody>
            <a:bodyPr vertOverflow="overflow" vert="horz" wrap="square" rtlCol="0" anchor="t">
              <a:noAutofit/>
            </a:bodyPr>
            <a:lstStyle/>
            <a:p>
              <a:pPr algn="l"/>
              <a:r>
                <a:rPr lang="ko-KR" altLang="en-US" sz="1100" b="1" dirty="0">
                  <a:solidFill>
                    <a:srgbClr val="E8584F"/>
                  </a:solidFill>
                  <a:latin typeface="나눔고딕" panose="020D0604000000000000" pitchFamily="50" charset="-127"/>
                  <a:ea typeface="나눔고딕" panose="020D0604000000000000" pitchFamily="50" charset="-127"/>
                  <a:cs typeface="Arial" panose="020B0604020202020204" pitchFamily="34" charset="0"/>
                </a:rPr>
                <a:t>역할: 항상 가용한 </a:t>
              </a:r>
              <a:r>
                <a:rPr sz="1100" b="1" dirty="0" err="1">
                  <a:solidFill>
                    <a:srgbClr val="E8584F"/>
                  </a:solidFill>
                </a:rPr>
                <a:t>기본</a:t>
              </a:r>
              <a:r>
                <a:rPr sz="1100" b="1" dirty="0">
                  <a:solidFill>
                    <a:srgbClr val="E8584F"/>
                  </a:solidFill>
                </a:rPr>
                <a:t> </a:t>
              </a:r>
              <a:r>
                <a:rPr sz="1100" b="1" dirty="0" err="1">
                  <a:solidFill>
                    <a:srgbClr val="E8584F"/>
                  </a:solidFill>
                </a:rPr>
                <a:t>모달리티</a:t>
              </a:r>
              <a:endParaRPr sz="1100" b="1" dirty="0">
                <a:solidFill>
                  <a:srgbClr val="E8584F"/>
                </a:solidFill>
              </a:endParaRPr>
            </a:p>
          </p:txBody>
        </p:sp>
        <p:sp>
          <p:nvSpPr>
            <p:cNvPr id="11" name="사각형: 둥근 모서리 10">
              <a:extLst>
                <a:ext uri="{FF2B5EF4-FFF2-40B4-BE49-F238E27FC236}">
                  <a16:creationId xmlns:a16="http://schemas.microsoft.com/office/drawing/2014/main" id="{7E223DCD-5241-4F1B-A6BE-CC72A0E0AF43}"/>
                </a:ext>
              </a:extLst>
            </p:cNvPr>
            <p:cNvSpPr/>
            <p:nvPr/>
          </p:nvSpPr>
          <p:spPr>
            <a:xfrm>
              <a:off x="4106518" y="2214568"/>
              <a:ext cx="3683000" cy="482600"/>
            </a:xfrm>
            <a:prstGeom prst="roundRect">
              <a:avLst/>
            </a:prstGeom>
            <a:solidFill>
              <a:srgbClr val="16A295"/>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1400" b="1">
                  <a:solidFill>
                    <a:srgbClr val="FFFFFF"/>
                  </a:solidFill>
                </a:rPr>
                <a:t>이미지 단독 — ResNet18</a:t>
              </a:r>
              <a:endParaRPr lang="ko-KR" altLang="en-US" sz="1400" b="1">
                <a:solidFill>
                  <a:srgbClr val="FFFFFF"/>
                </a:solidFill>
              </a:endParaRPr>
            </a:p>
          </p:txBody>
        </p:sp>
        <p:sp>
          <p:nvSpPr>
            <p:cNvPr id="12" name="사각형: 둥근 모서리 11">
              <a:extLst>
                <a:ext uri="{FF2B5EF4-FFF2-40B4-BE49-F238E27FC236}">
                  <a16:creationId xmlns:a16="http://schemas.microsoft.com/office/drawing/2014/main" id="{AB26570A-179F-4888-A971-49AED315E673}"/>
                </a:ext>
              </a:extLst>
            </p:cNvPr>
            <p:cNvSpPr/>
            <p:nvPr/>
          </p:nvSpPr>
          <p:spPr>
            <a:xfrm>
              <a:off x="4106518" y="2760668"/>
              <a:ext cx="3683000" cy="1095715"/>
            </a:xfrm>
            <a:prstGeom prst="roundRect">
              <a:avLst>
                <a:gd name="adj" fmla="val 4393"/>
              </a:avLst>
            </a:prstGeom>
            <a:solidFill>
              <a:srgbClr val="F8F9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3" name="TextBox 12">
              <a:extLst>
                <a:ext uri="{FF2B5EF4-FFF2-40B4-BE49-F238E27FC236}">
                  <a16:creationId xmlns:a16="http://schemas.microsoft.com/office/drawing/2014/main" id="{748AB003-6FDA-47A0-AE37-49397A164B5C}"/>
                </a:ext>
              </a:extLst>
            </p:cNvPr>
            <p:cNvSpPr txBox="1"/>
            <p:nvPr/>
          </p:nvSpPr>
          <p:spPr>
            <a:xfrm>
              <a:off x="4258918" y="2849568"/>
              <a:ext cx="3378200" cy="852758"/>
            </a:xfrm>
            <a:prstGeom prst="rect">
              <a:avLst/>
            </a:prstGeom>
            <a:noFill/>
          </p:spPr>
          <p:txBody>
            <a:bodyPr vertOverflow="overflow" vert="horz" wrap="square" rtlCol="0" anchor="t">
              <a:noAutofit/>
            </a:bodyPr>
            <a:lstStyle/>
            <a:p>
              <a:r>
                <a:rPr lang="en-US" altLang="ko-KR" sz="1100" dirty="0">
                  <a:solidFill>
                    <a:srgbClr val="444444"/>
                  </a:solidFill>
                </a:rPr>
                <a:t>• </a:t>
              </a:r>
              <a:r>
                <a:rPr lang="en-US" altLang="ko-KR" sz="1100" dirty="0" err="1">
                  <a:solidFill>
                    <a:srgbClr val="444444"/>
                  </a:solidFill>
                  <a:latin typeface="나눔고딕" panose="020D0604000000000000" pitchFamily="50" charset="-127"/>
                  <a:ea typeface="나눔고딕" panose="020D0604000000000000" pitchFamily="50" charset="-127"/>
                  <a:cs typeface="Arial" panose="020B0604020202020204" pitchFamily="34" charset="0"/>
                </a:rPr>
                <a:t>카메라</a:t>
              </a:r>
              <a:r>
                <a:rPr lang="en-US" altLang="ko-KR" sz="1100" dirty="0">
                  <a:solidFill>
                    <a:srgbClr val="444444"/>
                  </a:solidFill>
                  <a:latin typeface="나눔고딕" panose="020D0604000000000000" pitchFamily="50" charset="-127"/>
                  <a:ea typeface="나눔고딕" panose="020D0604000000000000" pitchFamily="50" charset="-127"/>
                  <a:cs typeface="Arial" panose="020B0604020202020204" pitchFamily="34" charset="0"/>
                </a:rPr>
                <a:t> 2대 </a:t>
              </a:r>
              <a:r>
                <a:rPr lang="en-US" altLang="ko-KR" sz="1100" dirty="0" err="1">
                  <a:solidFill>
                    <a:srgbClr val="444444"/>
                  </a:solidFill>
                  <a:latin typeface="나눔고딕" panose="020D0604000000000000" pitchFamily="50" charset="-127"/>
                  <a:ea typeface="나눔고딕" panose="020D0604000000000000" pitchFamily="50" charset="-127"/>
                  <a:cs typeface="Arial" panose="020B0604020202020204" pitchFamily="34" charset="0"/>
                </a:rPr>
                <a:t>동기</a:t>
              </a:r>
              <a:r>
                <a:rPr lang="en-US" altLang="ko-KR" sz="1100" dirty="0">
                  <a:solidFill>
                    <a:srgbClr val="444444"/>
                  </a:solidFill>
                  <a:latin typeface="나눔고딕" panose="020D0604000000000000" pitchFamily="50" charset="-127"/>
                  <a:ea typeface="나눔고딕" panose="020D0604000000000000" pitchFamily="50" charset="-127"/>
                  <a:cs typeface="Arial" panose="020B0604020202020204" pitchFamily="34" charset="0"/>
                </a:rPr>
                <a:t> </a:t>
              </a:r>
              <a:r>
                <a:rPr lang="en-US" altLang="ko-KR" sz="1100" dirty="0" err="1">
                  <a:solidFill>
                    <a:srgbClr val="444444"/>
                  </a:solidFill>
                  <a:latin typeface="나눔고딕" panose="020D0604000000000000" pitchFamily="50" charset="-127"/>
                  <a:ea typeface="나눔고딕" panose="020D0604000000000000" pitchFamily="50" charset="-127"/>
                  <a:cs typeface="Arial" panose="020B0604020202020204" pitchFamily="34" charset="0"/>
                </a:rPr>
                <a:t>입력</a:t>
              </a:r>
              <a:endParaRPr lang="en-US" altLang="ko-KR" sz="1100" dirty="0">
                <a:solidFill>
                  <a:srgbClr val="444444"/>
                </a:solidFill>
                <a:latin typeface="나눔고딕" panose="020D0604000000000000" pitchFamily="50" charset="-127"/>
                <a:ea typeface="나눔고딕" panose="020D0604000000000000" pitchFamily="50" charset="-127"/>
                <a:cs typeface="Arial" panose="020B0604020202020204" pitchFamily="34" charset="0"/>
              </a:endParaRPr>
            </a:p>
            <a:p>
              <a:r>
                <a:rPr sz="1100" dirty="0">
                  <a:solidFill>
                    <a:srgbClr val="444444"/>
                  </a:solidFill>
                </a:rPr>
                <a:t>• ImageNet </a:t>
              </a:r>
              <a:r>
                <a:rPr sz="1100" dirty="0" err="1">
                  <a:solidFill>
                    <a:srgbClr val="444444"/>
                  </a:solidFill>
                </a:rPr>
                <a:t>전이학습</a:t>
              </a:r>
              <a:endParaRPr sz="1100" dirty="0">
                <a:solidFill>
                  <a:srgbClr val="444444"/>
                </a:solidFill>
              </a:endParaRPr>
            </a:p>
            <a:p>
              <a:r>
                <a:rPr sz="1100" dirty="0">
                  <a:solidFill>
                    <a:srgbClr val="444444"/>
                  </a:solidFill>
                </a:rPr>
                <a:t>• 두 </a:t>
              </a:r>
              <a:r>
                <a:rPr sz="1100" dirty="0" err="1">
                  <a:solidFill>
                    <a:srgbClr val="444444"/>
                  </a:solidFill>
                </a:rPr>
                <a:t>카메라</a:t>
              </a:r>
              <a:r>
                <a:rPr sz="1100" dirty="0">
                  <a:solidFill>
                    <a:srgbClr val="444444"/>
                  </a:solidFill>
                </a:rPr>
                <a:t> </a:t>
              </a:r>
              <a:r>
                <a:rPr sz="1100" dirty="0" err="1">
                  <a:solidFill>
                    <a:srgbClr val="444444"/>
                  </a:solidFill>
                </a:rPr>
                <a:t>특징</a:t>
              </a:r>
              <a:r>
                <a:rPr sz="1100" dirty="0">
                  <a:solidFill>
                    <a:srgbClr val="444444"/>
                  </a:solidFill>
                </a:rPr>
                <a:t> </a:t>
              </a:r>
              <a:r>
                <a:rPr sz="1100" dirty="0" err="1">
                  <a:solidFill>
                    <a:srgbClr val="444444"/>
                  </a:solidFill>
                </a:rPr>
                <a:t>평균</a:t>
              </a:r>
              <a:endParaRPr sz="1100" dirty="0">
                <a:solidFill>
                  <a:srgbClr val="444444"/>
                </a:solidFill>
              </a:endParaRPr>
            </a:p>
            <a:p>
              <a:r>
                <a:rPr sz="1100" dirty="0">
                  <a:solidFill>
                    <a:srgbClr val="444444"/>
                  </a:solidFill>
                </a:rPr>
                <a:t>• </a:t>
              </a:r>
              <a:r>
                <a:rPr sz="1100" dirty="0" err="1">
                  <a:solidFill>
                    <a:srgbClr val="444444"/>
                  </a:solidFill>
                </a:rPr>
                <a:t>시각적</a:t>
              </a:r>
              <a:r>
                <a:rPr sz="1100" dirty="0">
                  <a:solidFill>
                    <a:srgbClr val="444444"/>
                  </a:solidFill>
                </a:rPr>
                <a:t> </a:t>
              </a:r>
              <a:r>
                <a:rPr sz="1100" dirty="0" err="1">
                  <a:solidFill>
                    <a:srgbClr val="444444"/>
                  </a:solidFill>
                </a:rPr>
                <a:t>결함</a:t>
              </a:r>
              <a:r>
                <a:rPr sz="1100" dirty="0">
                  <a:solidFill>
                    <a:srgbClr val="444444"/>
                  </a:solidFill>
                </a:rPr>
                <a:t> </a:t>
              </a:r>
              <a:r>
                <a:rPr sz="1100" dirty="0" err="1">
                  <a:solidFill>
                    <a:srgbClr val="444444"/>
                  </a:solidFill>
                </a:rPr>
                <a:t>직접</a:t>
              </a:r>
              <a:r>
                <a:rPr sz="1100" dirty="0">
                  <a:solidFill>
                    <a:srgbClr val="444444"/>
                  </a:solidFill>
                </a:rPr>
                <a:t> </a:t>
              </a:r>
              <a:r>
                <a:rPr sz="1100" dirty="0" err="1">
                  <a:solidFill>
                    <a:srgbClr val="444444"/>
                  </a:solidFill>
                </a:rPr>
                <a:t>판별</a:t>
              </a:r>
              <a:endParaRPr sz="1100" dirty="0">
                <a:solidFill>
                  <a:srgbClr val="444444"/>
                </a:solidFill>
              </a:endParaRPr>
            </a:p>
          </p:txBody>
        </p:sp>
        <p:sp>
          <p:nvSpPr>
            <p:cNvPr id="14" name="사각형: 둥근 모서리 13">
              <a:extLst>
                <a:ext uri="{FF2B5EF4-FFF2-40B4-BE49-F238E27FC236}">
                  <a16:creationId xmlns:a16="http://schemas.microsoft.com/office/drawing/2014/main" id="{CA05D5A7-5FFE-4205-A2EB-F052149016EB}"/>
                </a:ext>
              </a:extLst>
            </p:cNvPr>
            <p:cNvSpPr/>
            <p:nvPr/>
          </p:nvSpPr>
          <p:spPr>
            <a:xfrm>
              <a:off x="4106518" y="3945283"/>
              <a:ext cx="3683000" cy="579065"/>
            </a:xfrm>
            <a:prstGeom prst="roundRect">
              <a:avLst>
                <a:gd name="adj" fmla="val 13725"/>
              </a:avLst>
            </a:prstGeom>
            <a:solidFill>
              <a:srgbClr val="FFF3F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5" name="TextBox 14">
              <a:extLst>
                <a:ext uri="{FF2B5EF4-FFF2-40B4-BE49-F238E27FC236}">
                  <a16:creationId xmlns:a16="http://schemas.microsoft.com/office/drawing/2014/main" id="{796E16D0-C435-4DC5-B5BF-A0E3B602E14C}"/>
                </a:ext>
              </a:extLst>
            </p:cNvPr>
            <p:cNvSpPr txBox="1"/>
            <p:nvPr/>
          </p:nvSpPr>
          <p:spPr>
            <a:xfrm>
              <a:off x="4258918" y="4096112"/>
              <a:ext cx="3378200" cy="428236"/>
            </a:xfrm>
            <a:prstGeom prst="rect">
              <a:avLst/>
            </a:prstGeom>
            <a:noFill/>
          </p:spPr>
          <p:txBody>
            <a:bodyPr vertOverflow="overflow" vert="horz" wrap="square" rtlCol="0" anchor="t">
              <a:noAutofit/>
            </a:bodyPr>
            <a:lstStyle/>
            <a:p>
              <a:pPr algn="l"/>
              <a:r>
                <a:rPr lang="ko-KR" altLang="en-US" sz="1100" b="1" dirty="0">
                  <a:solidFill>
                    <a:srgbClr val="E8584F"/>
                  </a:solidFill>
                  <a:latin typeface="나눔고딕" panose="020D0604000000000000" pitchFamily="50" charset="-127"/>
                  <a:ea typeface="나눔고딕" panose="020D0604000000000000" pitchFamily="50" charset="-127"/>
                  <a:cs typeface="Arial" panose="020B0604020202020204" pitchFamily="34" charset="0"/>
                </a:rPr>
                <a:t>역할: 시각 정보로 </a:t>
              </a:r>
              <a:r>
                <a:rPr sz="1100" b="1" dirty="0" err="1">
                  <a:solidFill>
                    <a:srgbClr val="E8584F"/>
                  </a:solidFill>
                </a:rPr>
                <a:t>결함</a:t>
              </a:r>
              <a:r>
                <a:rPr sz="1100" b="1" dirty="0">
                  <a:solidFill>
                    <a:srgbClr val="E8584F"/>
                  </a:solidFill>
                </a:rPr>
                <a:t> </a:t>
              </a:r>
              <a:r>
                <a:rPr sz="1100" b="1" dirty="0" err="1">
                  <a:solidFill>
                    <a:srgbClr val="E8584F"/>
                  </a:solidFill>
                </a:rPr>
                <a:t>직접</a:t>
              </a:r>
              <a:r>
                <a:rPr sz="1100" b="1" dirty="0">
                  <a:solidFill>
                    <a:srgbClr val="E8584F"/>
                  </a:solidFill>
                </a:rPr>
                <a:t> </a:t>
              </a:r>
              <a:r>
                <a:rPr sz="1100" b="1" dirty="0" err="1">
                  <a:solidFill>
                    <a:srgbClr val="E8584F"/>
                  </a:solidFill>
                </a:rPr>
                <a:t>포착</a:t>
              </a:r>
              <a:endParaRPr sz="1100" b="1" dirty="0">
                <a:solidFill>
                  <a:srgbClr val="E8584F"/>
                </a:solidFill>
              </a:endParaRPr>
            </a:p>
          </p:txBody>
        </p:sp>
        <p:sp>
          <p:nvSpPr>
            <p:cNvPr id="16" name="사각형: 둥근 모서리 15">
              <a:extLst>
                <a:ext uri="{FF2B5EF4-FFF2-40B4-BE49-F238E27FC236}">
                  <a16:creationId xmlns:a16="http://schemas.microsoft.com/office/drawing/2014/main" id="{116A9196-9330-494A-834F-2B0C2CBA3D66}"/>
                </a:ext>
              </a:extLst>
            </p:cNvPr>
            <p:cNvSpPr/>
            <p:nvPr/>
          </p:nvSpPr>
          <p:spPr>
            <a:xfrm>
              <a:off x="7916518" y="2214568"/>
              <a:ext cx="3683000" cy="482600"/>
            </a:xfrm>
            <a:prstGeom prst="roundRect">
              <a:avLst/>
            </a:prstGeom>
            <a:solidFill>
              <a:srgbClr val="93B64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1400" b="1">
                  <a:solidFill>
                    <a:srgbClr val="FFFFFF"/>
                  </a:solidFill>
                </a:rPr>
                <a:t>융합 — Decision-level</a:t>
              </a:r>
              <a:endParaRPr lang="ko-KR" altLang="en-US" sz="1400" b="1">
                <a:solidFill>
                  <a:srgbClr val="FFFFFF"/>
                </a:solidFill>
              </a:endParaRPr>
            </a:p>
          </p:txBody>
        </p:sp>
        <p:sp>
          <p:nvSpPr>
            <p:cNvPr id="17" name="사각형: 둥근 모서리 16">
              <a:extLst>
                <a:ext uri="{FF2B5EF4-FFF2-40B4-BE49-F238E27FC236}">
                  <a16:creationId xmlns:a16="http://schemas.microsoft.com/office/drawing/2014/main" id="{6E029E81-9A6F-4464-951C-CC79A9F835F7}"/>
                </a:ext>
              </a:extLst>
            </p:cNvPr>
            <p:cNvSpPr/>
            <p:nvPr/>
          </p:nvSpPr>
          <p:spPr>
            <a:xfrm>
              <a:off x="7916518" y="2760668"/>
              <a:ext cx="3683000" cy="1095715"/>
            </a:xfrm>
            <a:prstGeom prst="roundRect">
              <a:avLst>
                <a:gd name="adj" fmla="val 3835"/>
              </a:avLst>
            </a:prstGeom>
            <a:solidFill>
              <a:srgbClr val="F8F9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8" name="TextBox 17">
              <a:extLst>
                <a:ext uri="{FF2B5EF4-FFF2-40B4-BE49-F238E27FC236}">
                  <a16:creationId xmlns:a16="http://schemas.microsoft.com/office/drawing/2014/main" id="{904F73FC-4C57-4C87-9023-B72CE7DC9922}"/>
                </a:ext>
              </a:extLst>
            </p:cNvPr>
            <p:cNvSpPr txBox="1"/>
            <p:nvPr/>
          </p:nvSpPr>
          <p:spPr>
            <a:xfrm>
              <a:off x="8068918" y="2849568"/>
              <a:ext cx="3378200" cy="852758"/>
            </a:xfrm>
            <a:prstGeom prst="rect">
              <a:avLst/>
            </a:prstGeom>
            <a:noFill/>
          </p:spPr>
          <p:txBody>
            <a:bodyPr vertOverflow="overflow" vert="horz" wrap="square" rtlCol="0" anchor="t">
              <a:noAutofit/>
            </a:bodyPr>
            <a:lstStyle/>
            <a:p>
              <a:r>
                <a:rPr lang="en-US" altLang="ko-KR" sz="1100" dirty="0">
                  <a:solidFill>
                    <a:srgbClr val="444444"/>
                  </a:solidFill>
                </a:rPr>
                <a:t>• </a:t>
              </a:r>
              <a:r>
                <a:rPr lang="en-US" altLang="ko-KR" sz="1100" dirty="0">
                  <a:solidFill>
                    <a:srgbClr val="444444"/>
                  </a:solidFill>
                  <a:latin typeface="나눔고딕" panose="020D0604000000000000" pitchFamily="50" charset="-127"/>
                  <a:ea typeface="나눔고딕" panose="020D0604000000000000" pitchFamily="50" charset="-127"/>
                  <a:cs typeface="Arial" panose="020B0604020202020204" pitchFamily="34" charset="0"/>
                </a:rPr>
                <a:t>두 </a:t>
              </a:r>
              <a:r>
                <a:rPr lang="en-US" altLang="ko-KR" sz="1100" dirty="0" err="1">
                  <a:solidFill>
                    <a:srgbClr val="444444"/>
                  </a:solidFill>
                  <a:latin typeface="나눔고딕" panose="020D0604000000000000" pitchFamily="50" charset="-127"/>
                  <a:ea typeface="나눔고딕" panose="020D0604000000000000" pitchFamily="50" charset="-127"/>
                  <a:cs typeface="Arial" panose="020B0604020202020204" pitchFamily="34" charset="0"/>
                </a:rPr>
                <a:t>모델</a:t>
              </a:r>
              <a:r>
                <a:rPr lang="en-US" altLang="ko-KR" sz="1100" dirty="0">
                  <a:solidFill>
                    <a:srgbClr val="444444"/>
                  </a:solidFill>
                  <a:latin typeface="나눔고딕" panose="020D0604000000000000" pitchFamily="50" charset="-127"/>
                  <a:ea typeface="나눔고딕" panose="020D0604000000000000" pitchFamily="50" charset="-127"/>
                  <a:cs typeface="Arial" panose="020B0604020202020204" pitchFamily="34" charset="0"/>
                </a:rPr>
                <a:t> </a:t>
              </a:r>
              <a:r>
                <a:rPr lang="en-US" altLang="ko-KR" sz="1100" dirty="0" err="1">
                  <a:solidFill>
                    <a:srgbClr val="444444"/>
                  </a:solidFill>
                  <a:latin typeface="나눔고딕" panose="020D0604000000000000" pitchFamily="50" charset="-127"/>
                  <a:ea typeface="나눔고딕" panose="020D0604000000000000" pitchFamily="50" charset="-127"/>
                  <a:cs typeface="Arial" panose="020B0604020202020204" pitchFamily="34" charset="0"/>
                </a:rPr>
                <a:t>출력</a:t>
              </a:r>
              <a:r>
                <a:rPr lang="en-US" altLang="ko-KR" sz="1100" dirty="0">
                  <a:solidFill>
                    <a:srgbClr val="444444"/>
                  </a:solidFill>
                  <a:latin typeface="나눔고딕" panose="020D0604000000000000" pitchFamily="50" charset="-127"/>
                  <a:ea typeface="나눔고딕" panose="020D0604000000000000" pitchFamily="50" charset="-127"/>
                  <a:cs typeface="Arial" panose="020B0604020202020204" pitchFamily="34" charset="0"/>
                </a:rPr>
                <a:t> </a:t>
              </a:r>
              <a:r>
                <a:rPr lang="en-US" altLang="ko-KR" sz="1100" dirty="0" err="1">
                  <a:solidFill>
                    <a:srgbClr val="444444"/>
                  </a:solidFill>
                  <a:latin typeface="나눔고딕" panose="020D0604000000000000" pitchFamily="50" charset="-127"/>
                  <a:ea typeface="나눔고딕" panose="020D0604000000000000" pitchFamily="50" charset="-127"/>
                  <a:cs typeface="Arial" panose="020B0604020202020204" pitchFamily="34" charset="0"/>
                </a:rPr>
                <a:t>확률</a:t>
              </a:r>
              <a:r>
                <a:rPr lang="en-US" altLang="ko-KR" sz="1100" dirty="0">
                  <a:solidFill>
                    <a:srgbClr val="444444"/>
                  </a:solidFill>
                  <a:latin typeface="나눔고딕" panose="020D0604000000000000" pitchFamily="50" charset="-127"/>
                  <a:ea typeface="나눔고딕" panose="020D0604000000000000" pitchFamily="50" charset="-127"/>
                  <a:cs typeface="Arial" panose="020B0604020202020204" pitchFamily="34" charset="0"/>
                </a:rPr>
                <a:t> </a:t>
              </a:r>
              <a:r>
                <a:rPr lang="en-US" altLang="ko-KR" sz="1100" dirty="0" err="1">
                  <a:solidFill>
                    <a:srgbClr val="444444"/>
                  </a:solidFill>
                  <a:latin typeface="나눔고딕" panose="020D0604000000000000" pitchFamily="50" charset="-127"/>
                  <a:ea typeface="나눔고딕" panose="020D0604000000000000" pitchFamily="50" charset="-127"/>
                  <a:cs typeface="Arial" panose="020B0604020202020204" pitchFamily="34" charset="0"/>
                </a:rPr>
                <a:t>결합</a:t>
              </a:r>
              <a:endParaRPr lang="en-US" altLang="ko-KR" sz="1100" dirty="0">
                <a:solidFill>
                  <a:srgbClr val="444444"/>
                </a:solidFill>
                <a:latin typeface="나눔고딕" panose="020D0604000000000000" pitchFamily="50" charset="-127"/>
                <a:ea typeface="나눔고딕" panose="020D0604000000000000" pitchFamily="50" charset="-127"/>
                <a:cs typeface="Arial" panose="020B0604020202020204" pitchFamily="34" charset="0"/>
              </a:endParaRPr>
            </a:p>
            <a:p>
              <a:r>
                <a:rPr sz="1100" dirty="0">
                  <a:solidFill>
                    <a:srgbClr val="444444"/>
                  </a:solidFill>
                </a:rPr>
                <a:t>• </a:t>
              </a:r>
              <a:r>
                <a:rPr sz="1100" dirty="0" err="1">
                  <a:solidFill>
                    <a:srgbClr val="444444"/>
                  </a:solidFill>
                </a:rPr>
                <a:t>가중치는</a:t>
              </a:r>
              <a:r>
                <a:rPr sz="1100" dirty="0">
                  <a:solidFill>
                    <a:srgbClr val="444444"/>
                  </a:solidFill>
                </a:rPr>
                <a:t> </a:t>
              </a:r>
              <a:r>
                <a:rPr sz="1100" dirty="0" err="1">
                  <a:solidFill>
                    <a:srgbClr val="444444"/>
                  </a:solidFill>
                </a:rPr>
                <a:t>train에서</a:t>
              </a:r>
              <a:r>
                <a:rPr sz="1100" dirty="0">
                  <a:solidFill>
                    <a:srgbClr val="444444"/>
                  </a:solidFill>
                </a:rPr>
                <a:t> </a:t>
              </a:r>
              <a:r>
                <a:rPr sz="1100" dirty="0" err="1">
                  <a:solidFill>
                    <a:srgbClr val="444444"/>
                  </a:solidFill>
                </a:rPr>
                <a:t>결정</a:t>
              </a:r>
              <a:endParaRPr sz="1100" dirty="0">
                <a:solidFill>
                  <a:srgbClr val="444444"/>
                </a:solidFill>
              </a:endParaRPr>
            </a:p>
            <a:p>
              <a:r>
                <a:rPr sz="1100" dirty="0">
                  <a:solidFill>
                    <a:srgbClr val="444444"/>
                  </a:solidFill>
                </a:rPr>
                <a:t>• </a:t>
              </a:r>
              <a:r>
                <a:rPr sz="1100" dirty="0" err="1">
                  <a:solidFill>
                    <a:srgbClr val="444444"/>
                  </a:solidFill>
                </a:rPr>
                <a:t>이미지</a:t>
              </a:r>
              <a:r>
                <a:rPr sz="1100" dirty="0">
                  <a:solidFill>
                    <a:srgbClr val="444444"/>
                  </a:solidFill>
                </a:rPr>
                <a:t> </a:t>
              </a:r>
              <a:r>
                <a:rPr sz="1100" dirty="0" err="1">
                  <a:solidFill>
                    <a:srgbClr val="444444"/>
                  </a:solidFill>
                </a:rPr>
                <a:t>없으면</a:t>
              </a:r>
              <a:r>
                <a:rPr sz="1100" dirty="0">
                  <a:solidFill>
                    <a:srgbClr val="444444"/>
                  </a:solidFill>
                </a:rPr>
                <a:t> </a:t>
              </a:r>
              <a:r>
                <a:rPr sz="1100" dirty="0" err="1">
                  <a:solidFill>
                    <a:srgbClr val="444444"/>
                  </a:solidFill>
                </a:rPr>
                <a:t>센서만</a:t>
              </a:r>
              <a:endParaRPr sz="1100" dirty="0">
                <a:solidFill>
                  <a:srgbClr val="444444"/>
                </a:solidFill>
              </a:endParaRPr>
            </a:p>
            <a:p>
              <a:r>
                <a:rPr sz="1100" dirty="0">
                  <a:solidFill>
                    <a:srgbClr val="444444"/>
                  </a:solidFill>
                </a:rPr>
                <a:t>• </a:t>
              </a:r>
              <a:r>
                <a:rPr sz="1100" dirty="0" err="1">
                  <a:solidFill>
                    <a:srgbClr val="444444"/>
                  </a:solidFill>
                </a:rPr>
                <a:t>결측에</a:t>
              </a:r>
              <a:r>
                <a:rPr sz="1100" dirty="0">
                  <a:solidFill>
                    <a:srgbClr val="444444"/>
                  </a:solidFill>
                </a:rPr>
                <a:t> </a:t>
              </a:r>
              <a:r>
                <a:rPr sz="1100" dirty="0" err="1">
                  <a:solidFill>
                    <a:srgbClr val="444444"/>
                  </a:solidFill>
                </a:rPr>
                <a:t>견고한</a:t>
              </a:r>
              <a:r>
                <a:rPr sz="1100" dirty="0">
                  <a:solidFill>
                    <a:srgbClr val="444444"/>
                  </a:solidFill>
                </a:rPr>
                <a:t> </a:t>
              </a:r>
              <a:r>
                <a:rPr sz="1100" dirty="0" err="1">
                  <a:solidFill>
                    <a:srgbClr val="444444"/>
                  </a:solidFill>
                </a:rPr>
                <a:t>구조</a:t>
              </a:r>
              <a:endParaRPr sz="1100" dirty="0">
                <a:solidFill>
                  <a:srgbClr val="444444"/>
                </a:solidFill>
              </a:endParaRPr>
            </a:p>
          </p:txBody>
        </p:sp>
        <p:sp>
          <p:nvSpPr>
            <p:cNvPr id="19" name="사각형: 둥근 모서리 18">
              <a:extLst>
                <a:ext uri="{FF2B5EF4-FFF2-40B4-BE49-F238E27FC236}">
                  <a16:creationId xmlns:a16="http://schemas.microsoft.com/office/drawing/2014/main" id="{10DFF70D-1BD4-4535-828C-4CBF9985661E}"/>
                </a:ext>
              </a:extLst>
            </p:cNvPr>
            <p:cNvSpPr/>
            <p:nvPr/>
          </p:nvSpPr>
          <p:spPr>
            <a:xfrm>
              <a:off x="7916518" y="3945283"/>
              <a:ext cx="3683000" cy="579065"/>
            </a:xfrm>
            <a:prstGeom prst="roundRect">
              <a:avLst>
                <a:gd name="adj" fmla="val 11519"/>
              </a:avLst>
            </a:prstGeom>
            <a:solidFill>
              <a:srgbClr val="FFF3F0"/>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20" name="TextBox 19">
              <a:extLst>
                <a:ext uri="{FF2B5EF4-FFF2-40B4-BE49-F238E27FC236}">
                  <a16:creationId xmlns:a16="http://schemas.microsoft.com/office/drawing/2014/main" id="{08200ACC-F9B7-453E-8D25-84864C768E0D}"/>
                </a:ext>
              </a:extLst>
            </p:cNvPr>
            <p:cNvSpPr txBox="1"/>
            <p:nvPr/>
          </p:nvSpPr>
          <p:spPr>
            <a:xfrm>
              <a:off x="8068918" y="4096112"/>
              <a:ext cx="3378200" cy="428236"/>
            </a:xfrm>
            <a:prstGeom prst="rect">
              <a:avLst/>
            </a:prstGeom>
            <a:noFill/>
          </p:spPr>
          <p:txBody>
            <a:bodyPr vertOverflow="overflow" vert="horz" wrap="square" rtlCol="0" anchor="t">
              <a:noAutofit/>
            </a:bodyPr>
            <a:lstStyle/>
            <a:p>
              <a:pPr algn="l"/>
              <a:r>
                <a:rPr lang="ko-KR" altLang="en-US" sz="1100" b="1" dirty="0">
                  <a:solidFill>
                    <a:srgbClr val="E8584F"/>
                  </a:solidFill>
                  <a:latin typeface="나눔고딕" panose="020D0604000000000000" pitchFamily="50" charset="-127"/>
                  <a:ea typeface="나눔고딕" panose="020D0604000000000000" pitchFamily="50" charset="-127"/>
                  <a:cs typeface="Arial" panose="020B0604020202020204" pitchFamily="34" charset="0"/>
                </a:rPr>
                <a:t>역할: 두 정보 종합 </a:t>
              </a:r>
              <a:r>
                <a:rPr sz="1100" b="1" dirty="0">
                  <a:solidFill>
                    <a:srgbClr val="E8584F"/>
                  </a:solidFill>
                </a:rPr>
                <a:t>+ </a:t>
              </a:r>
              <a:r>
                <a:rPr sz="1100" b="1" dirty="0" err="1">
                  <a:solidFill>
                    <a:srgbClr val="E8584F"/>
                  </a:solidFill>
                </a:rPr>
                <a:t>자동</a:t>
              </a:r>
              <a:r>
                <a:rPr sz="1100" b="1" dirty="0">
                  <a:solidFill>
                    <a:srgbClr val="E8584F"/>
                  </a:solidFill>
                </a:rPr>
                <a:t> </a:t>
              </a:r>
              <a:r>
                <a:rPr sz="1100" b="1" dirty="0" err="1">
                  <a:solidFill>
                    <a:srgbClr val="E8584F"/>
                  </a:solidFill>
                </a:rPr>
                <a:t>폴백</a:t>
              </a:r>
              <a:endParaRPr sz="1100" b="1" dirty="0">
                <a:solidFill>
                  <a:srgbClr val="E8584F"/>
                </a:solidFill>
              </a:endParaRPr>
            </a:p>
          </p:txBody>
        </p:sp>
        <p:sp>
          <p:nvSpPr>
            <p:cNvPr id="21" name="사각형: 둥근 모서리 20">
              <a:extLst>
                <a:ext uri="{FF2B5EF4-FFF2-40B4-BE49-F238E27FC236}">
                  <a16:creationId xmlns:a16="http://schemas.microsoft.com/office/drawing/2014/main" id="{E22FFDF2-E4C6-4A0A-808D-AD162E1B89C7}"/>
                </a:ext>
              </a:extLst>
            </p:cNvPr>
            <p:cNvSpPr/>
            <p:nvPr/>
          </p:nvSpPr>
          <p:spPr>
            <a:xfrm>
              <a:off x="296518" y="4796183"/>
              <a:ext cx="11341813" cy="508000"/>
            </a:xfrm>
            <a:prstGeom prst="roundRect">
              <a:avLst/>
            </a:prstGeom>
            <a:solidFill>
              <a:srgbClr val="EBF5F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22" name="TextBox 21">
              <a:extLst>
                <a:ext uri="{FF2B5EF4-FFF2-40B4-BE49-F238E27FC236}">
                  <a16:creationId xmlns:a16="http://schemas.microsoft.com/office/drawing/2014/main" id="{31801983-7CEE-40A2-8D51-4C50978BAF1C}"/>
                </a:ext>
              </a:extLst>
            </p:cNvPr>
            <p:cNvSpPr txBox="1"/>
            <p:nvPr/>
          </p:nvSpPr>
          <p:spPr>
            <a:xfrm>
              <a:off x="550518" y="4885083"/>
              <a:ext cx="10922000" cy="355600"/>
            </a:xfrm>
            <a:prstGeom prst="rect">
              <a:avLst/>
            </a:prstGeom>
            <a:noFill/>
          </p:spPr>
          <p:txBody>
            <a:bodyPr vertOverflow="overflow" vert="horz" wrap="square" rtlCol="0" anchor="t">
              <a:noAutofit/>
            </a:bodyPr>
            <a:lstStyle/>
            <a:p>
              <a:pPr algn="l"/>
              <a:r>
                <a:rPr lang="ko-KR" altLang="en-US" sz="1400" b="1">
                  <a:solidFill>
                    <a:srgbClr val="2676AC"/>
                  </a:solidFill>
                  <a:latin typeface="나눔고딕" panose="020D0604000000000000" pitchFamily="50" charset="-127"/>
                  <a:ea typeface="나눔고딕" panose="020D0604000000000000" pitchFamily="50" charset="-127"/>
                  <a:cs typeface="Arial" panose="020B0604020202020204" pitchFamily="34" charset="0"/>
                </a:rPr>
                <a:t>→  세 모델 모두 같은 학습/테스트 분할로 학습되어 공정한 직접 비교가 가능</a:t>
              </a:r>
            </a:p>
          </p:txBody>
        </p:sp>
      </p:grpSp>
    </p:spTree>
    <p:extLst>
      <p:ext uri="{BB962C8B-B14F-4D97-AF65-F5344CB8AC3E}">
        <p14:creationId xmlns:p14="http://schemas.microsoft.com/office/powerpoint/2010/main" val="36832394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직사각형 2">
            <a:extLst>
              <a:ext uri="{FF2B5EF4-FFF2-40B4-BE49-F238E27FC236}">
                <a16:creationId xmlns:a16="http://schemas.microsoft.com/office/drawing/2014/main" id="{2BE1E22D-06CF-4359-9924-19C9B34A5E61}"/>
              </a:ext>
            </a:extLst>
          </p:cNvPr>
          <p:cNvSpPr/>
          <p:nvPr/>
        </p:nvSpPr>
        <p:spPr>
          <a:xfrm>
            <a:off x="0" y="0"/>
            <a:ext cx="12192000" cy="889000"/>
          </a:xfrm>
          <a:prstGeom prst="rect">
            <a:avLst/>
          </a:prstGeom>
          <a:solidFill>
            <a:srgbClr val="1B2A4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타원 3">
            <a:extLst>
              <a:ext uri="{FF2B5EF4-FFF2-40B4-BE49-F238E27FC236}">
                <a16:creationId xmlns:a16="http://schemas.microsoft.com/office/drawing/2014/main" id="{DD25A201-B6C3-4649-8DB9-EF4302B01CD1}"/>
              </a:ext>
            </a:extLst>
          </p:cNvPr>
          <p:cNvSpPr/>
          <p:nvPr/>
        </p:nvSpPr>
        <p:spPr>
          <a:xfrm>
            <a:off x="381000" y="190500"/>
            <a:ext cx="508000" cy="508000"/>
          </a:xfrm>
          <a:prstGeom prst="ellipse">
            <a:avLst/>
          </a:prstGeom>
          <a:solidFill>
            <a:srgbClr val="16A295"/>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sz="1600" b="1">
                <a:solidFill>
                  <a:srgbClr val="FFFFFF"/>
                </a:solidFill>
              </a:rPr>
              <a:t>05</a:t>
            </a:r>
            <a:endParaRPr lang="ko-KR" altLang="en-US" sz="1600" b="1">
              <a:solidFill>
                <a:srgbClr val="FFFFFF"/>
              </a:solidFill>
            </a:endParaRPr>
          </a:p>
        </p:txBody>
      </p:sp>
      <p:sp>
        <p:nvSpPr>
          <p:cNvPr id="5" name="TextBox 4">
            <a:extLst>
              <a:ext uri="{FF2B5EF4-FFF2-40B4-BE49-F238E27FC236}">
                <a16:creationId xmlns:a16="http://schemas.microsoft.com/office/drawing/2014/main" id="{D0824D9D-2C94-4564-B459-7DF5AD17E2EF}"/>
              </a:ext>
            </a:extLst>
          </p:cNvPr>
          <p:cNvSpPr txBox="1"/>
          <p:nvPr/>
        </p:nvSpPr>
        <p:spPr>
          <a:xfrm>
            <a:off x="1079500" y="190500"/>
            <a:ext cx="5080000" cy="508000"/>
          </a:xfrm>
          <a:prstGeom prst="rect">
            <a:avLst/>
          </a:prstGeom>
          <a:noFill/>
        </p:spPr>
        <p:txBody>
          <a:bodyPr vertOverflow="overflow" vert="horz" wrap="square" rtlCol="0" anchor="t">
            <a:noAutofit/>
          </a:bodyPr>
          <a:lstStyle/>
          <a:p>
            <a:pPr algn="l">
              <a:lnSpc>
                <a:spcPct val="130000"/>
              </a:lnSpc>
            </a:pPr>
            <a:r>
              <a:rPr lang="ko-KR" altLang="en-US" sz="2200" b="1">
                <a:solidFill>
                  <a:srgbClr val="FFFFFF"/>
                </a:solidFill>
                <a:latin typeface="나눔고딕" panose="020D0604000000000000" pitchFamily="50" charset="-127"/>
                <a:ea typeface="나눔고딕" panose="020D0604000000000000" pitchFamily="50" charset="-127"/>
                <a:cs typeface="Arial" panose="020B0604020202020204" pitchFamily="34" charset="0"/>
              </a:rPr>
              <a:t>시스템 전체 파이프라인</a:t>
            </a:r>
          </a:p>
        </p:txBody>
      </p:sp>
      <p:grpSp>
        <p:nvGrpSpPr>
          <p:cNvPr id="30" name="그룹 29">
            <a:extLst>
              <a:ext uri="{FF2B5EF4-FFF2-40B4-BE49-F238E27FC236}">
                <a16:creationId xmlns:a16="http://schemas.microsoft.com/office/drawing/2014/main" id="{6EA34650-0C38-F7E2-4F58-538998269DDB}"/>
              </a:ext>
            </a:extLst>
          </p:cNvPr>
          <p:cNvGrpSpPr/>
          <p:nvPr/>
        </p:nvGrpSpPr>
        <p:grpSpPr>
          <a:xfrm>
            <a:off x="444500" y="2160657"/>
            <a:ext cx="11303000" cy="3022600"/>
            <a:chOff x="508000" y="1143000"/>
            <a:chExt cx="11303000" cy="3022600"/>
          </a:xfrm>
        </p:grpSpPr>
        <p:sp>
          <p:nvSpPr>
            <p:cNvPr id="6" name="사각형: 둥근 모서리 5">
              <a:extLst>
                <a:ext uri="{FF2B5EF4-FFF2-40B4-BE49-F238E27FC236}">
                  <a16:creationId xmlns:a16="http://schemas.microsoft.com/office/drawing/2014/main" id="{33121B5B-AC7E-4EB0-8007-DB0275201BA6}"/>
                </a:ext>
              </a:extLst>
            </p:cNvPr>
            <p:cNvSpPr/>
            <p:nvPr/>
          </p:nvSpPr>
          <p:spPr>
            <a:xfrm>
              <a:off x="508000" y="1143000"/>
              <a:ext cx="2286000" cy="698500"/>
            </a:xfrm>
            <a:prstGeom prst="roundRect">
              <a:avLst/>
            </a:prstGeom>
            <a:solidFill>
              <a:srgbClr val="267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1200" b="1">
                  <a:solidFill>
                    <a:srgbClr val="FFFFFF"/>
                  </a:solidFill>
                </a:rPr>
                <a:t>Sensor Data</a:t>
              </a:r>
              <a:endParaRPr lang="ko-KR" altLang="en-US" sz="1200" b="1">
                <a:solidFill>
                  <a:srgbClr val="FFFFFF"/>
                </a:solidFill>
              </a:endParaRPr>
            </a:p>
            <a:p>
              <a:r>
                <a:rPr sz="1200" b="1">
                  <a:solidFill>
                    <a:srgbClr val="FFFFFF"/>
                  </a:solidFill>
                </a:rPr>
                <a:t>(All timesteps)</a:t>
              </a:r>
            </a:p>
          </p:txBody>
        </p:sp>
        <p:sp>
          <p:nvSpPr>
            <p:cNvPr id="7" name="화살표: 오른쪽 6">
              <a:extLst>
                <a:ext uri="{FF2B5EF4-FFF2-40B4-BE49-F238E27FC236}">
                  <a16:creationId xmlns:a16="http://schemas.microsoft.com/office/drawing/2014/main" id="{D7F909FE-EA72-4430-84E5-711DDED494E4}"/>
                </a:ext>
              </a:extLst>
            </p:cNvPr>
            <p:cNvSpPr/>
            <p:nvPr/>
          </p:nvSpPr>
          <p:spPr>
            <a:xfrm>
              <a:off x="2895600" y="1333500"/>
              <a:ext cx="444500" cy="279400"/>
            </a:xfrm>
            <a:prstGeom prst="rightArrow">
              <a:avLst/>
            </a:prstGeom>
            <a:solidFill>
              <a:srgbClr val="267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8" name="사각형: 둥근 모서리 7">
              <a:extLst>
                <a:ext uri="{FF2B5EF4-FFF2-40B4-BE49-F238E27FC236}">
                  <a16:creationId xmlns:a16="http://schemas.microsoft.com/office/drawing/2014/main" id="{5C325942-ABD3-4032-9824-5E8B98A01446}"/>
                </a:ext>
              </a:extLst>
            </p:cNvPr>
            <p:cNvSpPr/>
            <p:nvPr/>
          </p:nvSpPr>
          <p:spPr>
            <a:xfrm>
              <a:off x="3429000" y="1143000"/>
              <a:ext cx="2286000" cy="698500"/>
            </a:xfrm>
            <a:prstGeom prst="roundRect">
              <a:avLst/>
            </a:prstGeom>
            <a:solidFill>
              <a:srgbClr val="EBF5FB"/>
            </a:solidFill>
            <a:ln w="25400" cap="flat" cmpd="sng" algn="ctr">
              <a:solidFill>
                <a:srgbClr val="2676AC"/>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1200" b="1">
                  <a:solidFill>
                    <a:srgbClr val="2676AC"/>
                  </a:solidFill>
                </a:rPr>
                <a:t>BiLSTM</a:t>
              </a:r>
              <a:endParaRPr lang="ko-KR" altLang="en-US" sz="1200" b="1">
                <a:solidFill>
                  <a:srgbClr val="2676AC"/>
                </a:solidFill>
              </a:endParaRPr>
            </a:p>
            <a:p>
              <a:r>
                <a:rPr sz="1200" b="1">
                  <a:solidFill>
                    <a:srgbClr val="2676AC"/>
                  </a:solidFill>
                </a:rPr>
                <a:t>(2-layer)</a:t>
              </a:r>
            </a:p>
          </p:txBody>
        </p:sp>
        <p:sp>
          <p:nvSpPr>
            <p:cNvPr id="9" name="화살표: 오른쪽 8">
              <a:extLst>
                <a:ext uri="{FF2B5EF4-FFF2-40B4-BE49-F238E27FC236}">
                  <a16:creationId xmlns:a16="http://schemas.microsoft.com/office/drawing/2014/main" id="{505D91E8-F199-4B9F-93A0-3A3C6FB4450D}"/>
                </a:ext>
              </a:extLst>
            </p:cNvPr>
            <p:cNvSpPr/>
            <p:nvPr/>
          </p:nvSpPr>
          <p:spPr>
            <a:xfrm>
              <a:off x="5816600" y="1333500"/>
              <a:ext cx="444500" cy="279400"/>
            </a:xfrm>
            <a:prstGeom prst="rightArrow">
              <a:avLst/>
            </a:prstGeom>
            <a:solidFill>
              <a:srgbClr val="267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0" name="사각형: 둥근 모서리 9">
              <a:extLst>
                <a:ext uri="{FF2B5EF4-FFF2-40B4-BE49-F238E27FC236}">
                  <a16:creationId xmlns:a16="http://schemas.microsoft.com/office/drawing/2014/main" id="{911A605E-621C-477D-BAAC-1865812E62F7}"/>
                </a:ext>
              </a:extLst>
            </p:cNvPr>
            <p:cNvSpPr/>
            <p:nvPr/>
          </p:nvSpPr>
          <p:spPr>
            <a:xfrm>
              <a:off x="6350000" y="1143000"/>
              <a:ext cx="1651000" cy="698500"/>
            </a:xfrm>
            <a:prstGeom prst="roundRect">
              <a:avLst/>
            </a:prstGeom>
            <a:solidFill>
              <a:srgbClr val="D6EA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1100">
                  <a:solidFill>
                    <a:srgbClr val="2676AC"/>
                  </a:solidFill>
                </a:rPr>
                <a:t>Sensor</a:t>
              </a:r>
              <a:endParaRPr lang="ko-KR" altLang="en-US" sz="1100">
                <a:solidFill>
                  <a:srgbClr val="2676AC"/>
                </a:solidFill>
              </a:endParaRPr>
            </a:p>
            <a:p>
              <a:r>
                <a:rPr sz="1100">
                  <a:solidFill>
                    <a:srgbClr val="2676AC"/>
                  </a:solidFill>
                </a:rPr>
                <a:t>Probability</a:t>
              </a:r>
            </a:p>
          </p:txBody>
        </p:sp>
        <p:sp>
          <p:nvSpPr>
            <p:cNvPr id="11" name="사각형: 둥근 모서리 10">
              <a:extLst>
                <a:ext uri="{FF2B5EF4-FFF2-40B4-BE49-F238E27FC236}">
                  <a16:creationId xmlns:a16="http://schemas.microsoft.com/office/drawing/2014/main" id="{0172FC1D-D90A-4E57-8018-A4D693A1840F}"/>
                </a:ext>
              </a:extLst>
            </p:cNvPr>
            <p:cNvSpPr/>
            <p:nvPr/>
          </p:nvSpPr>
          <p:spPr>
            <a:xfrm>
              <a:off x="508000" y="2159000"/>
              <a:ext cx="2286000" cy="698500"/>
            </a:xfrm>
            <a:prstGeom prst="roundRect">
              <a:avLst/>
            </a:prstGeom>
            <a:solidFill>
              <a:srgbClr val="16A295"/>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1200" b="1">
                  <a:solidFill>
                    <a:srgbClr val="FFFFFF"/>
                  </a:solidFill>
                </a:rPr>
                <a:t>Camera Images</a:t>
              </a:r>
              <a:endParaRPr lang="ko-KR" altLang="en-US" sz="1200" b="1">
                <a:solidFill>
                  <a:srgbClr val="FFFFFF"/>
                </a:solidFill>
              </a:endParaRPr>
            </a:p>
            <a:p>
              <a:r>
                <a:rPr sz="1200" b="1">
                  <a:solidFill>
                    <a:srgbClr val="FFFFFF"/>
                  </a:solidFill>
                </a:rPr>
                <a:t>(Cam1 + Cam2)</a:t>
              </a:r>
            </a:p>
          </p:txBody>
        </p:sp>
        <p:sp>
          <p:nvSpPr>
            <p:cNvPr id="12" name="화살표: 오른쪽 11">
              <a:extLst>
                <a:ext uri="{FF2B5EF4-FFF2-40B4-BE49-F238E27FC236}">
                  <a16:creationId xmlns:a16="http://schemas.microsoft.com/office/drawing/2014/main" id="{B4D160E4-B85C-4F6B-992E-79BD9580D8BF}"/>
                </a:ext>
              </a:extLst>
            </p:cNvPr>
            <p:cNvSpPr/>
            <p:nvPr/>
          </p:nvSpPr>
          <p:spPr>
            <a:xfrm>
              <a:off x="2895600" y="2349500"/>
              <a:ext cx="444500" cy="279400"/>
            </a:xfrm>
            <a:prstGeom prst="rightArrow">
              <a:avLst/>
            </a:prstGeom>
            <a:solidFill>
              <a:schemeClr val="accent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3" name="사각형: 둥근 모서리 12">
              <a:extLst>
                <a:ext uri="{FF2B5EF4-FFF2-40B4-BE49-F238E27FC236}">
                  <a16:creationId xmlns:a16="http://schemas.microsoft.com/office/drawing/2014/main" id="{56365EAE-1EC0-4680-B1C3-B8BAF769F0F0}"/>
                </a:ext>
              </a:extLst>
            </p:cNvPr>
            <p:cNvSpPr/>
            <p:nvPr/>
          </p:nvSpPr>
          <p:spPr>
            <a:xfrm>
              <a:off x="3429000" y="2159000"/>
              <a:ext cx="1143000" cy="698500"/>
            </a:xfrm>
            <a:prstGeom prst="roundRect">
              <a:avLst/>
            </a:prstGeom>
            <a:solidFill>
              <a:srgbClr val="E8F8F5"/>
            </a:solidFill>
            <a:ln w="25400" cap="flat" cmpd="sng" algn="ctr">
              <a:solidFill>
                <a:srgbClr val="16A295"/>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1200" b="1">
                  <a:solidFill>
                    <a:srgbClr val="16A295"/>
                  </a:solidFill>
                </a:rPr>
                <a:t>ResNet18</a:t>
              </a:r>
              <a:endParaRPr lang="ko-KR" altLang="en-US" sz="1200" b="1">
                <a:solidFill>
                  <a:srgbClr val="16A295"/>
                </a:solidFill>
              </a:endParaRPr>
            </a:p>
          </p:txBody>
        </p:sp>
        <p:sp>
          <p:nvSpPr>
            <p:cNvPr id="14" name="화살표: 오른쪽 13">
              <a:extLst>
                <a:ext uri="{FF2B5EF4-FFF2-40B4-BE49-F238E27FC236}">
                  <a16:creationId xmlns:a16="http://schemas.microsoft.com/office/drawing/2014/main" id="{F3B4D038-5F48-47D0-B924-6182A661C3D2}"/>
                </a:ext>
              </a:extLst>
            </p:cNvPr>
            <p:cNvSpPr/>
            <p:nvPr/>
          </p:nvSpPr>
          <p:spPr>
            <a:xfrm>
              <a:off x="4635500" y="2349500"/>
              <a:ext cx="317500" cy="279400"/>
            </a:xfrm>
            <a:prstGeom prst="rightArrow">
              <a:avLst/>
            </a:prstGeom>
            <a:solidFill>
              <a:schemeClr val="accent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5" name="사각형: 둥근 모서리 14">
              <a:extLst>
                <a:ext uri="{FF2B5EF4-FFF2-40B4-BE49-F238E27FC236}">
                  <a16:creationId xmlns:a16="http://schemas.microsoft.com/office/drawing/2014/main" id="{32C01469-2A96-4041-8DEA-70BA92E31C2F}"/>
                </a:ext>
              </a:extLst>
            </p:cNvPr>
            <p:cNvSpPr/>
            <p:nvPr/>
          </p:nvSpPr>
          <p:spPr>
            <a:xfrm>
              <a:off x="5016500" y="2159000"/>
              <a:ext cx="1143000" cy="698500"/>
            </a:xfrm>
            <a:prstGeom prst="roundRect">
              <a:avLst/>
            </a:prstGeom>
            <a:solidFill>
              <a:srgbClr val="E8F8F5"/>
            </a:solidFill>
            <a:ln w="25400" cap="flat" cmpd="sng" algn="ctr">
              <a:solidFill>
                <a:srgbClr val="16A295"/>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1200" b="1">
                  <a:solidFill>
                    <a:srgbClr val="16A295"/>
                  </a:solidFill>
                </a:rPr>
                <a:t>(shared)</a:t>
              </a:r>
              <a:endParaRPr lang="ko-KR" altLang="en-US" sz="1200" b="1">
                <a:solidFill>
                  <a:srgbClr val="16A295"/>
                </a:solidFill>
              </a:endParaRPr>
            </a:p>
          </p:txBody>
        </p:sp>
        <p:sp>
          <p:nvSpPr>
            <p:cNvPr id="16" name="화살표: 오른쪽 15">
              <a:extLst>
                <a:ext uri="{FF2B5EF4-FFF2-40B4-BE49-F238E27FC236}">
                  <a16:creationId xmlns:a16="http://schemas.microsoft.com/office/drawing/2014/main" id="{A52EA78F-89A1-4DCB-9025-CA3124B9C5C0}"/>
                </a:ext>
              </a:extLst>
            </p:cNvPr>
            <p:cNvSpPr/>
            <p:nvPr/>
          </p:nvSpPr>
          <p:spPr>
            <a:xfrm>
              <a:off x="6223000" y="2349500"/>
              <a:ext cx="317500" cy="279400"/>
            </a:xfrm>
            <a:prstGeom prst="rightArrow">
              <a:avLst/>
            </a:prstGeom>
            <a:solidFill>
              <a:schemeClr val="accent2"/>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7" name="사각형: 둥근 모서리 16">
              <a:extLst>
                <a:ext uri="{FF2B5EF4-FFF2-40B4-BE49-F238E27FC236}">
                  <a16:creationId xmlns:a16="http://schemas.microsoft.com/office/drawing/2014/main" id="{0D4E11F3-CAAA-4E58-AC71-A87E456D5970}"/>
                </a:ext>
              </a:extLst>
            </p:cNvPr>
            <p:cNvSpPr/>
            <p:nvPr/>
          </p:nvSpPr>
          <p:spPr>
            <a:xfrm>
              <a:off x="6604000" y="2159000"/>
              <a:ext cx="1397000" cy="698500"/>
            </a:xfrm>
            <a:prstGeom prst="roundRect">
              <a:avLst/>
            </a:prstGeom>
            <a:solidFill>
              <a:srgbClr val="D5F5E3"/>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1100">
                  <a:solidFill>
                    <a:srgbClr val="16A295"/>
                  </a:solidFill>
                </a:rPr>
                <a:t>Image</a:t>
              </a:r>
              <a:endParaRPr lang="ko-KR" altLang="en-US" sz="1100">
                <a:solidFill>
                  <a:srgbClr val="16A295"/>
                </a:solidFill>
              </a:endParaRPr>
            </a:p>
            <a:p>
              <a:r>
                <a:rPr sz="1100">
                  <a:solidFill>
                    <a:srgbClr val="16A295"/>
                  </a:solidFill>
                </a:rPr>
                <a:t>Probability</a:t>
              </a:r>
            </a:p>
          </p:txBody>
        </p:sp>
        <p:sp>
          <p:nvSpPr>
            <p:cNvPr id="18" name="사각형: 둥근 모서리 17">
              <a:extLst>
                <a:ext uri="{FF2B5EF4-FFF2-40B4-BE49-F238E27FC236}">
                  <a16:creationId xmlns:a16="http://schemas.microsoft.com/office/drawing/2014/main" id="{1A803B99-8160-4851-B53B-38D8ECFFDEF0}"/>
                </a:ext>
              </a:extLst>
            </p:cNvPr>
            <p:cNvSpPr/>
            <p:nvPr/>
          </p:nvSpPr>
          <p:spPr>
            <a:xfrm>
              <a:off x="8382000" y="1333500"/>
              <a:ext cx="1270000" cy="1270000"/>
            </a:xfrm>
            <a:prstGeom prst="roundRect">
              <a:avLst/>
            </a:prstGeom>
            <a:solidFill>
              <a:srgbClr val="F29E1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1200" b="1">
                  <a:solidFill>
                    <a:srgbClr val="FFFFFF"/>
                  </a:solidFill>
                </a:rPr>
                <a:t>Decision
Fusion
[fV ; hT]</a:t>
              </a:r>
              <a:endParaRPr lang="ko-KR" altLang="en-US" sz="1200" b="1">
                <a:solidFill>
                  <a:srgbClr val="FFFFFF"/>
                </a:solidFill>
              </a:endParaRPr>
            </a:p>
          </p:txBody>
        </p:sp>
        <p:sp>
          <p:nvSpPr>
            <p:cNvPr id="19" name="화살표: 오른쪽 18">
              <a:extLst>
                <a:ext uri="{FF2B5EF4-FFF2-40B4-BE49-F238E27FC236}">
                  <a16:creationId xmlns:a16="http://schemas.microsoft.com/office/drawing/2014/main" id="{30E731E0-7D1D-4D66-82D2-7CE3BF61D67E}"/>
                </a:ext>
              </a:extLst>
            </p:cNvPr>
            <p:cNvSpPr/>
            <p:nvPr/>
          </p:nvSpPr>
          <p:spPr>
            <a:xfrm>
              <a:off x="9753600" y="1778000"/>
              <a:ext cx="444500" cy="279400"/>
            </a:xfrm>
            <a:prstGeom prst="rightArrow">
              <a:avLst/>
            </a:prstGeom>
            <a:solidFill>
              <a:srgbClr val="CCCCC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20" name="사각형: 둥근 모서리 19">
              <a:extLst>
                <a:ext uri="{FF2B5EF4-FFF2-40B4-BE49-F238E27FC236}">
                  <a16:creationId xmlns:a16="http://schemas.microsoft.com/office/drawing/2014/main" id="{F6DAF1C8-FEA6-41A1-9071-9BE3E90DF4E6}"/>
                </a:ext>
              </a:extLst>
            </p:cNvPr>
            <p:cNvSpPr/>
            <p:nvPr/>
          </p:nvSpPr>
          <p:spPr>
            <a:xfrm>
              <a:off x="10287000" y="1206500"/>
              <a:ext cx="1524000" cy="698500"/>
            </a:xfrm>
            <a:prstGeom prst="roundRect">
              <a:avLst/>
            </a:prstGeom>
            <a:solidFill>
              <a:srgbClr val="93B64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1200" b="1">
                  <a:solidFill>
                    <a:srgbClr val="FFFFFF"/>
                  </a:solidFill>
                </a:rPr>
                <a:t>FC Layer
+ Classifier</a:t>
              </a:r>
              <a:endParaRPr lang="ko-KR" altLang="en-US" sz="1200" b="1">
                <a:solidFill>
                  <a:srgbClr val="FFFFFF"/>
                </a:solidFill>
              </a:endParaRPr>
            </a:p>
          </p:txBody>
        </p:sp>
        <p:sp>
          <p:nvSpPr>
            <p:cNvPr id="21" name="사각형: 둥근 모서리 20">
              <a:extLst>
                <a:ext uri="{FF2B5EF4-FFF2-40B4-BE49-F238E27FC236}">
                  <a16:creationId xmlns:a16="http://schemas.microsoft.com/office/drawing/2014/main" id="{CAC944CE-4FD8-4E22-97DB-B478F1517300}"/>
                </a:ext>
              </a:extLst>
            </p:cNvPr>
            <p:cNvSpPr/>
            <p:nvPr/>
          </p:nvSpPr>
          <p:spPr>
            <a:xfrm>
              <a:off x="10287000" y="2095500"/>
              <a:ext cx="1524000" cy="635000"/>
            </a:xfrm>
            <a:prstGeom prst="roundRect">
              <a:avLst/>
            </a:prstGeom>
            <a:solidFill>
              <a:srgbClr val="E8584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l"/>
              <a:r>
                <a:rPr lang="en-US" altLang="ko-KR" sz="1200" b="1">
                  <a:solidFill>
                    <a:srgbClr val="FFFFFF"/>
                  </a:solidFill>
                </a:rPr>
                <a:t>Anomaly
Prediction</a:t>
              </a:r>
              <a:endParaRPr lang="ko-KR" altLang="en-US" sz="1200" b="1">
                <a:solidFill>
                  <a:srgbClr val="FFFFFF"/>
                </a:solidFill>
              </a:endParaRPr>
            </a:p>
          </p:txBody>
        </p:sp>
        <p:sp>
          <p:nvSpPr>
            <p:cNvPr id="22" name="화살표: 오른쪽 21">
              <a:extLst>
                <a:ext uri="{FF2B5EF4-FFF2-40B4-BE49-F238E27FC236}">
                  <a16:creationId xmlns:a16="http://schemas.microsoft.com/office/drawing/2014/main" id="{643DCCE1-B3BE-4827-A6A7-12FF1B638CA9}"/>
                </a:ext>
              </a:extLst>
            </p:cNvPr>
            <p:cNvSpPr/>
            <p:nvPr/>
          </p:nvSpPr>
          <p:spPr>
            <a:xfrm>
              <a:off x="8064500" y="1371600"/>
              <a:ext cx="279400" cy="228600"/>
            </a:xfrm>
            <a:prstGeom prst="rightArrow">
              <a:avLst/>
            </a:prstGeom>
            <a:solidFill>
              <a:srgbClr val="267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23" name="화살표: 오른쪽 22">
              <a:extLst>
                <a:ext uri="{FF2B5EF4-FFF2-40B4-BE49-F238E27FC236}">
                  <a16:creationId xmlns:a16="http://schemas.microsoft.com/office/drawing/2014/main" id="{9DCE0817-C196-47F5-A78E-415878D487AF}"/>
                </a:ext>
              </a:extLst>
            </p:cNvPr>
            <p:cNvSpPr/>
            <p:nvPr/>
          </p:nvSpPr>
          <p:spPr>
            <a:xfrm>
              <a:off x="8064500" y="2349500"/>
              <a:ext cx="279400" cy="228600"/>
            </a:xfrm>
            <a:prstGeom prst="rightArrow">
              <a:avLst/>
            </a:prstGeom>
            <a:solidFill>
              <a:srgbClr val="16A295"/>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24" name="사각형: 둥근 모서리 23">
              <a:extLst>
                <a:ext uri="{FF2B5EF4-FFF2-40B4-BE49-F238E27FC236}">
                  <a16:creationId xmlns:a16="http://schemas.microsoft.com/office/drawing/2014/main" id="{12FE88E6-971A-4EAD-991D-C734DF8BE0F7}"/>
                </a:ext>
              </a:extLst>
            </p:cNvPr>
            <p:cNvSpPr/>
            <p:nvPr/>
          </p:nvSpPr>
          <p:spPr>
            <a:xfrm>
              <a:off x="508000" y="3175000"/>
              <a:ext cx="5588000" cy="990600"/>
            </a:xfrm>
            <a:prstGeom prst="roundRect">
              <a:avLst/>
            </a:prstGeom>
            <a:solidFill>
              <a:srgbClr val="F5F7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25" name="TextBox 24">
              <a:extLst>
                <a:ext uri="{FF2B5EF4-FFF2-40B4-BE49-F238E27FC236}">
                  <a16:creationId xmlns:a16="http://schemas.microsoft.com/office/drawing/2014/main" id="{E18F0ED5-23D1-456C-B55A-210A18A19C31}"/>
                </a:ext>
              </a:extLst>
            </p:cNvPr>
            <p:cNvSpPr txBox="1"/>
            <p:nvPr/>
          </p:nvSpPr>
          <p:spPr>
            <a:xfrm>
              <a:off x="698500" y="3276600"/>
              <a:ext cx="5207000" cy="279400"/>
            </a:xfrm>
            <a:prstGeom prst="rect">
              <a:avLst/>
            </a:prstGeom>
            <a:noFill/>
          </p:spPr>
          <p:txBody>
            <a:bodyPr vertOverflow="overflow" vert="horz" wrap="square" rtlCol="0" anchor="t">
              <a:noAutofit/>
            </a:bodyPr>
            <a:lstStyle/>
            <a:p>
              <a:pPr algn="l"/>
              <a:r>
                <a:rPr lang="en-US" altLang="ko-KR" sz="1300" b="1">
                  <a:solidFill>
                    <a:srgbClr val="2676AC"/>
                  </a:solidFill>
                  <a:latin typeface="나눔고딕" panose="020D0604000000000000" pitchFamily="50" charset="-127"/>
                  <a:ea typeface="나눔고딕" panose="020D0604000000000000" pitchFamily="50" charset="-127"/>
                  <a:cs typeface="Arial" panose="020B0604020202020204" pitchFamily="34" charset="0"/>
                </a:rPr>
                <a:t>이미지가 들어오는 시점</a:t>
              </a:r>
              <a:endParaRPr lang="ko-KR" altLang="en-US" sz="1300" b="1">
                <a:solidFill>
                  <a:srgbClr val="2676AC"/>
                </a:solidFill>
                <a:latin typeface="나눔고딕" panose="020D0604000000000000" pitchFamily="50" charset="-127"/>
                <a:ea typeface="나눔고딕" panose="020D0604000000000000" pitchFamily="50" charset="-127"/>
                <a:cs typeface="Arial" panose="020B0604020202020204" pitchFamily="34" charset="0"/>
              </a:endParaRPr>
            </a:p>
          </p:txBody>
        </p:sp>
        <p:sp>
          <p:nvSpPr>
            <p:cNvPr id="26" name="TextBox 25">
              <a:extLst>
                <a:ext uri="{FF2B5EF4-FFF2-40B4-BE49-F238E27FC236}">
                  <a16:creationId xmlns:a16="http://schemas.microsoft.com/office/drawing/2014/main" id="{49E1646C-A8D7-4E7F-99D1-8CD75AD0A484}"/>
                </a:ext>
              </a:extLst>
            </p:cNvPr>
            <p:cNvSpPr txBox="1"/>
            <p:nvPr/>
          </p:nvSpPr>
          <p:spPr>
            <a:xfrm>
              <a:off x="698500" y="3594100"/>
              <a:ext cx="5207000" cy="544830"/>
            </a:xfrm>
            <a:prstGeom prst="rect">
              <a:avLst/>
            </a:prstGeom>
            <a:noFill/>
          </p:spPr>
          <p:txBody>
            <a:bodyPr vertOverflow="overflow" vert="horz" wrap="square" rtlCol="0" anchor="t">
              <a:noAutofit/>
            </a:bodyPr>
            <a:lstStyle/>
            <a:p>
              <a:pPr algn="l"/>
              <a:r>
                <a:rPr lang="ko-KR" altLang="en-US" sz="1200">
                  <a:solidFill>
                    <a:srgbClr val="555555"/>
                  </a:solidFill>
                  <a:latin typeface="나눔고딕" panose="020D0604000000000000" pitchFamily="50" charset="-127"/>
                  <a:ea typeface="나눔고딕" panose="020D0604000000000000" pitchFamily="50" charset="-127"/>
                  <a:cs typeface="Arial" panose="020B0604020202020204" pitchFamily="34" charset="0"/>
                </a:rPr>
                <a:t>두 모델의 예측 확률을 가중 평균하여 최종 분류</a:t>
              </a:r>
            </a:p>
            <a:p>
              <a:r>
                <a:rPr sz="1200">
                  <a:solidFill>
                    <a:srgbClr val="555555"/>
                  </a:solidFill>
                </a:rPr>
                <a:t>→ Decision-level Fusion</a:t>
              </a:r>
            </a:p>
          </p:txBody>
        </p:sp>
        <p:sp>
          <p:nvSpPr>
            <p:cNvPr id="27" name="사각형: 둥근 모서리 26">
              <a:extLst>
                <a:ext uri="{FF2B5EF4-FFF2-40B4-BE49-F238E27FC236}">
                  <a16:creationId xmlns:a16="http://schemas.microsoft.com/office/drawing/2014/main" id="{CE3F9BFF-3C3C-4EFD-B579-64D26021D1AF}"/>
                </a:ext>
              </a:extLst>
            </p:cNvPr>
            <p:cNvSpPr/>
            <p:nvPr/>
          </p:nvSpPr>
          <p:spPr>
            <a:xfrm>
              <a:off x="6350000" y="3175000"/>
              <a:ext cx="5461000" cy="990600"/>
            </a:xfrm>
            <a:prstGeom prst="roundRect">
              <a:avLst/>
            </a:prstGeom>
            <a:solidFill>
              <a:srgbClr val="F5F7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28" name="TextBox 27">
              <a:extLst>
                <a:ext uri="{FF2B5EF4-FFF2-40B4-BE49-F238E27FC236}">
                  <a16:creationId xmlns:a16="http://schemas.microsoft.com/office/drawing/2014/main" id="{E3F29EAC-BBB8-47FE-9F29-225371A168BE}"/>
                </a:ext>
              </a:extLst>
            </p:cNvPr>
            <p:cNvSpPr txBox="1"/>
            <p:nvPr/>
          </p:nvSpPr>
          <p:spPr>
            <a:xfrm>
              <a:off x="6540500" y="3276600"/>
              <a:ext cx="5080000" cy="279400"/>
            </a:xfrm>
            <a:prstGeom prst="rect">
              <a:avLst/>
            </a:prstGeom>
            <a:noFill/>
          </p:spPr>
          <p:txBody>
            <a:bodyPr vertOverflow="overflow" vert="horz" wrap="square" rtlCol="0" anchor="t">
              <a:noAutofit/>
            </a:bodyPr>
            <a:lstStyle/>
            <a:p>
              <a:pPr algn="l"/>
              <a:r>
                <a:rPr lang="ko-KR" altLang="en-US" sz="1300" b="1">
                  <a:solidFill>
                    <a:srgbClr val="16A295"/>
                  </a:solidFill>
                  <a:latin typeface="나눔고딕" panose="020D0604000000000000" pitchFamily="50" charset="-127"/>
                  <a:ea typeface="나눔고딕" panose="020D0604000000000000" pitchFamily="50" charset="-127"/>
                  <a:cs typeface="Arial" panose="020B0604020202020204" pitchFamily="34" charset="0"/>
                </a:rPr>
                <a:t>이미지가 없는 시점</a:t>
              </a:r>
            </a:p>
          </p:txBody>
        </p:sp>
        <p:sp>
          <p:nvSpPr>
            <p:cNvPr id="29" name="TextBox 28">
              <a:extLst>
                <a:ext uri="{FF2B5EF4-FFF2-40B4-BE49-F238E27FC236}">
                  <a16:creationId xmlns:a16="http://schemas.microsoft.com/office/drawing/2014/main" id="{1DAAD64D-E611-4E4E-9F5B-4F5CBD923DF1}"/>
                </a:ext>
              </a:extLst>
            </p:cNvPr>
            <p:cNvSpPr txBox="1"/>
            <p:nvPr/>
          </p:nvSpPr>
          <p:spPr>
            <a:xfrm>
              <a:off x="6540500" y="3594100"/>
              <a:ext cx="5080000" cy="544830"/>
            </a:xfrm>
            <a:prstGeom prst="rect">
              <a:avLst/>
            </a:prstGeom>
            <a:noFill/>
          </p:spPr>
          <p:txBody>
            <a:bodyPr vertOverflow="overflow" vert="horz" wrap="square" rtlCol="0" anchor="t">
              <a:noAutofit/>
            </a:bodyPr>
            <a:lstStyle/>
            <a:p>
              <a:pPr algn="l"/>
              <a:r>
                <a:rPr lang="ko-KR" altLang="en-US" sz="1200">
                  <a:solidFill>
                    <a:srgbClr val="555555"/>
                  </a:solidFill>
                  <a:latin typeface="나눔고딕" panose="020D0604000000000000" pitchFamily="50" charset="-127"/>
                  <a:ea typeface="나눔고딕" panose="020D0604000000000000" pitchFamily="50" charset="-127"/>
                  <a:cs typeface="Arial" panose="020B0604020202020204" pitchFamily="34" charset="0"/>
                </a:rPr>
                <a:t>자동으로 센서 확률만 사용</a:t>
              </a:r>
            </a:p>
            <a:p>
              <a:r>
                <a:rPr sz="1200">
                  <a:solidFill>
                    <a:srgbClr val="555555"/>
                  </a:solidFill>
                </a:rPr>
                <a:t>→ 결측에 안정적으로 작동</a:t>
              </a:r>
            </a:p>
          </p:txBody>
        </p:sp>
      </p:grpSp>
    </p:spTree>
    <p:extLst>
      <p:ext uri="{BB962C8B-B14F-4D97-AF65-F5344CB8AC3E}">
        <p14:creationId xmlns:p14="http://schemas.microsoft.com/office/powerpoint/2010/main" val="7978692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직사각형 2">
            <a:extLst>
              <a:ext uri="{FF2B5EF4-FFF2-40B4-BE49-F238E27FC236}">
                <a16:creationId xmlns:a16="http://schemas.microsoft.com/office/drawing/2014/main" id="{B0C173FE-BDB9-44F4-9507-2BDC13B0A1C6}"/>
              </a:ext>
            </a:extLst>
          </p:cNvPr>
          <p:cNvSpPr/>
          <p:nvPr/>
        </p:nvSpPr>
        <p:spPr>
          <a:xfrm>
            <a:off x="0" y="0"/>
            <a:ext cx="12192000" cy="889000"/>
          </a:xfrm>
          <a:prstGeom prst="rect">
            <a:avLst/>
          </a:prstGeom>
          <a:solidFill>
            <a:srgbClr val="1B2A4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타원 3">
            <a:extLst>
              <a:ext uri="{FF2B5EF4-FFF2-40B4-BE49-F238E27FC236}">
                <a16:creationId xmlns:a16="http://schemas.microsoft.com/office/drawing/2014/main" id="{48E27B50-23DB-4868-9BF9-20C20352E441}"/>
              </a:ext>
            </a:extLst>
          </p:cNvPr>
          <p:cNvSpPr/>
          <p:nvPr/>
        </p:nvSpPr>
        <p:spPr>
          <a:xfrm>
            <a:off x="381000" y="190500"/>
            <a:ext cx="508000" cy="508000"/>
          </a:xfrm>
          <a:prstGeom prst="ellipse">
            <a:avLst/>
          </a:prstGeom>
          <a:solidFill>
            <a:srgbClr val="16A295"/>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ctr"/>
            <a:r>
              <a:rPr lang="en-US" altLang="ko-KR" sz="1600" b="1">
                <a:solidFill>
                  <a:srgbClr val="FFFFFF"/>
                </a:solidFill>
              </a:rPr>
              <a:t>06</a:t>
            </a:r>
            <a:endParaRPr lang="ko-KR" altLang="en-US" sz="1600" b="1">
              <a:solidFill>
                <a:srgbClr val="FFFFFF"/>
              </a:solidFill>
            </a:endParaRPr>
          </a:p>
        </p:txBody>
      </p:sp>
      <p:sp>
        <p:nvSpPr>
          <p:cNvPr id="5" name="TextBox 4">
            <a:extLst>
              <a:ext uri="{FF2B5EF4-FFF2-40B4-BE49-F238E27FC236}">
                <a16:creationId xmlns:a16="http://schemas.microsoft.com/office/drawing/2014/main" id="{C43E53DA-9CC3-4755-ADC0-C9AC56C8FBBD}"/>
              </a:ext>
            </a:extLst>
          </p:cNvPr>
          <p:cNvSpPr txBox="1"/>
          <p:nvPr/>
        </p:nvSpPr>
        <p:spPr>
          <a:xfrm>
            <a:off x="1079500" y="190500"/>
            <a:ext cx="5080000" cy="508000"/>
          </a:xfrm>
          <a:prstGeom prst="rect">
            <a:avLst/>
          </a:prstGeom>
          <a:noFill/>
        </p:spPr>
        <p:txBody>
          <a:bodyPr vertOverflow="overflow" vert="horz" wrap="square" rtlCol="0" anchor="t">
            <a:noAutofit/>
          </a:bodyPr>
          <a:lstStyle/>
          <a:p>
            <a:pPr algn="l">
              <a:lnSpc>
                <a:spcPct val="130000"/>
              </a:lnSpc>
            </a:pPr>
            <a:r>
              <a:rPr lang="ko-KR" altLang="en-US" sz="2200" b="1">
                <a:solidFill>
                  <a:srgbClr val="FFFFFF"/>
                </a:solidFill>
                <a:latin typeface="나눔고딕" panose="020D0604000000000000" pitchFamily="50" charset="-127"/>
                <a:ea typeface="나눔고딕" panose="020D0604000000000000" pitchFamily="50" charset="-127"/>
                <a:cs typeface="Arial" panose="020B0604020202020204" pitchFamily="34" charset="0"/>
              </a:rPr>
              <a:t>중간발표 → 최종: 가설과 검증</a:t>
            </a:r>
          </a:p>
        </p:txBody>
      </p:sp>
      <p:sp>
        <p:nvSpPr>
          <p:cNvPr id="6" name="사각형: 둥근 모서리 5">
            <a:extLst>
              <a:ext uri="{FF2B5EF4-FFF2-40B4-BE49-F238E27FC236}">
                <a16:creationId xmlns:a16="http://schemas.microsoft.com/office/drawing/2014/main" id="{9A273F3F-2AEF-447C-BC82-BB76D864C141}"/>
              </a:ext>
            </a:extLst>
          </p:cNvPr>
          <p:cNvSpPr/>
          <p:nvPr/>
        </p:nvSpPr>
        <p:spPr>
          <a:xfrm>
            <a:off x="508000" y="1795407"/>
            <a:ext cx="3429000" cy="2286000"/>
          </a:xfrm>
          <a:prstGeom prst="roundRect">
            <a:avLst/>
          </a:prstGeom>
          <a:solidFill>
            <a:srgbClr val="F0F4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7" name="타원 6">
            <a:extLst>
              <a:ext uri="{FF2B5EF4-FFF2-40B4-BE49-F238E27FC236}">
                <a16:creationId xmlns:a16="http://schemas.microsoft.com/office/drawing/2014/main" id="{C73788D4-5A1F-400E-890E-B6BFD40CDCE1}"/>
              </a:ext>
            </a:extLst>
          </p:cNvPr>
          <p:cNvSpPr/>
          <p:nvPr/>
        </p:nvSpPr>
        <p:spPr>
          <a:xfrm>
            <a:off x="698500" y="1960507"/>
            <a:ext cx="558800" cy="558800"/>
          </a:xfrm>
          <a:prstGeom prst="ellipse">
            <a:avLst/>
          </a:prstGeom>
          <a:solidFill>
            <a:srgbClr val="E8584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ctr"/>
            <a:r>
              <a:rPr lang="en-US" altLang="ko-KR" b="1">
                <a:solidFill>
                  <a:srgbClr val="FFFFFF"/>
                </a:solidFill>
              </a:rPr>
              <a:t>1</a:t>
            </a:r>
            <a:endParaRPr lang="ko-KR" altLang="en-US" b="1">
              <a:solidFill>
                <a:srgbClr val="FFFFFF"/>
              </a:solidFill>
            </a:endParaRPr>
          </a:p>
        </p:txBody>
      </p:sp>
      <p:sp>
        <p:nvSpPr>
          <p:cNvPr id="8" name="TextBox 7">
            <a:extLst>
              <a:ext uri="{FF2B5EF4-FFF2-40B4-BE49-F238E27FC236}">
                <a16:creationId xmlns:a16="http://schemas.microsoft.com/office/drawing/2014/main" id="{15996D88-2BF2-4E0A-A04D-9CEDE1D6FCF3}"/>
              </a:ext>
            </a:extLst>
          </p:cNvPr>
          <p:cNvSpPr txBox="1"/>
          <p:nvPr/>
        </p:nvSpPr>
        <p:spPr>
          <a:xfrm>
            <a:off x="698500" y="2766485"/>
            <a:ext cx="3048000" cy="381000"/>
          </a:xfrm>
          <a:prstGeom prst="rect">
            <a:avLst/>
          </a:prstGeom>
          <a:noFill/>
        </p:spPr>
        <p:txBody>
          <a:bodyPr vertOverflow="overflow" vert="horz" wrap="square" rtlCol="0" anchor="t">
            <a:noAutofit/>
          </a:bodyPr>
          <a:lstStyle/>
          <a:p>
            <a:pPr algn="l"/>
            <a:r>
              <a:rPr lang="ko-KR" altLang="en-US" sz="1400" b="1" dirty="0">
                <a:solidFill>
                  <a:srgbClr val="1B2A4A"/>
                </a:solidFill>
                <a:latin typeface="나눔고딕" panose="020D0604000000000000" pitchFamily="50" charset="-127"/>
                <a:ea typeface="나눔고딕" panose="020D0604000000000000" pitchFamily="50" charset="-127"/>
                <a:cs typeface="Arial" panose="020B0604020202020204" pitchFamily="34" charset="0"/>
              </a:rPr>
              <a:t>중간발표: 융합이 졌음</a:t>
            </a:r>
          </a:p>
        </p:txBody>
      </p:sp>
      <p:sp>
        <p:nvSpPr>
          <p:cNvPr id="9" name="TextBox 8">
            <a:extLst>
              <a:ext uri="{FF2B5EF4-FFF2-40B4-BE49-F238E27FC236}">
                <a16:creationId xmlns:a16="http://schemas.microsoft.com/office/drawing/2014/main" id="{0BFC10EF-A748-466A-8A6C-C1187D2021BF}"/>
              </a:ext>
            </a:extLst>
          </p:cNvPr>
          <p:cNvSpPr txBox="1"/>
          <p:nvPr/>
        </p:nvSpPr>
        <p:spPr>
          <a:xfrm>
            <a:off x="698500" y="3276227"/>
            <a:ext cx="3048000" cy="635000"/>
          </a:xfrm>
          <a:prstGeom prst="rect">
            <a:avLst/>
          </a:prstGeom>
          <a:noFill/>
        </p:spPr>
        <p:txBody>
          <a:bodyPr vertOverflow="overflow" vert="horz" wrap="square" rtlCol="0" anchor="t">
            <a:noAutofit/>
          </a:bodyPr>
          <a:lstStyle/>
          <a:p>
            <a:pPr algn="l"/>
            <a:r>
              <a:rPr lang="ko-KR" altLang="en-US" sz="1100">
                <a:solidFill>
                  <a:srgbClr val="555555"/>
                </a:solidFill>
                <a:latin typeface="나눔고딕" panose="020D0604000000000000" pitchFamily="50" charset="-127"/>
                <a:ea typeface="나눔고딕" panose="020D0604000000000000" pitchFamily="50" charset="-127"/>
                <a:cs typeface="Arial" panose="020B0604020202020204" pitchFamily="34" charset="0"/>
              </a:rPr>
              <a:t>전체 구간에서 Fusion F1 0.88 &lt; 센서 0.93</a:t>
            </a:r>
          </a:p>
          <a:p>
            <a:r>
              <a:rPr sz="1100">
                <a:solidFill>
                  <a:srgbClr val="555555"/>
                </a:solidFill>
              </a:rPr>
              <a:t>→ 멀티모달이 단독보다 낮게 나옴</a:t>
            </a:r>
          </a:p>
        </p:txBody>
      </p:sp>
      <p:sp>
        <p:nvSpPr>
          <p:cNvPr id="10" name="사각형: 둥근 모서리 9">
            <a:extLst>
              <a:ext uri="{FF2B5EF4-FFF2-40B4-BE49-F238E27FC236}">
                <a16:creationId xmlns:a16="http://schemas.microsoft.com/office/drawing/2014/main" id="{DA909A98-DF5F-43AB-A3AD-DAFD96B69844}"/>
              </a:ext>
            </a:extLst>
          </p:cNvPr>
          <p:cNvSpPr/>
          <p:nvPr/>
        </p:nvSpPr>
        <p:spPr>
          <a:xfrm>
            <a:off x="4381500" y="1795407"/>
            <a:ext cx="3429000" cy="2286000"/>
          </a:xfrm>
          <a:prstGeom prst="roundRect">
            <a:avLst/>
          </a:prstGeom>
          <a:solidFill>
            <a:srgbClr val="F0F4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1" name="타원 10">
            <a:extLst>
              <a:ext uri="{FF2B5EF4-FFF2-40B4-BE49-F238E27FC236}">
                <a16:creationId xmlns:a16="http://schemas.microsoft.com/office/drawing/2014/main" id="{AD77D43F-E4C2-47A6-A3F4-17EB0C92814C}"/>
              </a:ext>
            </a:extLst>
          </p:cNvPr>
          <p:cNvSpPr/>
          <p:nvPr/>
        </p:nvSpPr>
        <p:spPr>
          <a:xfrm>
            <a:off x="4572000" y="1960507"/>
            <a:ext cx="558800" cy="558800"/>
          </a:xfrm>
          <a:prstGeom prst="ellipse">
            <a:avLst/>
          </a:prstGeom>
          <a:solidFill>
            <a:srgbClr val="267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ctr"/>
            <a:r>
              <a:rPr lang="en-US" altLang="ko-KR" b="1">
                <a:solidFill>
                  <a:srgbClr val="FFFFFF"/>
                </a:solidFill>
              </a:rPr>
              <a:t>2</a:t>
            </a:r>
            <a:endParaRPr lang="ko-KR" altLang="en-US" b="1">
              <a:solidFill>
                <a:srgbClr val="FFFFFF"/>
              </a:solidFill>
            </a:endParaRPr>
          </a:p>
        </p:txBody>
      </p:sp>
      <p:sp>
        <p:nvSpPr>
          <p:cNvPr id="12" name="TextBox 11">
            <a:extLst>
              <a:ext uri="{FF2B5EF4-FFF2-40B4-BE49-F238E27FC236}">
                <a16:creationId xmlns:a16="http://schemas.microsoft.com/office/drawing/2014/main" id="{8539E669-4223-4495-B9BD-16B39089B15E}"/>
              </a:ext>
            </a:extLst>
          </p:cNvPr>
          <p:cNvSpPr txBox="1"/>
          <p:nvPr/>
        </p:nvSpPr>
        <p:spPr>
          <a:xfrm>
            <a:off x="4572000" y="2766485"/>
            <a:ext cx="3048000" cy="381000"/>
          </a:xfrm>
          <a:prstGeom prst="rect">
            <a:avLst/>
          </a:prstGeom>
          <a:noFill/>
        </p:spPr>
        <p:txBody>
          <a:bodyPr vertOverflow="overflow" vert="horz" wrap="square" rtlCol="0" anchor="t">
            <a:noAutofit/>
          </a:bodyPr>
          <a:lstStyle/>
          <a:p>
            <a:pPr algn="l"/>
            <a:r>
              <a:rPr lang="ko-KR" altLang="en-US" sz="1400" b="1">
                <a:solidFill>
                  <a:srgbClr val="1B2A4A"/>
                </a:solidFill>
                <a:latin typeface="나눔고딕" panose="020D0604000000000000" pitchFamily="50" charset="-127"/>
                <a:ea typeface="나눔고딕" panose="020D0604000000000000" pitchFamily="50" charset="-127"/>
                <a:cs typeface="Arial" panose="020B0604020202020204" pitchFamily="34" charset="0"/>
              </a:rPr>
              <a:t>원인 가설: 데이터 균형</a:t>
            </a:r>
          </a:p>
        </p:txBody>
      </p:sp>
      <p:sp>
        <p:nvSpPr>
          <p:cNvPr id="13" name="TextBox 12">
            <a:extLst>
              <a:ext uri="{FF2B5EF4-FFF2-40B4-BE49-F238E27FC236}">
                <a16:creationId xmlns:a16="http://schemas.microsoft.com/office/drawing/2014/main" id="{3E72EADB-F944-40B1-8E9C-01DB9245986F}"/>
              </a:ext>
            </a:extLst>
          </p:cNvPr>
          <p:cNvSpPr txBox="1"/>
          <p:nvPr/>
        </p:nvSpPr>
        <p:spPr>
          <a:xfrm>
            <a:off x="4464878" y="3276227"/>
            <a:ext cx="3389243" cy="635000"/>
          </a:xfrm>
          <a:prstGeom prst="rect">
            <a:avLst/>
          </a:prstGeom>
          <a:noFill/>
        </p:spPr>
        <p:txBody>
          <a:bodyPr vertOverflow="overflow" vert="horz" wrap="square" rtlCol="0" anchor="t">
            <a:noAutofit/>
          </a:bodyPr>
          <a:lstStyle/>
          <a:p>
            <a:pPr algn="l"/>
            <a:r>
              <a:rPr lang="ko-KR" altLang="en-US" sz="1100" dirty="0">
                <a:solidFill>
                  <a:srgbClr val="555555"/>
                </a:solidFill>
                <a:latin typeface="나눔고딕" panose="020D0604000000000000" pitchFamily="50" charset="-127"/>
                <a:ea typeface="나눔고딕" panose="020D0604000000000000" pitchFamily="50" charset="-127"/>
                <a:cs typeface="Arial" panose="020B0604020202020204" pitchFamily="34" charset="0"/>
              </a:rPr>
              <a:t>이미지 9.5천 시점 </a:t>
            </a:r>
            <a:r>
              <a:rPr lang="ko-KR" altLang="en-US" sz="1100" dirty="0" err="1">
                <a:solidFill>
                  <a:srgbClr val="555555"/>
                </a:solidFill>
                <a:latin typeface="나눔고딕" panose="020D0604000000000000" pitchFamily="50" charset="-127"/>
                <a:ea typeface="나눔고딕" panose="020D0604000000000000" pitchFamily="50" charset="-127"/>
                <a:cs typeface="Arial" panose="020B0604020202020204" pitchFamily="34" charset="0"/>
              </a:rPr>
              <a:t>vs</a:t>
            </a:r>
            <a:r>
              <a:rPr lang="ko-KR" altLang="en-US" sz="1100" dirty="0">
                <a:solidFill>
                  <a:srgbClr val="555555"/>
                </a:solidFill>
                <a:latin typeface="나눔고딕" panose="020D0604000000000000" pitchFamily="50" charset="-127"/>
                <a:ea typeface="나눔고딕" panose="020D0604000000000000" pitchFamily="50" charset="-127"/>
                <a:cs typeface="Arial" panose="020B0604020202020204" pitchFamily="34" charset="0"/>
              </a:rPr>
              <a:t> 센서 12만 시퀀스</a:t>
            </a:r>
          </a:p>
          <a:p>
            <a:r>
              <a:rPr sz="1100" dirty="0">
                <a:solidFill>
                  <a:srgbClr val="555555"/>
                </a:solidFill>
              </a:rPr>
              <a:t>→ </a:t>
            </a:r>
            <a:r>
              <a:rPr sz="1100" dirty="0" err="1">
                <a:solidFill>
                  <a:srgbClr val="555555"/>
                </a:solidFill>
              </a:rPr>
              <a:t>불균형으로</a:t>
            </a:r>
            <a:r>
              <a:rPr sz="1100" dirty="0">
                <a:solidFill>
                  <a:srgbClr val="555555"/>
                </a:solidFill>
              </a:rPr>
              <a:t> </a:t>
            </a:r>
            <a:r>
              <a:rPr sz="1100" dirty="0" err="1">
                <a:solidFill>
                  <a:srgbClr val="555555"/>
                </a:solidFill>
              </a:rPr>
              <a:t>이미지가</a:t>
            </a:r>
            <a:r>
              <a:rPr sz="1100" dirty="0">
                <a:solidFill>
                  <a:srgbClr val="555555"/>
                </a:solidFill>
              </a:rPr>
              <a:t> </a:t>
            </a:r>
            <a:r>
              <a:rPr sz="1100" dirty="0" err="1">
                <a:solidFill>
                  <a:srgbClr val="555555"/>
                </a:solidFill>
              </a:rPr>
              <a:t>노이즈로</a:t>
            </a:r>
            <a:r>
              <a:rPr sz="1100" dirty="0">
                <a:solidFill>
                  <a:srgbClr val="555555"/>
                </a:solidFill>
              </a:rPr>
              <a:t> </a:t>
            </a:r>
            <a:r>
              <a:rPr sz="1100" dirty="0" err="1">
                <a:solidFill>
                  <a:srgbClr val="555555"/>
                </a:solidFill>
              </a:rPr>
              <a:t>작용한다고</a:t>
            </a:r>
            <a:r>
              <a:rPr sz="1100" dirty="0">
                <a:solidFill>
                  <a:srgbClr val="555555"/>
                </a:solidFill>
              </a:rPr>
              <a:t> </a:t>
            </a:r>
            <a:r>
              <a:rPr sz="1100" dirty="0" err="1">
                <a:solidFill>
                  <a:srgbClr val="555555"/>
                </a:solidFill>
              </a:rPr>
              <a:t>진단</a:t>
            </a:r>
            <a:endParaRPr sz="1100" dirty="0">
              <a:solidFill>
                <a:srgbClr val="555555"/>
              </a:solidFill>
            </a:endParaRPr>
          </a:p>
        </p:txBody>
      </p:sp>
      <p:sp>
        <p:nvSpPr>
          <p:cNvPr id="14" name="사각형: 둥근 모서리 13">
            <a:extLst>
              <a:ext uri="{FF2B5EF4-FFF2-40B4-BE49-F238E27FC236}">
                <a16:creationId xmlns:a16="http://schemas.microsoft.com/office/drawing/2014/main" id="{959A7773-03D9-44AC-BF27-C60E7BED8DBC}"/>
              </a:ext>
            </a:extLst>
          </p:cNvPr>
          <p:cNvSpPr/>
          <p:nvPr/>
        </p:nvSpPr>
        <p:spPr>
          <a:xfrm>
            <a:off x="8255000" y="1795407"/>
            <a:ext cx="3429000" cy="2286000"/>
          </a:xfrm>
          <a:prstGeom prst="roundRect">
            <a:avLst/>
          </a:prstGeom>
          <a:solidFill>
            <a:srgbClr val="F0F4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5" name="타원 14">
            <a:extLst>
              <a:ext uri="{FF2B5EF4-FFF2-40B4-BE49-F238E27FC236}">
                <a16:creationId xmlns:a16="http://schemas.microsoft.com/office/drawing/2014/main" id="{A8C3D7CA-D422-4BD2-B749-77AAD111C442}"/>
              </a:ext>
            </a:extLst>
          </p:cNvPr>
          <p:cNvSpPr/>
          <p:nvPr/>
        </p:nvSpPr>
        <p:spPr>
          <a:xfrm>
            <a:off x="8445500" y="1960507"/>
            <a:ext cx="558800" cy="558800"/>
          </a:xfrm>
          <a:prstGeom prst="ellipse">
            <a:avLst/>
          </a:prstGeom>
          <a:solidFill>
            <a:srgbClr val="F29E1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ctr"/>
            <a:r>
              <a:rPr lang="en-US" altLang="ko-KR" b="1">
                <a:solidFill>
                  <a:srgbClr val="FFFFFF"/>
                </a:solidFill>
              </a:rPr>
              <a:t>3</a:t>
            </a:r>
            <a:endParaRPr lang="ko-KR" altLang="en-US" b="1">
              <a:solidFill>
                <a:srgbClr val="FFFFFF"/>
              </a:solidFill>
            </a:endParaRPr>
          </a:p>
        </p:txBody>
      </p:sp>
      <p:sp>
        <p:nvSpPr>
          <p:cNvPr id="16" name="TextBox 15">
            <a:extLst>
              <a:ext uri="{FF2B5EF4-FFF2-40B4-BE49-F238E27FC236}">
                <a16:creationId xmlns:a16="http://schemas.microsoft.com/office/drawing/2014/main" id="{2E5936FC-FE61-42EE-B66E-AD61043C53DE}"/>
              </a:ext>
            </a:extLst>
          </p:cNvPr>
          <p:cNvSpPr txBox="1"/>
          <p:nvPr/>
        </p:nvSpPr>
        <p:spPr>
          <a:xfrm>
            <a:off x="8445500" y="2766485"/>
            <a:ext cx="3048000" cy="381000"/>
          </a:xfrm>
          <a:prstGeom prst="rect">
            <a:avLst/>
          </a:prstGeom>
          <a:noFill/>
        </p:spPr>
        <p:txBody>
          <a:bodyPr vertOverflow="overflow" vert="horz" wrap="square" rtlCol="0" anchor="t">
            <a:noAutofit/>
          </a:bodyPr>
          <a:lstStyle/>
          <a:p>
            <a:pPr algn="l"/>
            <a:r>
              <a:rPr lang="ko-KR" altLang="en-US" sz="1400" b="1">
                <a:solidFill>
                  <a:srgbClr val="1B2A4A"/>
                </a:solidFill>
                <a:latin typeface="나눔고딕" panose="020D0604000000000000" pitchFamily="50" charset="-127"/>
                <a:ea typeface="나눔고딕" panose="020D0604000000000000" pitchFamily="50" charset="-127"/>
                <a:cs typeface="Arial" panose="020B0604020202020204" pitchFamily="34" charset="0"/>
              </a:rPr>
              <a:t>최종: 가설 검증됨</a:t>
            </a:r>
          </a:p>
        </p:txBody>
      </p:sp>
      <p:sp>
        <p:nvSpPr>
          <p:cNvPr id="17" name="TextBox 16">
            <a:extLst>
              <a:ext uri="{FF2B5EF4-FFF2-40B4-BE49-F238E27FC236}">
                <a16:creationId xmlns:a16="http://schemas.microsoft.com/office/drawing/2014/main" id="{E9519485-7AED-4405-A759-96C3E903A76C}"/>
              </a:ext>
            </a:extLst>
          </p:cNvPr>
          <p:cNvSpPr txBox="1"/>
          <p:nvPr/>
        </p:nvSpPr>
        <p:spPr>
          <a:xfrm>
            <a:off x="8445500" y="3185585"/>
            <a:ext cx="3048000" cy="805180"/>
          </a:xfrm>
          <a:prstGeom prst="rect">
            <a:avLst/>
          </a:prstGeom>
          <a:noFill/>
        </p:spPr>
        <p:txBody>
          <a:bodyPr vertOverflow="overflow" vert="horz" wrap="square" rtlCol="0" anchor="t">
            <a:noAutofit/>
          </a:bodyPr>
          <a:lstStyle/>
          <a:p>
            <a:pPr algn="l"/>
            <a:r>
              <a:rPr lang="ko-KR" altLang="en-US" sz="1100">
                <a:solidFill>
                  <a:srgbClr val="555555"/>
                </a:solidFill>
                <a:latin typeface="나눔고딕" panose="020D0604000000000000" pitchFamily="50" charset="-127"/>
                <a:ea typeface="나눔고딕" panose="020D0604000000000000" pitchFamily="50" charset="-127"/>
                <a:cs typeface="Arial" panose="020B0604020202020204" pitchFamily="34" charset="0"/>
              </a:rPr>
              <a:t>이미지 커버리지 확장 + 융합전략 개선</a:t>
            </a:r>
          </a:p>
          <a:p>
            <a:r>
              <a:rPr sz="1100">
                <a:solidFill>
                  <a:srgbClr val="555555"/>
                </a:solidFill>
              </a:rPr>
              <a:t>→ 두 모달이 함께 있는 구간에서 Fusion 0.986 &gt; 두 단독 (유의)</a:t>
            </a:r>
          </a:p>
        </p:txBody>
      </p:sp>
      <p:sp>
        <p:nvSpPr>
          <p:cNvPr id="18" name="사각형: 둥근 모서리 17">
            <a:extLst>
              <a:ext uri="{FF2B5EF4-FFF2-40B4-BE49-F238E27FC236}">
                <a16:creationId xmlns:a16="http://schemas.microsoft.com/office/drawing/2014/main" id="{3BDF29AB-32B2-4ABC-AEB6-8C0EE16496B9}"/>
              </a:ext>
            </a:extLst>
          </p:cNvPr>
          <p:cNvSpPr/>
          <p:nvPr/>
        </p:nvSpPr>
        <p:spPr>
          <a:xfrm>
            <a:off x="508000" y="4335407"/>
            <a:ext cx="11176000" cy="635000"/>
          </a:xfrm>
          <a:prstGeom prst="roundRect">
            <a:avLst/>
          </a:prstGeom>
          <a:solidFill>
            <a:srgbClr val="EBF5F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9" name="TextBox 18">
            <a:extLst>
              <a:ext uri="{FF2B5EF4-FFF2-40B4-BE49-F238E27FC236}">
                <a16:creationId xmlns:a16="http://schemas.microsoft.com/office/drawing/2014/main" id="{ECB4E20F-CA0E-4EF6-A20A-82BB4499ECA0}"/>
              </a:ext>
            </a:extLst>
          </p:cNvPr>
          <p:cNvSpPr txBox="1"/>
          <p:nvPr/>
        </p:nvSpPr>
        <p:spPr>
          <a:xfrm>
            <a:off x="698500" y="4506499"/>
            <a:ext cx="10795000" cy="444500"/>
          </a:xfrm>
          <a:prstGeom prst="rect">
            <a:avLst/>
          </a:prstGeom>
          <a:noFill/>
        </p:spPr>
        <p:txBody>
          <a:bodyPr vertOverflow="overflow" vert="horz" wrap="square" rtlCol="0" anchor="t">
            <a:noAutofit/>
          </a:bodyPr>
          <a:lstStyle/>
          <a:p>
            <a:pPr algn="l"/>
            <a:r>
              <a:rPr lang="ko-KR" altLang="en-US" sz="1400" b="1" dirty="0">
                <a:solidFill>
                  <a:srgbClr val="2676AC"/>
                </a:solidFill>
                <a:latin typeface="나눔고딕" panose="020D0604000000000000" pitchFamily="50" charset="-127"/>
                <a:ea typeface="나눔고딕" panose="020D0604000000000000" pitchFamily="50" charset="-127"/>
                <a:cs typeface="Arial" panose="020B0604020202020204" pitchFamily="34" charset="0"/>
              </a:rPr>
              <a:t>→  </a:t>
            </a:r>
            <a:r>
              <a:rPr lang="ko-KR" altLang="en-US" sz="1400" b="1" dirty="0" err="1">
                <a:solidFill>
                  <a:srgbClr val="2676AC"/>
                </a:solidFill>
                <a:latin typeface="나눔고딕" panose="020D0604000000000000" pitchFamily="50" charset="-127"/>
                <a:ea typeface="나눔고딕" panose="020D0604000000000000" pitchFamily="50" charset="-127"/>
                <a:cs typeface="Arial" panose="020B0604020202020204" pitchFamily="34" charset="0"/>
              </a:rPr>
              <a:t>멀티모달은</a:t>
            </a:r>
            <a:r>
              <a:rPr lang="ko-KR" altLang="en-US" sz="1400" b="1" dirty="0">
                <a:solidFill>
                  <a:srgbClr val="2676AC"/>
                </a:solidFill>
                <a:latin typeface="나눔고딕" panose="020D0604000000000000" pitchFamily="50" charset="-127"/>
                <a:ea typeface="나눔고딕" panose="020D0604000000000000" pitchFamily="50" charset="-127"/>
                <a:cs typeface="Arial" panose="020B0604020202020204" pitchFamily="34" charset="0"/>
              </a:rPr>
              <a:t> 무조건 이기지 않는다. 두 </a:t>
            </a:r>
            <a:r>
              <a:rPr lang="ko-KR" altLang="en-US" sz="1400" b="1" dirty="0" err="1">
                <a:solidFill>
                  <a:srgbClr val="2676AC"/>
                </a:solidFill>
                <a:latin typeface="나눔고딕" panose="020D0604000000000000" pitchFamily="50" charset="-127"/>
                <a:ea typeface="나눔고딕" panose="020D0604000000000000" pitchFamily="50" charset="-127"/>
                <a:cs typeface="Arial" panose="020B0604020202020204" pitchFamily="34" charset="0"/>
              </a:rPr>
              <a:t>모달이</a:t>
            </a:r>
            <a:r>
              <a:rPr lang="ko-KR" altLang="en-US" sz="1400" b="1" dirty="0">
                <a:solidFill>
                  <a:srgbClr val="2676AC"/>
                </a:solidFill>
                <a:latin typeface="나눔고딕" panose="020D0604000000000000" pitchFamily="50" charset="-127"/>
                <a:ea typeface="나눔고딕" panose="020D0604000000000000" pitchFamily="50" charset="-127"/>
                <a:cs typeface="Arial" panose="020B0604020202020204" pitchFamily="34" charset="0"/>
              </a:rPr>
              <a:t> </a:t>
            </a:r>
            <a:r>
              <a:rPr lang="ko-KR" altLang="en-US" sz="1400" b="1" dirty="0" err="1">
                <a:solidFill>
                  <a:srgbClr val="2676AC"/>
                </a:solidFill>
                <a:latin typeface="나눔고딕" panose="020D0604000000000000" pitchFamily="50" charset="-127"/>
                <a:ea typeface="나눔고딕" panose="020D0604000000000000" pitchFamily="50" charset="-127"/>
                <a:cs typeface="Arial" panose="020B0604020202020204" pitchFamily="34" charset="0"/>
              </a:rPr>
              <a:t>함께·균형</a:t>
            </a:r>
            <a:r>
              <a:rPr lang="ko-KR" altLang="en-US" sz="1400" b="1" dirty="0">
                <a:solidFill>
                  <a:srgbClr val="2676AC"/>
                </a:solidFill>
                <a:latin typeface="나눔고딕" panose="020D0604000000000000" pitchFamily="50" charset="-127"/>
                <a:ea typeface="나눔고딕" panose="020D0604000000000000" pitchFamily="50" charset="-127"/>
                <a:cs typeface="Arial" panose="020B0604020202020204" pitchFamily="34" charset="0"/>
              </a:rPr>
              <a:t> 있게 있을 때 </a:t>
            </a:r>
            <a:r>
              <a:rPr lang="ko-KR" altLang="en-US" sz="1400" b="1" dirty="0" err="1">
                <a:solidFill>
                  <a:srgbClr val="2676AC"/>
                </a:solidFill>
                <a:latin typeface="나눔고딕" panose="020D0604000000000000" pitchFamily="50" charset="-127"/>
                <a:ea typeface="나눔고딕" panose="020D0604000000000000" pitchFamily="50" charset="-127"/>
                <a:cs typeface="Arial" panose="020B0604020202020204" pitchFamily="34" charset="0"/>
              </a:rPr>
              <a:t>이긴다를</a:t>
            </a:r>
            <a:r>
              <a:rPr lang="ko-KR" altLang="en-US" sz="1400" b="1" dirty="0">
                <a:solidFill>
                  <a:srgbClr val="2676AC"/>
                </a:solidFill>
                <a:latin typeface="나눔고딕" panose="020D0604000000000000" pitchFamily="50" charset="-127"/>
                <a:ea typeface="나눔고딕" panose="020D0604000000000000" pitchFamily="50" charset="-127"/>
                <a:cs typeface="Arial" panose="020B0604020202020204" pitchFamily="34" charset="0"/>
              </a:rPr>
              <a:t> 검증</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직사각형 2">
            <a:extLst>
              <a:ext uri="{FF2B5EF4-FFF2-40B4-BE49-F238E27FC236}">
                <a16:creationId xmlns:a16="http://schemas.microsoft.com/office/drawing/2014/main" id="{7403ABE3-BC7D-425A-9A7F-CE02809199C3}"/>
              </a:ext>
            </a:extLst>
          </p:cNvPr>
          <p:cNvSpPr/>
          <p:nvPr/>
        </p:nvSpPr>
        <p:spPr>
          <a:xfrm>
            <a:off x="0" y="0"/>
            <a:ext cx="12192000" cy="889000"/>
          </a:xfrm>
          <a:prstGeom prst="rect">
            <a:avLst/>
          </a:prstGeom>
          <a:solidFill>
            <a:srgbClr val="1B2A4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타원 3">
            <a:extLst>
              <a:ext uri="{FF2B5EF4-FFF2-40B4-BE49-F238E27FC236}">
                <a16:creationId xmlns:a16="http://schemas.microsoft.com/office/drawing/2014/main" id="{42BB5AF4-79F0-4388-B37F-B704422F97D3}"/>
              </a:ext>
            </a:extLst>
          </p:cNvPr>
          <p:cNvSpPr/>
          <p:nvPr/>
        </p:nvSpPr>
        <p:spPr>
          <a:xfrm>
            <a:off x="381000" y="190500"/>
            <a:ext cx="508000" cy="508000"/>
          </a:xfrm>
          <a:prstGeom prst="ellipse">
            <a:avLst/>
          </a:prstGeom>
          <a:solidFill>
            <a:srgbClr val="16A295"/>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sz="1600" b="1">
                <a:solidFill>
                  <a:srgbClr val="FFFFFF"/>
                </a:solidFill>
              </a:rPr>
              <a:t>07</a:t>
            </a:r>
            <a:endParaRPr lang="ko-KR" altLang="en-US" sz="1600" b="1">
              <a:solidFill>
                <a:srgbClr val="FFFFFF"/>
              </a:solidFill>
            </a:endParaRPr>
          </a:p>
        </p:txBody>
      </p:sp>
      <p:sp>
        <p:nvSpPr>
          <p:cNvPr id="5" name="TextBox 4">
            <a:extLst>
              <a:ext uri="{FF2B5EF4-FFF2-40B4-BE49-F238E27FC236}">
                <a16:creationId xmlns:a16="http://schemas.microsoft.com/office/drawing/2014/main" id="{C241DE32-F741-47BD-9CFF-3ABE4251BCD9}"/>
              </a:ext>
            </a:extLst>
          </p:cNvPr>
          <p:cNvSpPr txBox="1"/>
          <p:nvPr/>
        </p:nvSpPr>
        <p:spPr>
          <a:xfrm>
            <a:off x="1079500" y="190500"/>
            <a:ext cx="3810000" cy="508000"/>
          </a:xfrm>
          <a:prstGeom prst="rect">
            <a:avLst/>
          </a:prstGeom>
          <a:noFill/>
        </p:spPr>
        <p:txBody>
          <a:bodyPr vertOverflow="overflow" vert="horz" wrap="square" rtlCol="0" anchor="t">
            <a:noAutofit/>
          </a:bodyPr>
          <a:lstStyle/>
          <a:p>
            <a:pPr algn="l">
              <a:lnSpc>
                <a:spcPct val="130000"/>
              </a:lnSpc>
            </a:pPr>
            <a:r>
              <a:rPr lang="ko-KR" altLang="en-US" sz="2200" b="1">
                <a:solidFill>
                  <a:srgbClr val="FFFFFF"/>
                </a:solidFill>
                <a:latin typeface="나눔고딕" panose="020D0604000000000000" pitchFamily="50" charset="-127"/>
                <a:ea typeface="나눔고딕" panose="020D0604000000000000" pitchFamily="50" charset="-127"/>
                <a:cs typeface="Arial" panose="020B0604020202020204" pitchFamily="34" charset="0"/>
              </a:rPr>
              <a:t>핵심 결과</a:t>
            </a:r>
          </a:p>
        </p:txBody>
      </p:sp>
      <p:sp>
        <p:nvSpPr>
          <p:cNvPr id="6" name="Rounded Rectangle 5"/>
          <p:cNvSpPr/>
          <p:nvPr/>
        </p:nvSpPr>
        <p:spPr>
          <a:xfrm>
            <a:off x="511865" y="1817867"/>
            <a:ext cx="3840480" cy="1645920"/>
          </a:xfrm>
          <a:prstGeom prst="roundRect">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94745" y="1955027"/>
            <a:ext cx="3474720" cy="365760"/>
          </a:xfrm>
          <a:prstGeom prst="rect">
            <a:avLst/>
          </a:prstGeom>
          <a:noFill/>
        </p:spPr>
        <p:txBody>
          <a:bodyPr wrap="square">
            <a:spAutoFit/>
          </a:bodyPr>
          <a:lstStyle/>
          <a:p>
            <a:r>
              <a:rPr sz="1600" b="1">
                <a:solidFill>
                  <a:srgbClr val="1E2A4A"/>
                </a:solidFill>
                <a:latin typeface="맑은 고딕"/>
              </a:rPr>
              <a:t>평가 조건</a:t>
            </a:r>
          </a:p>
        </p:txBody>
      </p:sp>
      <p:sp>
        <p:nvSpPr>
          <p:cNvPr id="8" name="TextBox 7"/>
          <p:cNvSpPr txBox="1"/>
          <p:nvPr/>
        </p:nvSpPr>
        <p:spPr>
          <a:xfrm>
            <a:off x="694745" y="2366507"/>
            <a:ext cx="3566160" cy="646331"/>
          </a:xfrm>
          <a:prstGeom prst="rect">
            <a:avLst/>
          </a:prstGeom>
          <a:noFill/>
        </p:spPr>
        <p:txBody>
          <a:bodyPr wrap="square">
            <a:spAutoFit/>
          </a:bodyPr>
          <a:lstStyle/>
          <a:p>
            <a:r>
              <a:rPr lang="ko-KR" altLang="en-US" sz="1200" b="0" dirty="0" err="1">
                <a:solidFill>
                  <a:srgbClr val="1E2A4A"/>
                </a:solidFill>
                <a:latin typeface="맑은 고딕"/>
              </a:rPr>
              <a:t>평가셋</a:t>
            </a:r>
            <a:r>
              <a:rPr lang="ko-KR" altLang="en-US" sz="1200" b="0" dirty="0">
                <a:solidFill>
                  <a:srgbClr val="1E2A4A"/>
                </a:solidFill>
                <a:latin typeface="맑은 고딕"/>
              </a:rPr>
              <a:t> 중 </a:t>
            </a:r>
            <a:r>
              <a:rPr sz="1200" b="0" dirty="0" err="1">
                <a:solidFill>
                  <a:srgbClr val="1E2A4A"/>
                </a:solidFill>
                <a:latin typeface="맑은 고딕"/>
              </a:rPr>
              <a:t>센서·이미지가</a:t>
            </a:r>
            <a:r>
              <a:rPr sz="1200" b="0" dirty="0">
                <a:solidFill>
                  <a:srgbClr val="1E2A4A"/>
                </a:solidFill>
                <a:latin typeface="맑은 고딕"/>
              </a:rPr>
              <a:t> </a:t>
            </a:r>
            <a:r>
              <a:rPr sz="1200" b="0" dirty="0" err="1">
                <a:solidFill>
                  <a:srgbClr val="1E2A4A"/>
                </a:solidFill>
                <a:latin typeface="맑은 고딕"/>
              </a:rPr>
              <a:t>모두</a:t>
            </a:r>
            <a:r>
              <a:rPr sz="1200" b="0" dirty="0">
                <a:solidFill>
                  <a:srgbClr val="1E2A4A"/>
                </a:solidFill>
                <a:latin typeface="맑은 고딕"/>
              </a:rPr>
              <a:t> </a:t>
            </a:r>
            <a:r>
              <a:rPr sz="1200" b="0" dirty="0" err="1">
                <a:solidFill>
                  <a:srgbClr val="1E2A4A"/>
                </a:solidFill>
                <a:latin typeface="맑은 고딕"/>
              </a:rPr>
              <a:t>있는</a:t>
            </a:r>
            <a:r>
              <a:rPr sz="1200" b="0" dirty="0">
                <a:solidFill>
                  <a:srgbClr val="1E2A4A"/>
                </a:solidFill>
                <a:latin typeface="맑은 고딕"/>
              </a:rPr>
              <a:t> </a:t>
            </a:r>
            <a:r>
              <a:rPr sz="1200" b="0" dirty="0" err="1">
                <a:solidFill>
                  <a:srgbClr val="1E2A4A"/>
                </a:solidFill>
                <a:latin typeface="맑은 고딕"/>
              </a:rPr>
              <a:t>시점</a:t>
            </a:r>
            <a:endParaRPr sz="1200" b="0" dirty="0">
              <a:solidFill>
                <a:srgbClr val="1E2A4A"/>
              </a:solidFill>
              <a:latin typeface="맑은 고딕"/>
            </a:endParaRPr>
          </a:p>
          <a:p>
            <a:r>
              <a:rPr sz="1200" b="0" dirty="0">
                <a:solidFill>
                  <a:srgbClr val="1E2A4A"/>
                </a:solidFill>
                <a:latin typeface="맑은 고딕"/>
              </a:rPr>
              <a:t>3,912개 (Cycle 4·9 중 </a:t>
            </a:r>
            <a:r>
              <a:rPr sz="1200" b="0" dirty="0" err="1">
                <a:solidFill>
                  <a:srgbClr val="1E2A4A"/>
                </a:solidFill>
                <a:latin typeface="맑은 고딕"/>
              </a:rPr>
              <a:t>이미지</a:t>
            </a:r>
            <a:r>
              <a:rPr sz="1200" b="0" dirty="0">
                <a:solidFill>
                  <a:srgbClr val="1E2A4A"/>
                </a:solidFill>
                <a:latin typeface="맑은 고딕"/>
              </a:rPr>
              <a:t> </a:t>
            </a:r>
            <a:r>
              <a:rPr sz="1200" b="0" dirty="0" err="1">
                <a:solidFill>
                  <a:srgbClr val="1E2A4A"/>
                </a:solidFill>
                <a:latin typeface="맑은 고딕"/>
              </a:rPr>
              <a:t>매칭</a:t>
            </a:r>
            <a:r>
              <a:rPr sz="1200" b="0" dirty="0">
                <a:solidFill>
                  <a:srgbClr val="1E2A4A"/>
                </a:solidFill>
                <a:latin typeface="맑은 고딕"/>
              </a:rPr>
              <a:t> 41%)</a:t>
            </a:r>
          </a:p>
          <a:p>
            <a:r>
              <a:rPr sz="1200" b="0" dirty="0" err="1">
                <a:solidFill>
                  <a:srgbClr val="1E2A4A"/>
                </a:solidFill>
                <a:latin typeface="맑은 고딕"/>
              </a:rPr>
              <a:t>지표</a:t>
            </a:r>
            <a:r>
              <a:rPr sz="1200" b="0" dirty="0">
                <a:solidFill>
                  <a:srgbClr val="1E2A4A"/>
                </a:solidFill>
                <a:latin typeface="맑은 고딕"/>
              </a:rPr>
              <a:t>: Weighted F1</a:t>
            </a:r>
          </a:p>
        </p:txBody>
      </p:sp>
      <p:sp>
        <p:nvSpPr>
          <p:cNvPr id="9" name="Rounded Rectangle 8"/>
          <p:cNvSpPr/>
          <p:nvPr/>
        </p:nvSpPr>
        <p:spPr>
          <a:xfrm>
            <a:off x="511865" y="3738107"/>
            <a:ext cx="3840480" cy="1907319"/>
          </a:xfrm>
          <a:prstGeom prst="roundRect">
            <a:avLst/>
          </a:prstGeom>
          <a:solidFill>
            <a:srgbClr val="FD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94745" y="3875267"/>
            <a:ext cx="3474720" cy="338554"/>
          </a:xfrm>
          <a:prstGeom prst="rect">
            <a:avLst/>
          </a:prstGeom>
          <a:noFill/>
        </p:spPr>
        <p:txBody>
          <a:bodyPr wrap="square">
            <a:spAutoFit/>
          </a:bodyPr>
          <a:lstStyle/>
          <a:p>
            <a:r>
              <a:rPr lang="ko-KR" altLang="en-US" sz="1600" b="1" dirty="0">
                <a:solidFill>
                  <a:srgbClr val="2E9D8F"/>
                </a:solidFill>
                <a:latin typeface="맑은 고딕"/>
              </a:rPr>
              <a:t>테스트 결과</a:t>
            </a:r>
            <a:endParaRPr sz="1600" b="1" dirty="0">
              <a:solidFill>
                <a:srgbClr val="2E9D8F"/>
              </a:solidFill>
              <a:latin typeface="맑은 고딕"/>
            </a:endParaRPr>
          </a:p>
        </p:txBody>
      </p:sp>
      <p:sp>
        <p:nvSpPr>
          <p:cNvPr id="11" name="TextBox 10"/>
          <p:cNvSpPr txBox="1"/>
          <p:nvPr/>
        </p:nvSpPr>
        <p:spPr>
          <a:xfrm>
            <a:off x="694745" y="4332467"/>
            <a:ext cx="3566160" cy="1092607"/>
          </a:xfrm>
          <a:prstGeom prst="rect">
            <a:avLst/>
          </a:prstGeom>
          <a:noFill/>
        </p:spPr>
        <p:txBody>
          <a:bodyPr wrap="square">
            <a:spAutoFit/>
          </a:bodyPr>
          <a:lstStyle/>
          <a:p>
            <a:r>
              <a:rPr sz="1300" b="0" dirty="0" err="1">
                <a:solidFill>
                  <a:srgbClr val="1E2A4A"/>
                </a:solidFill>
                <a:latin typeface="맑은 고딕"/>
              </a:rPr>
              <a:t>센서</a:t>
            </a:r>
            <a:r>
              <a:rPr sz="1300" b="0" dirty="0">
                <a:solidFill>
                  <a:srgbClr val="1E2A4A"/>
                </a:solidFill>
                <a:latin typeface="맑은 고딕"/>
              </a:rPr>
              <a:t>  0.907</a:t>
            </a:r>
          </a:p>
          <a:p>
            <a:r>
              <a:rPr sz="1300" b="0" dirty="0" err="1">
                <a:solidFill>
                  <a:srgbClr val="1E2A4A"/>
                </a:solidFill>
                <a:latin typeface="맑은 고딕"/>
              </a:rPr>
              <a:t>이미지</a:t>
            </a:r>
            <a:r>
              <a:rPr sz="1300" b="0" dirty="0">
                <a:solidFill>
                  <a:srgbClr val="1E2A4A"/>
                </a:solidFill>
                <a:latin typeface="맑은 고딕"/>
              </a:rPr>
              <a:t>  0.925</a:t>
            </a:r>
          </a:p>
          <a:p>
            <a:r>
              <a:rPr sz="1300" b="0" dirty="0" err="1">
                <a:solidFill>
                  <a:srgbClr val="1E2A4A"/>
                </a:solidFill>
                <a:latin typeface="맑은 고딕"/>
              </a:rPr>
              <a:t>융합</a:t>
            </a:r>
            <a:r>
              <a:rPr sz="1300" b="0" dirty="0">
                <a:solidFill>
                  <a:srgbClr val="1E2A4A"/>
                </a:solidFill>
                <a:latin typeface="맑은 고딕"/>
              </a:rPr>
              <a:t>  0.986</a:t>
            </a:r>
          </a:p>
          <a:p>
            <a:endParaRPr sz="1300" b="0" dirty="0">
              <a:solidFill>
                <a:srgbClr val="1E2A4A"/>
              </a:solidFill>
              <a:latin typeface="맑은 고딕"/>
            </a:endParaRPr>
          </a:p>
          <a:p>
            <a:r>
              <a:rPr sz="1300" b="0" dirty="0">
                <a:solidFill>
                  <a:srgbClr val="1E2A4A"/>
                </a:solidFill>
                <a:latin typeface="맑은 고딕"/>
              </a:rPr>
              <a:t>→ </a:t>
            </a:r>
            <a:r>
              <a:rPr sz="1300" b="0" dirty="0" err="1">
                <a:solidFill>
                  <a:srgbClr val="1E2A4A"/>
                </a:solidFill>
                <a:latin typeface="맑은 고딕"/>
              </a:rPr>
              <a:t>융합이</a:t>
            </a:r>
            <a:r>
              <a:rPr sz="1300" b="0" dirty="0">
                <a:solidFill>
                  <a:srgbClr val="1E2A4A"/>
                </a:solidFill>
                <a:latin typeface="맑은 고딕"/>
              </a:rPr>
              <a:t> 두 </a:t>
            </a:r>
            <a:r>
              <a:rPr sz="1300" b="0" dirty="0" err="1">
                <a:solidFill>
                  <a:srgbClr val="1E2A4A"/>
                </a:solidFill>
                <a:latin typeface="맑은 고딕"/>
              </a:rPr>
              <a:t>단독을</a:t>
            </a:r>
            <a:r>
              <a:rPr sz="1300" b="0" dirty="0">
                <a:solidFill>
                  <a:srgbClr val="1E2A4A"/>
                </a:solidFill>
                <a:latin typeface="맑은 고딕"/>
              </a:rPr>
              <a:t> </a:t>
            </a:r>
            <a:r>
              <a:rPr sz="1300" b="0" dirty="0" err="1">
                <a:solidFill>
                  <a:srgbClr val="1E2A4A"/>
                </a:solidFill>
                <a:latin typeface="맑은 고딕"/>
              </a:rPr>
              <a:t>능가</a:t>
            </a:r>
            <a:endParaRPr sz="1300" b="0" dirty="0">
              <a:solidFill>
                <a:srgbClr val="1E2A4A"/>
              </a:solidFill>
              <a:latin typeface="맑은 고딕"/>
            </a:endParaRPr>
          </a:p>
        </p:txBody>
      </p:sp>
      <p:pic>
        <p:nvPicPr>
          <p:cNvPr id="12" name="Picture 11" descr="res_present.png"/>
          <p:cNvPicPr>
            <a:picLocks noChangeAspect="1"/>
          </p:cNvPicPr>
          <p:nvPr/>
        </p:nvPicPr>
        <p:blipFill>
          <a:blip r:embed="rId3"/>
          <a:stretch>
            <a:fillRect/>
          </a:stretch>
        </p:blipFill>
        <p:spPr>
          <a:xfrm>
            <a:off x="4626665" y="1854646"/>
            <a:ext cx="7132320" cy="3840480"/>
          </a:xfrm>
          <a:prstGeom prst="rect">
            <a:avLst/>
          </a:prstGeom>
        </p:spPr>
      </p:pic>
    </p:spTree>
    <p:extLst>
      <p:ext uri="{BB962C8B-B14F-4D97-AF65-F5344CB8AC3E}">
        <p14:creationId xmlns:p14="http://schemas.microsoft.com/office/powerpoint/2010/main" val="2155055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직사각형 2">
            <a:extLst>
              <a:ext uri="{FF2B5EF4-FFF2-40B4-BE49-F238E27FC236}">
                <a16:creationId xmlns:a16="http://schemas.microsoft.com/office/drawing/2014/main" id="{FA5DF926-B695-41BD-8FFF-2E98E0FED5D2}"/>
              </a:ext>
            </a:extLst>
          </p:cNvPr>
          <p:cNvSpPr/>
          <p:nvPr/>
        </p:nvSpPr>
        <p:spPr>
          <a:xfrm>
            <a:off x="0" y="0"/>
            <a:ext cx="12192000" cy="889000"/>
          </a:xfrm>
          <a:prstGeom prst="rect">
            <a:avLst/>
          </a:prstGeom>
          <a:solidFill>
            <a:srgbClr val="1B2A4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타원 3">
            <a:extLst>
              <a:ext uri="{FF2B5EF4-FFF2-40B4-BE49-F238E27FC236}">
                <a16:creationId xmlns:a16="http://schemas.microsoft.com/office/drawing/2014/main" id="{7AFD8D2D-4A8D-4741-AF8C-B51B2CEAECDC}"/>
              </a:ext>
            </a:extLst>
          </p:cNvPr>
          <p:cNvSpPr/>
          <p:nvPr/>
        </p:nvSpPr>
        <p:spPr>
          <a:xfrm>
            <a:off x="381000" y="190500"/>
            <a:ext cx="508000" cy="508000"/>
          </a:xfrm>
          <a:prstGeom prst="ellipse">
            <a:avLst/>
          </a:prstGeom>
          <a:solidFill>
            <a:srgbClr val="16A295"/>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sz="1600" b="1">
                <a:solidFill>
                  <a:srgbClr val="FFFFFF"/>
                </a:solidFill>
              </a:rPr>
              <a:t>08</a:t>
            </a:r>
            <a:endParaRPr lang="ko-KR" altLang="en-US" sz="1600" b="1">
              <a:solidFill>
                <a:srgbClr val="FFFFFF"/>
              </a:solidFill>
            </a:endParaRPr>
          </a:p>
        </p:txBody>
      </p:sp>
      <p:sp>
        <p:nvSpPr>
          <p:cNvPr id="5" name="TextBox 4">
            <a:extLst>
              <a:ext uri="{FF2B5EF4-FFF2-40B4-BE49-F238E27FC236}">
                <a16:creationId xmlns:a16="http://schemas.microsoft.com/office/drawing/2014/main" id="{1BFEE3B8-B4B5-4FEB-BC0B-63E7D1069C0C}"/>
              </a:ext>
            </a:extLst>
          </p:cNvPr>
          <p:cNvSpPr txBox="1"/>
          <p:nvPr/>
        </p:nvSpPr>
        <p:spPr>
          <a:xfrm>
            <a:off x="1079500" y="190500"/>
            <a:ext cx="3810000" cy="508000"/>
          </a:xfrm>
          <a:prstGeom prst="rect">
            <a:avLst/>
          </a:prstGeom>
          <a:noFill/>
        </p:spPr>
        <p:txBody>
          <a:bodyPr vertOverflow="overflow" vert="horz" wrap="square" rtlCol="0" anchor="t">
            <a:noAutofit/>
          </a:bodyPr>
          <a:lstStyle/>
          <a:p>
            <a:pPr algn="l">
              <a:lnSpc>
                <a:spcPct val="130000"/>
              </a:lnSpc>
            </a:pPr>
            <a:r>
              <a:rPr lang="ko-KR" altLang="en-US" sz="2200" b="1" dirty="0">
                <a:solidFill>
                  <a:srgbClr val="FFFFFF"/>
                </a:solidFill>
                <a:latin typeface="나눔고딕" panose="020D0604000000000000" pitchFamily="50" charset="-127"/>
                <a:ea typeface="나눔고딕" panose="020D0604000000000000" pitchFamily="50" charset="-127"/>
                <a:cs typeface="Arial" panose="020B0604020202020204" pitchFamily="34" charset="0"/>
              </a:rPr>
              <a:t>추가 검증: 융합 효과의 일관성</a:t>
            </a:r>
          </a:p>
        </p:txBody>
      </p:sp>
      <p:pic>
        <p:nvPicPr>
          <p:cNvPr id="6" name="Picture 5" descr="res_story.png"/>
          <p:cNvPicPr>
            <a:picLocks noChangeAspect="1"/>
          </p:cNvPicPr>
          <p:nvPr/>
        </p:nvPicPr>
        <p:blipFill>
          <a:blip r:embed="rId3"/>
          <a:stretch>
            <a:fillRect/>
          </a:stretch>
        </p:blipFill>
        <p:spPr>
          <a:xfrm>
            <a:off x="2376280" y="1452107"/>
            <a:ext cx="7439440" cy="4754880"/>
          </a:xfrm>
          <a:prstGeom prst="rect">
            <a:avLst/>
          </a:prstGeom>
        </p:spPr>
      </p:pic>
    </p:spTree>
    <p:extLst>
      <p:ext uri="{BB962C8B-B14F-4D97-AF65-F5344CB8AC3E}">
        <p14:creationId xmlns:p14="http://schemas.microsoft.com/office/powerpoint/2010/main" val="947396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직사각형 2">
            <a:extLst>
              <a:ext uri="{FF2B5EF4-FFF2-40B4-BE49-F238E27FC236}">
                <a16:creationId xmlns:a16="http://schemas.microsoft.com/office/drawing/2014/main" id="{7403ABE3-BC7D-425A-9A7F-CE02809199C3}"/>
              </a:ext>
            </a:extLst>
          </p:cNvPr>
          <p:cNvSpPr/>
          <p:nvPr/>
        </p:nvSpPr>
        <p:spPr>
          <a:xfrm>
            <a:off x="0" y="0"/>
            <a:ext cx="12192000" cy="889000"/>
          </a:xfrm>
          <a:prstGeom prst="rect">
            <a:avLst/>
          </a:prstGeom>
          <a:solidFill>
            <a:srgbClr val="1B2A4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타원 3">
            <a:extLst>
              <a:ext uri="{FF2B5EF4-FFF2-40B4-BE49-F238E27FC236}">
                <a16:creationId xmlns:a16="http://schemas.microsoft.com/office/drawing/2014/main" id="{42BB5AF4-79F0-4388-B37F-B704422F97D3}"/>
              </a:ext>
            </a:extLst>
          </p:cNvPr>
          <p:cNvSpPr/>
          <p:nvPr/>
        </p:nvSpPr>
        <p:spPr>
          <a:xfrm>
            <a:off x="381000" y="190500"/>
            <a:ext cx="508000" cy="508000"/>
          </a:xfrm>
          <a:prstGeom prst="ellipse">
            <a:avLst/>
          </a:prstGeom>
          <a:solidFill>
            <a:srgbClr val="16A295"/>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sz="1600" b="1">
                <a:solidFill>
                  <a:srgbClr val="FFFFFF"/>
                </a:solidFill>
              </a:rPr>
              <a:t>09</a:t>
            </a:r>
            <a:endParaRPr lang="ko-KR" altLang="en-US" sz="1600" b="1">
              <a:solidFill>
                <a:srgbClr val="FFFFFF"/>
              </a:solidFill>
            </a:endParaRPr>
          </a:p>
        </p:txBody>
      </p:sp>
      <p:sp>
        <p:nvSpPr>
          <p:cNvPr id="5" name="TextBox 4">
            <a:extLst>
              <a:ext uri="{FF2B5EF4-FFF2-40B4-BE49-F238E27FC236}">
                <a16:creationId xmlns:a16="http://schemas.microsoft.com/office/drawing/2014/main" id="{C241DE32-F741-47BD-9CFF-3ABE4251BCD9}"/>
              </a:ext>
            </a:extLst>
          </p:cNvPr>
          <p:cNvSpPr txBox="1"/>
          <p:nvPr/>
        </p:nvSpPr>
        <p:spPr>
          <a:xfrm>
            <a:off x="1079500" y="190500"/>
            <a:ext cx="3810000" cy="508000"/>
          </a:xfrm>
          <a:prstGeom prst="rect">
            <a:avLst/>
          </a:prstGeom>
          <a:noFill/>
        </p:spPr>
        <p:txBody>
          <a:bodyPr vertOverflow="overflow" vert="horz" wrap="square" rtlCol="0" anchor="t">
            <a:noAutofit/>
          </a:bodyPr>
          <a:lstStyle/>
          <a:p>
            <a:pPr algn="l">
              <a:lnSpc>
                <a:spcPct val="130000"/>
              </a:lnSpc>
            </a:pPr>
            <a:r>
              <a:rPr lang="ko-KR" altLang="en-US" sz="2200" b="1">
                <a:solidFill>
                  <a:srgbClr val="FFFFFF"/>
                </a:solidFill>
                <a:latin typeface="나눔고딕" panose="020D0604000000000000" pitchFamily="50" charset="-127"/>
                <a:ea typeface="나눔고딕" panose="020D0604000000000000" pitchFamily="50" charset="-127"/>
                <a:cs typeface="Arial" panose="020B0604020202020204" pitchFamily="34" charset="0"/>
              </a:rPr>
              <a:t>결함 유형별 성능 분석</a:t>
            </a:r>
          </a:p>
        </p:txBody>
      </p:sp>
      <p:pic>
        <p:nvPicPr>
          <p:cNvPr id="6" name="Picture 5" descr="res_byclass.png"/>
          <p:cNvPicPr>
            <a:picLocks noChangeAspect="1"/>
          </p:cNvPicPr>
          <p:nvPr/>
        </p:nvPicPr>
        <p:blipFill>
          <a:blip r:embed="rId3"/>
          <a:stretch>
            <a:fillRect/>
          </a:stretch>
        </p:blipFill>
        <p:spPr>
          <a:xfrm>
            <a:off x="2286000" y="1417320"/>
            <a:ext cx="7589520" cy="42976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직사각형 2">
            <a:extLst>
              <a:ext uri="{FF2B5EF4-FFF2-40B4-BE49-F238E27FC236}">
                <a16:creationId xmlns:a16="http://schemas.microsoft.com/office/drawing/2014/main" id="{AB589446-007F-4E3B-A7FE-92D910E0E2E2}"/>
              </a:ext>
            </a:extLst>
          </p:cNvPr>
          <p:cNvSpPr/>
          <p:nvPr/>
        </p:nvSpPr>
        <p:spPr>
          <a:xfrm>
            <a:off x="0" y="-9989"/>
            <a:ext cx="12192000" cy="889000"/>
          </a:xfrm>
          <a:prstGeom prst="rect">
            <a:avLst/>
          </a:prstGeom>
          <a:solidFill>
            <a:srgbClr val="1B2A4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타원 3">
            <a:extLst>
              <a:ext uri="{FF2B5EF4-FFF2-40B4-BE49-F238E27FC236}">
                <a16:creationId xmlns:a16="http://schemas.microsoft.com/office/drawing/2014/main" id="{91E87C97-72F7-424B-B4A5-2568480F102A}"/>
              </a:ext>
            </a:extLst>
          </p:cNvPr>
          <p:cNvSpPr/>
          <p:nvPr/>
        </p:nvSpPr>
        <p:spPr>
          <a:xfrm>
            <a:off x="381000" y="190500"/>
            <a:ext cx="508000" cy="508000"/>
          </a:xfrm>
          <a:prstGeom prst="ellipse">
            <a:avLst/>
          </a:prstGeom>
          <a:solidFill>
            <a:srgbClr val="16A295"/>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l"/>
            <a:r>
              <a:rPr lang="en-US" altLang="ko-KR" sz="1600" b="1">
                <a:solidFill>
                  <a:srgbClr val="FFFFFF"/>
                </a:solidFill>
              </a:rPr>
              <a:t>10</a:t>
            </a:r>
            <a:endParaRPr lang="ko-KR" altLang="en-US" sz="1600" b="1">
              <a:solidFill>
                <a:srgbClr val="FFFFFF"/>
              </a:solidFill>
            </a:endParaRPr>
          </a:p>
        </p:txBody>
      </p:sp>
      <p:sp>
        <p:nvSpPr>
          <p:cNvPr id="5" name="TextBox 4">
            <a:extLst>
              <a:ext uri="{FF2B5EF4-FFF2-40B4-BE49-F238E27FC236}">
                <a16:creationId xmlns:a16="http://schemas.microsoft.com/office/drawing/2014/main" id="{BC1B2A0C-7324-4F06-A534-90FAF346333E}"/>
              </a:ext>
            </a:extLst>
          </p:cNvPr>
          <p:cNvSpPr txBox="1"/>
          <p:nvPr/>
        </p:nvSpPr>
        <p:spPr>
          <a:xfrm>
            <a:off x="1079500" y="190500"/>
            <a:ext cx="3810000" cy="508000"/>
          </a:xfrm>
          <a:prstGeom prst="rect">
            <a:avLst/>
          </a:prstGeom>
          <a:noFill/>
        </p:spPr>
        <p:txBody>
          <a:bodyPr vertOverflow="overflow" vert="horz" wrap="square" rtlCol="0" anchor="t">
            <a:noAutofit/>
          </a:bodyPr>
          <a:lstStyle/>
          <a:p>
            <a:pPr algn="l">
              <a:lnSpc>
                <a:spcPct val="130000"/>
              </a:lnSpc>
            </a:pPr>
            <a:r>
              <a:rPr lang="ko-KR" altLang="en-US" sz="2200" b="1">
                <a:solidFill>
                  <a:srgbClr val="FFFFFF"/>
                </a:solidFill>
                <a:latin typeface="나눔고딕" panose="020D0604000000000000" pitchFamily="50" charset="-127"/>
                <a:ea typeface="나눔고딕" panose="020D0604000000000000" pitchFamily="50" charset="-127"/>
                <a:cs typeface="Arial" panose="020B0604020202020204" pitchFamily="34" charset="0"/>
              </a:rPr>
              <a:t>결론</a:t>
            </a:r>
          </a:p>
        </p:txBody>
      </p:sp>
      <p:grpSp>
        <p:nvGrpSpPr>
          <p:cNvPr id="27" name="그룹 26">
            <a:extLst>
              <a:ext uri="{FF2B5EF4-FFF2-40B4-BE49-F238E27FC236}">
                <a16:creationId xmlns:a16="http://schemas.microsoft.com/office/drawing/2014/main" id="{7298CF3B-A84D-ADF6-3948-50F9EA3D9900}"/>
              </a:ext>
            </a:extLst>
          </p:cNvPr>
          <p:cNvGrpSpPr/>
          <p:nvPr/>
        </p:nvGrpSpPr>
        <p:grpSpPr>
          <a:xfrm>
            <a:off x="503464" y="2167500"/>
            <a:ext cx="11185071" cy="3283023"/>
            <a:chOff x="508000" y="1079500"/>
            <a:chExt cx="11185071" cy="3283023"/>
          </a:xfrm>
        </p:grpSpPr>
        <p:sp>
          <p:nvSpPr>
            <p:cNvPr id="6" name="TextBox 5">
              <a:extLst>
                <a:ext uri="{FF2B5EF4-FFF2-40B4-BE49-F238E27FC236}">
                  <a16:creationId xmlns:a16="http://schemas.microsoft.com/office/drawing/2014/main" id="{BA38A69D-BEEF-4273-B308-C9A310256D24}"/>
                </a:ext>
              </a:extLst>
            </p:cNvPr>
            <p:cNvSpPr txBox="1"/>
            <p:nvPr/>
          </p:nvSpPr>
          <p:spPr>
            <a:xfrm>
              <a:off x="508000" y="1079500"/>
              <a:ext cx="5461000" cy="355600"/>
            </a:xfrm>
            <a:prstGeom prst="rect">
              <a:avLst/>
            </a:prstGeom>
            <a:noFill/>
          </p:spPr>
          <p:txBody>
            <a:bodyPr vertOverflow="overflow" vert="horz" wrap="square" rtlCol="0" anchor="t">
              <a:noAutofit/>
            </a:bodyPr>
            <a:lstStyle/>
            <a:p>
              <a:pPr algn="l"/>
              <a:r>
                <a:rPr lang="ko-KR" altLang="en-US" sz="1600" b="1">
                  <a:solidFill>
                    <a:srgbClr val="2676AC"/>
                  </a:solidFill>
                  <a:latin typeface="나눔고딕" panose="020D0604000000000000" pitchFamily="50" charset="-127"/>
                  <a:ea typeface="나눔고딕" panose="020D0604000000000000" pitchFamily="50" charset="-127"/>
                  <a:cs typeface="Arial" panose="020B0604020202020204" pitchFamily="34" charset="0"/>
                </a:rPr>
                <a:t>우리가 확인한 것</a:t>
              </a:r>
            </a:p>
          </p:txBody>
        </p:sp>
        <p:sp>
          <p:nvSpPr>
            <p:cNvPr id="7" name="타원 6">
              <a:extLst>
                <a:ext uri="{FF2B5EF4-FFF2-40B4-BE49-F238E27FC236}">
                  <a16:creationId xmlns:a16="http://schemas.microsoft.com/office/drawing/2014/main" id="{189276FD-987D-488F-90C0-C082EF97739C}"/>
                </a:ext>
              </a:extLst>
            </p:cNvPr>
            <p:cNvSpPr/>
            <p:nvPr/>
          </p:nvSpPr>
          <p:spPr>
            <a:xfrm>
              <a:off x="635000" y="1549400"/>
              <a:ext cx="152400" cy="152400"/>
            </a:xfrm>
            <a:prstGeom prst="ellipse">
              <a:avLst/>
            </a:prstGeom>
            <a:solidFill>
              <a:srgbClr val="267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8" name="TextBox 7">
              <a:extLst>
                <a:ext uri="{FF2B5EF4-FFF2-40B4-BE49-F238E27FC236}">
                  <a16:creationId xmlns:a16="http://schemas.microsoft.com/office/drawing/2014/main" id="{61E512BB-9A60-4A9B-BE4B-95B577BC6DA6}"/>
                </a:ext>
              </a:extLst>
            </p:cNvPr>
            <p:cNvSpPr txBox="1"/>
            <p:nvPr/>
          </p:nvSpPr>
          <p:spPr>
            <a:xfrm>
              <a:off x="889000" y="1498600"/>
              <a:ext cx="5080000" cy="508000"/>
            </a:xfrm>
            <a:prstGeom prst="rect">
              <a:avLst/>
            </a:prstGeom>
            <a:noFill/>
          </p:spPr>
          <p:txBody>
            <a:bodyPr vertOverflow="overflow" vert="horz" wrap="square" rtlCol="0" anchor="t">
              <a:noAutofit/>
            </a:bodyPr>
            <a:lstStyle/>
            <a:p>
              <a:pPr algn="l"/>
              <a:r>
                <a:rPr lang="ko-KR" altLang="en-US" sz="1200" err="1">
                  <a:solidFill>
                    <a:srgbClr val="444444"/>
                  </a:solidFill>
                  <a:latin typeface="나눔고딕" panose="020D0604000000000000" pitchFamily="50" charset="-127"/>
                  <a:ea typeface="나눔고딕" panose="020D0604000000000000" pitchFamily="50" charset="-127"/>
                  <a:cs typeface="Arial" panose="020B0604020202020204" pitchFamily="34" charset="0"/>
                </a:rPr>
                <a:t>두 모달리티가 함께 입력되는 시점에서 융합이 두 단독을 능가 (F1 0.986 vs 센서 0.907, 이미지 0.925 · 통계적으로 유의)</a:t>
              </a:r>
            </a:p>
          </p:txBody>
        </p:sp>
        <p:sp>
          <p:nvSpPr>
            <p:cNvPr id="9" name="타원 8">
              <a:extLst>
                <a:ext uri="{FF2B5EF4-FFF2-40B4-BE49-F238E27FC236}">
                  <a16:creationId xmlns:a16="http://schemas.microsoft.com/office/drawing/2014/main" id="{BAB5E685-F963-4BBF-A984-6D2AB36D3A0C}"/>
                </a:ext>
              </a:extLst>
            </p:cNvPr>
            <p:cNvSpPr/>
            <p:nvPr/>
          </p:nvSpPr>
          <p:spPr>
            <a:xfrm>
              <a:off x="635000" y="2082800"/>
              <a:ext cx="152400" cy="152400"/>
            </a:xfrm>
            <a:prstGeom prst="ellipse">
              <a:avLst/>
            </a:prstGeom>
            <a:solidFill>
              <a:srgbClr val="16A295"/>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0" name="TextBox 9">
              <a:extLst>
                <a:ext uri="{FF2B5EF4-FFF2-40B4-BE49-F238E27FC236}">
                  <a16:creationId xmlns:a16="http://schemas.microsoft.com/office/drawing/2014/main" id="{E175F7E2-9C3F-42FE-B2FB-4312B40B2628}"/>
                </a:ext>
              </a:extLst>
            </p:cNvPr>
            <p:cNvSpPr txBox="1"/>
            <p:nvPr/>
          </p:nvSpPr>
          <p:spPr>
            <a:xfrm>
              <a:off x="889000" y="2032000"/>
              <a:ext cx="5080000" cy="508000"/>
            </a:xfrm>
            <a:prstGeom prst="rect">
              <a:avLst/>
            </a:prstGeom>
            <a:noFill/>
          </p:spPr>
          <p:txBody>
            <a:bodyPr vertOverflow="overflow" vert="horz" wrap="square" rtlCol="0" anchor="t">
              <a:noAutofit/>
            </a:bodyPr>
            <a:lstStyle/>
            <a:p>
              <a:pPr algn="l"/>
              <a:r>
                <a:rPr lang="en-US" altLang="ko-KR" sz="1200">
                  <a:solidFill>
                    <a:srgbClr val="444444"/>
                  </a:solidFill>
                  <a:latin typeface="나눔고딕" panose="020D0604000000000000" pitchFamily="50" charset="-127"/>
                  <a:ea typeface="나눔고딕" panose="020D0604000000000000" pitchFamily="50" charset="-127"/>
                  <a:cs typeface="Arial" panose="020B0604020202020204" pitchFamily="34" charset="0"/>
                </a:rPr>
                <a:t>이미지가 약하면 융합이 센서 수준을 안전하게 유지하고, 이미지가 강할수록 이득이 커짐</a:t>
              </a:r>
            </a:p>
          </p:txBody>
        </p:sp>
        <p:sp>
          <p:nvSpPr>
            <p:cNvPr id="11" name="타원 10">
              <a:extLst>
                <a:ext uri="{FF2B5EF4-FFF2-40B4-BE49-F238E27FC236}">
                  <a16:creationId xmlns:a16="http://schemas.microsoft.com/office/drawing/2014/main" id="{E2333871-9B83-422F-868D-B7CEFFB08A02}"/>
                </a:ext>
              </a:extLst>
            </p:cNvPr>
            <p:cNvSpPr/>
            <p:nvPr/>
          </p:nvSpPr>
          <p:spPr>
            <a:xfrm>
              <a:off x="635000" y="2616200"/>
              <a:ext cx="152400" cy="152400"/>
            </a:xfrm>
            <a:prstGeom prst="ellipse">
              <a:avLst/>
            </a:prstGeom>
            <a:solidFill>
              <a:srgbClr val="93B64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2" name="TextBox 11">
              <a:extLst>
                <a:ext uri="{FF2B5EF4-FFF2-40B4-BE49-F238E27FC236}">
                  <a16:creationId xmlns:a16="http://schemas.microsoft.com/office/drawing/2014/main" id="{1B69CE7B-D609-419A-8569-338A91169E4F}"/>
                </a:ext>
              </a:extLst>
            </p:cNvPr>
            <p:cNvSpPr txBox="1"/>
            <p:nvPr/>
          </p:nvSpPr>
          <p:spPr>
            <a:xfrm>
              <a:off x="889000" y="2565400"/>
              <a:ext cx="5080000" cy="508000"/>
            </a:xfrm>
            <a:prstGeom prst="rect">
              <a:avLst/>
            </a:prstGeom>
            <a:noFill/>
          </p:spPr>
          <p:txBody>
            <a:bodyPr vertOverflow="overflow" vert="horz" wrap="square" rtlCol="0" anchor="t">
              <a:noAutofit/>
            </a:bodyPr>
            <a:lstStyle/>
            <a:p>
              <a:pPr algn="l"/>
              <a:r>
                <a:rPr lang="en-US" altLang="ko-KR" sz="1200">
                  <a:solidFill>
                    <a:srgbClr val="444444"/>
                  </a:solidFill>
                  <a:latin typeface="나눔고딕" panose="020D0604000000000000" pitchFamily="50" charset="-127"/>
                  <a:ea typeface="나눔고딕" panose="020D0604000000000000" pitchFamily="50" charset="-127"/>
                  <a:cs typeface="Arial" panose="020B0604020202020204" pitchFamily="34" charset="0"/>
                </a:rPr>
                <a:t>이미지가 없는 시점엔 자동으로 센서만 사용 → 결측에 견고한 시스템</a:t>
              </a:r>
            </a:p>
          </p:txBody>
        </p:sp>
        <p:sp>
          <p:nvSpPr>
            <p:cNvPr id="13" name="타원 12">
              <a:extLst>
                <a:ext uri="{FF2B5EF4-FFF2-40B4-BE49-F238E27FC236}">
                  <a16:creationId xmlns:a16="http://schemas.microsoft.com/office/drawing/2014/main" id="{DB01A3C4-731A-4425-9DA1-2243602803F0}"/>
                </a:ext>
              </a:extLst>
            </p:cNvPr>
            <p:cNvSpPr/>
            <p:nvPr/>
          </p:nvSpPr>
          <p:spPr>
            <a:xfrm>
              <a:off x="635000" y="3149600"/>
              <a:ext cx="152400" cy="152400"/>
            </a:xfrm>
            <a:prstGeom prst="ellipse">
              <a:avLst/>
            </a:prstGeom>
            <a:solidFill>
              <a:srgbClr val="F29E1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4" name="TextBox 13">
              <a:extLst>
                <a:ext uri="{FF2B5EF4-FFF2-40B4-BE49-F238E27FC236}">
                  <a16:creationId xmlns:a16="http://schemas.microsoft.com/office/drawing/2014/main" id="{7EB5D305-AD62-4FB8-B5E9-75A3F59C0578}"/>
                </a:ext>
              </a:extLst>
            </p:cNvPr>
            <p:cNvSpPr txBox="1"/>
            <p:nvPr/>
          </p:nvSpPr>
          <p:spPr>
            <a:xfrm>
              <a:off x="889000" y="3098800"/>
              <a:ext cx="5080000" cy="508000"/>
            </a:xfrm>
            <a:prstGeom prst="rect">
              <a:avLst/>
            </a:prstGeom>
            <a:noFill/>
          </p:spPr>
          <p:txBody>
            <a:bodyPr vertOverflow="overflow" vert="horz" wrap="square" rtlCol="0" anchor="t">
              <a:noAutofit/>
            </a:bodyPr>
            <a:lstStyle/>
            <a:p>
              <a:pPr algn="l"/>
              <a:r>
                <a:rPr lang="ko-KR" altLang="en-US" sz="1200">
                  <a:solidFill>
                    <a:srgbClr val="444444"/>
                  </a:solidFill>
                  <a:latin typeface="나눔고딕" panose="020D0604000000000000" pitchFamily="50" charset="-127"/>
                  <a:ea typeface="나눔고딕" panose="020D0604000000000000" pitchFamily="50" charset="-127"/>
                  <a:cs typeface="Arial" panose="020B0604020202020204" pitchFamily="34" charset="0"/>
                </a:rPr>
                <a:t>‘멀티모달이 좋다’가 아니라 ‘어떤 조건에서 어떻게 좋은가’를 정량적으로 규명</a:t>
              </a:r>
            </a:p>
          </p:txBody>
        </p:sp>
        <p:sp>
          <p:nvSpPr>
            <p:cNvPr id="15" name="TextBox 14">
              <a:extLst>
                <a:ext uri="{FF2B5EF4-FFF2-40B4-BE49-F238E27FC236}">
                  <a16:creationId xmlns:a16="http://schemas.microsoft.com/office/drawing/2014/main" id="{0F363533-564F-4D1A-8877-EB3DF6A0B60C}"/>
                </a:ext>
              </a:extLst>
            </p:cNvPr>
            <p:cNvSpPr txBox="1"/>
            <p:nvPr/>
          </p:nvSpPr>
          <p:spPr>
            <a:xfrm>
              <a:off x="6477000" y="1079500"/>
              <a:ext cx="5207000" cy="355600"/>
            </a:xfrm>
            <a:prstGeom prst="rect">
              <a:avLst/>
            </a:prstGeom>
            <a:noFill/>
          </p:spPr>
          <p:txBody>
            <a:bodyPr vertOverflow="overflow" vert="horz" wrap="square" rtlCol="0" anchor="t">
              <a:noAutofit/>
            </a:bodyPr>
            <a:lstStyle/>
            <a:p>
              <a:pPr algn="l"/>
              <a:r>
                <a:rPr lang="ko-KR" altLang="en-US" sz="1600" b="1">
                  <a:solidFill>
                    <a:srgbClr val="E8584F"/>
                  </a:solidFill>
                  <a:latin typeface="나눔고딕" panose="020D0604000000000000" pitchFamily="50" charset="-127"/>
                  <a:ea typeface="나눔고딕" panose="020D0604000000000000" pitchFamily="50" charset="-127"/>
                  <a:cs typeface="Arial" panose="020B0604020202020204" pitchFamily="34" charset="0"/>
                </a:rPr>
                <a:t>프로젝트 의의</a:t>
              </a:r>
            </a:p>
          </p:txBody>
        </p:sp>
        <p:sp>
          <p:nvSpPr>
            <p:cNvPr id="16" name="타원 15">
              <a:extLst>
                <a:ext uri="{FF2B5EF4-FFF2-40B4-BE49-F238E27FC236}">
                  <a16:creationId xmlns:a16="http://schemas.microsoft.com/office/drawing/2014/main" id="{56DE1520-C052-4F1D-91E9-24FE270FBAB8}"/>
                </a:ext>
              </a:extLst>
            </p:cNvPr>
            <p:cNvSpPr/>
            <p:nvPr/>
          </p:nvSpPr>
          <p:spPr>
            <a:xfrm>
              <a:off x="6604000" y="1549400"/>
              <a:ext cx="152400" cy="152400"/>
            </a:xfrm>
            <a:prstGeom prst="ellipse">
              <a:avLst/>
            </a:prstGeom>
            <a:solidFill>
              <a:srgbClr val="E8584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7" name="TextBox 16">
              <a:extLst>
                <a:ext uri="{FF2B5EF4-FFF2-40B4-BE49-F238E27FC236}">
                  <a16:creationId xmlns:a16="http://schemas.microsoft.com/office/drawing/2014/main" id="{02DE8309-9F4D-4C4C-ABB0-911C89EA4E19}"/>
                </a:ext>
              </a:extLst>
            </p:cNvPr>
            <p:cNvSpPr txBox="1"/>
            <p:nvPr/>
          </p:nvSpPr>
          <p:spPr>
            <a:xfrm>
              <a:off x="6858000" y="1488611"/>
              <a:ext cx="4835071" cy="508000"/>
            </a:xfrm>
            <a:prstGeom prst="rect">
              <a:avLst/>
            </a:prstGeom>
            <a:noFill/>
          </p:spPr>
          <p:txBody>
            <a:bodyPr vertOverflow="overflow" vert="horz" wrap="square" rtlCol="0" anchor="t">
              <a:noAutofit/>
            </a:bodyPr>
            <a:lstStyle/>
            <a:p>
              <a:pPr algn="l"/>
              <a:r>
                <a:rPr lang="ko-KR" altLang="en-US" sz="1200">
                  <a:solidFill>
                    <a:srgbClr val="444444"/>
                  </a:solidFill>
                  <a:latin typeface="나눔고딕" panose="020D0604000000000000" pitchFamily="50" charset="-127"/>
                  <a:ea typeface="나눔고딕" panose="020D0604000000000000" pitchFamily="50" charset="-127"/>
                  <a:cs typeface="Arial" panose="020B0604020202020204" pitchFamily="34" charset="0"/>
                </a:rPr>
                <a:t>실제 산업 환경(카메라가 항상 가용하지 않은 상황)에 적용 가능한 견고한 멀티모달 구조 설계</a:t>
              </a:r>
            </a:p>
          </p:txBody>
        </p:sp>
        <p:sp>
          <p:nvSpPr>
            <p:cNvPr id="18" name="타원 17">
              <a:extLst>
                <a:ext uri="{FF2B5EF4-FFF2-40B4-BE49-F238E27FC236}">
                  <a16:creationId xmlns:a16="http://schemas.microsoft.com/office/drawing/2014/main" id="{35F5A69E-92A2-4659-84BF-4DA043AE353C}"/>
                </a:ext>
              </a:extLst>
            </p:cNvPr>
            <p:cNvSpPr/>
            <p:nvPr/>
          </p:nvSpPr>
          <p:spPr>
            <a:xfrm>
              <a:off x="6604000" y="2082800"/>
              <a:ext cx="152400" cy="152400"/>
            </a:xfrm>
            <a:prstGeom prst="ellipse">
              <a:avLst/>
            </a:prstGeom>
            <a:solidFill>
              <a:srgbClr val="E8584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9" name="TextBox 18">
              <a:extLst>
                <a:ext uri="{FF2B5EF4-FFF2-40B4-BE49-F238E27FC236}">
                  <a16:creationId xmlns:a16="http://schemas.microsoft.com/office/drawing/2014/main" id="{36B1CB5B-7772-4248-8681-713DAD99DA86}"/>
                </a:ext>
              </a:extLst>
            </p:cNvPr>
            <p:cNvSpPr txBox="1"/>
            <p:nvPr/>
          </p:nvSpPr>
          <p:spPr>
            <a:xfrm>
              <a:off x="6858000" y="2022011"/>
              <a:ext cx="4835071" cy="508000"/>
            </a:xfrm>
            <a:prstGeom prst="rect">
              <a:avLst/>
            </a:prstGeom>
            <a:noFill/>
          </p:spPr>
          <p:txBody>
            <a:bodyPr vertOverflow="overflow" vert="horz" wrap="square" rtlCol="0" anchor="t">
              <a:noAutofit/>
            </a:bodyPr>
            <a:lstStyle/>
            <a:p>
              <a:pPr algn="l"/>
              <a:r>
                <a:rPr lang="ko-KR" altLang="en-US" sz="1200">
                  <a:solidFill>
                    <a:srgbClr val="444444"/>
                  </a:solidFill>
                  <a:latin typeface="나눔고딕" panose="020D0604000000000000" pitchFamily="50" charset="-127"/>
                  <a:ea typeface="나눔고딕" panose="020D0604000000000000" pitchFamily="50" charset="-127"/>
                  <a:cs typeface="Arial" panose="020B0604020202020204" pitchFamily="34" charset="0"/>
                </a:rPr>
                <a:t>단계별 통제 실험으로 융합 효과의 발생 조건을 정량적으로 분석</a:t>
              </a:r>
            </a:p>
          </p:txBody>
        </p:sp>
        <p:sp>
          <p:nvSpPr>
            <p:cNvPr id="20" name="타원 19">
              <a:extLst>
                <a:ext uri="{FF2B5EF4-FFF2-40B4-BE49-F238E27FC236}">
                  <a16:creationId xmlns:a16="http://schemas.microsoft.com/office/drawing/2014/main" id="{233A48B4-1A56-4258-ADD7-CAC382C67A28}"/>
                </a:ext>
              </a:extLst>
            </p:cNvPr>
            <p:cNvSpPr/>
            <p:nvPr/>
          </p:nvSpPr>
          <p:spPr>
            <a:xfrm>
              <a:off x="6604000" y="2616200"/>
              <a:ext cx="152400" cy="152400"/>
            </a:xfrm>
            <a:prstGeom prst="ellipse">
              <a:avLst/>
            </a:prstGeom>
            <a:solidFill>
              <a:srgbClr val="E8584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21" name="TextBox 20">
              <a:extLst>
                <a:ext uri="{FF2B5EF4-FFF2-40B4-BE49-F238E27FC236}">
                  <a16:creationId xmlns:a16="http://schemas.microsoft.com/office/drawing/2014/main" id="{6D0AC1FF-B7C0-4083-8C7E-23F829AF0948}"/>
                </a:ext>
              </a:extLst>
            </p:cNvPr>
            <p:cNvSpPr txBox="1"/>
            <p:nvPr/>
          </p:nvSpPr>
          <p:spPr>
            <a:xfrm>
              <a:off x="6858000" y="2555411"/>
              <a:ext cx="4835071" cy="508000"/>
            </a:xfrm>
            <a:prstGeom prst="rect">
              <a:avLst/>
            </a:prstGeom>
            <a:noFill/>
          </p:spPr>
          <p:txBody>
            <a:bodyPr vertOverflow="overflow" vert="horz" wrap="square" rtlCol="0" anchor="t">
              <a:noAutofit/>
            </a:bodyPr>
            <a:lstStyle/>
            <a:p>
              <a:pPr algn="l"/>
              <a:r>
                <a:rPr lang="ko-KR" altLang="en-US" sz="1200">
                  <a:solidFill>
                    <a:srgbClr val="444444"/>
                  </a:solidFill>
                  <a:latin typeface="나눔고딕" panose="020D0604000000000000" pitchFamily="50" charset="-127"/>
                  <a:ea typeface="나눔고딕" panose="020D0604000000000000" pitchFamily="50" charset="-127"/>
                  <a:cs typeface="Arial" panose="020B0604020202020204" pitchFamily="34" charset="0"/>
                </a:rPr>
                <a:t>강의에서 배운 CNN·LSTM·전이학습·멀티모달 융합을 실제 산업 데이터에 직접 구현·통합</a:t>
              </a:r>
            </a:p>
          </p:txBody>
        </p:sp>
        <p:sp>
          <p:nvSpPr>
            <p:cNvPr id="22" name="타원 21">
              <a:extLst>
                <a:ext uri="{FF2B5EF4-FFF2-40B4-BE49-F238E27FC236}">
                  <a16:creationId xmlns:a16="http://schemas.microsoft.com/office/drawing/2014/main" id="{3716658D-D286-4D58-98B5-5FC0DDA6750C}"/>
                </a:ext>
              </a:extLst>
            </p:cNvPr>
            <p:cNvSpPr/>
            <p:nvPr/>
          </p:nvSpPr>
          <p:spPr>
            <a:xfrm>
              <a:off x="6604000" y="3149600"/>
              <a:ext cx="152400" cy="152400"/>
            </a:xfrm>
            <a:prstGeom prst="ellipse">
              <a:avLst/>
            </a:prstGeom>
            <a:solidFill>
              <a:srgbClr val="E8584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23" name="TextBox 22">
              <a:extLst>
                <a:ext uri="{FF2B5EF4-FFF2-40B4-BE49-F238E27FC236}">
                  <a16:creationId xmlns:a16="http://schemas.microsoft.com/office/drawing/2014/main" id="{434C0496-91C1-4F88-AA19-195D1A6CA473}"/>
                </a:ext>
              </a:extLst>
            </p:cNvPr>
            <p:cNvSpPr txBox="1"/>
            <p:nvPr/>
          </p:nvSpPr>
          <p:spPr>
            <a:xfrm>
              <a:off x="6858000" y="3088811"/>
              <a:ext cx="4835071" cy="508000"/>
            </a:xfrm>
            <a:prstGeom prst="rect">
              <a:avLst/>
            </a:prstGeom>
            <a:noFill/>
          </p:spPr>
          <p:txBody>
            <a:bodyPr vertOverflow="overflow" vert="horz" wrap="square" rtlCol="0" anchor="t">
              <a:noAutofit/>
            </a:bodyPr>
            <a:lstStyle/>
            <a:p>
              <a:pPr algn="l"/>
              <a:r>
                <a:rPr lang="ko-KR" altLang="en-US" sz="1200" dirty="0">
                  <a:solidFill>
                    <a:srgbClr val="444444"/>
                  </a:solidFill>
                  <a:latin typeface="나눔고딕" panose="020D0604000000000000" pitchFamily="50" charset="-127"/>
                  <a:ea typeface="나눔고딕" panose="020D0604000000000000" pitchFamily="50" charset="-127"/>
                  <a:cs typeface="Arial" panose="020B0604020202020204" pitchFamily="34" charset="0"/>
                </a:rPr>
                <a:t>중간발표의 ‘데이터 균형’ 가설을 추가 실험으로 검증한 가설–검증형 프로젝트</a:t>
              </a:r>
            </a:p>
          </p:txBody>
        </p:sp>
        <p:sp>
          <p:nvSpPr>
            <p:cNvPr id="24" name="사각형: 둥근 모서리 23">
              <a:extLst>
                <a:ext uri="{FF2B5EF4-FFF2-40B4-BE49-F238E27FC236}">
                  <a16:creationId xmlns:a16="http://schemas.microsoft.com/office/drawing/2014/main" id="{B1D319AA-6843-4098-9661-E3B04AF5CBFA}"/>
                </a:ext>
              </a:extLst>
            </p:cNvPr>
            <p:cNvSpPr/>
            <p:nvPr/>
          </p:nvSpPr>
          <p:spPr>
            <a:xfrm>
              <a:off x="508000" y="3829123"/>
              <a:ext cx="11176000" cy="533400"/>
            </a:xfrm>
            <a:prstGeom prst="roundRect">
              <a:avLst/>
            </a:prstGeom>
            <a:solidFill>
              <a:srgbClr val="F5F7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dirty="0"/>
            </a:p>
          </p:txBody>
        </p:sp>
        <p:sp>
          <p:nvSpPr>
            <p:cNvPr id="26" name="TextBox 25">
              <a:extLst>
                <a:ext uri="{FF2B5EF4-FFF2-40B4-BE49-F238E27FC236}">
                  <a16:creationId xmlns:a16="http://schemas.microsoft.com/office/drawing/2014/main" id="{7D8AFD0B-A337-40C3-BA3B-BF2C7795271F}"/>
                </a:ext>
              </a:extLst>
            </p:cNvPr>
            <p:cNvSpPr txBox="1"/>
            <p:nvPr/>
          </p:nvSpPr>
          <p:spPr>
            <a:xfrm>
              <a:off x="635000" y="3950133"/>
              <a:ext cx="10795000" cy="291380"/>
            </a:xfrm>
            <a:prstGeom prst="rect">
              <a:avLst/>
            </a:prstGeom>
            <a:noFill/>
          </p:spPr>
          <p:txBody>
            <a:bodyPr vertOverflow="overflow" vert="horz" wrap="square" rtlCol="0" anchor="t">
              <a:noAutofit/>
            </a:bodyPr>
            <a:lstStyle/>
            <a:p>
              <a:pPr algn="l"/>
              <a:r>
                <a:rPr lang="en-US" altLang="ko-KR" sz="1200" dirty="0" err="1">
                  <a:solidFill>
                    <a:srgbClr val="555555"/>
                  </a:solidFill>
                  <a:latin typeface="나눔고딕" panose="020D0604000000000000" pitchFamily="50" charset="-127"/>
                  <a:ea typeface="나눔고딕" panose="020D0604000000000000" pitchFamily="50" charset="-127"/>
                  <a:cs typeface="Arial" panose="020B0604020202020204" pitchFamily="34" charset="0"/>
                </a:rPr>
                <a:t>단순한</a:t>
              </a:r>
              <a:r>
                <a:rPr lang="en-US" altLang="ko-KR" sz="1200" dirty="0">
                  <a:solidFill>
                    <a:srgbClr val="555555"/>
                  </a:solidFill>
                  <a:latin typeface="나눔고딕" panose="020D0604000000000000" pitchFamily="50" charset="-127"/>
                  <a:ea typeface="나눔고딕" panose="020D0604000000000000" pitchFamily="50" charset="-127"/>
                  <a:cs typeface="Arial" panose="020B0604020202020204" pitchFamily="34" charset="0"/>
                </a:rPr>
                <a:t> </a:t>
              </a:r>
              <a:r>
                <a:rPr lang="en-US" altLang="ko-KR" sz="1200" dirty="0" err="1">
                  <a:solidFill>
                    <a:srgbClr val="555555"/>
                  </a:solidFill>
                  <a:latin typeface="나눔고딕" panose="020D0604000000000000" pitchFamily="50" charset="-127"/>
                  <a:ea typeface="나눔고딕" panose="020D0604000000000000" pitchFamily="50" charset="-127"/>
                  <a:cs typeface="Arial" panose="020B0604020202020204" pitchFamily="34" charset="0"/>
                </a:rPr>
                <a:t>결합을</a:t>
              </a:r>
              <a:r>
                <a:rPr lang="en-US" altLang="ko-KR" sz="1200" dirty="0">
                  <a:solidFill>
                    <a:srgbClr val="555555"/>
                  </a:solidFill>
                  <a:latin typeface="나눔고딕" panose="020D0604000000000000" pitchFamily="50" charset="-127"/>
                  <a:ea typeface="나눔고딕" panose="020D0604000000000000" pitchFamily="50" charset="-127"/>
                  <a:cs typeface="Arial" panose="020B0604020202020204" pitchFamily="34" charset="0"/>
                </a:rPr>
                <a:t> </a:t>
              </a:r>
              <a:r>
                <a:rPr lang="en-US" altLang="ko-KR" sz="1200" dirty="0" err="1">
                  <a:solidFill>
                    <a:srgbClr val="555555"/>
                  </a:solidFill>
                  <a:latin typeface="나눔고딕" panose="020D0604000000000000" pitchFamily="50" charset="-127"/>
                  <a:ea typeface="나눔고딕" panose="020D0604000000000000" pitchFamily="50" charset="-127"/>
                  <a:cs typeface="Arial" panose="020B0604020202020204" pitchFamily="34" charset="0"/>
                </a:rPr>
                <a:t>넘어</a:t>
              </a:r>
              <a:r>
                <a:rPr lang="en-US" altLang="ko-KR" sz="1200" dirty="0">
                  <a:solidFill>
                    <a:srgbClr val="555555"/>
                  </a:solidFill>
                  <a:latin typeface="나눔고딕" panose="020D0604000000000000" pitchFamily="50" charset="-127"/>
                  <a:ea typeface="나눔고딕" panose="020D0604000000000000" pitchFamily="50" charset="-127"/>
                  <a:cs typeface="Arial" panose="020B0604020202020204" pitchFamily="34" charset="0"/>
                </a:rPr>
                <a:t>, </a:t>
              </a:r>
              <a:r>
                <a:rPr lang="en-US" altLang="ko-KR" sz="1200" dirty="0" err="1">
                  <a:solidFill>
                    <a:srgbClr val="555555"/>
                  </a:solidFill>
                  <a:latin typeface="나눔고딕" panose="020D0604000000000000" pitchFamily="50" charset="-127"/>
                  <a:ea typeface="나눔고딕" panose="020D0604000000000000" pitchFamily="50" charset="-127"/>
                  <a:cs typeface="Arial" panose="020B0604020202020204" pitchFamily="34" charset="0"/>
                </a:rPr>
                <a:t>언제·어떻게</a:t>
              </a:r>
              <a:r>
                <a:rPr lang="en-US" altLang="ko-KR" sz="1200" dirty="0">
                  <a:solidFill>
                    <a:srgbClr val="555555"/>
                  </a:solidFill>
                  <a:latin typeface="나눔고딕" panose="020D0604000000000000" pitchFamily="50" charset="-127"/>
                  <a:ea typeface="나눔고딕" panose="020D0604000000000000" pitchFamily="50" charset="-127"/>
                  <a:cs typeface="Arial" panose="020B0604020202020204" pitchFamily="34" charset="0"/>
                </a:rPr>
                <a:t> </a:t>
              </a:r>
              <a:r>
                <a:rPr lang="en-US" altLang="ko-KR" sz="1200" dirty="0" err="1">
                  <a:solidFill>
                    <a:srgbClr val="555555"/>
                  </a:solidFill>
                  <a:latin typeface="나눔고딕" panose="020D0604000000000000" pitchFamily="50" charset="-127"/>
                  <a:ea typeface="나눔고딕" panose="020D0604000000000000" pitchFamily="50" charset="-127"/>
                  <a:cs typeface="Arial" panose="020B0604020202020204" pitchFamily="34" charset="0"/>
                </a:rPr>
                <a:t>효과적인지를</a:t>
              </a:r>
              <a:r>
                <a:rPr lang="en-US" altLang="ko-KR" sz="1200" dirty="0">
                  <a:solidFill>
                    <a:srgbClr val="555555"/>
                  </a:solidFill>
                  <a:latin typeface="나눔고딕" panose="020D0604000000000000" pitchFamily="50" charset="-127"/>
                  <a:ea typeface="나눔고딕" panose="020D0604000000000000" pitchFamily="50" charset="-127"/>
                  <a:cs typeface="Arial" panose="020B0604020202020204" pitchFamily="34" charset="0"/>
                </a:rPr>
                <a:t> </a:t>
              </a:r>
              <a:r>
                <a:rPr lang="en-US" altLang="ko-KR" sz="1200" dirty="0" err="1">
                  <a:solidFill>
                    <a:srgbClr val="555555"/>
                  </a:solidFill>
                  <a:latin typeface="나눔고딕" panose="020D0604000000000000" pitchFamily="50" charset="-127"/>
                  <a:ea typeface="나눔고딕" panose="020D0604000000000000" pitchFamily="50" charset="-127"/>
                  <a:cs typeface="Arial" panose="020B0604020202020204" pitchFamily="34" charset="0"/>
                </a:rPr>
                <a:t>실험</a:t>
              </a:r>
              <a:r>
                <a:rPr lang="ko-KR" altLang="en-US" sz="1200" dirty="0">
                  <a:solidFill>
                    <a:srgbClr val="555555"/>
                  </a:solidFill>
                  <a:latin typeface="나눔고딕" panose="020D0604000000000000" pitchFamily="50" charset="-127"/>
                  <a:ea typeface="나눔고딕" panose="020D0604000000000000" pitchFamily="50" charset="-127"/>
                  <a:cs typeface="Arial" panose="020B0604020202020204" pitchFamily="34" charset="0"/>
                </a:rPr>
                <a:t>으로 검증</a:t>
              </a:r>
              <a:endParaRPr lang="en-US" altLang="ko-KR" sz="1200" dirty="0">
                <a:solidFill>
                  <a:srgbClr val="555555"/>
                </a:solidFill>
                <a:latin typeface="나눔고딕" panose="020D0604000000000000" pitchFamily="50" charset="-127"/>
                <a:ea typeface="나눔고딕" panose="020D0604000000000000" pitchFamily="50" charset="-127"/>
                <a:cs typeface="Arial" panose="020B0604020202020204" pitchFamily="34" charset="0"/>
              </a:endParaRPr>
            </a:p>
          </p:txBody>
        </p:sp>
      </p:grpSp>
    </p:spTree>
    <p:extLst>
      <p:ext uri="{BB962C8B-B14F-4D97-AF65-F5344CB8AC3E}">
        <p14:creationId xmlns:p14="http://schemas.microsoft.com/office/powerpoint/2010/main" val="436776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직사각형 2">
            <a:extLst>
              <a:ext uri="{FF2B5EF4-FFF2-40B4-BE49-F238E27FC236}">
                <a16:creationId xmlns:a16="http://schemas.microsoft.com/office/drawing/2014/main" id="{B0C173FE-BDB9-44F4-9507-2BDC13B0A1C6}"/>
              </a:ext>
            </a:extLst>
          </p:cNvPr>
          <p:cNvSpPr/>
          <p:nvPr/>
        </p:nvSpPr>
        <p:spPr>
          <a:xfrm>
            <a:off x="0" y="0"/>
            <a:ext cx="12192000" cy="889000"/>
          </a:xfrm>
          <a:prstGeom prst="rect">
            <a:avLst/>
          </a:prstGeom>
          <a:solidFill>
            <a:srgbClr val="1B2A4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4" name="타원 3">
            <a:extLst>
              <a:ext uri="{FF2B5EF4-FFF2-40B4-BE49-F238E27FC236}">
                <a16:creationId xmlns:a16="http://schemas.microsoft.com/office/drawing/2014/main" id="{48E27B50-23DB-4868-9BF9-20C20352E441}"/>
              </a:ext>
            </a:extLst>
          </p:cNvPr>
          <p:cNvSpPr/>
          <p:nvPr/>
        </p:nvSpPr>
        <p:spPr>
          <a:xfrm>
            <a:off x="381000" y="190500"/>
            <a:ext cx="508000" cy="508000"/>
          </a:xfrm>
          <a:prstGeom prst="ellipse">
            <a:avLst/>
          </a:prstGeom>
          <a:solidFill>
            <a:srgbClr val="16A295"/>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ctr"/>
            <a:r>
              <a:rPr lang="en-US" altLang="ko-KR" sz="1600" b="1">
                <a:solidFill>
                  <a:srgbClr val="FFFFFF"/>
                </a:solidFill>
              </a:rPr>
              <a:t>11</a:t>
            </a:r>
            <a:endParaRPr lang="ko-KR" altLang="en-US" sz="1600" b="1">
              <a:solidFill>
                <a:srgbClr val="FFFFFF"/>
              </a:solidFill>
            </a:endParaRPr>
          </a:p>
        </p:txBody>
      </p:sp>
      <p:sp>
        <p:nvSpPr>
          <p:cNvPr id="5" name="TextBox 4">
            <a:extLst>
              <a:ext uri="{FF2B5EF4-FFF2-40B4-BE49-F238E27FC236}">
                <a16:creationId xmlns:a16="http://schemas.microsoft.com/office/drawing/2014/main" id="{C43E53DA-9CC3-4755-ADC0-C9AC56C8FBBD}"/>
              </a:ext>
            </a:extLst>
          </p:cNvPr>
          <p:cNvSpPr txBox="1"/>
          <p:nvPr/>
        </p:nvSpPr>
        <p:spPr>
          <a:xfrm>
            <a:off x="1079500" y="190500"/>
            <a:ext cx="5080000" cy="508000"/>
          </a:xfrm>
          <a:prstGeom prst="rect">
            <a:avLst/>
          </a:prstGeom>
          <a:noFill/>
        </p:spPr>
        <p:txBody>
          <a:bodyPr vertOverflow="overflow" vert="horz" wrap="square" rtlCol="0" anchor="t">
            <a:noAutofit/>
          </a:bodyPr>
          <a:lstStyle/>
          <a:p>
            <a:pPr algn="l">
              <a:lnSpc>
                <a:spcPct val="130000"/>
              </a:lnSpc>
            </a:pPr>
            <a:r>
              <a:rPr lang="ko-KR" altLang="en-US" sz="2200" b="1">
                <a:solidFill>
                  <a:srgbClr val="FFFFFF"/>
                </a:solidFill>
                <a:latin typeface="나눔고딕" panose="020D0604000000000000" pitchFamily="50" charset="-127"/>
                <a:ea typeface="나눔고딕" panose="020D0604000000000000" pitchFamily="50" charset="-127"/>
                <a:cs typeface="Arial" panose="020B0604020202020204" pitchFamily="34" charset="0"/>
              </a:rPr>
              <a:t>한계와 향후 방향</a:t>
            </a:r>
          </a:p>
        </p:txBody>
      </p:sp>
      <p:sp>
        <p:nvSpPr>
          <p:cNvPr id="6" name="사각형: 둥근 모서리 5">
            <a:extLst>
              <a:ext uri="{FF2B5EF4-FFF2-40B4-BE49-F238E27FC236}">
                <a16:creationId xmlns:a16="http://schemas.microsoft.com/office/drawing/2014/main" id="{9A273F3F-2AEF-447C-BC82-BB76D864C141}"/>
              </a:ext>
            </a:extLst>
          </p:cNvPr>
          <p:cNvSpPr/>
          <p:nvPr/>
        </p:nvSpPr>
        <p:spPr>
          <a:xfrm>
            <a:off x="508000" y="1795407"/>
            <a:ext cx="3429000" cy="2286000"/>
          </a:xfrm>
          <a:prstGeom prst="roundRect">
            <a:avLst/>
          </a:prstGeom>
          <a:solidFill>
            <a:srgbClr val="F0F4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7" name="타원 6">
            <a:extLst>
              <a:ext uri="{FF2B5EF4-FFF2-40B4-BE49-F238E27FC236}">
                <a16:creationId xmlns:a16="http://schemas.microsoft.com/office/drawing/2014/main" id="{C73788D4-5A1F-400E-890E-B6BFD40CDCE1}"/>
              </a:ext>
            </a:extLst>
          </p:cNvPr>
          <p:cNvSpPr/>
          <p:nvPr/>
        </p:nvSpPr>
        <p:spPr>
          <a:xfrm>
            <a:off x="698500" y="1960507"/>
            <a:ext cx="558800" cy="558800"/>
          </a:xfrm>
          <a:prstGeom prst="ellipse">
            <a:avLst/>
          </a:prstGeom>
          <a:solidFill>
            <a:srgbClr val="E8584F"/>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ctr"/>
            <a:r>
              <a:rPr lang="en-US" altLang="ko-KR" b="1">
                <a:solidFill>
                  <a:srgbClr val="FFFFFF"/>
                </a:solidFill>
              </a:rPr>
              <a:t>1</a:t>
            </a:r>
            <a:endParaRPr lang="ko-KR" altLang="en-US" b="1">
              <a:solidFill>
                <a:srgbClr val="FFFFFF"/>
              </a:solidFill>
            </a:endParaRPr>
          </a:p>
        </p:txBody>
      </p:sp>
      <p:sp>
        <p:nvSpPr>
          <p:cNvPr id="8" name="TextBox 7">
            <a:extLst>
              <a:ext uri="{FF2B5EF4-FFF2-40B4-BE49-F238E27FC236}">
                <a16:creationId xmlns:a16="http://schemas.microsoft.com/office/drawing/2014/main" id="{15996D88-2BF2-4E0A-A04D-9CEDE1D6FCF3}"/>
              </a:ext>
            </a:extLst>
          </p:cNvPr>
          <p:cNvSpPr txBox="1"/>
          <p:nvPr/>
        </p:nvSpPr>
        <p:spPr>
          <a:xfrm>
            <a:off x="698500" y="2766485"/>
            <a:ext cx="3048000" cy="381000"/>
          </a:xfrm>
          <a:prstGeom prst="rect">
            <a:avLst/>
          </a:prstGeom>
          <a:noFill/>
        </p:spPr>
        <p:txBody>
          <a:bodyPr vertOverflow="overflow" vert="horz" wrap="square" rtlCol="0" anchor="t">
            <a:noAutofit/>
          </a:bodyPr>
          <a:lstStyle/>
          <a:p>
            <a:pPr algn="l"/>
            <a:r>
              <a:rPr lang="ko-KR" altLang="en-US" sz="1400" b="1">
                <a:solidFill>
                  <a:srgbClr val="1B2A4A"/>
                </a:solidFill>
                <a:latin typeface="나눔고딕" panose="020D0604000000000000" pitchFamily="50" charset="-127"/>
                <a:ea typeface="나눔고딕" panose="020D0604000000000000" pitchFamily="50" charset="-127"/>
                <a:cs typeface="Arial" panose="020B0604020202020204" pitchFamily="34" charset="0"/>
              </a:rPr>
              <a:t>단일 데이터셋 검증</a:t>
            </a:r>
          </a:p>
        </p:txBody>
      </p:sp>
      <p:sp>
        <p:nvSpPr>
          <p:cNvPr id="9" name="TextBox 8">
            <a:extLst>
              <a:ext uri="{FF2B5EF4-FFF2-40B4-BE49-F238E27FC236}">
                <a16:creationId xmlns:a16="http://schemas.microsoft.com/office/drawing/2014/main" id="{0BFC10EF-A748-466A-8A6C-C1187D2021BF}"/>
              </a:ext>
            </a:extLst>
          </p:cNvPr>
          <p:cNvSpPr txBox="1"/>
          <p:nvPr/>
        </p:nvSpPr>
        <p:spPr>
          <a:xfrm>
            <a:off x="698500" y="3185585"/>
            <a:ext cx="3048000" cy="805180"/>
          </a:xfrm>
          <a:prstGeom prst="rect">
            <a:avLst/>
          </a:prstGeom>
          <a:noFill/>
        </p:spPr>
        <p:txBody>
          <a:bodyPr vertOverflow="overflow" vert="horz" wrap="square" rtlCol="0" anchor="t">
            <a:noAutofit/>
          </a:bodyPr>
          <a:lstStyle/>
          <a:p>
            <a:pPr algn="l"/>
            <a:r>
              <a:rPr lang="ko-KR" altLang="en-US" sz="1100">
                <a:solidFill>
                  <a:srgbClr val="555555"/>
                </a:solidFill>
                <a:latin typeface="나눔고딕" panose="020D0604000000000000" pitchFamily="50" charset="-127"/>
                <a:ea typeface="나눔고딕" panose="020D0604000000000000" pitchFamily="50" charset="-127"/>
                <a:cs typeface="Arial" panose="020B0604020202020204" pitchFamily="34" charset="0"/>
              </a:rPr>
              <a:t>Future Factories 한 데이터셋에서만 검증 → 다른 제조 환경 일반화 검증 필요</a:t>
            </a:r>
          </a:p>
        </p:txBody>
      </p:sp>
      <p:sp>
        <p:nvSpPr>
          <p:cNvPr id="10" name="사각형: 둥근 모서리 9">
            <a:extLst>
              <a:ext uri="{FF2B5EF4-FFF2-40B4-BE49-F238E27FC236}">
                <a16:creationId xmlns:a16="http://schemas.microsoft.com/office/drawing/2014/main" id="{DA909A98-DF5F-43AB-A3AD-DAFD96B69844}"/>
              </a:ext>
            </a:extLst>
          </p:cNvPr>
          <p:cNvSpPr/>
          <p:nvPr/>
        </p:nvSpPr>
        <p:spPr>
          <a:xfrm>
            <a:off x="4381500" y="1795407"/>
            <a:ext cx="3429000" cy="2286000"/>
          </a:xfrm>
          <a:prstGeom prst="roundRect">
            <a:avLst/>
          </a:prstGeom>
          <a:solidFill>
            <a:srgbClr val="F0F4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1" name="타원 10">
            <a:extLst>
              <a:ext uri="{FF2B5EF4-FFF2-40B4-BE49-F238E27FC236}">
                <a16:creationId xmlns:a16="http://schemas.microsoft.com/office/drawing/2014/main" id="{AD77D43F-E4C2-47A6-A3F4-17EB0C92814C}"/>
              </a:ext>
            </a:extLst>
          </p:cNvPr>
          <p:cNvSpPr/>
          <p:nvPr/>
        </p:nvSpPr>
        <p:spPr>
          <a:xfrm>
            <a:off x="4572000" y="1960507"/>
            <a:ext cx="558800" cy="558800"/>
          </a:xfrm>
          <a:prstGeom prst="ellipse">
            <a:avLst/>
          </a:prstGeom>
          <a:solidFill>
            <a:srgbClr val="2676AC"/>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ctr"/>
            <a:r>
              <a:rPr lang="en-US" altLang="ko-KR" b="1">
                <a:solidFill>
                  <a:srgbClr val="FFFFFF"/>
                </a:solidFill>
              </a:rPr>
              <a:t>2</a:t>
            </a:r>
            <a:endParaRPr lang="ko-KR" altLang="en-US" b="1">
              <a:solidFill>
                <a:srgbClr val="FFFFFF"/>
              </a:solidFill>
            </a:endParaRPr>
          </a:p>
        </p:txBody>
      </p:sp>
      <p:sp>
        <p:nvSpPr>
          <p:cNvPr id="12" name="TextBox 11">
            <a:extLst>
              <a:ext uri="{FF2B5EF4-FFF2-40B4-BE49-F238E27FC236}">
                <a16:creationId xmlns:a16="http://schemas.microsoft.com/office/drawing/2014/main" id="{8539E669-4223-4495-B9BD-16B39089B15E}"/>
              </a:ext>
            </a:extLst>
          </p:cNvPr>
          <p:cNvSpPr txBox="1"/>
          <p:nvPr/>
        </p:nvSpPr>
        <p:spPr>
          <a:xfrm>
            <a:off x="4572000" y="2766485"/>
            <a:ext cx="3048000" cy="381000"/>
          </a:xfrm>
          <a:prstGeom prst="rect">
            <a:avLst/>
          </a:prstGeom>
          <a:noFill/>
        </p:spPr>
        <p:txBody>
          <a:bodyPr vertOverflow="overflow" vert="horz" wrap="square" rtlCol="0" anchor="t">
            <a:noAutofit/>
          </a:bodyPr>
          <a:lstStyle/>
          <a:p>
            <a:pPr algn="l"/>
            <a:r>
              <a:rPr lang="ko-KR" altLang="en-US" sz="1400" b="1">
                <a:solidFill>
                  <a:srgbClr val="1B2A4A"/>
                </a:solidFill>
                <a:latin typeface="나눔고딕" panose="020D0604000000000000" pitchFamily="50" charset="-127"/>
                <a:ea typeface="나눔고딕" panose="020D0604000000000000" pitchFamily="50" charset="-127"/>
                <a:cs typeface="Arial" panose="020B0604020202020204" pitchFamily="34" charset="0"/>
              </a:rPr>
              <a:t>복합 결함 어려움</a:t>
            </a:r>
          </a:p>
        </p:txBody>
      </p:sp>
      <p:sp>
        <p:nvSpPr>
          <p:cNvPr id="13" name="TextBox 12">
            <a:extLst>
              <a:ext uri="{FF2B5EF4-FFF2-40B4-BE49-F238E27FC236}">
                <a16:creationId xmlns:a16="http://schemas.microsoft.com/office/drawing/2014/main" id="{3E72EADB-F944-40B1-8E9C-01DB9245986F}"/>
              </a:ext>
            </a:extLst>
          </p:cNvPr>
          <p:cNvSpPr txBox="1"/>
          <p:nvPr/>
        </p:nvSpPr>
        <p:spPr>
          <a:xfrm>
            <a:off x="4572000" y="3185585"/>
            <a:ext cx="3048000" cy="805180"/>
          </a:xfrm>
          <a:prstGeom prst="rect">
            <a:avLst/>
          </a:prstGeom>
          <a:noFill/>
        </p:spPr>
        <p:txBody>
          <a:bodyPr vertOverflow="overflow" vert="horz" wrap="square" rtlCol="0" anchor="t">
            <a:noAutofit/>
          </a:bodyPr>
          <a:lstStyle/>
          <a:p>
            <a:pPr algn="l"/>
            <a:r>
              <a:rPr lang="ko-KR" altLang="en-US" sz="1100">
                <a:solidFill>
                  <a:srgbClr val="555555"/>
                </a:solidFill>
                <a:latin typeface="나눔고딕" panose="020D0604000000000000" pitchFamily="50" charset="-127"/>
                <a:ea typeface="나눔고딕" panose="020D0604000000000000" pitchFamily="50" charset="-127"/>
                <a:cs typeface="Arial" panose="020B0604020202020204" pitchFamily="34" charset="0"/>
              </a:rPr>
              <a:t>3부품 동시 빠짐 케이스 F1 0.62 → 특화 모델·데이터 증강 필요</a:t>
            </a:r>
          </a:p>
        </p:txBody>
      </p:sp>
      <p:sp>
        <p:nvSpPr>
          <p:cNvPr id="14" name="사각형: 둥근 모서리 13">
            <a:extLst>
              <a:ext uri="{FF2B5EF4-FFF2-40B4-BE49-F238E27FC236}">
                <a16:creationId xmlns:a16="http://schemas.microsoft.com/office/drawing/2014/main" id="{959A7773-03D9-44AC-BF27-C60E7BED8DBC}"/>
              </a:ext>
            </a:extLst>
          </p:cNvPr>
          <p:cNvSpPr/>
          <p:nvPr/>
        </p:nvSpPr>
        <p:spPr>
          <a:xfrm>
            <a:off x="8255000" y="1795407"/>
            <a:ext cx="3429000" cy="2286000"/>
          </a:xfrm>
          <a:prstGeom prst="roundRect">
            <a:avLst/>
          </a:prstGeom>
          <a:solidFill>
            <a:srgbClr val="F0F4F8"/>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5" name="타원 14">
            <a:extLst>
              <a:ext uri="{FF2B5EF4-FFF2-40B4-BE49-F238E27FC236}">
                <a16:creationId xmlns:a16="http://schemas.microsoft.com/office/drawing/2014/main" id="{A8C3D7CA-D422-4BD2-B749-77AAD111C442}"/>
              </a:ext>
            </a:extLst>
          </p:cNvPr>
          <p:cNvSpPr/>
          <p:nvPr/>
        </p:nvSpPr>
        <p:spPr>
          <a:xfrm>
            <a:off x="8445500" y="1960507"/>
            <a:ext cx="558800" cy="558800"/>
          </a:xfrm>
          <a:prstGeom prst="ellipse">
            <a:avLst/>
          </a:prstGeom>
          <a:solidFill>
            <a:srgbClr val="F29E16"/>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ctr"/>
            <a:r>
              <a:rPr lang="en-US" altLang="ko-KR" b="1">
                <a:solidFill>
                  <a:srgbClr val="FFFFFF"/>
                </a:solidFill>
              </a:rPr>
              <a:t>3</a:t>
            </a:r>
            <a:endParaRPr lang="ko-KR" altLang="en-US" b="1">
              <a:solidFill>
                <a:srgbClr val="FFFFFF"/>
              </a:solidFill>
            </a:endParaRPr>
          </a:p>
        </p:txBody>
      </p:sp>
      <p:sp>
        <p:nvSpPr>
          <p:cNvPr id="16" name="TextBox 15">
            <a:extLst>
              <a:ext uri="{FF2B5EF4-FFF2-40B4-BE49-F238E27FC236}">
                <a16:creationId xmlns:a16="http://schemas.microsoft.com/office/drawing/2014/main" id="{2E5936FC-FE61-42EE-B66E-AD61043C53DE}"/>
              </a:ext>
            </a:extLst>
          </p:cNvPr>
          <p:cNvSpPr txBox="1"/>
          <p:nvPr/>
        </p:nvSpPr>
        <p:spPr>
          <a:xfrm>
            <a:off x="8445500" y="2766485"/>
            <a:ext cx="3048000" cy="381000"/>
          </a:xfrm>
          <a:prstGeom prst="rect">
            <a:avLst/>
          </a:prstGeom>
          <a:noFill/>
        </p:spPr>
        <p:txBody>
          <a:bodyPr vertOverflow="overflow" vert="horz" wrap="square" rtlCol="0" anchor="t">
            <a:noAutofit/>
          </a:bodyPr>
          <a:lstStyle/>
          <a:p>
            <a:pPr algn="l"/>
            <a:r>
              <a:rPr lang="ko-KR" altLang="en-US" sz="1400" b="1">
                <a:solidFill>
                  <a:srgbClr val="1B2A4A"/>
                </a:solidFill>
                <a:latin typeface="나눔고딕" panose="020D0604000000000000" pitchFamily="50" charset="-127"/>
                <a:ea typeface="나눔고딕" panose="020D0604000000000000" pitchFamily="50" charset="-127"/>
                <a:cs typeface="Arial" panose="020B0604020202020204" pitchFamily="34" charset="0"/>
              </a:rPr>
              <a:t>이미지 커버리지 의존</a:t>
            </a:r>
          </a:p>
        </p:txBody>
      </p:sp>
      <p:sp>
        <p:nvSpPr>
          <p:cNvPr id="17" name="TextBox 16">
            <a:extLst>
              <a:ext uri="{FF2B5EF4-FFF2-40B4-BE49-F238E27FC236}">
                <a16:creationId xmlns:a16="http://schemas.microsoft.com/office/drawing/2014/main" id="{E9519485-7AED-4405-A759-96C3E903A76C}"/>
              </a:ext>
            </a:extLst>
          </p:cNvPr>
          <p:cNvSpPr txBox="1"/>
          <p:nvPr/>
        </p:nvSpPr>
        <p:spPr>
          <a:xfrm>
            <a:off x="8445500" y="3185585"/>
            <a:ext cx="3048000" cy="805180"/>
          </a:xfrm>
          <a:prstGeom prst="rect">
            <a:avLst/>
          </a:prstGeom>
          <a:noFill/>
        </p:spPr>
        <p:txBody>
          <a:bodyPr vertOverflow="overflow" vert="horz" wrap="square" rtlCol="0" anchor="t">
            <a:noAutofit/>
          </a:bodyPr>
          <a:lstStyle/>
          <a:p>
            <a:pPr algn="l"/>
            <a:r>
              <a:rPr lang="ko-KR" altLang="en-US" sz="1100">
                <a:solidFill>
                  <a:srgbClr val="555555"/>
                </a:solidFill>
                <a:latin typeface="나눔고딕" panose="020D0604000000000000" pitchFamily="50" charset="-127"/>
                <a:ea typeface="나눔고딕" panose="020D0604000000000000" pitchFamily="50" charset="-127"/>
                <a:cs typeface="Arial" panose="020B0604020202020204" pitchFamily="34" charset="0"/>
              </a:rPr>
              <a:t>융합 이득은 이미지가 있는 41% 구간에 집중 → 전체 구간으론 폭이 줄어듦, 커버리지 확대 필요</a:t>
            </a:r>
          </a:p>
        </p:txBody>
      </p:sp>
      <p:sp>
        <p:nvSpPr>
          <p:cNvPr id="18" name="사각형: 둥근 모서리 17">
            <a:extLst>
              <a:ext uri="{FF2B5EF4-FFF2-40B4-BE49-F238E27FC236}">
                <a16:creationId xmlns:a16="http://schemas.microsoft.com/office/drawing/2014/main" id="{3BDF29AB-32B2-4ABC-AEB6-8C0EE16496B9}"/>
              </a:ext>
            </a:extLst>
          </p:cNvPr>
          <p:cNvSpPr/>
          <p:nvPr/>
        </p:nvSpPr>
        <p:spPr>
          <a:xfrm>
            <a:off x="508000" y="4335407"/>
            <a:ext cx="11176000" cy="635000"/>
          </a:xfrm>
          <a:prstGeom prst="roundRect">
            <a:avLst/>
          </a:prstGeom>
          <a:solidFill>
            <a:srgbClr val="EBF5FB"/>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ko-KR" altLang="en-US"/>
          </a:p>
        </p:txBody>
      </p:sp>
      <p:sp>
        <p:nvSpPr>
          <p:cNvPr id="19" name="TextBox 18">
            <a:extLst>
              <a:ext uri="{FF2B5EF4-FFF2-40B4-BE49-F238E27FC236}">
                <a16:creationId xmlns:a16="http://schemas.microsoft.com/office/drawing/2014/main" id="{ECB4E20F-CA0E-4EF6-A20A-82BB4499ECA0}"/>
              </a:ext>
            </a:extLst>
          </p:cNvPr>
          <p:cNvSpPr txBox="1"/>
          <p:nvPr/>
        </p:nvSpPr>
        <p:spPr>
          <a:xfrm>
            <a:off x="698500" y="4506499"/>
            <a:ext cx="10795000" cy="444500"/>
          </a:xfrm>
          <a:prstGeom prst="rect">
            <a:avLst/>
          </a:prstGeom>
          <a:noFill/>
        </p:spPr>
        <p:txBody>
          <a:bodyPr vertOverflow="overflow" vert="horz" wrap="square" rtlCol="0" anchor="t">
            <a:noAutofit/>
          </a:bodyPr>
          <a:lstStyle/>
          <a:p>
            <a:pPr algn="l"/>
            <a:r>
              <a:rPr lang="ko-KR" altLang="en-US" sz="1400" b="1">
                <a:solidFill>
                  <a:srgbClr val="2676AC"/>
                </a:solidFill>
                <a:latin typeface="나눔고딕" panose="020D0604000000000000" pitchFamily="50" charset="-127"/>
                <a:ea typeface="나눔고딕" panose="020D0604000000000000" pitchFamily="50" charset="-127"/>
                <a:cs typeface="Arial" panose="020B0604020202020204" pitchFamily="34" charset="0"/>
              </a:rPr>
              <a:t>→  도메인 지식(센서 정상 범위) 반영, 결함 유형별 특화 모델 등 후속 연구로 확장 가능</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그룹 2">
            <a:extLst>
              <a:ext uri="{FF2B5EF4-FFF2-40B4-BE49-F238E27FC236}">
                <a16:creationId xmlns:a16="http://schemas.microsoft.com/office/drawing/2014/main" id="{64DE33E0-C7C1-4A9C-3B83-F44A86D4831E}"/>
              </a:ext>
            </a:extLst>
          </p:cNvPr>
          <p:cNvGrpSpPr/>
          <p:nvPr/>
        </p:nvGrpSpPr>
        <p:grpSpPr>
          <a:xfrm>
            <a:off x="2390454" y="2719087"/>
            <a:ext cx="7411092" cy="1306812"/>
            <a:chOff x="1250023" y="1493750"/>
            <a:chExt cx="7411092" cy="1306812"/>
          </a:xfrm>
        </p:grpSpPr>
        <p:sp>
          <p:nvSpPr>
            <p:cNvPr id="4" name="TextBox 3">
              <a:extLst>
                <a:ext uri="{FF2B5EF4-FFF2-40B4-BE49-F238E27FC236}">
                  <a16:creationId xmlns:a16="http://schemas.microsoft.com/office/drawing/2014/main" id="{D590DF89-2A84-E6AC-5F5A-106DD6628239}"/>
                </a:ext>
              </a:extLst>
            </p:cNvPr>
            <p:cNvSpPr txBox="1"/>
            <p:nvPr/>
          </p:nvSpPr>
          <p:spPr>
            <a:xfrm>
              <a:off x="1250023" y="1493750"/>
              <a:ext cx="7411092" cy="918965"/>
            </a:xfrm>
            <a:prstGeom prst="rect">
              <a:avLst/>
            </a:prstGeom>
            <a:noFill/>
          </p:spPr>
          <p:txBody>
            <a:bodyPr vertOverflow="overflow" vert="horz" wrap="square" rtlCol="0" anchor="t">
              <a:noAutofit/>
            </a:bodyPr>
            <a:lstStyle/>
            <a:p>
              <a:pPr algn="ctr"/>
              <a:r>
                <a:rPr lang="en-US" altLang="ko-KR" sz="6000" b="1">
                  <a:solidFill>
                    <a:srgbClr val="1B2A4A"/>
                  </a:solidFill>
                  <a:latin typeface="나눔고딕" panose="020D0604000000000000" pitchFamily="50" charset="-127"/>
                  <a:ea typeface="나눔고딕" panose="020D0604000000000000" pitchFamily="50" charset="-127"/>
                  <a:cs typeface="Arial" panose="020B0604020202020204" pitchFamily="34" charset="0"/>
                </a:rPr>
                <a:t>Thank you</a:t>
              </a:r>
              <a:endParaRPr lang="ko-KR" altLang="en-US" sz="6000" b="1">
                <a:solidFill>
                  <a:srgbClr val="1B2A4A"/>
                </a:solidFill>
                <a:latin typeface="나눔고딕" panose="020D0604000000000000" pitchFamily="50" charset="-127"/>
                <a:ea typeface="나눔고딕" panose="020D0604000000000000" pitchFamily="50" charset="-127"/>
                <a:cs typeface="Arial" panose="020B0604020202020204" pitchFamily="34" charset="0"/>
              </a:endParaRPr>
            </a:p>
          </p:txBody>
        </p:sp>
        <p:sp>
          <p:nvSpPr>
            <p:cNvPr id="5" name="TextBox 4">
              <a:extLst>
                <a:ext uri="{FF2B5EF4-FFF2-40B4-BE49-F238E27FC236}">
                  <a16:creationId xmlns:a16="http://schemas.microsoft.com/office/drawing/2014/main" id="{F2B5A417-0130-FBC3-C785-24284DFF8E7E}"/>
                </a:ext>
              </a:extLst>
            </p:cNvPr>
            <p:cNvSpPr txBox="1"/>
            <p:nvPr/>
          </p:nvSpPr>
          <p:spPr>
            <a:xfrm>
              <a:off x="1470061" y="2427338"/>
              <a:ext cx="6971016" cy="373224"/>
            </a:xfrm>
            <a:prstGeom prst="rect">
              <a:avLst/>
            </a:prstGeom>
            <a:noFill/>
          </p:spPr>
          <p:txBody>
            <a:bodyPr vertOverflow="overflow" vert="horz" wrap="square" rtlCol="0" anchor="t">
              <a:noAutofit/>
            </a:bodyPr>
            <a:lstStyle/>
            <a:p>
              <a:pPr algn="ctr"/>
              <a:r>
                <a:rPr lang="en-US" altLang="ko-KR" sz="1500">
                  <a:solidFill>
                    <a:srgbClr val="555555"/>
                  </a:solidFill>
                  <a:latin typeface="나눔고딕" panose="020D0604000000000000" pitchFamily="50" charset="-127"/>
                  <a:ea typeface="나눔고딕" panose="020D0604000000000000" pitchFamily="50" charset="-127"/>
                  <a:cs typeface="Arial" panose="020B0604020202020204" pitchFamily="34" charset="0"/>
                </a:rPr>
                <a:t>Thank you for your attention</a:t>
              </a:r>
              <a:endParaRPr lang="ko-KR" altLang="en-US" sz="1500">
                <a:solidFill>
                  <a:srgbClr val="555555"/>
                </a:solidFill>
                <a:latin typeface="나눔고딕" panose="020D0604000000000000" pitchFamily="50" charset="-127"/>
                <a:ea typeface="나눔고딕" panose="020D0604000000000000" pitchFamily="50" charset="-127"/>
                <a:cs typeface="Arial" panose="020B0604020202020204" pitchFamily="34" charset="0"/>
              </a:endParaRPr>
            </a:p>
          </p:txBody>
        </p:sp>
      </p:grpSp>
    </p:spTree>
    <p:extLst>
      <p:ext uri="{BB962C8B-B14F-4D97-AF65-F5344CB8AC3E}">
        <p14:creationId xmlns:p14="http://schemas.microsoft.com/office/powerpoint/2010/main" val="1546479590"/>
      </p:ext>
    </p:extLst>
  </p:cSld>
  <p:clrMapOvr>
    <a:masterClrMapping/>
  </p:clrMapOvr>
</p:sld>
</file>

<file path=ppt/theme/theme1.xml><?xml version="1.0" encoding="utf-8"?>
<a:theme xmlns:a="http://schemas.openxmlformats.org/drawingml/2006/main" name="Office 2013 - 2022 테마 [1777720222177]">
  <a:themeElements>
    <a:clrScheme name="Office 2013 - 2022 테마">
      <a:dk1>
        <a:srgbClr val="1B2A4A"/>
      </a:dk1>
      <a:lt1>
        <a:srgbClr val="FFFFFF"/>
      </a:lt1>
      <a:dk2>
        <a:srgbClr val="2C3E5D"/>
      </a:dk2>
      <a:lt2>
        <a:srgbClr val="F0F2F5"/>
      </a:lt2>
      <a:accent1>
        <a:srgbClr val="2676AC"/>
      </a:accent1>
      <a:accent2>
        <a:srgbClr val="16A295"/>
      </a:accent2>
      <a:accent3>
        <a:srgbClr val="E8584F"/>
      </a:accent3>
      <a:accent4>
        <a:srgbClr val="F29E16"/>
      </a:accent4>
      <a:accent5>
        <a:srgbClr val="93B64E"/>
      </a:accent5>
      <a:accent6>
        <a:srgbClr val="AE729E"/>
      </a:accent6>
      <a:hlink>
        <a:srgbClr val="0563C1"/>
      </a:hlink>
      <a:folHlink>
        <a:srgbClr val="954F72"/>
      </a:folHlink>
    </a:clrScheme>
    <a:fontScheme name="사용자 지정 4">
      <a:majorFont>
        <a:latin typeface="Pretendard"/>
        <a:ea typeface=""/>
        <a:cs typeface=""/>
      </a:majorFont>
      <a:minorFont>
        <a:latin typeface="Pretendard"/>
        <a:ea typeface=""/>
        <a:cs typeface=""/>
      </a:minorFont>
    </a:fontScheme>
    <a:fmtScheme name="Office 2013 - 2022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lgn="l">
          <a:defRPr sz="2200" dirty="0" smtClean="0">
            <a:solidFill>
              <a:schemeClr val="tx1">
                <a:lumMod val="65000"/>
                <a:lumOff val="35000"/>
              </a:schemeClr>
            </a:solidFill>
            <a:latin typeface="나눔고딕" panose="020D0604000000000000" pitchFamily="50" charset="-127"/>
            <a:ea typeface="나눔고딕" panose="020D0604000000000000" pitchFamily="50" charset="-127"/>
            <a:cs typeface="Arial" panose="020B0604020202020204" pitchFamily="34" charset="0"/>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92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98D53C4-EB30-4D06-B415-8CAF9BDD6141}">
  <we:reference id="WA200010001" version="1.0.0.1" store="Omex" storeType="OMEX"/>
  <we:alternateReferences>
    <we:reference id="WA200010001" version="1.0.0.1" store="WA200010001" storeType="OMEX"/>
  </we:alternateReferences>
  <we:properties>
    <we:property name="claude.fileId" value="&quot;c072c8d9-7136-4530-9268-0bffd5bfeccf&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문서" ma:contentTypeID="0x010100597F093C87EF87408D5C5F04BCF3A1CB" ma:contentTypeVersion="9" ma:contentTypeDescription="새 문서를 만듭니다." ma:contentTypeScope="" ma:versionID="cd7cd375469c6d4b522ce2b3e8029dd3">
  <xsd:schema xmlns:xsd="http://www.w3.org/2001/XMLSchema" xmlns:xs="http://www.w3.org/2001/XMLSchema" xmlns:p="http://schemas.microsoft.com/office/2006/metadata/properties" xmlns:ns3="1f7d68b1-f69b-49f8-80cd-f995854cf296" xmlns:ns4="362945be-0545-4d77-ba0f-90fd258c610d" targetNamespace="http://schemas.microsoft.com/office/2006/metadata/properties" ma:root="true" ma:fieldsID="3709e7358902c5645f0e406a38b57213" ns3:_="" ns4:_="">
    <xsd:import namespace="1f7d68b1-f69b-49f8-80cd-f995854cf296"/>
    <xsd:import namespace="362945be-0545-4d77-ba0f-90fd258c610d"/>
    <xsd:element name="properties">
      <xsd:complexType>
        <xsd:sequence>
          <xsd:element name="documentManagement">
            <xsd:complexType>
              <xsd:all>
                <xsd:element ref="ns3:MediaServiceMetadata" minOccurs="0"/>
                <xsd:element ref="ns3:MediaServiceFastMetadata" minOccurs="0"/>
                <xsd:element ref="ns3:MediaServiceSearchProperties" minOccurs="0"/>
                <xsd:element ref="ns3:MediaServiceObjectDetectorVersions" minOccurs="0"/>
                <xsd:element ref="ns3:_activity" minOccurs="0"/>
                <xsd:element ref="ns4:SharedWithUsers" minOccurs="0"/>
                <xsd:element ref="ns4:SharedWithDetails" minOccurs="0"/>
                <xsd:element ref="ns4:SharingHintHash" minOccurs="0"/>
                <xsd:element ref="ns3: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f7d68b1-f69b-49f8-80cd-f995854cf29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_activity" ma:index="12" nillable="true" ma:displayName="_activity" ma:hidden="true" ma:internalName="_activity">
      <xsd:simpleType>
        <xsd:restriction base="dms:Note"/>
      </xsd:simpleType>
    </xsd:element>
    <xsd:element name="MediaServiceDateTaken" ma:index="16" nillable="true" ma:displayName="MediaServiceDateTaken" ma:hidden="true" ma:indexed="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62945be-0545-4d77-ba0f-90fd258c610d" elementFormDefault="qualified">
    <xsd:import namespace="http://schemas.microsoft.com/office/2006/documentManagement/types"/>
    <xsd:import namespace="http://schemas.microsoft.com/office/infopath/2007/PartnerControls"/>
    <xsd:element name="SharedWithUsers" ma:index="13" nillable="true" ma:displayName="공유 대상"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세부 정보 공유" ma:internalName="SharedWithDetails" ma:readOnly="true">
      <xsd:simpleType>
        <xsd:restriction base="dms:Note">
          <xsd:maxLength value="255"/>
        </xsd:restriction>
      </xsd:simpleType>
    </xsd:element>
    <xsd:element name="SharingHintHash" ma:index="15" nillable="true" ma:displayName="힌트 해시 공유"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콘텐츠 형식"/>
        <xsd:element ref="dc:title" minOccurs="0" maxOccurs="1" ma:index="4" ma:displayName="제목"/>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activity xmlns="1f7d68b1-f69b-49f8-80cd-f995854cf296" xsi:nil="true"/>
  </documentManagement>
</p:properties>
</file>

<file path=customXml/itemProps1.xml><?xml version="1.0" encoding="utf-8"?>
<ds:datastoreItem xmlns:ds="http://schemas.openxmlformats.org/officeDocument/2006/customXml" ds:itemID="{D221C8D9-4205-4504-9844-72894E2B915B}">
  <ds:schemaRefs>
    <ds:schemaRef ds:uri="http://schemas.microsoft.com/sharepoint/v3/contenttype/forms"/>
  </ds:schemaRefs>
</ds:datastoreItem>
</file>

<file path=customXml/itemProps2.xml><?xml version="1.0" encoding="utf-8"?>
<ds:datastoreItem xmlns:ds="http://schemas.openxmlformats.org/officeDocument/2006/customXml" ds:itemID="{27312C13-A2B3-4A01-B220-75D5986F7D62}">
  <ds:schemaRefs>
    <ds:schemaRef ds:uri="1f7d68b1-f69b-49f8-80cd-f995854cf296"/>
    <ds:schemaRef ds:uri="362945be-0545-4d77-ba0f-90fd258c610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D3D5EEEF-55DE-415E-A824-415CEA62A4FB}">
  <ds:schemaRefs>
    <ds:schemaRef ds:uri="http://schemas.microsoft.com/office/2006/documentManagement/types"/>
    <ds:schemaRef ds:uri="http://schemas.microsoft.com/office/2006/metadata/properties"/>
    <ds:schemaRef ds:uri="http://purl.org/dc/terms/"/>
    <ds:schemaRef ds:uri="1f7d68b1-f69b-49f8-80cd-f995854cf296"/>
    <ds:schemaRef ds:uri="http://schemas.openxmlformats.org/package/2006/metadata/core-properties"/>
    <ds:schemaRef ds:uri="http://purl.org/dc/elements/1.1/"/>
    <ds:schemaRef ds:uri="http://purl.org/dc/dcmitype/"/>
    <ds:schemaRef ds:uri="http://schemas.microsoft.com/office/infopath/2007/PartnerControls"/>
    <ds:schemaRef ds:uri="362945be-0545-4d77-ba0f-90fd258c610d"/>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Office 2013 - 2022 Theme</Template>
  <TotalTime>66</TotalTime>
  <Words>1950</Words>
  <Application>Microsoft Office PowerPoint</Application>
  <PresentationFormat>와이드스크린</PresentationFormat>
  <Paragraphs>183</Paragraphs>
  <Slides>13</Slides>
  <Notes>13</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13</vt:i4>
      </vt:variant>
    </vt:vector>
  </HeadingPairs>
  <TitlesOfParts>
    <vt:vector size="18" baseType="lpstr">
      <vt:lpstr>Pretendard</vt:lpstr>
      <vt:lpstr>나눔고딕</vt:lpstr>
      <vt:lpstr>맑은 고딕</vt:lpstr>
      <vt:lpstr>Arial</vt:lpstr>
      <vt:lpstr>Office 2013 - 2022 테마 [1777720222177]</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현성 하</dc:creator>
  <cp:lastModifiedBy>하 현성</cp:lastModifiedBy>
  <cp:revision>16</cp:revision>
  <dcterms:created xsi:type="dcterms:W3CDTF">2024-04-02T11:49:31Z</dcterms:created>
  <dcterms:modified xsi:type="dcterms:W3CDTF">2026-06-08T16:00:21Z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0x010100597F093C87EF87408D5C5F04BCF3A1CB</vt:lpwstr>
  </property>
</Properties>
</file>