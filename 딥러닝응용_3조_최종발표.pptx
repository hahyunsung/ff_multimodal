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17"/>
  </p:notesMasterIdLst>
  <p:sldIdLst>
    <p:sldId id="256" r:id="rId5"/>
    <p:sldId id="257" r:id="rId6"/>
    <p:sldId id="258" r:id="rId7"/>
    <p:sldId id="260" r:id="rId9"/>
    <p:sldId id="259" r:id="rId8"/>
    <p:sldId id="261" r:id="rId10"/>
    <p:sldId id="270" r:id="rId26"/>
    <p:sldId id="264" r:id="rId13"/>
    <p:sldId id="265" r:id="rId14"/>
    <p:sldId id="268" r:id="rId24"/>
    <p:sldId id="266" r:id="rId15"/>
    <p:sldId id="269" r:id="rId2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2676AC"/>
    <a:srgbClr val="EBECF1"/>
    <a:srgbClr val="3B3535"/>
    <a:srgbClr val="F1F2F5"/>
    <a:srgbClr val="EDEEF3"/>
    <a:srgbClr val="A3A3A3"/>
    <a:srgbClr val="9D9D9D"/>
    <a:srgbClr val="929292"/>
    <a:srgbClr val="E6E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82C3E0-EFE3-4D6B-A4EB-282364353C02}" v="5" dt="2026-05-08T03:41:44.70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73" autoAdjust="0"/>
  </p:normalViewPr>
  <p:slideViewPr>
    <p:cSldViewPr snapToGrid="0">
      <p:cViewPr varScale="1">
        <p:scale>
          <a:sx n="110" d="100"/>
          <a:sy n="110" d="100"/>
        </p:scale>
        <p:origin x="576" y="8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하 현성" userId="545a4ab8-e4ee-4590-b348-fc04c608cfe8" providerId="ADAL" clId="{D7EE3CC3-84C1-417B-9413-2A5A64C9CA42}"/>
    <pc:docChg chg="modSld">
      <pc:chgData name="하 현성" userId="545a4ab8-e4ee-4590-b348-fc04c608cfe8" providerId="ADAL" clId="{D7EE3CC3-84C1-417B-9413-2A5A64C9CA42}" dt="2026-05-08T03:41:44.707" v="4" actId="207"/>
      <pc:docMkLst>
        <pc:docMk/>
      </pc:docMkLst>
      <pc:sldChg chg="modSp mod">
        <pc:chgData name="하 현성" userId="545a4ab8-e4ee-4590-b348-fc04c608cfe8" providerId="ADAL" clId="{D7EE3CC3-84C1-417B-9413-2A5A64C9CA42}" dt="2026-05-08T03:41:39.524" v="3" actId="207"/>
        <pc:sldMkLst>
          <pc:docMk/>
          <pc:sldMk cId="797869273" sldId="261"/>
        </pc:sldMkLst>
        <pc:spChg chg="mod">
          <ac:chgData name="하 현성" userId="545a4ab8-e4ee-4590-b348-fc04c608cfe8" providerId="ADAL" clId="{D7EE3CC3-84C1-417B-9413-2A5A64C9CA42}" dt="2026-05-08T03:41:24.471" v="2" actId="207"/>
          <ac:spMkLst>
            <pc:docMk/>
            <pc:sldMk cId="797869273" sldId="261"/>
            <ac:spMk id="7" creationId="{D7F909FE-EA72-4430-84E5-711DDED494E4}"/>
          </ac:spMkLst>
        </pc:spChg>
        <pc:spChg chg="mod">
          <ac:chgData name="하 현성" userId="545a4ab8-e4ee-4590-b348-fc04c608cfe8" providerId="ADAL" clId="{D7EE3CC3-84C1-417B-9413-2A5A64C9CA42}" dt="2026-05-08T03:41:24.471" v="2" actId="207"/>
          <ac:spMkLst>
            <pc:docMk/>
            <pc:sldMk cId="797869273" sldId="261"/>
            <ac:spMk id="9" creationId="{505D91E8-F199-4B9F-93A0-3A3C6FB4450D}"/>
          </ac:spMkLst>
        </pc:spChg>
        <pc:spChg chg="mod">
          <ac:chgData name="하 현성" userId="545a4ab8-e4ee-4590-b348-fc04c608cfe8" providerId="ADAL" clId="{D7EE3CC3-84C1-417B-9413-2A5A64C9CA42}" dt="2026-05-08T03:41:15.507" v="0" actId="207"/>
          <ac:spMkLst>
            <pc:docMk/>
            <pc:sldMk cId="797869273" sldId="261"/>
            <ac:spMk id="12" creationId="{B4D160E4-B85C-4F6B-992E-79BD9580D8BF}"/>
          </ac:spMkLst>
        </pc:spChg>
        <pc:spChg chg="mod">
          <ac:chgData name="하 현성" userId="545a4ab8-e4ee-4590-b348-fc04c608cfe8" providerId="ADAL" clId="{D7EE3CC3-84C1-417B-9413-2A5A64C9CA42}" dt="2026-05-08T03:41:15.507" v="0" actId="207"/>
          <ac:spMkLst>
            <pc:docMk/>
            <pc:sldMk cId="797869273" sldId="261"/>
            <ac:spMk id="14" creationId="{F3B4D038-5F48-47D0-B924-6182A661C3D2}"/>
          </ac:spMkLst>
        </pc:spChg>
        <pc:spChg chg="mod">
          <ac:chgData name="하 현성" userId="545a4ab8-e4ee-4590-b348-fc04c608cfe8" providerId="ADAL" clId="{D7EE3CC3-84C1-417B-9413-2A5A64C9CA42}" dt="2026-05-08T03:41:15.507" v="0" actId="207"/>
          <ac:spMkLst>
            <pc:docMk/>
            <pc:sldMk cId="797869273" sldId="261"/>
            <ac:spMk id="16" creationId="{A52EA78F-89A1-4DCB-9025-CA3124B9C5C0}"/>
          </ac:spMkLst>
        </pc:spChg>
        <pc:spChg chg="mod">
          <ac:chgData name="하 현성" userId="545a4ab8-e4ee-4590-b348-fc04c608cfe8" providerId="ADAL" clId="{D7EE3CC3-84C1-417B-9413-2A5A64C9CA42}" dt="2026-05-08T03:41:39.524" v="3" actId="207"/>
          <ac:spMkLst>
            <pc:docMk/>
            <pc:sldMk cId="797869273" sldId="261"/>
            <ac:spMk id="19" creationId="{30E731E0-7D1D-4D66-82D2-7CE3BF61D67E}"/>
          </ac:spMkLst>
        </pc:spChg>
        <pc:spChg chg="mod">
          <ac:chgData name="하 현성" userId="545a4ab8-e4ee-4590-b348-fc04c608cfe8" providerId="ADAL" clId="{D7EE3CC3-84C1-417B-9413-2A5A64C9CA42}" dt="2026-05-08T03:41:24.471" v="2" actId="207"/>
          <ac:spMkLst>
            <pc:docMk/>
            <pc:sldMk cId="797869273" sldId="261"/>
            <ac:spMk id="22" creationId="{643DCCE1-B3BE-4827-A6A7-12FF1B638CA9}"/>
          </ac:spMkLst>
        </pc:spChg>
      </pc:sldChg>
      <pc:sldChg chg="modSp mod">
        <pc:chgData name="하 현성" userId="545a4ab8-e4ee-4590-b348-fc04c608cfe8" providerId="ADAL" clId="{D7EE3CC3-84C1-417B-9413-2A5A64C9CA42}" dt="2026-05-08T03:41:44.707" v="4" actId="207"/>
        <pc:sldMkLst>
          <pc:docMk/>
          <pc:sldMk cId="1763201014" sldId="262"/>
        </pc:sldMkLst>
        <pc:spChg chg="mod">
          <ac:chgData name="하 현성" userId="545a4ab8-e4ee-4590-b348-fc04c608cfe8" providerId="ADAL" clId="{D7EE3CC3-84C1-417B-9413-2A5A64C9CA42}" dt="2026-05-08T03:41:44.707" v="4" actId="207"/>
          <ac:spMkLst>
            <pc:docMk/>
            <pc:sldMk cId="1763201014" sldId="262"/>
            <ac:spMk id="11" creationId="{03057C49-52E1-4DD5-95D1-DDEEC5107A29}"/>
          </ac:spMkLst>
        </pc:spChg>
        <pc:spChg chg="mod">
          <ac:chgData name="하 현성" userId="545a4ab8-e4ee-4590-b348-fc04c608cfe8" providerId="ADAL" clId="{D7EE3CC3-84C1-417B-9413-2A5A64C9CA42}" dt="2026-05-08T03:41:44.707" v="4" actId="207"/>
          <ac:spMkLst>
            <pc:docMk/>
            <pc:sldMk cId="1763201014" sldId="262"/>
            <ac:spMk id="17" creationId="{9655BF96-6805-47BC-8A01-845DE1108082}"/>
          </ac:spMkLst>
        </pc:spChg>
      </pc:sldChg>
    </pc:docChg>
  </pc:docChgLst>
  <pc:docChgLst>
    <pc:chgData name="하 현성" userId="545a4ab8-e4ee-4590-b348-fc04c608cfe8" providerId="ADAL" clId="{19A5CB6E-E37B-4EDD-80DF-4815AA54A118}"/>
    <pc:docChg chg="undo custSel modSld">
      <pc:chgData name="하 현성" userId="545a4ab8-e4ee-4590-b348-fc04c608cfe8" providerId="ADAL" clId="{19A5CB6E-E37B-4EDD-80DF-4815AA54A118}" dt="2026-05-08T12:41:53.690" v="108" actId="1076"/>
      <pc:docMkLst>
        <pc:docMk/>
      </pc:docMkLst>
      <pc:sldChg chg="modSp mod">
        <pc:chgData name="하 현성" userId="545a4ab8-e4ee-4590-b348-fc04c608cfe8" providerId="ADAL" clId="{19A5CB6E-E37B-4EDD-80DF-4815AA54A118}" dt="2026-05-08T12:41:53.690" v="108" actId="1076"/>
        <pc:sldMkLst>
          <pc:docMk/>
          <pc:sldMk cId="1423671779" sldId="256"/>
        </pc:sldMkLst>
        <pc:grpChg chg="mod">
          <ac:chgData name="하 현성" userId="545a4ab8-e4ee-4590-b348-fc04c608cfe8" providerId="ADAL" clId="{19A5CB6E-E37B-4EDD-80DF-4815AA54A118}" dt="2026-05-08T12:41:53.690" v="108" actId="1076"/>
          <ac:grpSpMkLst>
            <pc:docMk/>
            <pc:sldMk cId="1423671779" sldId="256"/>
            <ac:grpSpMk id="21" creationId="{EBE95E33-541A-7ECA-DBE6-55DDF3E50930}"/>
          </ac:grpSpMkLst>
        </pc:grpChg>
      </pc:sldChg>
      <pc:sldChg chg="modNotesTx">
        <pc:chgData name="하 현성" userId="545a4ab8-e4ee-4590-b348-fc04c608cfe8" providerId="ADAL" clId="{19A5CB6E-E37B-4EDD-80DF-4815AA54A118}" dt="2026-05-08T11:18:38.379" v="71" actId="20577"/>
        <pc:sldMkLst>
          <pc:docMk/>
          <pc:sldMk cId="1651085585" sldId="257"/>
        </pc:sldMkLst>
      </pc:sldChg>
      <pc:sldChg chg="modNotesTx">
        <pc:chgData name="하 현성" userId="545a4ab8-e4ee-4590-b348-fc04c608cfe8" providerId="ADAL" clId="{19A5CB6E-E37B-4EDD-80DF-4815AA54A118}" dt="2026-05-08T11:28:35.603" v="106" actId="20577"/>
        <pc:sldMkLst>
          <pc:docMk/>
          <pc:sldMk cId="797869273"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B455BE-1399-48B6-9FDD-6D8F9FE4BCA3}" type="datetimeFigureOut">
              <a:rPr lang="ko-KR" altLang="en-US" smtClean="0"/>
              <a:t>2026-05-08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8DF1B-83BF-4DB2-ADDA-54159C83935C}" type="slidenum">
              <a:rPr lang="ko-KR" altLang="en-US" smtClean="0"/>
              <a:t>‹#›</a:t>
            </a:fld>
            <a:endParaRPr lang="ko-KR" altLang="en-US"/>
          </a:p>
        </p:txBody>
      </p:sp>
    </p:spTree>
    <p:extLst>
      <p:ext uri="{BB962C8B-B14F-4D97-AF65-F5344CB8AC3E}">
        <p14:creationId xmlns:p14="http://schemas.microsoft.com/office/powerpoint/2010/main" val="1992069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안녕하세요, 딥러닝응용 3조 김주헌, 하현성입니다. 저희는 제조 공정에서 발생하는 결함을 시계열 센서와 카메라 이미지를 함께 사용하는 멀티모달 딥러닝으로 탐지하는 프로젝트를 진행했습니다. 오늘 발표에서는 저희가 어떤 문제를 풀었고, 어떤 방법을 썼으며, 어떤 결과를 얻었는지를 차례로 말씀드리겠습니다.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a:t>
            </a:fld>
            <a:endParaRPr lang="ko-KR" altLang="en-US"/>
          </a:p>
        </p:txBody>
      </p:sp>
    </p:spTree>
    <p:extLst>
      <p:ext uri="{BB962C8B-B14F-4D97-AF65-F5344CB8AC3E}">
        <p14:creationId xmlns:p14="http://schemas.microsoft.com/office/powerpoint/2010/main" val="6929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제조 라인의 자동 검수 시스템은 보통 두 종류의 데이터를 활용합니다. 첫 번째는 로봇의 부하나 관절 각도, 컨베이어 온도 같은 센서 측정값이고, 두 번째는 카메라로 찍은 제품 이미지입니다. 그런데 이 두 가지를 따로따로 쓰면 각자 놓치는 부분이 생깁니다. 센서값만 보면 부품이 시각적으로 빠진 결함을 알기 어렵고, 이미지만 보면 로봇이 비정상적인 힘으로 작동하는 상황은 알 수 없습니다. 그래서 두 모달리티를 결합하는 멀티모달 접근이 필요한데, 핵심 질문은 이겁니다. 정말 결합이 항상 더 좋은가, 그렇다면 어떤 조건에서 효과가 있는가. 저희 프로젝트는 이 질문에 실험으로 답하는 것이 목표였습니다.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2</a:t>
            </a:fld>
            <a:endParaRPr lang="ko-KR" altLang="en-US"/>
          </a:p>
        </p:txBody>
      </p:sp>
    </p:spTree>
    <p:extLst>
      <p:ext uri="{BB962C8B-B14F-4D97-AF65-F5344CB8AC3E}">
        <p14:creationId xmlns:p14="http://schemas.microsoft.com/office/powerpoint/2010/main" val="230093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저희 프로젝트는 세 가지 구체적인 질문에 답하려 했습니다. 첫째, 멀티모달 결합 모델이 센서 단독, 이미지 단독보다 실제로 더 좋은 성능을 내는가. 둘째, 두 모달리티 중 한쪽이 너무 강하거나 약할 때 융합 효과가 어떻게 달라지는가. 셋째, 카메라 이미지가 항상 들어오는 것이 아닐 때, 즉 이미지가 없는 순간에도 모델이 안정적으로 작동할 수 있는가입니다. 이 세 가지 질문에 정량적으로 답하는 것이 저희 프로젝트의 핵심입니다.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3</a:t>
            </a:fld>
            <a:endParaRPr lang="ko-KR" altLang="en-US"/>
          </a:p>
        </p:txBody>
      </p:sp>
    </p:spTree>
    <p:extLst>
      <p:ext uri="{BB962C8B-B14F-4D97-AF65-F5344CB8AC3E}">
        <p14:creationId xmlns:p14="http://schemas.microsoft.com/office/powerpoint/2010/main" val="173324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세 가지 모델을 만들어 비교했습니다. 첫 번째는 센서 단독 모델로, 양방향 LSTM을 사용해 22채널 센서값의 시간적 흐름을 분석합니다. 이 모델은 센서가 항상 측정되기 때문에 모든 시점에서 작동합니다. 두 번째는 이미지 단독 모델로, ImageNet으로 사전학습된 ResNet18을 사용합니다. 카메라가 두 대이기 때문에 두 이미지를 각각 통과시킨 뒤 특징을 평균내는 방식으로 두 시점의 정보를 모두 활용했습니다. 세 번째는 융합 모델인데, 두 모델의 예측 확률을 가중 결합하는 Decision-level 방식을 채택했습니다. 이 방식의 장점은 이미지가 들어오지 않는 순간에는 자동으로 센서 모델만 사용하도록 설계할 수 있어서, 결측 상황에서도 안정적으로 작동한다는 점입니다.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4</a:t>
            </a:fld>
            <a:endParaRPr lang="ko-KR" altLang="en-US"/>
          </a:p>
        </p:txBody>
      </p:sp>
    </p:spTree>
    <p:extLst>
      <p:ext uri="{BB962C8B-B14F-4D97-AF65-F5344CB8AC3E}">
        <p14:creationId xmlns:p14="http://schemas.microsoft.com/office/powerpoint/2010/main" val="4243134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저희가 사용한 데이터는 사우스캐롤라이나 대학 Future Factories 연구실에서 공개한 산업용 데이터셋입니다. 실제 조립 라인을 그대로 옮긴 시설에서 로봇 4대와 컨베이어가 30시간 동안 로켓 모형을 만들었고, 그동안 16만 6천 건의 측정 데이터가 쌓였습니다. 측정 데이터에는 두 종류가 들어 있습니다. 22개 센서값은 모든 측정 순간에 기록되었고, 카메라 두 대가 찍은 이미지는 부품이 명확히 보이는 특정 공정 단계에서 사용했습니다. 결함은 의도적으로 만들었습니다. 부품을 빼고 조립하게 해서 정상 외에 NoNose, NoBody1 같은 결함 유형이 만들어졌고, 매 측정 순간마다 그 시점에 어떤 상태였는지가 라벨로 기록되어 있습니다. 즉 저희 문제는 ‘지금 이 순간 어떤 상태인가’를 매 시점마다 분류하는 과제입니다.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5</a:t>
            </a:fld>
            <a:endParaRPr lang="ko-KR" altLang="en-US"/>
          </a:p>
        </p:txBody>
      </p:sp>
    </p:spTree>
    <p:extLst>
      <p:ext uri="{BB962C8B-B14F-4D97-AF65-F5344CB8AC3E}">
        <p14:creationId xmlns:p14="http://schemas.microsoft.com/office/powerpoint/2010/main" val="1063792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전체 시스템은 이렇게 구성됩니다. 센서값은 항상 들어오기 때문에 매 시점마다 BiLSTM이 예측 확률을 만듭니다. 카메라 이미지는 부품이 보이는 시점에 들어오는데, 두 대의 이미지를 각각 ResNet18에 통과시켜 특징을 합친 뒤 이미지 예측 확률을 만듭니다. 마지막에 두 확률을 가중 평균해서 최종 분류 결과를 냅니다. 만약 이미지가 들어오지 않는 시점이면 자동으로 센서 확률만 사용하기 때문에, 시스템은 어떤 상황에서도 멈추지 않고 작동합니다.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6</a:t>
            </a:fld>
            <a:endParaRPr lang="ko-KR" altLang="en-US"/>
          </a:p>
        </p:txBody>
      </p:sp>
    </p:spTree>
    <p:extLst>
      <p:ext uri="{BB962C8B-B14F-4D97-AF65-F5344CB8AC3E}">
        <p14:creationId xmlns:p14="http://schemas.microsoft.com/office/powerpoint/2010/main" val="28661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i="0" kern="1200">
                <a:solidFill>
                  <a:schemeClr val="tx1"/>
                </a:solidFill>
                <a:effectLst/>
                <a:latin typeface="+mn-lt"/>
                <a:ea typeface="+mn-ea"/>
                <a:cs typeface="+mn-cs"/>
              </a:rPr>
              <a:t>이 논문의 핵심은 세 단계로 모델을 발전시키면서 각 기법의 기여도를 분리해서 보여준다는 점입니다. P1은 방금 설명한 기본 Fusion 구조로, Encoder와 Decoder를 end-to-end로 함께 학습합니다. P2에서는 Transfer Learning을 적용하여 먼저 학습된 Encoder의 가중치를 동결한 채 Decoder만 Fine-tuning합니다. 이렇게 하면 Encoder가 안정적인 특징 추출기 역할을 하면서 학습 시간 단축과 과적합 완화 효과를 얻을 수 있습니다. P3에서는 여기에 Process Ontology 기반의 Knowledge-Infused Learning을 추가하여 도메인 지식까지 학습 과정에 반영합니다.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7</a:t>
            </a:fld>
            <a:endParaRPr lang="ko-KR" altLang="en-US"/>
          </a:p>
        </p:txBody>
      </p:sp>
    </p:spTree>
    <p:extLst>
      <p:ext uri="{BB962C8B-B14F-4D97-AF65-F5344CB8AC3E}">
        <p14:creationId xmlns:p14="http://schemas.microsoft.com/office/powerpoint/2010/main" val="146341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a:solidFill>
                  <a:schemeClr val="tx1"/>
                </a:solidFill>
                <a:effectLst/>
                <a:latin typeface="+mn-lt"/>
                <a:ea typeface="+mn-ea"/>
                <a:cs typeface="+mn-cs"/>
              </a:rPr>
              <a:t>Process Ontology</a:t>
            </a:r>
            <a:r>
              <a:rPr lang="ko-KR" altLang="en-US" sz="1200" b="0" i="0" kern="1200">
                <a:solidFill>
                  <a:schemeClr val="tx1"/>
                </a:solidFill>
                <a:effectLst/>
                <a:latin typeface="+mn-lt"/>
                <a:ea typeface="+mn-ea"/>
                <a:cs typeface="+mn-cs"/>
              </a:rPr>
              <a:t>는 공정 전문가의 지식을 구조화한 것입니다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예를 들어 사이클 상태 </a:t>
            </a:r>
            <a:r>
              <a:rPr lang="en-US" altLang="ko-KR" sz="1200" b="0" i="0" kern="1200">
                <a:solidFill>
                  <a:schemeClr val="tx1"/>
                </a:solidFill>
                <a:effectLst/>
                <a:latin typeface="+mn-lt"/>
                <a:ea typeface="+mn-ea"/>
                <a:cs typeface="+mn-cs"/>
              </a:rPr>
              <a:t>4</a:t>
            </a:r>
            <a:r>
              <a:rPr lang="ko-KR" altLang="en-US" sz="1200" b="0" i="0" kern="1200">
                <a:solidFill>
                  <a:schemeClr val="tx1"/>
                </a:solidFill>
                <a:effectLst/>
                <a:latin typeface="+mn-lt"/>
                <a:ea typeface="+mn-ea"/>
                <a:cs typeface="+mn-cs"/>
              </a:rPr>
              <a:t>에서 </a:t>
            </a:r>
            <a:r>
              <a:rPr lang="en-US" altLang="ko-KR" sz="1200" b="0" i="0" kern="1200">
                <a:solidFill>
                  <a:schemeClr val="tx1"/>
                </a:solidFill>
                <a:effectLst/>
                <a:latin typeface="+mn-lt"/>
                <a:ea typeface="+mn-ea"/>
                <a:cs typeface="+mn-cs"/>
              </a:rPr>
              <a:t>R01 </a:t>
            </a:r>
            <a:r>
              <a:rPr lang="ko-KR" altLang="en-US" sz="1200" b="0" i="0" kern="1200" err="1">
                <a:solidFill>
                  <a:schemeClr val="tx1"/>
                </a:solidFill>
                <a:effectLst/>
                <a:latin typeface="+mn-lt"/>
                <a:ea typeface="+mn-ea"/>
                <a:cs typeface="+mn-cs"/>
              </a:rPr>
              <a:t>포텐셔미터의</a:t>
            </a:r>
            <a:r>
              <a:rPr lang="ko-KR" altLang="en-US" sz="1200" b="0" i="0" kern="1200">
                <a:solidFill>
                  <a:schemeClr val="tx1"/>
                </a:solidFill>
                <a:effectLst/>
                <a:latin typeface="+mn-lt"/>
                <a:ea typeface="+mn-ea"/>
                <a:cs typeface="+mn-cs"/>
              </a:rPr>
              <a:t> 정상 범위가 </a:t>
            </a:r>
            <a:r>
              <a:rPr lang="en-US" altLang="ko-KR" sz="1200" b="0" i="0" kern="1200">
                <a:solidFill>
                  <a:schemeClr val="tx1"/>
                </a:solidFill>
                <a:effectLst/>
                <a:latin typeface="+mn-lt"/>
                <a:ea typeface="+mn-ea"/>
                <a:cs typeface="+mn-cs"/>
              </a:rPr>
              <a:t>6,000</a:t>
            </a:r>
            <a:r>
              <a:rPr lang="ko-KR" altLang="en-US" sz="1200" b="0" i="0" kern="1200">
                <a:solidFill>
                  <a:schemeClr val="tx1"/>
                </a:solidFill>
                <a:effectLst/>
                <a:latin typeface="+mn-lt"/>
                <a:ea typeface="+mn-ea"/>
                <a:cs typeface="+mn-cs"/>
              </a:rPr>
              <a:t>에서 </a:t>
            </a:r>
            <a:r>
              <a:rPr lang="en-US" altLang="ko-KR" sz="1200" b="0" i="0" kern="1200">
                <a:solidFill>
                  <a:schemeClr val="tx1"/>
                </a:solidFill>
                <a:effectLst/>
                <a:latin typeface="+mn-lt"/>
                <a:ea typeface="+mn-ea"/>
                <a:cs typeface="+mn-cs"/>
              </a:rPr>
              <a:t>8,000</a:t>
            </a:r>
            <a:r>
              <a:rPr lang="ko-KR" altLang="en-US" sz="1200" b="0" i="0" kern="1200">
                <a:solidFill>
                  <a:schemeClr val="tx1"/>
                </a:solidFill>
                <a:effectLst/>
                <a:latin typeface="+mn-lt"/>
                <a:ea typeface="+mn-ea"/>
                <a:cs typeface="+mn-cs"/>
              </a:rPr>
              <a:t>이라는 정보가 저장되어 있습니다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모델 학습 시 </a:t>
            </a:r>
            <a:r>
              <a:rPr lang="ko-KR" altLang="en-US" sz="1200" b="0" i="0" kern="1200" err="1">
                <a:solidFill>
                  <a:schemeClr val="tx1"/>
                </a:solidFill>
                <a:effectLst/>
                <a:latin typeface="+mn-lt"/>
                <a:ea typeface="+mn-ea"/>
                <a:cs typeface="+mn-cs"/>
              </a:rPr>
              <a:t>센서값이</a:t>
            </a:r>
            <a:r>
              <a:rPr lang="ko-KR" altLang="en-US" sz="1200" b="0" i="0" kern="1200">
                <a:solidFill>
                  <a:schemeClr val="tx1"/>
                </a:solidFill>
                <a:effectLst/>
                <a:latin typeface="+mn-lt"/>
                <a:ea typeface="+mn-ea"/>
                <a:cs typeface="+mn-cs"/>
              </a:rPr>
              <a:t> 정상 범위 안인데 이상으로 예측하거나</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범위를 벗어났는데 정상으로 예측하면 손실 함수에 </a:t>
            </a:r>
            <a:r>
              <a:rPr lang="ko-KR" altLang="en-US" sz="1200" b="0" i="0" kern="1200" err="1">
                <a:solidFill>
                  <a:schemeClr val="tx1"/>
                </a:solidFill>
                <a:effectLst/>
                <a:latin typeface="+mn-lt"/>
                <a:ea typeface="+mn-ea"/>
                <a:cs typeface="+mn-cs"/>
              </a:rPr>
              <a:t>패널티를</a:t>
            </a:r>
            <a:r>
              <a:rPr lang="ko-KR" altLang="en-US" sz="1200" b="0" i="0" kern="1200">
                <a:solidFill>
                  <a:schemeClr val="tx1"/>
                </a:solidFill>
                <a:effectLst/>
                <a:latin typeface="+mn-lt"/>
                <a:ea typeface="+mn-ea"/>
                <a:cs typeface="+mn-cs"/>
              </a:rPr>
              <a:t> 추가합니다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이를 통해 데이터만으로 학습하는 것이 아니라 도메인 지식이 모델을 </a:t>
            </a:r>
            <a:r>
              <a:rPr lang="ko-KR" altLang="en-US" sz="1200" b="0" i="0" kern="1200" err="1">
                <a:solidFill>
                  <a:schemeClr val="tx1"/>
                </a:solidFill>
                <a:effectLst/>
                <a:latin typeface="+mn-lt"/>
                <a:ea typeface="+mn-ea"/>
                <a:cs typeface="+mn-cs"/>
              </a:rPr>
              <a:t>가이드하게</a:t>
            </a:r>
            <a:r>
              <a:rPr lang="ko-KR" altLang="en-US" sz="1200" b="0" i="0" kern="1200">
                <a:solidFill>
                  <a:schemeClr val="tx1"/>
                </a:solidFill>
                <a:effectLst/>
                <a:latin typeface="+mn-lt"/>
                <a:ea typeface="+mn-ea"/>
                <a:cs typeface="+mn-cs"/>
              </a:rPr>
              <a:t> 됩니다</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또한 예측 결과에 대해 어떤 센서가 이상의 원인인지</a:t>
            </a:r>
            <a:r>
              <a:rPr lang="en-US" altLang="ko-KR" sz="1200" b="0" i="0" kern="1200">
                <a:solidFill>
                  <a:schemeClr val="tx1"/>
                </a:solidFill>
                <a:effectLst/>
                <a:latin typeface="+mn-lt"/>
                <a:ea typeface="+mn-ea"/>
                <a:cs typeface="+mn-cs"/>
              </a:rPr>
              <a:t>, </a:t>
            </a:r>
            <a:r>
              <a:rPr lang="ko-KR" altLang="en-US" sz="1200" b="0" i="0" kern="1200">
                <a:solidFill>
                  <a:schemeClr val="tx1"/>
                </a:solidFill>
                <a:effectLst/>
                <a:latin typeface="+mn-lt"/>
                <a:ea typeface="+mn-ea"/>
                <a:cs typeface="+mn-cs"/>
              </a:rPr>
              <a:t>해당 상태에서 어떤 동작이 수행 중이었는지 등을 설명할 수 있어 해석 가능성도 확보합니다</a:t>
            </a:r>
            <a:r>
              <a:rPr lang="en-US" altLang="ko-KR" sz="1200" b="0" i="0" kern="1200">
                <a:solidFill>
                  <a:schemeClr val="tx1"/>
                </a:solidFill>
                <a:effectLst/>
                <a:latin typeface="+mn-lt"/>
                <a:ea typeface="+mn-ea"/>
                <a:cs typeface="+mn-cs"/>
              </a:rPr>
              <a:t>.</a:t>
            </a:r>
            <a:endParaRPr lang="ko-KR" altLang="en-US"/>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8</a:t>
            </a:fld>
            <a:endParaRPr lang="ko-KR" altLang="en-US"/>
          </a:p>
        </p:txBody>
      </p:sp>
    </p:spTree>
    <p:extLst>
      <p:ext uri="{BB962C8B-B14F-4D97-AF65-F5344CB8AC3E}">
        <p14:creationId xmlns:p14="http://schemas.microsoft.com/office/powerpoint/2010/main" val="181818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앞서 세운 가설을 검증한 핵심 근거가 이 그래프입니다. 두 모달리티 데이터가 모두 있는 3,912개 시점에서 측정했고, 지표는 클래스 불균형을 고려한 Weighted F1입니다. 센서 단독 0.907, 이미지 단독 0.925, 그리고 두 모델의 예측 확률을 가중 결합한 융합 모델이 0.986으로 두 단독을 모두 뚜렷하게 능가했습니다. 이 차이는 우연이 아닙니다. 부트스트랩 검정 결과 융합과 센서의 차이가 평균 0.078, 95% 신뢰구간이 0보다 커서 통계적으로 유의했습니다. 두 모달리티가 서로 다른 정보를 담고 있고, 융합이 그것을 종합해 더 정확히 판단한다는 것을 보여줍니다.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9</a:t>
            </a:fld>
            <a:endParaRPr lang="ko-KR" altLang="en-US"/>
          </a:p>
        </p:txBody>
      </p:sp>
    </p:spTree>
    <p:extLst>
      <p:ext uri="{BB962C8B-B14F-4D97-AF65-F5344CB8AC3E}">
        <p14:creationId xmlns:p14="http://schemas.microsoft.com/office/powerpoint/2010/main" val="3255979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그렇다면 이미지가 항상 좋은 상태로 들어오지 않을 때는 어떨까요? 조명이 나쁘거나 학습이 부족해 이미지가 약할 때, 그걸 결합하면 융합이 오히려 끌려 내려가지 않을까 하는 의문입니다. 그래서 이미지 모델을 일부러 덜 학습시켜 약하게 만든 경우와, 충분히 학습시켜 강하게 만든 경우 두 가지를 비교했습니다. 결과를 보시면 이미지가 약할 때 융합은 센서와 같은 수준을 그대로 유지합니다. 약한 정보에 끌려 내려가지 않고 손해를 보지 않는 겁니다. 반대로 이미지가 강할 때는 센서보다 약 0.06 크게 향상됩니다. 즉 융합은 이미지가 도움이 안 되면 센서 수준을 지키고, 유용하면 그만큼 이득을 가져갑니다. 결측과 품질 저하가 흔한 실제 산업 현장에서 융합이 안전한 선택인 이유입니다.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10</a:t>
            </a:fld>
            <a:endParaRPr lang="ko-KR" altLang="en-US"/>
          </a:p>
        </p:txBody>
      </p:sp>
    </p:spTree>
    <p:extLst>
      <p:ext uri="{BB962C8B-B14F-4D97-AF65-F5344CB8AC3E}">
        <p14:creationId xmlns:p14="http://schemas.microsoft.com/office/powerpoint/2010/main" val="86370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결론입니다. 저희 프로젝트는 세 가지를 확인했습니다. 첫째, 두 모달리티가 함께 입력되는 시점에서 융합 모델이 센서 단독 0.907, 이미지 단독 0.925보다 높은 F1 0.986을 기록했고, 이 차이는 통계적으로도 유의했습니다. 멀티모달 결합의 효과를 정량적으로 확인한 것입니다. 둘째, 이미지의 강도를 약하게도 강하게도 바꿔 본 결과, 이미지가 약할 때 융합은 센서 수준을 안전하게 유지하고 이미지가 강할 때는 그만큼 이득을 가져갔습니다. 즉 융합은 손해 없이 작동하며 정보가 좋을수록 더 좋아집니다. 셋째, 이미지가 들어오지 않는 시점에는 자동으로 센서 모델만 사용하도록 설계해서, 결측 상황에서도 시스템이 안정적으로 작동합니다. 즉 저희 프로젝트의 의의는 단순히 멀티모달이 좋다는 결론을 내리는 것이 아니라, 어떤 조건에서 어떻게 좋은지를 실험으로 밝히고, 실제 산업 환경에 적용 가능한 견고한 구조를 설계했다는 점입니다.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11</a:t>
            </a:fld>
            <a:endParaRPr lang="ko-KR" altLang="en-US"/>
          </a:p>
        </p:txBody>
      </p:sp>
    </p:spTree>
    <p:extLst>
      <p:ext uri="{BB962C8B-B14F-4D97-AF65-F5344CB8AC3E}">
        <p14:creationId xmlns:p14="http://schemas.microsoft.com/office/powerpoint/2010/main" val="950960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질문 받겠습니다.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12</a:t>
            </a:fld>
            <a:endParaRPr lang="ko-KR" altLang="en-US"/>
          </a:p>
        </p:txBody>
      </p:sp>
    </p:spTree>
    <p:extLst>
      <p:ext uri="{BB962C8B-B14F-4D97-AF65-F5344CB8AC3E}">
        <p14:creationId xmlns:p14="http://schemas.microsoft.com/office/powerpoint/2010/main" val="69453913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저희 프로젝트가 어떻게 발전했는지 말씀드리겠습니다. 사실 중간발표 때는 융합 모델이 전체 구간에서 F1 0.88로, 센서 단독 0.93보다 오히려 낮았습니다. 멀티모달인데 단독보다 못한 결과였죠. 저희는 그 원인을 데이터 불균형으로 진단했습니다. 이미지는 9천여 장인데 센서는 12만 시퀀스라, 융합에서 이미지가 정보를 더하기보다 노이즈로 작용한 겁니다. 그래서 최종 단계에서 이미지 커버리지를 늘리고 융합 방식을 개선했고, 두 모달리티가 균형 있게 함께 들어오는 구간에서는 융합이 두 단독을 모두 넘어섰습니다. 즉 저희가 세운 가설, ‘멀티모달의 성공은 데이터 균형에 달려 있다’를 직접 검증한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결함 유형별로 모델이 얼마나 잘 작동하는지 분석한 결과입니다. NoNose 같은 단순한 단일 부품 결함은 F1 0.98로 거의 완벽하게 검출됩니다. 두 부품이 빠진 복합 결함은 0.89로 양호한 편입니다. 그런데 세 부품이 동시에 빠진 가장 복잡한 결함은 0.62로 검출 성능이 크게 떨어집니다. 이는 결함이 누적될수록 각 결함 유형의 시각적·센서적 특징이 서로 닮아져서 모델이 구분하기 어려워지기 때문입니다. 향후 개선이 필요한 핵심 지점이기도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분명히 있습니다. 첫째, 단일 데이터셋으로만 검증해서 다른 제조 환경에서도 같은 효과가 나타날지는 추가 검증이 필요합니다. 둘째, 융합의 이득은 이미지가 실제로 들어오는 시점, 즉 전체의 약 41% 구간에 집중됩니다. 이 구간에선 향상이 뚜렷하고 통계적으로 유의했지만, 전체 시점으로 평균을 내면 이득의 폭은 줄어듭니다. 따라서 이미지 커버리지를 더 넓히는 것이 중요한 과제입니다. 셋째, 세 부품이 동시에 빠진 복합 결함은 F1 0.62로 개선 여지가 큽니다. 향후 방향은 다른 제조 환경 데이터로 일반화 검증, 도메인 지식을 학습에 반영하는 Knowledge Infusion, 그리고 복합 결함을 위한 특화 모델이나 데이터 증강입니다.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08931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09169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27079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87728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8891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2857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1958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637784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144301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DD42A-90C7-487F-8239-3BC9C7AE3FA4}" type="datetimeFigureOut">
              <a:rPr lang="ko-KR" altLang="en-US" smtClean="0"/>
              <a:t>2026-05-08</a:t>
            </a:fld>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9D645-73ED-4348-97C8-7DB3ADE2B2C4}" type="slidenum">
              <a:rPr lang="ko-KR" altLang="en-US" smtClean="0"/>
              <a:t>‹#›</a:t>
            </a:fld>
            <a:endParaRPr lang="ko-KR" altLang="en-US"/>
          </a:p>
        </p:txBody>
      </p:sp>
      <p:sp>
        <p:nvSpPr>
          <p:cNvPr id="200" name="BottomBar"/>
          <p:cNvSpPr/>
          <p:nvPr/>
        </p:nvSpPr>
        <p:spPr>
          <a:xfrm>
            <a:off x="0" y="6705600"/>
            <a:ext cx="12192000" cy="152400"/>
          </a:xfrm>
          <a:prstGeom prst="rect">
            <a:avLst/>
          </a:prstGeom>
          <a:gradFill>
            <a:gsLst>
              <a:gs pos="0">
                <a:srgbClr val="2676AC"/>
              </a:gs>
              <a:gs pos="35000">
                <a:srgbClr val="16A295"/>
              </a:gs>
              <a:gs pos="65000">
                <a:srgbClr val="93B64E"/>
              </a:gs>
              <a:gs pos="100000">
                <a:srgbClr val="AE729E"/>
              </a:gs>
            </a:gsLst>
            <a:lin ang="0" scaled="1"/>
          </a:gradFill>
          <a:ln>
            <a:noFill/>
          </a:ln>
        </p:spPr>
        <p:txBody>
          <a:bodyPr/>
          <a:lstStyle/>
          <a:p>
            <a:endParaRPr lang="ko-KR"/>
          </a:p>
        </p:txBody>
      </p:sp>
    </p:spTree>
    <p:extLst>
      <p:ext uri="{BB962C8B-B14F-4D97-AF65-F5344CB8AC3E}">
        <p14:creationId xmlns:p14="http://schemas.microsoft.com/office/powerpoint/2010/main" val="15577208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9" r:id="rId6"/>
    <p:sldLayoutId id="2147483770" r:id="rId7"/>
    <p:sldLayoutId id="2147483771" r:id="rId8"/>
    <p:sldLayoutId id="2147483772" r:id="rId9"/>
  </p:sldLayoutIdLst>
  <p:txStyles>
    <p:titleStyle>
      <a:lvl1pPr algn="l" defTabSz="914400" rtl="0" eaLnBrk="1" latinLnBrk="1" hangingPunct="1">
        <a:lnSpc>
          <a:spcPct val="90000"/>
        </a:lnSpc>
        <a:spcBef>
          <a:spcPct val="0"/>
        </a:spcBef>
        <a:buNone/>
        <a:defRPr sz="4400" kern="1200">
          <a:solidFill>
            <a:srgbClr val="1B2A4A"/>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2C759EB-AE6E-48F6-AB6F-B6041826839F}"/>
              </a:ext>
            </a:extLst>
          </p:cNvPr>
          <p:cNvSpPr/>
          <p:nvPr/>
        </p:nvSpPr>
        <p:spPr>
          <a:xfrm>
            <a:off x="0" y="0"/>
            <a:ext cx="12192000" cy="101600"/>
          </a:xfrm>
          <a:prstGeom prst="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nvGrpSpPr>
          <p:cNvPr id="21" name="그룹 20">
            <a:extLst>
              <a:ext uri="{FF2B5EF4-FFF2-40B4-BE49-F238E27FC236}">
                <a16:creationId xmlns:a16="http://schemas.microsoft.com/office/drawing/2014/main" id="{EBE95E33-541A-7ECA-DBE6-55DDF3E50930}"/>
              </a:ext>
            </a:extLst>
          </p:cNvPr>
          <p:cNvGrpSpPr/>
          <p:nvPr/>
        </p:nvGrpSpPr>
        <p:grpSpPr>
          <a:xfrm>
            <a:off x="1938392" y="1634163"/>
            <a:ext cx="7411092" cy="3302001"/>
            <a:chOff x="1250023" y="1632449"/>
            <a:chExt cx="7411092" cy="3302001"/>
          </a:xfrm>
        </p:grpSpPr>
        <p:sp>
          <p:nvSpPr>
            <p:cNvPr id="4" name="TextBox 3">
              <a:extLst>
                <a:ext uri="{FF2B5EF4-FFF2-40B4-BE49-F238E27FC236}">
                  <a16:creationId xmlns:a16="http://schemas.microsoft.com/office/drawing/2014/main" id="{3C0DAF61-DDE0-4C67-A740-1F6B1CD7178B}"/>
                </a:ext>
              </a:extLst>
            </p:cNvPr>
            <p:cNvSpPr txBox="1"/>
            <p:nvPr/>
          </p:nvSpPr>
          <p:spPr>
            <a:xfrm>
              <a:off x="1250023" y="1632449"/>
              <a:ext cx="7411092" cy="2286000"/>
            </a:xfrm>
            <a:prstGeom prst="rect">
              <a:avLst/>
            </a:prstGeom>
            <a:noFill/>
          </p:spPr>
          <p:txBody>
            <a:bodyPr vertOverflow="overflow" vert="horz" wrap="square" rtlCol="0" anchor="t">
              <a:noAutofit/>
            </a:bodyPr>
            <a:lstStyle/>
            <a:p>
              <a:pPr algn="l"/>
              <a:r>
                <a:rPr lang="en-US" altLang="ko-KR" sz="2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멀티모달 딥러닝 기반</a:t>
              </a:r>
              <a:endParaRPr lang="ko-KR" altLang="en-US" sz="26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a:p>
              <a:r>
                <a:rPr sz="2600" b="1">
                  <a:solidFill>
                    <a:srgbClr val="1B2A4A"/>
                  </a:solidFill>
                </a:rPr>
                <a:t>제조 공정 이상 탐지</a:t>
              </a:r>
            </a:p>
          </p:txBody>
        </p:sp>
        <p:sp>
          <p:nvSpPr>
            <p:cNvPr id="6" name="TextBox 5">
              <a:extLst>
                <a:ext uri="{FF2B5EF4-FFF2-40B4-BE49-F238E27FC236}">
                  <a16:creationId xmlns:a16="http://schemas.microsoft.com/office/drawing/2014/main" id="{FF4E0AD3-7E47-44C0-A762-E4DB795E0B7E}"/>
                </a:ext>
              </a:extLst>
            </p:cNvPr>
            <p:cNvSpPr txBox="1"/>
            <p:nvPr/>
          </p:nvSpPr>
          <p:spPr>
            <a:xfrm>
              <a:off x="1250023" y="3251699"/>
              <a:ext cx="6971016" cy="762000"/>
            </a:xfrm>
            <a:prstGeom prst="rect">
              <a:avLst/>
            </a:prstGeom>
            <a:noFill/>
          </p:spPr>
          <p:txBody>
            <a:bodyPr vertOverflow="overflow" vert="horz" wrap="square" rtlCol="0" anchor="t">
              <a:noAutofit/>
            </a:bodyPr>
            <a:lstStyle/>
            <a:p>
              <a:pPr algn="l"/>
              <a:r>
                <a:rPr lang="en-US" altLang="ko-KR" sz="1400">
                  <a:solidFill>
                    <a:srgbClr val="555555"/>
                  </a:solidFill>
                  <a:latin typeface="나눔고딕" panose="020D0604000000000000" pitchFamily="50" charset="-127"/>
                  <a:ea typeface="나눔고딕" panose="020D0604000000000000" pitchFamily="50" charset="-127"/>
                  <a:cs typeface="Arial" panose="020B0604020202020204" pitchFamily="34" charset="0"/>
                </a:rPr>
                <a:t>시계열 센서와 카메라 이미지를 함께 활용한 결함 자동 검출</a:t>
              </a:r>
              <a:endParaRPr lang="ko-KR" altLang="en-US" sz="14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TextBox 6">
              <a:extLst>
                <a:ext uri="{FF2B5EF4-FFF2-40B4-BE49-F238E27FC236}">
                  <a16:creationId xmlns:a16="http://schemas.microsoft.com/office/drawing/2014/main" id="{2E156A38-9E34-40E2-BAAB-0D515E2FAD93}"/>
                </a:ext>
              </a:extLst>
            </p:cNvPr>
            <p:cNvSpPr txBox="1"/>
            <p:nvPr/>
          </p:nvSpPr>
          <p:spPr>
            <a:xfrm>
              <a:off x="1250023" y="3791450"/>
              <a:ext cx="7298076" cy="381000"/>
            </a:xfrm>
            <a:prstGeom prst="rect">
              <a:avLst/>
            </a:prstGeom>
            <a:noFill/>
          </p:spPr>
          <p:txBody>
            <a:bodyPr vertOverflow="overflow" vert="horz" wrap="square" rtlCol="0" anchor="t">
              <a:noAutofit/>
            </a:bodyPr>
            <a:lstStyle/>
            <a:p>
              <a:pPr algn="l"/>
              <a:r>
                <a:rPr lang="en-US" altLang="ko-KR" sz="1400">
                  <a:solidFill>
                    <a:srgbClr val="2676AC"/>
                  </a:solidFill>
                  <a:latin typeface="나눔고딕" panose="020D0604000000000000" pitchFamily="50" charset="-127"/>
                  <a:ea typeface="나눔고딕" panose="020D0604000000000000" pitchFamily="50" charset="-127"/>
                  <a:cs typeface="Arial" panose="020B0604020202020204" pitchFamily="34" charset="0"/>
                </a:rPr>
                <a:t>아주대학교 딥러닝응용  |  최종 발표</a:t>
              </a:r>
              <a:endParaRPr lang="ko-KR" altLang="en-US" sz="1400">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23E903E7-1FBD-4E21-BB75-28CCF49C4405}"/>
                </a:ext>
              </a:extLst>
            </p:cNvPr>
            <p:cNvSpPr txBox="1"/>
            <p:nvPr/>
          </p:nvSpPr>
          <p:spPr>
            <a:xfrm>
              <a:off x="1250023" y="4553450"/>
              <a:ext cx="2099353" cy="381000"/>
            </a:xfrm>
            <a:prstGeom prst="rect">
              <a:avLst/>
            </a:prstGeom>
            <a:noFill/>
          </p:spPr>
          <p:txBody>
            <a:bodyPr vertOverflow="overflow" vert="horz" wrap="square" rtlCol="0" anchor="t">
              <a:noAutofit/>
            </a:bodyPr>
            <a:lstStyle/>
            <a:p>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[3</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조</a:t>
              </a:r>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김주헌</a:t>
              </a:r>
              <a:r>
                <a:rPr lang="en-US" altLang="ko-KR"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400">
                  <a:solidFill>
                    <a:srgbClr val="777777"/>
                  </a:solidFill>
                  <a:latin typeface="나눔고딕" panose="020D0604000000000000" pitchFamily="50" charset="-127"/>
                  <a:ea typeface="나눔고딕" panose="020D0604000000000000" pitchFamily="50" charset="-127"/>
                  <a:cs typeface="Arial" panose="020B0604020202020204" pitchFamily="34" charset="0"/>
                </a:rPr>
                <a:t>하현성</a:t>
              </a:r>
            </a:p>
          </p:txBody>
        </p:sp>
      </p:grpSp>
    </p:spTree>
    <p:extLst>
      <p:ext uri="{BB962C8B-B14F-4D97-AF65-F5344CB8AC3E}">
        <p14:creationId xmlns:p14="http://schemas.microsoft.com/office/powerpoint/2010/main" val="142367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왜 멀티모달이 필요한가</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센서만 보면?</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진동·온도·각도는 알지만 부품이 시각적으로 빠진 결함은 알기 어려움</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이미지만 보면?</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시각적 결함은 보이지만 로봇의 비정상 부하·동작 등은 알 수 없음</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두 데이터를 함께 쓰면?</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서로의 한계를 보완할 수 있다는 기대 — 멀티모달 접근의 출발점</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핵심 질문: 결합은 정말 항상 더 나은가? 어떤 조건에서 효과적인가?</a:t>
            </a:r>
          </a:p>
        </p:txBody>
      </p:sp>
    </p:spTree>
    <p:extLst>
      <p:ext uri="{BB962C8B-B14F-4D97-AF65-F5344CB8AC3E}">
        <p14:creationId xmlns:p14="http://schemas.microsoft.com/office/powerpoint/2010/main" val="165108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4F2F343-49D9-45BA-933C-349D18958A8C}"/>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F279297E-1192-4907-A5E6-BFAAC5E1F3C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02</a:t>
            </a:r>
            <a:endParaRPr lang="ko-KR" altLang="en-US" sz="1600" b="1">
              <a:solidFill>
                <a:srgbClr val="FFFFFF"/>
              </a:solidFill>
            </a:endParaRPr>
          </a:p>
        </p:txBody>
      </p:sp>
      <p:sp>
        <p:nvSpPr>
          <p:cNvPr id="5" name="TextBox 4">
            <a:extLst>
              <a:ext uri="{FF2B5EF4-FFF2-40B4-BE49-F238E27FC236}">
                <a16:creationId xmlns:a16="http://schemas.microsoft.com/office/drawing/2014/main" id="{72CF5864-6C9A-40FE-A90D-FD95FABB8883}"/>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프로젝트 목표</a:t>
            </a:r>
          </a:p>
        </p:txBody>
      </p:sp>
      <p:grpSp>
        <p:nvGrpSpPr>
          <p:cNvPr id="23" name="그룹 22">
            <a:extLst>
              <a:ext uri="{FF2B5EF4-FFF2-40B4-BE49-F238E27FC236}">
                <a16:creationId xmlns:a16="http://schemas.microsoft.com/office/drawing/2014/main" id="{5F3AB159-139A-0CE4-327C-F4D77DD803D5}"/>
              </a:ext>
            </a:extLst>
          </p:cNvPr>
          <p:cNvGrpSpPr/>
          <p:nvPr/>
        </p:nvGrpSpPr>
        <p:grpSpPr>
          <a:xfrm>
            <a:off x="698500" y="1600200"/>
            <a:ext cx="10795000" cy="3657600"/>
            <a:chOff x="508000" y="1079500"/>
            <a:chExt cx="10795000" cy="3657600"/>
          </a:xfrm>
        </p:grpSpPr>
        <p:sp>
          <p:nvSpPr>
            <p:cNvPr id="6" name="TextBox 5">
              <a:extLst>
                <a:ext uri="{FF2B5EF4-FFF2-40B4-BE49-F238E27FC236}">
                  <a16:creationId xmlns:a16="http://schemas.microsoft.com/office/drawing/2014/main" id="{A0639D39-7C95-4595-9A73-52E2B28BA140}"/>
                </a:ext>
              </a:extLst>
            </p:cNvPr>
            <p:cNvSpPr txBox="1"/>
            <p:nvPr/>
          </p:nvSpPr>
          <p:spPr>
            <a:xfrm>
              <a:off x="508000" y="1079500"/>
              <a:ext cx="10606783"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답하려는 세 가지 질문</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0D10900D-DD54-484D-8D37-9901F4C89756}"/>
                </a:ext>
              </a:extLst>
            </p:cNvPr>
            <p:cNvSpPr/>
            <p:nvPr/>
          </p:nvSpPr>
          <p:spPr>
            <a:xfrm>
              <a:off x="508000" y="1587500"/>
              <a:ext cx="3048000" cy="2286000"/>
            </a:xfrm>
            <a:prstGeom prst="roundRect">
              <a:avLst/>
            </a:prstGeom>
            <a:solidFill>
              <a:srgbClr val="FFFFFF"/>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타원 7">
              <a:extLst>
                <a:ext uri="{FF2B5EF4-FFF2-40B4-BE49-F238E27FC236}">
                  <a16:creationId xmlns:a16="http://schemas.microsoft.com/office/drawing/2014/main" id="{FA028449-C84E-4C1B-9017-AF23C4F6A054}"/>
                </a:ext>
              </a:extLst>
            </p:cNvPr>
            <p:cNvSpPr/>
            <p:nvPr/>
          </p:nvSpPr>
          <p:spPr>
            <a:xfrm>
              <a:off x="765281" y="1805183"/>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9" name="TextBox 8">
              <a:extLst>
                <a:ext uri="{FF2B5EF4-FFF2-40B4-BE49-F238E27FC236}">
                  <a16:creationId xmlns:a16="http://schemas.microsoft.com/office/drawing/2014/main" id="{4BE1EC74-9750-4E51-BE3F-E3C049FCAC73}"/>
                </a:ext>
              </a:extLst>
            </p:cNvPr>
            <p:cNvSpPr txBox="1"/>
            <p:nvPr/>
          </p:nvSpPr>
          <p:spPr>
            <a:xfrm>
              <a:off x="765281" y="2524158"/>
              <a:ext cx="3048000" cy="355600"/>
            </a:xfrm>
            <a:prstGeom prst="rect">
              <a:avLst/>
            </a:prstGeom>
            <a:noFill/>
          </p:spPr>
          <p:txBody>
            <a:bodyPr vertOverflow="overflow" vert="horz" wrap="square" rtlCol="0" anchor="t">
              <a:noAutofit/>
            </a:bodyPr>
            <a:lstStyle/>
            <a:p>
              <a:pPr algn="l"/>
              <a:r>
                <a:rPr lang="en-US" altLang="ko-KR" sz="1500" b="1">
                  <a:solidFill>
                    <a:srgbClr val="2676AC"/>
                  </a:solidFill>
                  <a:latin typeface="나눔고딕" panose="020D0604000000000000" pitchFamily="50" charset="-127"/>
                  <a:ea typeface="나눔고딕" panose="020D0604000000000000" pitchFamily="50" charset="-127"/>
                  <a:cs typeface="Arial" panose="020B0604020202020204" pitchFamily="34" charset="0"/>
                </a:rPr>
                <a:t>결합이 단독보다 나은가</a:t>
              </a:r>
              <a:endParaRPr lang="ko-KR" altLang="en-US" sz="15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0" name="TextBox 9">
              <a:extLst>
                <a:ext uri="{FF2B5EF4-FFF2-40B4-BE49-F238E27FC236}">
                  <a16:creationId xmlns:a16="http://schemas.microsoft.com/office/drawing/2014/main" id="{C07B4BBF-534C-43CD-9A4D-BDE0E4D82B9F}"/>
                </a:ext>
              </a:extLst>
            </p:cNvPr>
            <p:cNvSpPr txBox="1"/>
            <p:nvPr/>
          </p:nvSpPr>
          <p:spPr>
            <a:xfrm>
              <a:off x="7652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센서·이미지·융합 세 모델을</a:t>
              </a:r>
            </a:p>
            <a:p>
              <a:r>
                <a:rPr sz="1200">
                  <a:solidFill>
                    <a:srgbClr val="444444"/>
                  </a:solidFill>
                </a:rPr>
                <a:t>같은 조건에서 직접 비교</a:t>
              </a:r>
            </a:p>
          </p:txBody>
        </p:sp>
        <p:sp>
          <p:nvSpPr>
            <p:cNvPr id="12" name="사각형: 둥근 모서리 11">
              <a:extLst>
                <a:ext uri="{FF2B5EF4-FFF2-40B4-BE49-F238E27FC236}">
                  <a16:creationId xmlns:a16="http://schemas.microsoft.com/office/drawing/2014/main" id="{3F50AED4-79D2-4514-B234-E3195E11449D}"/>
                </a:ext>
              </a:extLst>
            </p:cNvPr>
            <p:cNvSpPr/>
            <p:nvPr/>
          </p:nvSpPr>
          <p:spPr>
            <a:xfrm>
              <a:off x="4381500" y="1587500"/>
              <a:ext cx="3048000" cy="2286000"/>
            </a:xfrm>
            <a:prstGeom prst="roundRect">
              <a:avLst/>
            </a:prstGeom>
            <a:solidFill>
              <a:srgbClr val="FFFFFF"/>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타원 12">
              <a:extLst>
                <a:ext uri="{FF2B5EF4-FFF2-40B4-BE49-F238E27FC236}">
                  <a16:creationId xmlns:a16="http://schemas.microsoft.com/office/drawing/2014/main" id="{0C2FA366-2311-42DF-9390-21A4FC725CCF}"/>
                </a:ext>
              </a:extLst>
            </p:cNvPr>
            <p:cNvSpPr/>
            <p:nvPr/>
          </p:nvSpPr>
          <p:spPr>
            <a:xfrm>
              <a:off x="4638781" y="1805183"/>
              <a:ext cx="558800" cy="5588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4" name="TextBox 13">
              <a:extLst>
                <a:ext uri="{FF2B5EF4-FFF2-40B4-BE49-F238E27FC236}">
                  <a16:creationId xmlns:a16="http://schemas.microsoft.com/office/drawing/2014/main" id="{DC19206D-A76F-4BB5-BD39-0F868D2F5FA7}"/>
                </a:ext>
              </a:extLst>
            </p:cNvPr>
            <p:cNvSpPr txBox="1"/>
            <p:nvPr/>
          </p:nvSpPr>
          <p:spPr>
            <a:xfrm>
              <a:off x="4638781" y="2524158"/>
              <a:ext cx="3048000" cy="355600"/>
            </a:xfrm>
            <a:prstGeom prst="rect">
              <a:avLst/>
            </a:prstGeom>
            <a:noFill/>
          </p:spPr>
          <p:txBody>
            <a:bodyPr vertOverflow="overflow" vert="horz" wrap="square" rtlCol="0" anchor="t">
              <a:noAutofit/>
            </a:bodyPr>
            <a:lstStyle/>
            <a:p>
              <a:pPr algn="l"/>
              <a:r>
                <a:rPr lang="en-US" altLang="ko-KR" sz="15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언제 이득이 발생하는가</a:t>
              </a:r>
              <a:endParaRPr lang="ko-KR" altLang="en-US" sz="15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5" name="TextBox 14">
              <a:extLst>
                <a:ext uri="{FF2B5EF4-FFF2-40B4-BE49-F238E27FC236}">
                  <a16:creationId xmlns:a16="http://schemas.microsoft.com/office/drawing/2014/main" id="{A5158363-372F-41F1-BC04-59E175D89C52}"/>
                </a:ext>
              </a:extLst>
            </p:cNvPr>
            <p:cNvSpPr txBox="1"/>
            <p:nvPr/>
          </p:nvSpPr>
          <p:spPr>
            <a:xfrm>
              <a:off x="4638781" y="2943258"/>
              <a:ext cx="3048000"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모달리티의 강도를</a:t>
              </a:r>
            </a:p>
            <a:p>
              <a:r>
                <a:rPr sz="1200">
                  <a:solidFill>
                    <a:srgbClr val="444444"/>
                  </a:solidFill>
                </a:rPr>
                <a:t>다양하게 조절하여</a:t>
              </a:r>
            </a:p>
            <a:p>
              <a:r>
                <a:rPr sz="1200">
                  <a:solidFill>
                    <a:srgbClr val="444444"/>
                  </a:solidFill>
                </a:rPr>
                <a:t>융합 효과의 일관성 검증</a:t>
              </a:r>
            </a:p>
          </p:txBody>
        </p:sp>
        <p:sp>
          <p:nvSpPr>
            <p:cNvPr id="17" name="사각형: 둥근 모서리 16">
              <a:extLst>
                <a:ext uri="{FF2B5EF4-FFF2-40B4-BE49-F238E27FC236}">
                  <a16:creationId xmlns:a16="http://schemas.microsoft.com/office/drawing/2014/main" id="{BD2E5B76-71D6-4872-BB9C-ABB15EAFAA0A}"/>
                </a:ext>
              </a:extLst>
            </p:cNvPr>
            <p:cNvSpPr/>
            <p:nvPr/>
          </p:nvSpPr>
          <p:spPr>
            <a:xfrm>
              <a:off x="8255000" y="1587500"/>
              <a:ext cx="3048000" cy="2286000"/>
            </a:xfrm>
            <a:prstGeom prst="roundRect">
              <a:avLst/>
            </a:prstGeom>
            <a:solidFill>
              <a:srgbClr val="FFFFFF"/>
            </a:solidFill>
            <a:ln w="25400" cap="flat" cmpd="sng" algn="ctr">
              <a:solidFill>
                <a:srgbClr val="93B6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타원 17">
              <a:extLst>
                <a:ext uri="{FF2B5EF4-FFF2-40B4-BE49-F238E27FC236}">
                  <a16:creationId xmlns:a16="http://schemas.microsoft.com/office/drawing/2014/main" id="{91B52DC5-B94F-4010-BCFA-DC5FFEE86617}"/>
                </a:ext>
              </a:extLst>
            </p:cNvPr>
            <p:cNvSpPr/>
            <p:nvPr/>
          </p:nvSpPr>
          <p:spPr>
            <a:xfrm>
              <a:off x="8512281" y="1805183"/>
              <a:ext cx="558800" cy="5588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9" name="TextBox 18">
              <a:extLst>
                <a:ext uri="{FF2B5EF4-FFF2-40B4-BE49-F238E27FC236}">
                  <a16:creationId xmlns:a16="http://schemas.microsoft.com/office/drawing/2014/main" id="{B6A0EC6B-2D35-4AD0-B4A4-3966345D54C8}"/>
                </a:ext>
              </a:extLst>
            </p:cNvPr>
            <p:cNvSpPr txBox="1"/>
            <p:nvPr/>
          </p:nvSpPr>
          <p:spPr>
            <a:xfrm>
              <a:off x="8512281" y="2524158"/>
              <a:ext cx="2602502" cy="355600"/>
            </a:xfrm>
            <a:prstGeom prst="rect">
              <a:avLst/>
            </a:prstGeom>
            <a:noFill/>
          </p:spPr>
          <p:txBody>
            <a:bodyPr vertOverflow="overflow" vert="horz" wrap="square" rtlCol="0" anchor="t">
              <a:noAutofit/>
            </a:bodyPr>
            <a:lstStyle/>
            <a:p>
              <a:pPr algn="l"/>
              <a:r>
                <a:rPr lang="en-US" altLang="ko-KR" sz="1500" b="1">
                  <a:solidFill>
                    <a:srgbClr val="93B64E"/>
                  </a:solidFill>
                  <a:latin typeface="나눔고딕" panose="020D0604000000000000" pitchFamily="50" charset="-127"/>
                  <a:ea typeface="나눔고딕" panose="020D0604000000000000" pitchFamily="50" charset="-127"/>
                  <a:cs typeface="Arial" panose="020B0604020202020204" pitchFamily="34" charset="0"/>
                </a:rPr>
                <a:t>이미지가 없는 순간엔</a:t>
              </a:r>
              <a:endParaRPr lang="ko-KR" altLang="en-US" sz="15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0" name="TextBox 19">
              <a:extLst>
                <a:ext uri="{FF2B5EF4-FFF2-40B4-BE49-F238E27FC236}">
                  <a16:creationId xmlns:a16="http://schemas.microsoft.com/office/drawing/2014/main" id="{F9B8E14A-D287-4F92-AA49-AADA410682D2}"/>
                </a:ext>
              </a:extLst>
            </p:cNvPr>
            <p:cNvSpPr txBox="1"/>
            <p:nvPr/>
          </p:nvSpPr>
          <p:spPr>
            <a:xfrm>
              <a:off x="8512281" y="2943258"/>
              <a:ext cx="2602502" cy="9525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카메라 데이터가 없는 시점에도</a:t>
              </a:r>
            </a:p>
            <a:p>
              <a:r>
                <a:rPr sz="1200">
                  <a:solidFill>
                    <a:srgbClr val="444444"/>
                  </a:solidFill>
                </a:rPr>
                <a:t>안정적으로 작동하는</a:t>
              </a:r>
            </a:p>
            <a:p>
              <a:r>
                <a:rPr sz="1200">
                  <a:solidFill>
                    <a:srgbClr val="444444"/>
                  </a:solidFill>
                </a:rPr>
                <a:t>견고한 융합 설계</a:t>
              </a:r>
            </a:p>
          </p:txBody>
        </p:sp>
        <p:sp>
          <p:nvSpPr>
            <p:cNvPr id="21" name="사각형: 둥근 모서리 20">
              <a:extLst>
                <a:ext uri="{FF2B5EF4-FFF2-40B4-BE49-F238E27FC236}">
                  <a16:creationId xmlns:a16="http://schemas.microsoft.com/office/drawing/2014/main" id="{5D8CE290-11EE-4720-B950-D0F4FDB322F3}"/>
                </a:ext>
              </a:extLst>
            </p:cNvPr>
            <p:cNvSpPr/>
            <p:nvPr/>
          </p:nvSpPr>
          <p:spPr>
            <a:xfrm>
              <a:off x="508000" y="4127500"/>
              <a:ext cx="10795000" cy="609600"/>
            </a:xfrm>
            <a:prstGeom prst="roundRect">
              <a:avLst/>
            </a:prstGeom>
            <a:solidFill>
              <a:srgbClr val="F5F9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6641A26-DEA1-4E71-8F56-F64745B9F16C}"/>
                </a:ext>
              </a:extLst>
            </p:cNvPr>
            <p:cNvSpPr txBox="1"/>
            <p:nvPr/>
          </p:nvSpPr>
          <p:spPr>
            <a:xfrm>
              <a:off x="762000" y="4216400"/>
              <a:ext cx="10352783" cy="4445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단순히 ‘멀티모달이 좋다’가 아니라, ‘어떤 조건에서 어떻게 좋은가’를 정량적으로 규명</a:t>
              </a:r>
            </a:p>
          </p:txBody>
        </p:sp>
        <p:sp>
          <p:nvSpPr>
            <p:cNvPr id="11" name="화살표: 오른쪽 10">
              <a:extLst>
                <a:ext uri="{FF2B5EF4-FFF2-40B4-BE49-F238E27FC236}">
                  <a16:creationId xmlns:a16="http://schemas.microsoft.com/office/drawing/2014/main" id="{3450B821-5DF0-46D3-8A36-B63AA5080FCB}"/>
                </a:ext>
              </a:extLst>
            </p:cNvPr>
            <p:cNvSpPr/>
            <p:nvPr/>
          </p:nvSpPr>
          <p:spPr>
            <a:xfrm>
              <a:off x="3619500" y="25781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화살표: 오른쪽 15">
              <a:extLst>
                <a:ext uri="{FF2B5EF4-FFF2-40B4-BE49-F238E27FC236}">
                  <a16:creationId xmlns:a16="http://schemas.microsoft.com/office/drawing/2014/main" id="{69633D6C-C335-4D3A-94F8-788705375CCC}"/>
                </a:ext>
              </a:extLst>
            </p:cNvPr>
            <p:cNvSpPr/>
            <p:nvPr/>
          </p:nvSpPr>
          <p:spPr>
            <a:xfrm>
              <a:off x="7493000" y="2514600"/>
              <a:ext cx="698500" cy="3810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grpSp>
    </p:spTree>
    <p:extLst>
      <p:ext uri="{BB962C8B-B14F-4D97-AF65-F5344CB8AC3E}">
        <p14:creationId xmlns:p14="http://schemas.microsoft.com/office/powerpoint/2010/main" val="275203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94D440F-2CDE-4A22-95E0-BC24D298F7E8}"/>
              </a:ext>
            </a:extLst>
          </p:cNvPr>
          <p:cNvSpPr/>
          <p:nvPr/>
        </p:nvSpPr>
        <p:spPr>
          <a:xfrm>
            <a:off x="0" y="-46234"/>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3BC0469-B0DB-42C8-AF7F-884DFE2A8C1E}"/>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04</a:t>
            </a:r>
            <a:endParaRPr lang="ko-KR" altLang="en-US" sz="1600" b="1">
              <a:solidFill>
                <a:srgbClr val="FFFFFF"/>
              </a:solidFill>
            </a:endParaRPr>
          </a:p>
        </p:txBody>
      </p:sp>
      <p:sp>
        <p:nvSpPr>
          <p:cNvPr id="5" name="TextBox 4">
            <a:extLst>
              <a:ext uri="{FF2B5EF4-FFF2-40B4-BE49-F238E27FC236}">
                <a16:creationId xmlns:a16="http://schemas.microsoft.com/office/drawing/2014/main" id="{0C12993F-6372-46DC-A47F-FD97393BD727}"/>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세 가지 모델로 비교</a:t>
            </a:r>
          </a:p>
        </p:txBody>
      </p:sp>
      <p:sp>
        <p:nvSpPr>
          <p:cNvPr id="6" name="사각형: 둥근 모서리 5">
            <a:extLst>
              <a:ext uri="{FF2B5EF4-FFF2-40B4-BE49-F238E27FC236}">
                <a16:creationId xmlns:a16="http://schemas.microsoft.com/office/drawing/2014/main" id="{65127842-14A5-42F0-B28E-3ACFB2C79F05}"/>
              </a:ext>
            </a:extLst>
          </p:cNvPr>
          <p:cNvSpPr/>
          <p:nvPr/>
        </p:nvSpPr>
        <p:spPr>
          <a:xfrm>
            <a:off x="381000" y="1598342"/>
            <a:ext cx="3683000" cy="4826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ko-KR" altLang="en-US" sz="1400" b="1">
                <a:solidFill>
                  <a:srgbClr val="FFFFFF"/>
                </a:solidFill>
              </a:rPr>
              <a:t>센서 단독 — BiLSTM</a:t>
            </a:r>
            <a:endParaRPr lang="ko-KR" altLang="en-US" sz="1400" b="1">
              <a:solidFill>
                <a:srgbClr val="FFFFFF"/>
              </a:solidFill>
            </a:endParaRPr>
          </a:p>
        </p:txBody>
      </p:sp>
      <p:sp>
        <p:nvSpPr>
          <p:cNvPr id="7" name="사각형: 둥근 모서리 6">
            <a:extLst>
              <a:ext uri="{FF2B5EF4-FFF2-40B4-BE49-F238E27FC236}">
                <a16:creationId xmlns:a16="http://schemas.microsoft.com/office/drawing/2014/main" id="{310A4AF8-297D-4FDA-B735-7155BB78FF46}"/>
              </a:ext>
            </a:extLst>
          </p:cNvPr>
          <p:cNvSpPr/>
          <p:nvPr/>
        </p:nvSpPr>
        <p:spPr>
          <a:xfrm>
            <a:off x="381000" y="2144442"/>
            <a:ext cx="3683000" cy="1841500"/>
          </a:xfrm>
          <a:prstGeom prst="roundRect">
            <a:avLst>
              <a:gd name="adj" fmla="val 4184"/>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40A717B7-CFC2-4421-86C6-850E8CA586B0}"/>
              </a:ext>
            </a:extLst>
          </p:cNvPr>
          <p:cNvSpPr txBox="1"/>
          <p:nvPr/>
        </p:nvSpPr>
        <p:spPr>
          <a:xfrm>
            <a:off x="53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22채널 시계열 데이터</a:t>
            </a:r>
            <a:endParaRPr lang="ko-KR" altLang="en-US" sz="110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a:p>
            <a:r>
              <a:rPr sz="1100">
                <a:solidFill>
                  <a:srgbClr val="444444"/>
                </a:solidFill>
              </a:rPr>
              <a:t>• 양방향 LSTM (2-layer)</a:t>
            </a:r>
          </a:p>
          <a:p>
            <a:r>
              <a:rPr sz="1100">
                <a:solidFill>
                  <a:srgbClr val="444444"/>
                </a:solidFill>
              </a:rPr>
              <a:t>• 시간 흐름 패턴 분석</a:t>
            </a:r>
          </a:p>
          <a:p>
            <a:r>
              <a:rPr sz="1100">
                <a:solidFill>
                  <a:srgbClr val="444444"/>
                </a:solidFill>
              </a:rPr>
              <a:t>• 모든 시점에서 작동</a:t>
            </a:r>
          </a:p>
        </p:txBody>
      </p:sp>
      <p:sp>
        <p:nvSpPr>
          <p:cNvPr id="9" name="사각형: 둥근 모서리 8">
            <a:extLst>
              <a:ext uri="{FF2B5EF4-FFF2-40B4-BE49-F238E27FC236}">
                <a16:creationId xmlns:a16="http://schemas.microsoft.com/office/drawing/2014/main" id="{73137C35-247D-4CAF-B0E7-3F74A27D7ACC}"/>
              </a:ext>
            </a:extLst>
          </p:cNvPr>
          <p:cNvSpPr/>
          <p:nvPr/>
        </p:nvSpPr>
        <p:spPr>
          <a:xfrm>
            <a:off x="381000" y="4049442"/>
            <a:ext cx="3683000" cy="698500"/>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33E428B-44F8-4E37-BC47-8D2F449591A3}"/>
              </a:ext>
            </a:extLst>
          </p:cNvPr>
          <p:cNvSpPr txBox="1"/>
          <p:nvPr/>
        </p:nvSpPr>
        <p:spPr>
          <a:xfrm>
            <a:off x="53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항상 가용한</a:t>
            </a:r>
          </a:p>
          <a:p>
            <a:r>
              <a:rPr sz="1100" b="1">
                <a:solidFill>
                  <a:srgbClr val="E8584F"/>
                </a:solidFill>
              </a:rPr>
              <a:t>기본 모달리티</a:t>
            </a:r>
          </a:p>
        </p:txBody>
      </p:sp>
      <p:sp>
        <p:nvSpPr>
          <p:cNvPr id="11" name="사각형: 둥근 모서리 10">
            <a:extLst>
              <a:ext uri="{FF2B5EF4-FFF2-40B4-BE49-F238E27FC236}">
                <a16:creationId xmlns:a16="http://schemas.microsoft.com/office/drawing/2014/main" id="{7E223DCD-5241-4F1B-A6BE-CC72A0E0AF43}"/>
              </a:ext>
            </a:extLst>
          </p:cNvPr>
          <p:cNvSpPr/>
          <p:nvPr/>
        </p:nvSpPr>
        <p:spPr>
          <a:xfrm>
            <a:off x="4191000" y="1598342"/>
            <a:ext cx="3683000" cy="4826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이미지 단독 — ResNet18</a:t>
            </a:r>
            <a:endParaRPr lang="ko-KR" altLang="en-US" sz="1400" b="1">
              <a:solidFill>
                <a:srgbClr val="FFFFFF"/>
              </a:solidFill>
            </a:endParaRPr>
          </a:p>
        </p:txBody>
      </p:sp>
      <p:sp>
        <p:nvSpPr>
          <p:cNvPr id="12" name="사각형: 둥근 모서리 11">
            <a:extLst>
              <a:ext uri="{FF2B5EF4-FFF2-40B4-BE49-F238E27FC236}">
                <a16:creationId xmlns:a16="http://schemas.microsoft.com/office/drawing/2014/main" id="{AB26570A-179F-4888-A971-49AED315E673}"/>
              </a:ext>
            </a:extLst>
          </p:cNvPr>
          <p:cNvSpPr/>
          <p:nvPr/>
        </p:nvSpPr>
        <p:spPr>
          <a:xfrm>
            <a:off x="4191000" y="2144442"/>
            <a:ext cx="3683000" cy="1841500"/>
          </a:xfrm>
          <a:prstGeom prst="roundRect">
            <a:avLst>
              <a:gd name="adj" fmla="val 4393"/>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TextBox 12">
            <a:extLst>
              <a:ext uri="{FF2B5EF4-FFF2-40B4-BE49-F238E27FC236}">
                <a16:creationId xmlns:a16="http://schemas.microsoft.com/office/drawing/2014/main" id="{748AB003-6FDA-47A0-AE37-49397A164B5C}"/>
              </a:ext>
            </a:extLst>
          </p:cNvPr>
          <p:cNvSpPr txBox="1"/>
          <p:nvPr/>
        </p:nvSpPr>
        <p:spPr>
          <a:xfrm>
            <a:off x="434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카메라 2대 동기 입력</a:t>
            </a:r>
          </a:p>
          <a:p>
            <a:r>
              <a:rPr sz="1100">
                <a:solidFill>
                  <a:srgbClr val="444444"/>
                </a:solidFill>
              </a:rPr>
              <a:t>• ImageNet 전이학습</a:t>
            </a:r>
          </a:p>
          <a:p>
            <a:r>
              <a:rPr sz="1100">
                <a:solidFill>
                  <a:srgbClr val="444444"/>
                </a:solidFill>
              </a:rPr>
              <a:t>• 두 카메라 특징 평균</a:t>
            </a:r>
          </a:p>
          <a:p>
            <a:r>
              <a:rPr sz="1100">
                <a:solidFill>
                  <a:srgbClr val="444444"/>
                </a:solidFill>
              </a:rPr>
              <a:t>• 시각적 결함 직접 판별</a:t>
            </a:r>
          </a:p>
        </p:txBody>
      </p:sp>
      <p:sp>
        <p:nvSpPr>
          <p:cNvPr id="14" name="사각형: 둥근 모서리 13">
            <a:extLst>
              <a:ext uri="{FF2B5EF4-FFF2-40B4-BE49-F238E27FC236}">
                <a16:creationId xmlns:a16="http://schemas.microsoft.com/office/drawing/2014/main" id="{CA05D5A7-5FFE-4205-A2EB-F052149016EB}"/>
              </a:ext>
            </a:extLst>
          </p:cNvPr>
          <p:cNvSpPr/>
          <p:nvPr/>
        </p:nvSpPr>
        <p:spPr>
          <a:xfrm>
            <a:off x="4191000" y="4049442"/>
            <a:ext cx="3683000" cy="698500"/>
          </a:xfrm>
          <a:prstGeom prst="roundRect">
            <a:avLst>
              <a:gd name="adj" fmla="val 13725"/>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796E16D0-C435-4DC5-B5BF-A0E3B602E14C}"/>
              </a:ext>
            </a:extLst>
          </p:cNvPr>
          <p:cNvSpPr txBox="1"/>
          <p:nvPr/>
        </p:nvSpPr>
        <p:spPr>
          <a:xfrm>
            <a:off x="434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시각 정보로</a:t>
            </a:r>
          </a:p>
          <a:p>
            <a:r>
              <a:rPr sz="1100" b="1">
                <a:solidFill>
                  <a:srgbClr val="E8584F"/>
                </a:solidFill>
              </a:rPr>
              <a:t>결함 직접 포착</a:t>
            </a:r>
          </a:p>
        </p:txBody>
      </p:sp>
      <p:sp>
        <p:nvSpPr>
          <p:cNvPr id="16" name="사각형: 둥근 모서리 15">
            <a:extLst>
              <a:ext uri="{FF2B5EF4-FFF2-40B4-BE49-F238E27FC236}">
                <a16:creationId xmlns:a16="http://schemas.microsoft.com/office/drawing/2014/main" id="{116A9196-9330-494A-834F-2B0C2CBA3D66}"/>
              </a:ext>
            </a:extLst>
          </p:cNvPr>
          <p:cNvSpPr/>
          <p:nvPr/>
        </p:nvSpPr>
        <p:spPr>
          <a:xfrm>
            <a:off x="8001000" y="1598342"/>
            <a:ext cx="3683000" cy="4826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400" b="1">
                <a:solidFill>
                  <a:srgbClr val="FFFFFF"/>
                </a:solidFill>
              </a:rPr>
              <a:t>융합 — Decision-level</a:t>
            </a:r>
            <a:endParaRPr lang="ko-KR" altLang="en-US" sz="1400" b="1">
              <a:solidFill>
                <a:srgbClr val="FFFFFF"/>
              </a:solidFill>
            </a:endParaRPr>
          </a:p>
        </p:txBody>
      </p:sp>
      <p:sp>
        <p:nvSpPr>
          <p:cNvPr id="17" name="사각형: 둥근 모서리 16">
            <a:extLst>
              <a:ext uri="{FF2B5EF4-FFF2-40B4-BE49-F238E27FC236}">
                <a16:creationId xmlns:a16="http://schemas.microsoft.com/office/drawing/2014/main" id="{6E029E81-9A6F-4464-951C-CC79A9F835F7}"/>
              </a:ext>
            </a:extLst>
          </p:cNvPr>
          <p:cNvSpPr/>
          <p:nvPr/>
        </p:nvSpPr>
        <p:spPr>
          <a:xfrm>
            <a:off x="8001000" y="2144442"/>
            <a:ext cx="3683000" cy="1841500"/>
          </a:xfrm>
          <a:prstGeom prst="roundRect">
            <a:avLst>
              <a:gd name="adj" fmla="val 3835"/>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904F73FC-4C57-4C87-9023-B72CE7DC9922}"/>
              </a:ext>
            </a:extLst>
          </p:cNvPr>
          <p:cNvSpPr txBox="1"/>
          <p:nvPr/>
        </p:nvSpPr>
        <p:spPr>
          <a:xfrm>
            <a:off x="8153400" y="2233342"/>
            <a:ext cx="3378200" cy="1270000"/>
          </a:xfrm>
          <a:prstGeom prst="rect">
            <a:avLst/>
          </a:prstGeom>
          <a:noFill/>
        </p:spPr>
        <p:txBody>
          <a:bodyPr vertOverflow="overflow" vert="horz" wrap="square" rtlCol="0" anchor="t">
            <a:noAutofit/>
          </a:bodyPr>
          <a:lstStyle/>
          <a:p>
            <a:pPr algn="l"/>
            <a:r>
              <a:rPr lang="en-US" altLang="ko-KR" sz="1100">
                <a:solidFill>
                  <a:srgbClr val="444444"/>
                </a:solidFill>
                <a:latin typeface="나눔고딕" panose="020D0604000000000000" pitchFamily="50" charset="-127"/>
                <a:ea typeface="나눔고딕" panose="020D0604000000000000" pitchFamily="50" charset="-127"/>
                <a:cs typeface="Arial" panose="020B0604020202020204" pitchFamily="34" charset="0"/>
              </a:rPr>
              <a:t>• 두 모델 출력 확률 결합</a:t>
            </a:r>
          </a:p>
          <a:p>
            <a:r>
              <a:rPr sz="1100">
                <a:solidFill>
                  <a:srgbClr val="444444"/>
                </a:solidFill>
              </a:rPr>
              <a:t>• 가중치는 train에서 결정</a:t>
            </a:r>
          </a:p>
          <a:p>
            <a:r>
              <a:rPr sz="1100">
                <a:solidFill>
                  <a:srgbClr val="444444"/>
                </a:solidFill>
              </a:rPr>
              <a:t>• 이미지 없으면 센서만</a:t>
            </a:r>
          </a:p>
          <a:p>
            <a:r>
              <a:rPr sz="1100">
                <a:solidFill>
                  <a:srgbClr val="444444"/>
                </a:solidFill>
              </a:rPr>
              <a:t>• 결측에 견고한 구조</a:t>
            </a:r>
          </a:p>
        </p:txBody>
      </p:sp>
      <p:sp>
        <p:nvSpPr>
          <p:cNvPr id="19" name="사각형: 둥근 모서리 18">
            <a:extLst>
              <a:ext uri="{FF2B5EF4-FFF2-40B4-BE49-F238E27FC236}">
                <a16:creationId xmlns:a16="http://schemas.microsoft.com/office/drawing/2014/main" id="{10DFF70D-1BD4-4535-828C-4CBF9985661E}"/>
              </a:ext>
            </a:extLst>
          </p:cNvPr>
          <p:cNvSpPr/>
          <p:nvPr/>
        </p:nvSpPr>
        <p:spPr>
          <a:xfrm>
            <a:off x="8001000" y="4049442"/>
            <a:ext cx="3683000" cy="698500"/>
          </a:xfrm>
          <a:prstGeom prst="roundRect">
            <a:avLst>
              <a:gd name="adj" fmla="val 11519"/>
            </a:avLst>
          </a:prstGeom>
          <a:solidFill>
            <a:srgbClr val="FFF3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TextBox 19">
            <a:extLst>
              <a:ext uri="{FF2B5EF4-FFF2-40B4-BE49-F238E27FC236}">
                <a16:creationId xmlns:a16="http://schemas.microsoft.com/office/drawing/2014/main" id="{08200ACC-F9B7-453E-8D25-84864C768E0D}"/>
              </a:ext>
            </a:extLst>
          </p:cNvPr>
          <p:cNvSpPr txBox="1"/>
          <p:nvPr/>
        </p:nvSpPr>
        <p:spPr>
          <a:xfrm>
            <a:off x="8153400" y="4200271"/>
            <a:ext cx="3378200" cy="428236"/>
          </a:xfrm>
          <a:prstGeom prst="rect">
            <a:avLst/>
          </a:prstGeom>
          <a:noFill/>
        </p:spPr>
        <p:txBody>
          <a:bodyPr vertOverflow="overflow" vert="horz" wrap="square" rtlCol="0" anchor="t">
            <a:noAutofit/>
          </a:bodyPr>
          <a:lstStyle/>
          <a:p>
            <a:pPr algn="l"/>
            <a:r>
              <a:rPr lang="ko-KR" altLang="en-US" sz="1100" b="1">
                <a:solidFill>
                  <a:srgbClr val="E8584F"/>
                </a:solidFill>
                <a:latin typeface="나눔고딕" panose="020D0604000000000000" pitchFamily="50" charset="-127"/>
                <a:ea typeface="나눔고딕" panose="020D0604000000000000" pitchFamily="50" charset="-127"/>
                <a:cs typeface="Arial" panose="020B0604020202020204" pitchFamily="34" charset="0"/>
              </a:rPr>
              <a:t>역할: 두 정보 종합</a:t>
            </a:r>
          </a:p>
          <a:p>
            <a:r>
              <a:rPr sz="1100" b="1">
                <a:solidFill>
                  <a:srgbClr val="E8584F"/>
                </a:solidFill>
              </a:rPr>
              <a:t>+ 자동 폴백</a:t>
            </a:r>
          </a:p>
        </p:txBody>
      </p:sp>
      <p:sp>
        <p:nvSpPr>
          <p:cNvPr id="21" name="사각형: 둥근 모서리 20">
            <a:extLst>
              <a:ext uri="{FF2B5EF4-FFF2-40B4-BE49-F238E27FC236}">
                <a16:creationId xmlns:a16="http://schemas.microsoft.com/office/drawing/2014/main" id="{E22FFDF2-E4C6-4A0A-808D-AD162E1B89C7}"/>
              </a:ext>
            </a:extLst>
          </p:cNvPr>
          <p:cNvSpPr/>
          <p:nvPr/>
        </p:nvSpPr>
        <p:spPr>
          <a:xfrm>
            <a:off x="381000" y="4900342"/>
            <a:ext cx="11341813" cy="508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31801983-7CEE-40A2-8D51-4C50978BAF1C}"/>
              </a:ext>
            </a:extLst>
          </p:cNvPr>
          <p:cNvSpPr txBox="1"/>
          <p:nvPr/>
        </p:nvSpPr>
        <p:spPr>
          <a:xfrm>
            <a:off x="635000" y="4989242"/>
            <a:ext cx="10922000" cy="3556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세 모델 모두 같은 학습/테스트 분할로 학습되어 공정한 직접 비교가 가능</a:t>
            </a:r>
          </a:p>
        </p:txBody>
      </p:sp>
    </p:spTree>
    <p:extLst>
      <p:ext uri="{BB962C8B-B14F-4D97-AF65-F5344CB8AC3E}">
        <p14:creationId xmlns:p14="http://schemas.microsoft.com/office/powerpoint/2010/main" val="368323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44F69472-44A6-4369-B22F-F106D9569905}"/>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19EBD975-E638-41F2-ADA6-952D8B13AAC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03</a:t>
            </a:r>
            <a:endParaRPr lang="ko-KR" altLang="en-US" sz="1600" b="1">
              <a:solidFill>
                <a:srgbClr val="FFFFFF"/>
              </a:solidFill>
            </a:endParaRPr>
          </a:p>
        </p:txBody>
      </p:sp>
      <p:sp>
        <p:nvSpPr>
          <p:cNvPr id="5" name="TextBox 4">
            <a:extLst>
              <a:ext uri="{FF2B5EF4-FFF2-40B4-BE49-F238E27FC236}">
                <a16:creationId xmlns:a16="http://schemas.microsoft.com/office/drawing/2014/main" id="{113D395D-7CB5-4918-BCDF-218B4B5BC332}"/>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데이터셋: Future Factories Lab (USC)</a:t>
            </a:r>
          </a:p>
        </p:txBody>
      </p:sp>
      <p:sp>
        <p:nvSpPr>
          <p:cNvPr id="6" name="TextBox 5">
            <a:extLst>
              <a:ext uri="{FF2B5EF4-FFF2-40B4-BE49-F238E27FC236}">
                <a16:creationId xmlns:a16="http://schemas.microsoft.com/office/drawing/2014/main" id="{0FC210FD-6C21-435B-9045-5ED8170F5EAF}"/>
              </a:ext>
            </a:extLst>
          </p:cNvPr>
          <p:cNvSpPr txBox="1"/>
          <p:nvPr/>
        </p:nvSpPr>
        <p:spPr>
          <a:xfrm>
            <a:off x="508000" y="1611615"/>
            <a:ext cx="5080000" cy="381000"/>
          </a:xfrm>
          <a:prstGeom prst="rect">
            <a:avLst/>
          </a:prstGeom>
          <a:noFill/>
        </p:spPr>
        <p:txBody>
          <a:bodyPr vertOverflow="overflow" vert="horz" wrap="square" rtlCol="0" anchor="t">
            <a:noAutofit/>
          </a:bodyPr>
          <a:lstStyle/>
          <a:p>
            <a:pPr algn="l"/>
            <a:r>
              <a:rPr lang="en-US" altLang="ko-KR"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Future Factories Lab Dataset (USC)</a:t>
            </a:r>
            <a:endPar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7" name="사각형: 둥근 모서리 6">
            <a:extLst>
              <a:ext uri="{FF2B5EF4-FFF2-40B4-BE49-F238E27FC236}">
                <a16:creationId xmlns:a16="http://schemas.microsoft.com/office/drawing/2014/main" id="{D41B44AC-E48C-4514-BD49-9D6B33BFEB01}"/>
              </a:ext>
            </a:extLst>
          </p:cNvPr>
          <p:cNvSpPr/>
          <p:nvPr/>
        </p:nvSpPr>
        <p:spPr>
          <a:xfrm>
            <a:off x="508000" y="2094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749D75D6-073B-4DE6-B2AA-F29C7C8D9F68}"/>
              </a:ext>
            </a:extLst>
          </p:cNvPr>
          <p:cNvSpPr txBox="1"/>
          <p:nvPr/>
        </p:nvSpPr>
        <p:spPr>
          <a:xfrm>
            <a:off x="698500" y="2132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라인:  로봇 4대 + 컨베이어로 구성된 실제 산업 라인</a:t>
            </a:r>
          </a:p>
        </p:txBody>
      </p:sp>
      <p:sp>
        <p:nvSpPr>
          <p:cNvPr id="9" name="사각형: 둥근 모서리 8">
            <a:extLst>
              <a:ext uri="{FF2B5EF4-FFF2-40B4-BE49-F238E27FC236}">
                <a16:creationId xmlns:a16="http://schemas.microsoft.com/office/drawing/2014/main" id="{1FE7DB88-1722-48F8-B696-334F217387B1}"/>
              </a:ext>
            </a:extLst>
          </p:cNvPr>
          <p:cNvSpPr/>
          <p:nvPr/>
        </p:nvSpPr>
        <p:spPr>
          <a:xfrm>
            <a:off x="508000" y="25387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F8F1F657-AD2B-494F-A655-424D39DC48B5}"/>
              </a:ext>
            </a:extLst>
          </p:cNvPr>
          <p:cNvSpPr txBox="1"/>
          <p:nvPr/>
        </p:nvSpPr>
        <p:spPr>
          <a:xfrm>
            <a:off x="698500" y="25768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조립 대상:  4개 부품으로 된 로켓 모형</a:t>
            </a:r>
          </a:p>
        </p:txBody>
      </p:sp>
      <p:sp>
        <p:nvSpPr>
          <p:cNvPr id="11" name="사각형: 둥근 모서리 10">
            <a:extLst>
              <a:ext uri="{FF2B5EF4-FFF2-40B4-BE49-F238E27FC236}">
                <a16:creationId xmlns:a16="http://schemas.microsoft.com/office/drawing/2014/main" id="{276E0808-C1DE-4798-9D3C-93369AA53683}"/>
              </a:ext>
            </a:extLst>
          </p:cNvPr>
          <p:cNvSpPr/>
          <p:nvPr/>
        </p:nvSpPr>
        <p:spPr>
          <a:xfrm>
            <a:off x="508000" y="2983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4F7220DD-14E3-49DA-A899-FB6C57395553}"/>
              </a:ext>
            </a:extLst>
          </p:cNvPr>
          <p:cNvSpPr txBox="1"/>
          <p:nvPr/>
        </p:nvSpPr>
        <p:spPr>
          <a:xfrm>
            <a:off x="698500" y="3021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수집 시간:  30시간, 약 166,000 측정 시점</a:t>
            </a:r>
          </a:p>
        </p:txBody>
      </p:sp>
      <p:sp>
        <p:nvSpPr>
          <p:cNvPr id="13" name="사각형: 둥근 모서리 12">
            <a:extLst>
              <a:ext uri="{FF2B5EF4-FFF2-40B4-BE49-F238E27FC236}">
                <a16:creationId xmlns:a16="http://schemas.microsoft.com/office/drawing/2014/main" id="{FDEC831B-D5BD-4095-85D4-D5521CA4AA25}"/>
              </a:ext>
            </a:extLst>
          </p:cNvPr>
          <p:cNvSpPr/>
          <p:nvPr/>
        </p:nvSpPr>
        <p:spPr>
          <a:xfrm>
            <a:off x="508000" y="34277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226B8F36-EED6-472F-A736-8B51F7BA4E79}"/>
              </a:ext>
            </a:extLst>
          </p:cNvPr>
          <p:cNvSpPr txBox="1"/>
          <p:nvPr/>
        </p:nvSpPr>
        <p:spPr>
          <a:xfrm>
            <a:off x="698500" y="34658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센서 데이터:  22채널 — 모든 시점에 기록 (전 사이클 구간)</a:t>
            </a:r>
          </a:p>
        </p:txBody>
      </p:sp>
      <p:sp>
        <p:nvSpPr>
          <p:cNvPr id="15" name="사각형: 둥근 모서리 14">
            <a:extLst>
              <a:ext uri="{FF2B5EF4-FFF2-40B4-BE49-F238E27FC236}">
                <a16:creationId xmlns:a16="http://schemas.microsoft.com/office/drawing/2014/main" id="{C193E774-E4A3-47FD-871B-12E28412B0E6}"/>
              </a:ext>
            </a:extLst>
          </p:cNvPr>
          <p:cNvSpPr/>
          <p:nvPr/>
        </p:nvSpPr>
        <p:spPr>
          <a:xfrm>
            <a:off x="508000" y="3872215"/>
            <a:ext cx="5588000" cy="381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D21068F9-F28A-487F-91EF-57F506834EEC}"/>
              </a:ext>
            </a:extLst>
          </p:cNvPr>
          <p:cNvSpPr txBox="1"/>
          <p:nvPr/>
        </p:nvSpPr>
        <p:spPr>
          <a:xfrm>
            <a:off x="698500" y="3910315"/>
            <a:ext cx="5270500" cy="304800"/>
          </a:xfrm>
          <a:prstGeom prst="rect">
            <a:avLst/>
          </a:prstGeom>
          <a:noFill/>
        </p:spPr>
        <p:txBody>
          <a:bodyPr vertOverflow="overflow" vert="horz" wrap="square" rtlCol="0" anchor="t">
            <a:noAutofit/>
          </a:bodyPr>
          <a:lstStyle/>
          <a:p>
            <a:pPr algn="l"/>
            <a:r>
              <a:rPr lang="ko-KR" altLang="en-US" sz="1200">
                <a:solidFill>
                  <a:srgbClr val="333333"/>
                </a:solidFill>
                <a:latin typeface="나눔고딕" panose="020D0604000000000000" pitchFamily="50" charset="-127"/>
                <a:ea typeface="나눔고딕" panose="020D0604000000000000" pitchFamily="50" charset="-127"/>
                <a:cs typeface="Arial" panose="020B0604020202020204" pitchFamily="34" charset="0"/>
              </a:rPr>
              <a:t>이미지 데이터:  카메라 2대 — 부품이 보이는 Cycle 4·9 구간에만 존재 (전체 시점의 일부)</a:t>
            </a:r>
          </a:p>
        </p:txBody>
      </p:sp>
      <p:sp>
        <p:nvSpPr>
          <p:cNvPr id="17" name="TextBox 16">
            <a:extLst>
              <a:ext uri="{FF2B5EF4-FFF2-40B4-BE49-F238E27FC236}">
                <a16:creationId xmlns:a16="http://schemas.microsoft.com/office/drawing/2014/main" id="{9951BA10-3E6D-40E9-9DE0-CC15ADE521DB}"/>
              </a:ext>
            </a:extLst>
          </p:cNvPr>
          <p:cNvSpPr txBox="1"/>
          <p:nvPr/>
        </p:nvSpPr>
        <p:spPr>
          <a:xfrm>
            <a:off x="6604002" y="1713215"/>
            <a:ext cx="5080000" cy="3175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이상 유형 분류</a:t>
            </a:r>
          </a:p>
        </p:txBody>
      </p:sp>
      <p:graphicFrame>
        <p:nvGraphicFramePr>
          <p:cNvPr id="19" name="표 18">
            <a:extLst>
              <a:ext uri="{FF2B5EF4-FFF2-40B4-BE49-F238E27FC236}">
                <a16:creationId xmlns:a16="http://schemas.microsoft.com/office/drawing/2014/main" id="{CB84146B-07C4-4062-A314-23E8D7C31CCA}"/>
              </a:ext>
            </a:extLst>
          </p:cNvPr>
          <p:cNvGraphicFramePr>
            <a:graphicFrameLocks noGrp="1"/>
          </p:cNvGraphicFramePr>
          <p:nvPr>
            <p:extLst>
              <p:ext uri="{D42A27DB-BD31-4B8C-83A1-F6EECF244321}">
                <p14:modId xmlns:p14="http://schemas.microsoft.com/office/powerpoint/2010/main" val="1253984825"/>
              </p:ext>
            </p:extLst>
          </p:nvPr>
        </p:nvGraphicFramePr>
        <p:xfrm>
          <a:off x="6604002" y="2094215"/>
          <a:ext cx="5080000" cy="2158998"/>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3642264490"/>
                    </a:ext>
                  </a:extLst>
                </a:gridCol>
                <a:gridCol w="2540000">
                  <a:extLst>
                    <a:ext uri="{9D8B030D-6E8A-4147-A177-3AD203B41FA5}">
                      <a16:colId xmlns:a16="http://schemas.microsoft.com/office/drawing/2014/main" val="1844567270"/>
                    </a:ext>
                  </a:extLst>
                </a:gridCol>
              </a:tblGrid>
              <a:tr h="359833">
                <a:tc>
                  <a:txBody>
                    <a:bodyPr/>
                    <a:lstStyle/>
                    <a:p>
                      <a:pPr algn="ctr">
                        <a:lnSpc>
                          <a:spcPct val="150000"/>
                        </a:lnSpc>
                      </a:pPr>
                      <a:r>
                        <a:rPr lang="ko-KR" altLang="en-US" sz="1100" b="1">
                          <a:solidFill>
                            <a:srgbClr val="FFFFFF"/>
                          </a:solidFill>
                        </a:rPr>
                        <a:t>이상 유형</a:t>
                      </a:r>
                    </a:p>
                  </a:txBody>
                  <a:tcPr>
                    <a:solidFill>
                      <a:srgbClr val="1B2A4A"/>
                    </a:solidFill>
                  </a:tcPr>
                </a:tc>
                <a:tc>
                  <a:txBody>
                    <a:bodyPr/>
                    <a:lstStyle/>
                    <a:p>
                      <a:pPr algn="ctr">
                        <a:lnSpc>
                          <a:spcPct val="150000"/>
                        </a:lnSpc>
                      </a:pPr>
                      <a:r>
                        <a:rPr lang="ko-KR" altLang="en-US" sz="1100" b="1">
                          <a:solidFill>
                            <a:srgbClr val="FFFFFF"/>
                          </a:solidFill>
                        </a:rPr>
                        <a:t>비율</a:t>
                      </a:r>
                    </a:p>
                  </a:txBody>
                  <a:tcPr>
                    <a:solidFill>
                      <a:srgbClr val="1B2A4A"/>
                    </a:solidFill>
                  </a:tcPr>
                </a:tc>
                <a:extLst>
                  <a:ext uri="{0D108BD9-81ED-4DB2-BD59-A6C34878D82A}">
                    <a16:rowId xmlns:a16="http://schemas.microsoft.com/office/drawing/2014/main" val="550871531"/>
                  </a:ext>
                </a:extLst>
              </a:tr>
              <a:tr h="359833">
                <a:tc>
                  <a:txBody>
                    <a:bodyPr/>
                    <a:lstStyle/>
                    <a:p>
                      <a:pPr algn="l">
                        <a:lnSpc>
                          <a:spcPct val="150000"/>
                        </a:lnSpc>
                      </a:pPr>
                      <a:r>
                        <a:rPr lang="ko-KR" altLang="en-US" sz="1100" err="1">
                          <a:solidFill>
                            <a:srgbClr val="333333"/>
                          </a:solidFill>
                        </a:rPr>
                        <a:t>No</a:t>
                      </a:r>
                      <a:r>
                        <a:rPr lang="ko-KR" altLang="en-US" sz="1100">
                          <a:solidFill>
                            <a:srgbClr val="333333"/>
                          </a:solidFill>
                        </a:rPr>
                        <a:t> </a:t>
                      </a:r>
                      <a:r>
                        <a:rPr lang="ko-KR" altLang="en-US" sz="1100" err="1">
                          <a:solidFill>
                            <a:srgbClr val="333333"/>
                          </a:solidFill>
                        </a:rPr>
                        <a:t>Anomaly</a:t>
                      </a:r>
                      <a:r>
                        <a:rPr lang="ko-KR" altLang="en-US" sz="1100">
                          <a:solidFill>
                            <a:srgbClr val="333333"/>
                          </a:solidFill>
                        </a:rPr>
                        <a:t> (정상)</a:t>
                      </a:r>
                    </a:p>
                  </a:txBody>
                  <a:tcPr/>
                </a:tc>
                <a:tc>
                  <a:txBody>
                    <a:bodyPr/>
                    <a:lstStyle/>
                    <a:p>
                      <a:pPr algn="ctr">
                        <a:lnSpc>
                          <a:spcPct val="150000"/>
                        </a:lnSpc>
                      </a:pPr>
                      <a:r>
                        <a:rPr lang="ko-KR" altLang="en-US" sz="1100">
                          <a:solidFill>
                            <a:srgbClr val="333333"/>
                          </a:solidFill>
                        </a:rPr>
                        <a:t>54.72%</a:t>
                      </a:r>
                    </a:p>
                  </a:txBody>
                  <a:tcPr/>
                </a:tc>
                <a:extLst>
                  <a:ext uri="{0D108BD9-81ED-4DB2-BD59-A6C34878D82A}">
                    <a16:rowId xmlns:a16="http://schemas.microsoft.com/office/drawing/2014/main" val="57346582"/>
                  </a:ext>
                </a:extLst>
              </a:tr>
              <a:tr h="359833">
                <a:tc>
                  <a:txBody>
                    <a:bodyPr/>
                    <a:lstStyle/>
                    <a:p>
                      <a:pPr algn="l">
                        <a:lnSpc>
                          <a:spcPct val="150000"/>
                        </a:lnSpc>
                      </a:pPr>
                      <a:r>
                        <a:rPr lang="ko-KR" altLang="en-US" sz="1100" err="1">
                          <a:solidFill>
                            <a:srgbClr val="333333"/>
                          </a:solidFill>
                        </a:rPr>
                        <a:t>NoNose</a:t>
                      </a:r>
                      <a:endParaRPr lang="ko-KR" altLang="en-US" sz="1100">
                        <a:solidFill>
                          <a:srgbClr val="333333"/>
                        </a:solidFill>
                      </a:endParaRPr>
                    </a:p>
                  </a:txBody>
                  <a:tcPr>
                    <a:solidFill>
                      <a:srgbClr val="F5F7FA"/>
                    </a:solidFill>
                  </a:tcPr>
                </a:tc>
                <a:tc>
                  <a:txBody>
                    <a:bodyPr/>
                    <a:lstStyle/>
                    <a:p>
                      <a:pPr algn="ctr">
                        <a:lnSpc>
                          <a:spcPct val="150000"/>
                        </a:lnSpc>
                      </a:pPr>
                      <a:r>
                        <a:rPr lang="ko-KR" altLang="en-US" sz="1100">
                          <a:solidFill>
                            <a:srgbClr val="333333"/>
                          </a:solidFill>
                        </a:rPr>
                        <a:t>11.63%</a:t>
                      </a:r>
                    </a:p>
                  </a:txBody>
                  <a:tcPr>
                    <a:solidFill>
                      <a:srgbClr val="F5F7FA"/>
                    </a:solidFill>
                  </a:tcPr>
                </a:tc>
                <a:extLst>
                  <a:ext uri="{0D108BD9-81ED-4DB2-BD59-A6C34878D82A}">
                    <a16:rowId xmlns:a16="http://schemas.microsoft.com/office/drawing/2014/main" val="4259242690"/>
                  </a:ext>
                </a:extLst>
              </a:tr>
              <a:tr h="359833">
                <a:tc>
                  <a:txBody>
                    <a:bodyPr/>
                    <a:lstStyle/>
                    <a:p>
                      <a:pPr algn="l">
                        <a:lnSpc>
                          <a:spcPct val="150000"/>
                        </a:lnSpc>
                      </a:pPr>
                      <a:r>
                        <a:rPr lang="ko-KR" altLang="en-US" sz="1100" err="1">
                          <a:solidFill>
                            <a:srgbClr val="333333"/>
                          </a:solidFill>
                        </a:rPr>
                        <a:t>NoNose</a:t>
                      </a:r>
                      <a:r>
                        <a:rPr lang="ko-KR" altLang="en-US" sz="1100">
                          <a:solidFill>
                            <a:srgbClr val="333333"/>
                          </a:solidFill>
                        </a:rPr>
                        <a:t>, NoBody2</a:t>
                      </a:r>
                    </a:p>
                  </a:txBody>
                  <a:tcPr/>
                </a:tc>
                <a:tc>
                  <a:txBody>
                    <a:bodyPr/>
                    <a:lstStyle/>
                    <a:p>
                      <a:pPr algn="ctr">
                        <a:lnSpc>
                          <a:spcPct val="150000"/>
                        </a:lnSpc>
                      </a:pPr>
                      <a:r>
                        <a:rPr lang="ko-KR" altLang="en-US" sz="1100">
                          <a:solidFill>
                            <a:srgbClr val="333333"/>
                          </a:solidFill>
                        </a:rPr>
                        <a:t>15.18%</a:t>
                      </a:r>
                    </a:p>
                  </a:txBody>
                  <a:tcPr/>
                </a:tc>
                <a:extLst>
                  <a:ext uri="{0D108BD9-81ED-4DB2-BD59-A6C34878D82A}">
                    <a16:rowId xmlns:a16="http://schemas.microsoft.com/office/drawing/2014/main" val="1689734928"/>
                  </a:ext>
                </a:extLst>
              </a:tr>
              <a:tr h="359833">
                <a:tc>
                  <a:txBody>
                    <a:bodyPr/>
                    <a:lstStyle/>
                    <a:p>
                      <a:pPr algn="l">
                        <a:lnSpc>
                          <a:spcPct val="150000"/>
                        </a:lnSpc>
                      </a:pPr>
                      <a:r>
                        <a:rPr lang="ko-KR" altLang="en-US" sz="1100">
                          <a:solidFill>
                            <a:srgbClr val="333333"/>
                          </a:solidFill>
                        </a:rPr>
                        <a:t>NoNose, NoBody2, NoBody1</a:t>
                      </a:r>
                    </a:p>
                  </a:txBody>
                  <a:tcPr>
                    <a:solidFill>
                      <a:srgbClr val="F5F7FA"/>
                    </a:solidFill>
                  </a:tcPr>
                </a:tc>
                <a:tc>
                  <a:txBody>
                    <a:bodyPr/>
                    <a:lstStyle/>
                    <a:p>
                      <a:pPr algn="ctr">
                        <a:lnSpc>
                          <a:spcPct val="150000"/>
                        </a:lnSpc>
                      </a:pPr>
                      <a:r>
                        <a:rPr lang="ko-KR" altLang="en-US" sz="1100">
                          <a:solidFill>
                            <a:srgbClr val="333333"/>
                          </a:solidFill>
                        </a:rPr>
                        <a:t>16.04%</a:t>
                      </a:r>
                    </a:p>
                  </a:txBody>
                  <a:tcPr>
                    <a:solidFill>
                      <a:srgbClr val="F5F7FA"/>
                    </a:solidFill>
                  </a:tcPr>
                </a:tc>
                <a:extLst>
                  <a:ext uri="{0D108BD9-81ED-4DB2-BD59-A6C34878D82A}">
                    <a16:rowId xmlns:a16="http://schemas.microsoft.com/office/drawing/2014/main" val="3607165976"/>
                  </a:ext>
                </a:extLst>
              </a:tr>
              <a:tr h="359833">
                <a:tc>
                  <a:txBody>
                    <a:bodyPr/>
                    <a:lstStyle/>
                    <a:p>
                      <a:pPr algn="l">
                        <a:lnSpc>
                          <a:spcPct val="150000"/>
                        </a:lnSpc>
                      </a:pPr>
                      <a:r>
                        <a:rPr lang="ko-KR" altLang="en-US" sz="1100">
                          <a:solidFill>
                            <a:srgbClr val="333333"/>
                          </a:solidFill>
                        </a:rPr>
                        <a:t>NoBody1, NoBody2 등</a:t>
                      </a:r>
                    </a:p>
                  </a:txBody>
                  <a:tcPr/>
                </a:tc>
                <a:tc>
                  <a:txBody>
                    <a:bodyPr/>
                    <a:lstStyle/>
                    <a:p>
                      <a:pPr algn="ctr">
                        <a:lnSpc>
                          <a:spcPct val="150000"/>
                        </a:lnSpc>
                      </a:pPr>
                      <a:r>
                        <a:rPr lang="ko-KR" altLang="en-US" sz="1100">
                          <a:solidFill>
                            <a:srgbClr val="333333"/>
                          </a:solidFill>
                        </a:rPr>
                        <a:t>합계 ~2.4%</a:t>
                      </a:r>
                    </a:p>
                  </a:txBody>
                  <a:tcPr/>
                </a:tc>
                <a:extLst>
                  <a:ext uri="{0D108BD9-81ED-4DB2-BD59-A6C34878D82A}">
                    <a16:rowId xmlns:a16="http://schemas.microsoft.com/office/drawing/2014/main" val="830743961"/>
                  </a:ext>
                </a:extLst>
              </a:tr>
            </a:tbl>
          </a:graphicData>
        </a:graphic>
      </p:graphicFrame>
      <p:sp>
        <p:nvSpPr>
          <p:cNvPr id="20" name="사각형: 둥근 모서리 19">
            <a:extLst>
              <a:ext uri="{FF2B5EF4-FFF2-40B4-BE49-F238E27FC236}">
                <a16:creationId xmlns:a16="http://schemas.microsoft.com/office/drawing/2014/main" id="{327A8F6E-5198-422A-8B6E-5F618B643376}"/>
              </a:ext>
            </a:extLst>
          </p:cNvPr>
          <p:cNvSpPr/>
          <p:nvPr/>
        </p:nvSpPr>
        <p:spPr>
          <a:xfrm>
            <a:off x="508000" y="4634215"/>
            <a:ext cx="11176000" cy="825500"/>
          </a:xfrm>
          <a:prstGeom prst="roundRect">
            <a:avLst/>
          </a:prstGeom>
          <a:solidFill>
            <a:srgbClr val="FFF8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7CBCE0F1-738A-43FE-B6CA-3BA4F3DD9CBB}"/>
              </a:ext>
            </a:extLst>
          </p:cNvPr>
          <p:cNvSpPr txBox="1"/>
          <p:nvPr/>
        </p:nvSpPr>
        <p:spPr>
          <a:xfrm>
            <a:off x="698500" y="4697715"/>
            <a:ext cx="2540000" cy="279400"/>
          </a:xfrm>
          <a:prstGeom prst="rect">
            <a:avLst/>
          </a:prstGeom>
          <a:noFill/>
        </p:spPr>
        <p:txBody>
          <a:bodyPr vertOverflow="overflow" vert="horz" wrap="square" rtlCol="0" anchor="t">
            <a:noAutofit/>
          </a:bodyPr>
          <a:lstStyle/>
          <a:p>
            <a:pPr algn="l"/>
            <a:r>
              <a:rPr lang="ko-KR" altLang="en-US" sz="1200" b="1">
                <a:solidFill>
                  <a:srgbClr val="F29E16"/>
                </a:solidFill>
                <a:latin typeface="나눔고딕" panose="020D0604000000000000" pitchFamily="50" charset="-127"/>
                <a:ea typeface="나눔고딕" panose="020D0604000000000000" pitchFamily="50" charset="-127"/>
                <a:cs typeface="Arial" panose="020B0604020202020204" pitchFamily="34" charset="0"/>
              </a:rPr>
              <a:t>라벨 구조</a:t>
            </a:r>
          </a:p>
        </p:txBody>
      </p:sp>
      <p:sp>
        <p:nvSpPr>
          <p:cNvPr id="22" name="TextBox 21">
            <a:extLst>
              <a:ext uri="{FF2B5EF4-FFF2-40B4-BE49-F238E27FC236}">
                <a16:creationId xmlns:a16="http://schemas.microsoft.com/office/drawing/2014/main" id="{8EBD75B3-898E-40CF-8468-BCF0BF5705CF}"/>
              </a:ext>
            </a:extLst>
          </p:cNvPr>
          <p:cNvSpPr txBox="1"/>
          <p:nvPr/>
        </p:nvSpPr>
        <p:spPr>
          <a:xfrm>
            <a:off x="698500" y="4989815"/>
            <a:ext cx="10668000" cy="444500"/>
          </a:xfrm>
          <a:prstGeom prst="rect">
            <a:avLst/>
          </a:prstGeom>
          <a:noFill/>
        </p:spPr>
        <p:txBody>
          <a:bodyPr vertOverflow="overflow" vert="horz" wrap="square" rtlCol="0" anchor="t">
            <a:noAutofit/>
          </a:bodyPr>
          <a:lstStyle/>
          <a:p>
            <a:pPr algn="l"/>
            <a:r>
              <a:rPr lang="en-US" altLang="ko-KR"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매 측정 시점마다 그 순간의 상태(정상/어떤 부품 빠짐)가 기록됨</a:t>
            </a:r>
          </a:p>
          <a:p>
            <a:r>
              <a:rPr sz="1200">
                <a:solidFill>
                  <a:srgbClr val="555555"/>
                </a:solidFill>
              </a:rPr>
              <a:t>→ ‘지금 이 순간 어떤 상태인가’를 매 시점 분류하는 과제</a:t>
            </a:r>
          </a:p>
        </p:txBody>
      </p:sp>
      <p:pic>
        <p:nvPicPr>
          <p:cNvPr id="23" name="Picture 22" descr="sensor_sample.png"/>
          <p:cNvPicPr>
            <a:picLocks noChangeAspect="1"/>
          </p:cNvPicPr>
          <p:nvPr/>
        </p:nvPicPr>
        <p:blipFill>
          <a:blip r:embed="rId3"/>
          <a:stretch>
            <a:fillRect/>
          </a:stretch>
        </p:blipFill>
        <p:spPr>
          <a:xfrm>
            <a:off x="640080" y="5760720"/>
            <a:ext cx="10972800" cy="914400"/>
          </a:xfrm>
          <a:prstGeom prst="rect">
            <a:avLst/>
          </a:prstGeom>
        </p:spPr>
      </p:pic>
    </p:spTree>
    <p:extLst>
      <p:ext uri="{BB962C8B-B14F-4D97-AF65-F5344CB8AC3E}">
        <p14:creationId xmlns:p14="http://schemas.microsoft.com/office/powerpoint/2010/main" val="392735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BE1E22D-06CF-4359-9924-19C9B34A5E61}"/>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DD25A201-B6C3-4649-8DB9-EF4302B01CD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05</a:t>
            </a:r>
            <a:endParaRPr lang="ko-KR" altLang="en-US" sz="1600" b="1">
              <a:solidFill>
                <a:srgbClr val="FFFFFF"/>
              </a:solidFill>
            </a:endParaRPr>
          </a:p>
        </p:txBody>
      </p:sp>
      <p:sp>
        <p:nvSpPr>
          <p:cNvPr id="5" name="TextBox 4">
            <a:extLst>
              <a:ext uri="{FF2B5EF4-FFF2-40B4-BE49-F238E27FC236}">
                <a16:creationId xmlns:a16="http://schemas.microsoft.com/office/drawing/2014/main" id="{D0824D9D-2C94-4564-B459-7DF5AD17E2EF}"/>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시스템 전체 파이프라인</a:t>
            </a:r>
          </a:p>
        </p:txBody>
      </p:sp>
      <p:grpSp>
        <p:nvGrpSpPr>
          <p:cNvPr id="30" name="그룹 29">
            <a:extLst>
              <a:ext uri="{FF2B5EF4-FFF2-40B4-BE49-F238E27FC236}">
                <a16:creationId xmlns:a16="http://schemas.microsoft.com/office/drawing/2014/main" id="{6EA34650-0C38-F7E2-4F58-538998269DDB}"/>
              </a:ext>
            </a:extLst>
          </p:cNvPr>
          <p:cNvGrpSpPr/>
          <p:nvPr/>
        </p:nvGrpSpPr>
        <p:grpSpPr>
          <a:xfrm>
            <a:off x="444500" y="1778000"/>
            <a:ext cx="11303000" cy="3302000"/>
            <a:chOff x="508000" y="1143000"/>
            <a:chExt cx="11303000" cy="3302000"/>
          </a:xfrm>
        </p:grpSpPr>
        <p:sp>
          <p:nvSpPr>
            <p:cNvPr id="6" name="사각형: 둥근 모서리 5">
              <a:extLst>
                <a:ext uri="{FF2B5EF4-FFF2-40B4-BE49-F238E27FC236}">
                  <a16:creationId xmlns:a16="http://schemas.microsoft.com/office/drawing/2014/main" id="{33121B5B-AC7E-4EB0-8007-DB0275201BA6}"/>
                </a:ext>
              </a:extLst>
            </p:cNvPr>
            <p:cNvSpPr/>
            <p:nvPr/>
          </p:nvSpPr>
          <p:spPr>
            <a:xfrm>
              <a:off x="508000" y="1143000"/>
              <a:ext cx="2286000" cy="6985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Sensor Data</a:t>
              </a:r>
              <a:endParaRPr lang="ko-KR" altLang="en-US" sz="1200" b="1">
                <a:solidFill>
                  <a:srgbClr val="FFFFFF"/>
                </a:solidFill>
              </a:endParaRPr>
            </a:p>
            <a:p>
              <a:r>
                <a:rPr sz="1200" b="1">
                  <a:solidFill>
                    <a:srgbClr val="FFFFFF"/>
                  </a:solidFill>
                </a:rPr>
                <a:t>(All timesteps)</a:t>
              </a:r>
            </a:p>
          </p:txBody>
        </p:sp>
        <p:sp>
          <p:nvSpPr>
            <p:cNvPr id="7" name="화살표: 오른쪽 6">
              <a:extLst>
                <a:ext uri="{FF2B5EF4-FFF2-40B4-BE49-F238E27FC236}">
                  <a16:creationId xmlns:a16="http://schemas.microsoft.com/office/drawing/2014/main" id="{D7F909FE-EA72-4430-84E5-711DDED494E4}"/>
                </a:ext>
              </a:extLst>
            </p:cNvPr>
            <p:cNvSpPr/>
            <p:nvPr/>
          </p:nvSpPr>
          <p:spPr>
            <a:xfrm>
              <a:off x="2895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사각형: 둥근 모서리 7">
              <a:extLst>
                <a:ext uri="{FF2B5EF4-FFF2-40B4-BE49-F238E27FC236}">
                  <a16:creationId xmlns:a16="http://schemas.microsoft.com/office/drawing/2014/main" id="{5C325942-ABD3-4032-9824-5E8B98A01446}"/>
                </a:ext>
              </a:extLst>
            </p:cNvPr>
            <p:cNvSpPr/>
            <p:nvPr/>
          </p:nvSpPr>
          <p:spPr>
            <a:xfrm>
              <a:off x="3429000" y="1143000"/>
              <a:ext cx="2286000" cy="698500"/>
            </a:xfrm>
            <a:prstGeom prst="roundRect">
              <a:avLst/>
            </a:prstGeom>
            <a:solidFill>
              <a:srgbClr val="EBF5FB"/>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2676AC"/>
                  </a:solidFill>
                </a:rPr>
                <a:t>BiLSTM</a:t>
              </a:r>
              <a:endParaRPr lang="ko-KR" altLang="en-US" sz="1200" b="1">
                <a:solidFill>
                  <a:srgbClr val="2676AC"/>
                </a:solidFill>
              </a:endParaRPr>
            </a:p>
            <a:p>
              <a:r>
                <a:rPr sz="1200" b="1">
                  <a:solidFill>
                    <a:srgbClr val="2676AC"/>
                  </a:solidFill>
                </a:rPr>
                <a:t>(2-layer)</a:t>
              </a:r>
            </a:p>
          </p:txBody>
        </p:sp>
        <p:sp>
          <p:nvSpPr>
            <p:cNvPr id="9" name="화살표: 오른쪽 8">
              <a:extLst>
                <a:ext uri="{FF2B5EF4-FFF2-40B4-BE49-F238E27FC236}">
                  <a16:creationId xmlns:a16="http://schemas.microsoft.com/office/drawing/2014/main" id="{505D91E8-F199-4B9F-93A0-3A3C6FB4450D}"/>
                </a:ext>
              </a:extLst>
            </p:cNvPr>
            <p:cNvSpPr/>
            <p:nvPr/>
          </p:nvSpPr>
          <p:spPr>
            <a:xfrm>
              <a:off x="5816600" y="1333500"/>
              <a:ext cx="444500" cy="2794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사각형: 둥근 모서리 9">
              <a:extLst>
                <a:ext uri="{FF2B5EF4-FFF2-40B4-BE49-F238E27FC236}">
                  <a16:creationId xmlns:a16="http://schemas.microsoft.com/office/drawing/2014/main" id="{911A605E-621C-477D-BAAC-1865812E62F7}"/>
                </a:ext>
              </a:extLst>
            </p:cNvPr>
            <p:cNvSpPr/>
            <p:nvPr/>
          </p:nvSpPr>
          <p:spPr>
            <a:xfrm>
              <a:off x="6350000" y="1143000"/>
              <a:ext cx="1651000" cy="698500"/>
            </a:xfrm>
            <a:prstGeom prst="roundRect">
              <a:avLst/>
            </a:prstGeom>
            <a:solidFill>
              <a:srgbClr val="D6EA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2676AC"/>
                  </a:solidFill>
                </a:rPr>
                <a:t>Sensor</a:t>
              </a:r>
              <a:endParaRPr lang="ko-KR" altLang="en-US" sz="1100">
                <a:solidFill>
                  <a:srgbClr val="2676AC"/>
                </a:solidFill>
              </a:endParaRPr>
            </a:p>
            <a:p>
              <a:r>
                <a:rPr sz="1100">
                  <a:solidFill>
                    <a:srgbClr val="2676AC"/>
                  </a:solidFill>
                </a:rPr>
                <a:t>Probability</a:t>
              </a:r>
            </a:p>
          </p:txBody>
        </p:sp>
        <p:sp>
          <p:nvSpPr>
            <p:cNvPr id="11" name="사각형: 둥근 모서리 10">
              <a:extLst>
                <a:ext uri="{FF2B5EF4-FFF2-40B4-BE49-F238E27FC236}">
                  <a16:creationId xmlns:a16="http://schemas.microsoft.com/office/drawing/2014/main" id="{0172FC1D-D90A-4E57-8018-A4D693A1840F}"/>
                </a:ext>
              </a:extLst>
            </p:cNvPr>
            <p:cNvSpPr/>
            <p:nvPr/>
          </p:nvSpPr>
          <p:spPr>
            <a:xfrm>
              <a:off x="508000" y="2159000"/>
              <a:ext cx="2286000" cy="6985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Camera Images</a:t>
              </a:r>
              <a:endParaRPr lang="ko-KR" altLang="en-US" sz="1200" b="1">
                <a:solidFill>
                  <a:srgbClr val="FFFFFF"/>
                </a:solidFill>
              </a:endParaRPr>
            </a:p>
            <a:p>
              <a:r>
                <a:rPr sz="1200" b="1">
                  <a:solidFill>
                    <a:srgbClr val="FFFFFF"/>
                  </a:solidFill>
                </a:rPr>
                <a:t>(Cam1 + Cam2)</a:t>
              </a:r>
            </a:p>
          </p:txBody>
        </p:sp>
        <p:sp>
          <p:nvSpPr>
            <p:cNvPr id="12" name="화살표: 오른쪽 11">
              <a:extLst>
                <a:ext uri="{FF2B5EF4-FFF2-40B4-BE49-F238E27FC236}">
                  <a16:creationId xmlns:a16="http://schemas.microsoft.com/office/drawing/2014/main" id="{B4D160E4-B85C-4F6B-992E-79BD9580D8BF}"/>
                </a:ext>
              </a:extLst>
            </p:cNvPr>
            <p:cNvSpPr/>
            <p:nvPr/>
          </p:nvSpPr>
          <p:spPr>
            <a:xfrm>
              <a:off x="2895600" y="2349500"/>
              <a:ext cx="444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사각형: 둥근 모서리 12">
              <a:extLst>
                <a:ext uri="{FF2B5EF4-FFF2-40B4-BE49-F238E27FC236}">
                  <a16:creationId xmlns:a16="http://schemas.microsoft.com/office/drawing/2014/main" id="{56365EAE-1EC0-4680-B1C3-B8BAF769F0F0}"/>
                </a:ext>
              </a:extLst>
            </p:cNvPr>
            <p:cNvSpPr/>
            <p:nvPr/>
          </p:nvSpPr>
          <p:spPr>
            <a:xfrm>
              <a:off x="34290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ResNet18</a:t>
              </a:r>
              <a:endParaRPr lang="ko-KR" altLang="en-US" sz="1200" b="1">
                <a:solidFill>
                  <a:srgbClr val="16A295"/>
                </a:solidFill>
              </a:endParaRPr>
            </a:p>
          </p:txBody>
        </p:sp>
        <p:sp>
          <p:nvSpPr>
            <p:cNvPr id="14" name="화살표: 오른쪽 13">
              <a:extLst>
                <a:ext uri="{FF2B5EF4-FFF2-40B4-BE49-F238E27FC236}">
                  <a16:creationId xmlns:a16="http://schemas.microsoft.com/office/drawing/2014/main" id="{F3B4D038-5F48-47D0-B924-6182A661C3D2}"/>
                </a:ext>
              </a:extLst>
            </p:cNvPr>
            <p:cNvSpPr/>
            <p:nvPr/>
          </p:nvSpPr>
          <p:spPr>
            <a:xfrm>
              <a:off x="46355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사각형: 둥근 모서리 14">
              <a:extLst>
                <a:ext uri="{FF2B5EF4-FFF2-40B4-BE49-F238E27FC236}">
                  <a16:creationId xmlns:a16="http://schemas.microsoft.com/office/drawing/2014/main" id="{32C01469-2A96-4041-8DEA-70BA92E31C2F}"/>
                </a:ext>
              </a:extLst>
            </p:cNvPr>
            <p:cNvSpPr/>
            <p:nvPr/>
          </p:nvSpPr>
          <p:spPr>
            <a:xfrm>
              <a:off x="5016500" y="2159000"/>
              <a:ext cx="1143000" cy="698500"/>
            </a:xfrm>
            <a:prstGeom prst="roundRect">
              <a:avLst/>
            </a:prstGeom>
            <a:solidFill>
              <a:srgbClr val="E8F8F5"/>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16A295"/>
                  </a:solidFill>
                </a:rPr>
                <a:t>(shared)</a:t>
              </a:r>
              <a:endParaRPr lang="ko-KR" altLang="en-US" sz="1200" b="1">
                <a:solidFill>
                  <a:srgbClr val="16A295"/>
                </a:solidFill>
              </a:endParaRPr>
            </a:p>
          </p:txBody>
        </p:sp>
        <p:sp>
          <p:nvSpPr>
            <p:cNvPr id="16" name="화살표: 오른쪽 15">
              <a:extLst>
                <a:ext uri="{FF2B5EF4-FFF2-40B4-BE49-F238E27FC236}">
                  <a16:creationId xmlns:a16="http://schemas.microsoft.com/office/drawing/2014/main" id="{A52EA78F-89A1-4DCB-9025-CA3124B9C5C0}"/>
                </a:ext>
              </a:extLst>
            </p:cNvPr>
            <p:cNvSpPr/>
            <p:nvPr/>
          </p:nvSpPr>
          <p:spPr>
            <a:xfrm>
              <a:off x="6223000" y="2349500"/>
              <a:ext cx="317500" cy="279400"/>
            </a:xfrm>
            <a:prstGeom prst="rightArrow">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사각형: 둥근 모서리 16">
              <a:extLst>
                <a:ext uri="{FF2B5EF4-FFF2-40B4-BE49-F238E27FC236}">
                  <a16:creationId xmlns:a16="http://schemas.microsoft.com/office/drawing/2014/main" id="{0D4E11F3-CAAA-4E58-AC71-A87E456D5970}"/>
                </a:ext>
              </a:extLst>
            </p:cNvPr>
            <p:cNvSpPr/>
            <p:nvPr/>
          </p:nvSpPr>
          <p:spPr>
            <a:xfrm>
              <a:off x="6604000" y="2159000"/>
              <a:ext cx="1397000" cy="698500"/>
            </a:xfrm>
            <a:prstGeom prst="roundRect">
              <a:avLst/>
            </a:prstGeom>
            <a:solidFill>
              <a:srgbClr val="D5F5E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100">
                  <a:solidFill>
                    <a:srgbClr val="16A295"/>
                  </a:solidFill>
                </a:rPr>
                <a:t>Image</a:t>
              </a:r>
              <a:endParaRPr lang="ko-KR" altLang="en-US" sz="1100">
                <a:solidFill>
                  <a:srgbClr val="16A295"/>
                </a:solidFill>
              </a:endParaRPr>
            </a:p>
            <a:p>
              <a:r>
                <a:rPr sz="1100">
                  <a:solidFill>
                    <a:srgbClr val="16A295"/>
                  </a:solidFill>
                </a:rPr>
                <a:t>Probability</a:t>
              </a:r>
            </a:p>
          </p:txBody>
        </p:sp>
        <p:sp>
          <p:nvSpPr>
            <p:cNvPr id="18" name="사각형: 둥근 모서리 17">
              <a:extLst>
                <a:ext uri="{FF2B5EF4-FFF2-40B4-BE49-F238E27FC236}">
                  <a16:creationId xmlns:a16="http://schemas.microsoft.com/office/drawing/2014/main" id="{1A803B99-8160-4851-B53B-38D8ECFFDEF0}"/>
                </a:ext>
              </a:extLst>
            </p:cNvPr>
            <p:cNvSpPr/>
            <p:nvPr/>
          </p:nvSpPr>
          <p:spPr>
            <a:xfrm>
              <a:off x="8382000" y="1333500"/>
              <a:ext cx="1270000" cy="1270000"/>
            </a:xfrm>
            <a:prstGeom prst="roundRect">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Decision
Fusion
[fV ; hT]</a:t>
              </a:r>
              <a:endParaRPr lang="ko-KR" altLang="en-US" sz="1200" b="1">
                <a:solidFill>
                  <a:srgbClr val="FFFFFF"/>
                </a:solidFill>
              </a:endParaRPr>
            </a:p>
          </p:txBody>
        </p:sp>
        <p:sp>
          <p:nvSpPr>
            <p:cNvPr id="19" name="화살표: 오른쪽 18">
              <a:extLst>
                <a:ext uri="{FF2B5EF4-FFF2-40B4-BE49-F238E27FC236}">
                  <a16:creationId xmlns:a16="http://schemas.microsoft.com/office/drawing/2014/main" id="{30E731E0-7D1D-4D66-82D2-7CE3BF61D67E}"/>
                </a:ext>
              </a:extLst>
            </p:cNvPr>
            <p:cNvSpPr/>
            <p:nvPr/>
          </p:nvSpPr>
          <p:spPr>
            <a:xfrm>
              <a:off x="9753600" y="1778000"/>
              <a:ext cx="444500" cy="2794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0" name="사각형: 둥근 모서리 19">
              <a:extLst>
                <a:ext uri="{FF2B5EF4-FFF2-40B4-BE49-F238E27FC236}">
                  <a16:creationId xmlns:a16="http://schemas.microsoft.com/office/drawing/2014/main" id="{F6DAF1C8-FEA6-41A1-9071-9BE3E90DF4E6}"/>
                </a:ext>
              </a:extLst>
            </p:cNvPr>
            <p:cNvSpPr/>
            <p:nvPr/>
          </p:nvSpPr>
          <p:spPr>
            <a:xfrm>
              <a:off x="10287000" y="1206500"/>
              <a:ext cx="1524000" cy="6985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FC Layer
+ Classifier</a:t>
              </a:r>
              <a:endParaRPr lang="ko-KR" altLang="en-US" sz="1200" b="1">
                <a:solidFill>
                  <a:srgbClr val="FFFFFF"/>
                </a:solidFill>
              </a:endParaRPr>
            </a:p>
          </p:txBody>
        </p:sp>
        <p:sp>
          <p:nvSpPr>
            <p:cNvPr id="21" name="사각형: 둥근 모서리 20">
              <a:extLst>
                <a:ext uri="{FF2B5EF4-FFF2-40B4-BE49-F238E27FC236}">
                  <a16:creationId xmlns:a16="http://schemas.microsoft.com/office/drawing/2014/main" id="{CAC944CE-4FD8-4E22-97DB-B478F1517300}"/>
                </a:ext>
              </a:extLst>
            </p:cNvPr>
            <p:cNvSpPr/>
            <p:nvPr/>
          </p:nvSpPr>
          <p:spPr>
            <a:xfrm>
              <a:off x="10287000" y="2095500"/>
              <a:ext cx="1524000" cy="635000"/>
            </a:xfrm>
            <a:prstGeom prst="roundRect">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ko-KR" sz="1200" b="1">
                  <a:solidFill>
                    <a:srgbClr val="FFFFFF"/>
                  </a:solidFill>
                </a:rPr>
                <a:t>Anomaly
Prediction</a:t>
              </a:r>
              <a:endParaRPr lang="ko-KR" altLang="en-US" sz="1200" b="1">
                <a:solidFill>
                  <a:srgbClr val="FFFFFF"/>
                </a:solidFill>
              </a:endParaRPr>
            </a:p>
          </p:txBody>
        </p:sp>
        <p:sp>
          <p:nvSpPr>
            <p:cNvPr id="22" name="화살표: 오른쪽 21">
              <a:extLst>
                <a:ext uri="{FF2B5EF4-FFF2-40B4-BE49-F238E27FC236}">
                  <a16:creationId xmlns:a16="http://schemas.microsoft.com/office/drawing/2014/main" id="{643DCCE1-B3BE-4827-A6A7-12FF1B638CA9}"/>
                </a:ext>
              </a:extLst>
            </p:cNvPr>
            <p:cNvSpPr/>
            <p:nvPr/>
          </p:nvSpPr>
          <p:spPr>
            <a:xfrm>
              <a:off x="8064500" y="1371600"/>
              <a:ext cx="279400" cy="228600"/>
            </a:xfrm>
            <a:prstGeom prst="rightArrow">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화살표: 오른쪽 22">
              <a:extLst>
                <a:ext uri="{FF2B5EF4-FFF2-40B4-BE49-F238E27FC236}">
                  <a16:creationId xmlns:a16="http://schemas.microsoft.com/office/drawing/2014/main" id="{9DCE0817-C196-47F5-A78E-415878D487AF}"/>
                </a:ext>
              </a:extLst>
            </p:cNvPr>
            <p:cNvSpPr/>
            <p:nvPr/>
          </p:nvSpPr>
          <p:spPr>
            <a:xfrm>
              <a:off x="8064500" y="2349500"/>
              <a:ext cx="279400" cy="228600"/>
            </a:xfrm>
            <a:prstGeom prst="rightArrow">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사각형: 둥근 모서리 23">
              <a:extLst>
                <a:ext uri="{FF2B5EF4-FFF2-40B4-BE49-F238E27FC236}">
                  <a16:creationId xmlns:a16="http://schemas.microsoft.com/office/drawing/2014/main" id="{12FE88E6-971A-4EAD-991D-C734DF8BE0F7}"/>
                </a:ext>
              </a:extLst>
            </p:cNvPr>
            <p:cNvSpPr/>
            <p:nvPr/>
          </p:nvSpPr>
          <p:spPr>
            <a:xfrm>
              <a:off x="508000" y="3175000"/>
              <a:ext cx="5588000" cy="1270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E18F0ED5-23D1-456C-B55A-210A18A19C31}"/>
                </a:ext>
              </a:extLst>
            </p:cNvPr>
            <p:cNvSpPr txBox="1"/>
            <p:nvPr/>
          </p:nvSpPr>
          <p:spPr>
            <a:xfrm>
              <a:off x="698500" y="3276600"/>
              <a:ext cx="5207000" cy="279400"/>
            </a:xfrm>
            <a:prstGeom prst="rect">
              <a:avLst/>
            </a:prstGeom>
            <a:noFill/>
          </p:spPr>
          <p:txBody>
            <a:bodyPr vertOverflow="overflow" vert="horz" wrap="square" rtlCol="0" anchor="t">
              <a:noAutofit/>
            </a:bodyPr>
            <a:lstStyle/>
            <a:p>
              <a:pPr algn="l"/>
              <a:r>
                <a:rPr lang="en-US" altLang="ko-KR"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이미지가 들어오는 시점</a:t>
              </a:r>
              <a:endPar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6" name="TextBox 25">
              <a:extLst>
                <a:ext uri="{FF2B5EF4-FFF2-40B4-BE49-F238E27FC236}">
                  <a16:creationId xmlns:a16="http://schemas.microsoft.com/office/drawing/2014/main" id="{49E1646C-A8D7-4E7F-99D1-8CD75AD0A484}"/>
                </a:ext>
              </a:extLst>
            </p:cNvPr>
            <p:cNvSpPr txBox="1"/>
            <p:nvPr/>
          </p:nvSpPr>
          <p:spPr>
            <a:xfrm>
              <a:off x="698500" y="3594100"/>
              <a:ext cx="5207000" cy="69850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두 모델의 예측 확률을 가중 평균하여 최종 분류</a:t>
              </a:r>
              <a:endPar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a:p>
              <a:r>
                <a:rPr sz="1200">
                  <a:solidFill>
                    <a:srgbClr val="555555"/>
                  </a:solidFill>
                </a:rPr>
                <a:t>→ Decision-level Fusion</a:t>
              </a:r>
            </a:p>
          </p:txBody>
        </p:sp>
        <p:sp>
          <p:nvSpPr>
            <p:cNvPr id="27" name="사각형: 둥근 모서리 26">
              <a:extLst>
                <a:ext uri="{FF2B5EF4-FFF2-40B4-BE49-F238E27FC236}">
                  <a16:creationId xmlns:a16="http://schemas.microsoft.com/office/drawing/2014/main" id="{CE3F9BFF-3C3C-4EFD-B579-64D26021D1AF}"/>
                </a:ext>
              </a:extLst>
            </p:cNvPr>
            <p:cNvSpPr/>
            <p:nvPr/>
          </p:nvSpPr>
          <p:spPr>
            <a:xfrm>
              <a:off x="6350000" y="3175000"/>
              <a:ext cx="5461000" cy="1270000"/>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E3F29EAC-BBB8-47FE-9F29-225371A168BE}"/>
                </a:ext>
              </a:extLst>
            </p:cNvPr>
            <p:cNvSpPr txBox="1"/>
            <p:nvPr/>
          </p:nvSpPr>
          <p:spPr>
            <a:xfrm>
              <a:off x="6540500" y="3276600"/>
              <a:ext cx="5080000" cy="279400"/>
            </a:xfrm>
            <a:prstGeom prst="rect">
              <a:avLst/>
            </a:prstGeom>
            <a:noFill/>
          </p:spPr>
          <p:txBody>
            <a:bodyPr vertOverflow="overflow" vert="horz" wrap="square" rtlCol="0" anchor="t">
              <a:noAutofit/>
            </a:bodyPr>
            <a:lstStyle/>
            <a:p>
              <a:pPr algn="l"/>
              <a:r>
                <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이미지가 없는 시점</a:t>
              </a:r>
              <a:endPar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9" name="TextBox 28">
              <a:extLst>
                <a:ext uri="{FF2B5EF4-FFF2-40B4-BE49-F238E27FC236}">
                  <a16:creationId xmlns:a16="http://schemas.microsoft.com/office/drawing/2014/main" id="{1DAAD64D-E611-4E4E-9F5B-4F5CBD923DF1}"/>
                </a:ext>
              </a:extLst>
            </p:cNvPr>
            <p:cNvSpPr txBox="1"/>
            <p:nvPr/>
          </p:nvSpPr>
          <p:spPr>
            <a:xfrm>
              <a:off x="6540500" y="3594100"/>
              <a:ext cx="5080000" cy="698500"/>
            </a:xfrm>
            <a:prstGeom prst="rect">
              <a:avLst/>
            </a:prstGeom>
            <a:noFill/>
          </p:spPr>
          <p:txBody>
            <a:bodyPr vertOverflow="overflow" vert="horz" wrap="square" rtlCol="0" anchor="t">
              <a:noAutofit/>
            </a:bodyPr>
            <a:lstStyle/>
            <a:p>
              <a:pPr algn="l"/>
              <a:r>
                <a:rPr lang="ko-KR" altLang="en-US"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자동으로 센서 확률만 사용</a:t>
              </a:r>
            </a:p>
            <a:p>
              <a:r>
                <a:rPr sz="1200">
                  <a:solidFill>
                    <a:srgbClr val="555555"/>
                  </a:solidFill>
                </a:rPr>
                <a:t>→ 결측에 안정적으로 작동</a:t>
              </a:r>
            </a:p>
          </p:txBody>
        </p:sp>
      </p:grpSp>
    </p:spTree>
    <p:extLst>
      <p:ext uri="{BB962C8B-B14F-4D97-AF65-F5344CB8AC3E}">
        <p14:creationId xmlns:p14="http://schemas.microsoft.com/office/powerpoint/2010/main" val="79786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B455E5B-71F4-48C2-ADEC-0559BD1D01E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C40322B8-1E27-411D-81DF-682938F5447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AA609288-408F-4951-A1ED-CA79BB61EE2A}"/>
              </a:ext>
            </a:extLst>
          </p:cNvPr>
          <p:cNvSpPr txBox="1"/>
          <p:nvPr/>
        </p:nvSpPr>
        <p:spPr>
          <a:xfrm>
            <a:off x="1079500" y="190500"/>
            <a:ext cx="635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방법</a:t>
            </a:r>
            <a:r>
              <a:rPr lang="en-US" altLang="ko-KR"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 P1 → P2 → P3 </a:t>
            </a: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단계적 발전</a:t>
            </a:r>
          </a:p>
        </p:txBody>
      </p:sp>
      <p:grpSp>
        <p:nvGrpSpPr>
          <p:cNvPr id="24" name="그룹 23">
            <a:extLst>
              <a:ext uri="{FF2B5EF4-FFF2-40B4-BE49-F238E27FC236}">
                <a16:creationId xmlns:a16="http://schemas.microsoft.com/office/drawing/2014/main" id="{39498BBE-8CE1-A7FC-A774-EB4097957748}"/>
              </a:ext>
            </a:extLst>
          </p:cNvPr>
          <p:cNvGrpSpPr/>
          <p:nvPr/>
        </p:nvGrpSpPr>
        <p:grpSpPr>
          <a:xfrm>
            <a:off x="503575" y="1524000"/>
            <a:ext cx="11184849" cy="3810000"/>
            <a:chOff x="381000" y="1659990"/>
            <a:chExt cx="11184849" cy="3810000"/>
          </a:xfrm>
        </p:grpSpPr>
        <p:sp>
          <p:nvSpPr>
            <p:cNvPr id="6" name="사각형: 둥근 모서리 5">
              <a:extLst>
                <a:ext uri="{FF2B5EF4-FFF2-40B4-BE49-F238E27FC236}">
                  <a16:creationId xmlns:a16="http://schemas.microsoft.com/office/drawing/2014/main" id="{DF1A7D5F-B943-4628-9636-D8DE9C93451E}"/>
                </a:ext>
              </a:extLst>
            </p:cNvPr>
            <p:cNvSpPr/>
            <p:nvPr/>
          </p:nvSpPr>
          <p:spPr>
            <a:xfrm>
              <a:off x="381000" y="1659990"/>
              <a:ext cx="3310849" cy="3302000"/>
            </a:xfrm>
            <a:prstGeom prst="roundRect">
              <a:avLst/>
            </a:prstGeom>
            <a:solidFill>
              <a:srgbClr val="FFFFFF"/>
            </a:solidFill>
            <a:ln w="25400" cap="flat" cmpd="sng" algn="ctr">
              <a:solidFill>
                <a:srgbClr val="267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사각형: 둥근 모서리 6">
              <a:extLst>
                <a:ext uri="{FF2B5EF4-FFF2-40B4-BE49-F238E27FC236}">
                  <a16:creationId xmlns:a16="http://schemas.microsoft.com/office/drawing/2014/main" id="{6A418355-CAB5-469D-AFF7-BC515BABDFA2}"/>
                </a:ext>
              </a:extLst>
            </p:cNvPr>
            <p:cNvSpPr/>
            <p:nvPr/>
          </p:nvSpPr>
          <p:spPr>
            <a:xfrm>
              <a:off x="626151" y="2223925"/>
              <a:ext cx="698500" cy="3810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P1</a:t>
              </a:r>
              <a:endParaRPr lang="ko-KR" altLang="en-US" sz="1600" b="1">
                <a:solidFill>
                  <a:srgbClr val="FFFFFF"/>
                </a:solidFill>
              </a:endParaRPr>
            </a:p>
          </p:txBody>
        </p:sp>
        <p:sp>
          <p:nvSpPr>
            <p:cNvPr id="8" name="TextBox 7">
              <a:extLst>
                <a:ext uri="{FF2B5EF4-FFF2-40B4-BE49-F238E27FC236}">
                  <a16:creationId xmlns:a16="http://schemas.microsoft.com/office/drawing/2014/main" id="{FF549BBF-5C2E-4922-B887-279ECD17C89B}"/>
                </a:ext>
              </a:extLst>
            </p:cNvPr>
            <p:cNvSpPr txBox="1"/>
            <p:nvPr/>
          </p:nvSpPr>
          <p:spPr>
            <a:xfrm>
              <a:off x="1388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Decision-level Fusion</a:t>
              </a:r>
              <a:endPar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00E1C0E4-4333-4531-864D-1F506BE0C0B8}"/>
                </a:ext>
              </a:extLst>
            </p:cNvPr>
            <p:cNvSpPr txBox="1"/>
            <p:nvPr/>
          </p:nvSpPr>
          <p:spPr>
            <a:xfrm>
              <a:off x="689651" y="2693825"/>
              <a:ext cx="3175000"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기본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Fusion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구조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EfficientNet + Autoencoder
•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특징 벡터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Concatenate
• Cycle 4, 9</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에서만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Fusion</a:t>
              </a:r>
              <a:endPar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0" name="사각형: 둥근 모서리 9">
              <a:extLst>
                <a:ext uri="{FF2B5EF4-FFF2-40B4-BE49-F238E27FC236}">
                  <a16:creationId xmlns:a16="http://schemas.microsoft.com/office/drawing/2014/main" id="{B0308E19-A520-4674-B22A-B47A7B8CCCD9}"/>
                </a:ext>
              </a:extLst>
            </p:cNvPr>
            <p:cNvSpPr/>
            <p:nvPr/>
          </p:nvSpPr>
          <p:spPr>
            <a:xfrm>
              <a:off x="1020424" y="3902394"/>
              <a:ext cx="2032000" cy="571500"/>
            </a:xfrm>
            <a:prstGeom prst="round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72%</a:t>
              </a:r>
              <a:endParaRPr lang="ko-KR" altLang="en-US" b="1">
                <a:solidFill>
                  <a:srgbClr val="FFFFFF"/>
                </a:solidFill>
              </a:endParaRPr>
            </a:p>
          </p:txBody>
        </p:sp>
        <p:sp>
          <p:nvSpPr>
            <p:cNvPr id="11" name="화살표: 오른쪽 10">
              <a:extLst>
                <a:ext uri="{FF2B5EF4-FFF2-40B4-BE49-F238E27FC236}">
                  <a16:creationId xmlns:a16="http://schemas.microsoft.com/office/drawing/2014/main" id="{03057C49-52E1-4DD5-95D1-DDEEC5107A29}"/>
                </a:ext>
              </a:extLst>
            </p:cNvPr>
            <p:cNvSpPr/>
            <p:nvPr/>
          </p:nvSpPr>
          <p:spPr>
            <a:xfrm>
              <a:off x="3740723" y="3133190"/>
              <a:ext cx="524551" cy="3556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사각형: 둥근 모서리 11">
              <a:extLst>
                <a:ext uri="{FF2B5EF4-FFF2-40B4-BE49-F238E27FC236}">
                  <a16:creationId xmlns:a16="http://schemas.microsoft.com/office/drawing/2014/main" id="{CED74E29-D39C-468B-8973-55EC14697EA1}"/>
                </a:ext>
              </a:extLst>
            </p:cNvPr>
            <p:cNvSpPr/>
            <p:nvPr/>
          </p:nvSpPr>
          <p:spPr>
            <a:xfrm>
              <a:off x="4318000" y="1659990"/>
              <a:ext cx="3310849" cy="3302000"/>
            </a:xfrm>
            <a:prstGeom prst="roundRect">
              <a:avLst/>
            </a:prstGeom>
            <a:solidFill>
              <a:srgbClr val="FFFFFF"/>
            </a:solidFill>
            <a:ln w="25400" cap="flat" cmpd="sng" algn="ctr">
              <a:solidFill>
                <a:srgbClr val="16A29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3" name="사각형: 둥근 모서리 12">
              <a:extLst>
                <a:ext uri="{FF2B5EF4-FFF2-40B4-BE49-F238E27FC236}">
                  <a16:creationId xmlns:a16="http://schemas.microsoft.com/office/drawing/2014/main" id="{FF0676C5-F529-4152-A615-C56C63BE7777}"/>
                </a:ext>
              </a:extLst>
            </p:cNvPr>
            <p:cNvSpPr/>
            <p:nvPr/>
          </p:nvSpPr>
          <p:spPr>
            <a:xfrm>
              <a:off x="4563151" y="2223925"/>
              <a:ext cx="698500" cy="3810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P2</a:t>
              </a:r>
              <a:endParaRPr lang="ko-KR" altLang="en-US" sz="1600" b="1">
                <a:solidFill>
                  <a:srgbClr val="FFFFFF"/>
                </a:solidFill>
              </a:endParaRPr>
            </a:p>
          </p:txBody>
        </p:sp>
        <p:sp>
          <p:nvSpPr>
            <p:cNvPr id="14" name="TextBox 13">
              <a:extLst>
                <a:ext uri="{FF2B5EF4-FFF2-40B4-BE49-F238E27FC236}">
                  <a16:creationId xmlns:a16="http://schemas.microsoft.com/office/drawing/2014/main" id="{9787287F-C248-4F40-88BF-DA0FF5E0841F}"/>
                </a:ext>
              </a:extLst>
            </p:cNvPr>
            <p:cNvSpPr txBox="1"/>
            <p:nvPr/>
          </p:nvSpPr>
          <p:spPr>
            <a:xfrm>
              <a:off x="5325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16A295"/>
                  </a:solidFill>
                  <a:latin typeface="나눔고딕" panose="020D0604000000000000" pitchFamily="50" charset="-127"/>
                  <a:ea typeface="나눔고딕" panose="020D0604000000000000" pitchFamily="50" charset="-127"/>
                  <a:cs typeface="Arial" panose="020B0604020202020204" pitchFamily="34" charset="0"/>
                </a:rPr>
                <a:t>+ Transfer Learning</a:t>
              </a:r>
              <a:endParaRPr lang="ko-KR" altLang="en-US" sz="1400" b="1">
                <a:solidFill>
                  <a:srgbClr val="16A295"/>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15" name="TextBox 14">
              <a:extLst>
                <a:ext uri="{FF2B5EF4-FFF2-40B4-BE49-F238E27FC236}">
                  <a16:creationId xmlns:a16="http://schemas.microsoft.com/office/drawing/2014/main" id="{FC431E95-0350-4195-A8E4-F2743031A5C6}"/>
                </a:ext>
              </a:extLst>
            </p:cNvPr>
            <p:cNvSpPr txBox="1"/>
            <p:nvPr/>
          </p:nvSpPr>
          <p:spPr>
            <a:xfrm>
              <a:off x="4626651" y="2693825"/>
              <a:ext cx="3175000"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Encoder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사전 학습 후 가중치 동결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Decoder</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만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Fine-tuning
•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안정적 특징 추출기 역할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과적합 방지</a:t>
              </a:r>
            </a:p>
          </p:txBody>
        </p:sp>
        <p:sp>
          <p:nvSpPr>
            <p:cNvPr id="16" name="사각형: 둥근 모서리 15">
              <a:extLst>
                <a:ext uri="{FF2B5EF4-FFF2-40B4-BE49-F238E27FC236}">
                  <a16:creationId xmlns:a16="http://schemas.microsoft.com/office/drawing/2014/main" id="{D1955C62-F397-4D24-ADDA-7CACDEAA0004}"/>
                </a:ext>
              </a:extLst>
            </p:cNvPr>
            <p:cNvSpPr/>
            <p:nvPr/>
          </p:nvSpPr>
          <p:spPr>
            <a:xfrm>
              <a:off x="4955568" y="3932075"/>
              <a:ext cx="2032000" cy="571500"/>
            </a:xfrm>
            <a:prstGeom prst="roundRect">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88%</a:t>
              </a:r>
              <a:endParaRPr lang="ko-KR" altLang="en-US" b="1">
                <a:solidFill>
                  <a:srgbClr val="FFFFFF"/>
                </a:solidFill>
              </a:endParaRPr>
            </a:p>
          </p:txBody>
        </p:sp>
        <p:sp>
          <p:nvSpPr>
            <p:cNvPr id="17" name="화살표: 오른쪽 16">
              <a:extLst>
                <a:ext uri="{FF2B5EF4-FFF2-40B4-BE49-F238E27FC236}">
                  <a16:creationId xmlns:a16="http://schemas.microsoft.com/office/drawing/2014/main" id="{9655BF96-6805-47BC-8A01-845DE1108082}"/>
                </a:ext>
              </a:extLst>
            </p:cNvPr>
            <p:cNvSpPr/>
            <p:nvPr/>
          </p:nvSpPr>
          <p:spPr>
            <a:xfrm>
              <a:off x="7677723" y="3133190"/>
              <a:ext cx="524551" cy="355600"/>
            </a:xfrm>
            <a:prstGeom prst="rightArrow">
              <a:avLst/>
            </a:prstGeom>
            <a:solidFill>
              <a:srgbClr val="CCCCC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8" name="사각형: 둥근 모서리 17">
              <a:extLst>
                <a:ext uri="{FF2B5EF4-FFF2-40B4-BE49-F238E27FC236}">
                  <a16:creationId xmlns:a16="http://schemas.microsoft.com/office/drawing/2014/main" id="{AE7DE93B-3BF3-4A49-A860-6729294D3E5C}"/>
                </a:ext>
              </a:extLst>
            </p:cNvPr>
            <p:cNvSpPr/>
            <p:nvPr/>
          </p:nvSpPr>
          <p:spPr>
            <a:xfrm>
              <a:off x="8255000" y="1659990"/>
              <a:ext cx="3310849" cy="3302000"/>
            </a:xfrm>
            <a:prstGeom prst="roundRect">
              <a:avLst/>
            </a:prstGeom>
            <a:solidFill>
              <a:srgbClr val="FFFFFF"/>
            </a:solidFill>
            <a:ln w="25400" cap="flat" cmpd="sng" algn="ctr">
              <a:solidFill>
                <a:srgbClr val="93B64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사각형: 둥근 모서리 18">
              <a:extLst>
                <a:ext uri="{FF2B5EF4-FFF2-40B4-BE49-F238E27FC236}">
                  <a16:creationId xmlns:a16="http://schemas.microsoft.com/office/drawing/2014/main" id="{211182C5-A439-4A08-AA51-3F1FE76207A7}"/>
                </a:ext>
              </a:extLst>
            </p:cNvPr>
            <p:cNvSpPr/>
            <p:nvPr/>
          </p:nvSpPr>
          <p:spPr>
            <a:xfrm>
              <a:off x="8500151" y="2223925"/>
              <a:ext cx="698500" cy="3810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P3</a:t>
              </a:r>
              <a:endParaRPr lang="ko-KR" altLang="en-US" sz="1600" b="1">
                <a:solidFill>
                  <a:srgbClr val="FFFFFF"/>
                </a:solidFill>
              </a:endParaRPr>
            </a:p>
          </p:txBody>
        </p:sp>
        <p:sp>
          <p:nvSpPr>
            <p:cNvPr id="20" name="TextBox 19">
              <a:extLst>
                <a:ext uri="{FF2B5EF4-FFF2-40B4-BE49-F238E27FC236}">
                  <a16:creationId xmlns:a16="http://schemas.microsoft.com/office/drawing/2014/main" id="{A5818C40-2E64-4A75-BE99-F1CC4B68EE31}"/>
                </a:ext>
              </a:extLst>
            </p:cNvPr>
            <p:cNvSpPr txBox="1"/>
            <p:nvPr/>
          </p:nvSpPr>
          <p:spPr>
            <a:xfrm>
              <a:off x="9262151" y="2193103"/>
              <a:ext cx="2540000" cy="381000"/>
            </a:xfrm>
            <a:prstGeom prst="rect">
              <a:avLst/>
            </a:prstGeom>
            <a:noFill/>
          </p:spPr>
          <p:txBody>
            <a:bodyPr vertOverflow="overflow" vert="horz" wrap="square" rtlCol="0" anchor="t">
              <a:noAutofit/>
            </a:bodyPr>
            <a:lstStyle/>
            <a:p>
              <a:pPr algn="l">
                <a:lnSpc>
                  <a:spcPct val="150000"/>
                </a:lnSpc>
              </a:pPr>
              <a:r>
                <a:rPr lang="en-US" altLang="ko-KR" sz="1400" b="1">
                  <a:solidFill>
                    <a:srgbClr val="93B64E"/>
                  </a:solidFill>
                  <a:latin typeface="나눔고딕" panose="020D0604000000000000" pitchFamily="50" charset="-127"/>
                  <a:ea typeface="나눔고딕" panose="020D0604000000000000" pitchFamily="50" charset="-127"/>
                  <a:cs typeface="Arial" panose="020B0604020202020204" pitchFamily="34" charset="0"/>
                </a:rPr>
                <a:t>+ Knowledge Infusion</a:t>
              </a:r>
              <a:endParaRPr lang="ko-KR" altLang="en-US" sz="14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1" name="TextBox 20">
              <a:extLst>
                <a:ext uri="{FF2B5EF4-FFF2-40B4-BE49-F238E27FC236}">
                  <a16:creationId xmlns:a16="http://schemas.microsoft.com/office/drawing/2014/main" id="{F2581A4C-15F4-440B-9A60-89BC6CF12157}"/>
                </a:ext>
              </a:extLst>
            </p:cNvPr>
            <p:cNvSpPr txBox="1"/>
            <p:nvPr/>
          </p:nvSpPr>
          <p:spPr>
            <a:xfrm>
              <a:off x="8563651" y="2693825"/>
              <a:ext cx="2799566" cy="1524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Process Ontology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기반 패널티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 허용 범위 위반 시 손실 추가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도메인 지식이 학습 가이드
</a:t>
              </a:r>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해석 가능성 확보</a:t>
              </a:r>
            </a:p>
          </p:txBody>
        </p:sp>
        <p:sp>
          <p:nvSpPr>
            <p:cNvPr id="22" name="사각형: 둥근 모서리 21">
              <a:extLst>
                <a:ext uri="{FF2B5EF4-FFF2-40B4-BE49-F238E27FC236}">
                  <a16:creationId xmlns:a16="http://schemas.microsoft.com/office/drawing/2014/main" id="{A5330073-35A6-4AF8-B370-30CAFB0E3327}"/>
                </a:ext>
              </a:extLst>
            </p:cNvPr>
            <p:cNvSpPr/>
            <p:nvPr/>
          </p:nvSpPr>
          <p:spPr>
            <a:xfrm>
              <a:off x="8894424" y="3932075"/>
              <a:ext cx="2032000" cy="571500"/>
            </a:xfrm>
            <a:prstGeom prst="roundRect">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Accuracy: 93%</a:t>
              </a:r>
              <a:endParaRPr lang="ko-KR" altLang="en-US" b="1">
                <a:solidFill>
                  <a:srgbClr val="FFFFFF"/>
                </a:solidFill>
              </a:endParaRPr>
            </a:p>
          </p:txBody>
        </p:sp>
        <p:sp>
          <p:nvSpPr>
            <p:cNvPr id="23" name="TextBox 22">
              <a:extLst>
                <a:ext uri="{FF2B5EF4-FFF2-40B4-BE49-F238E27FC236}">
                  <a16:creationId xmlns:a16="http://schemas.microsoft.com/office/drawing/2014/main" id="{211C63E8-AECB-4CBE-8842-50E6E2957B8F}"/>
                </a:ext>
              </a:extLst>
            </p:cNvPr>
            <p:cNvSpPr txBox="1"/>
            <p:nvPr/>
          </p:nvSpPr>
          <p:spPr>
            <a:xfrm>
              <a:off x="508001" y="5152490"/>
              <a:ext cx="10531582" cy="317500"/>
            </a:xfrm>
            <a:prstGeom prst="rect">
              <a:avLst/>
            </a:prstGeom>
            <a:noFill/>
          </p:spPr>
          <p:txBody>
            <a:bodyPr vertOverflow="overflow" vert="horz" wrap="square" rtlCol="0" anchor="t">
              <a:noAutofit/>
            </a:bodyPr>
            <a:lstStyle/>
            <a:p>
              <a:pPr algn="l"/>
              <a:r>
                <a:rPr lang="ko-KR" altLang="en-US"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각 단계를 분리하여 기법별 기여도를 명확하게 검증하는 </a:t>
              </a:r>
              <a:r>
                <a:rPr lang="en-US" altLang="ko-KR"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Ablation Study </a:t>
              </a:r>
              <a:r>
                <a:rPr lang="ko-KR" altLang="en-US" sz="1400" b="1">
                  <a:solidFill>
                    <a:srgbClr val="777777"/>
                  </a:solidFill>
                  <a:latin typeface="나눔고딕" panose="020D0604000000000000" pitchFamily="50" charset="-127"/>
                  <a:ea typeface="나눔고딕" panose="020D0604000000000000" pitchFamily="50" charset="-127"/>
                  <a:cs typeface="Arial" panose="020B0604020202020204" pitchFamily="34" charset="0"/>
                </a:rPr>
                <a:t>설계</a:t>
              </a:r>
            </a:p>
          </p:txBody>
        </p:sp>
      </p:grpSp>
    </p:spTree>
    <p:extLst>
      <p:ext uri="{BB962C8B-B14F-4D97-AF65-F5344CB8AC3E}">
        <p14:creationId xmlns:p14="http://schemas.microsoft.com/office/powerpoint/2010/main" val="176320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F1601DD-21D7-4974-8C6C-652A366892A7}"/>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68C4A86-D0B0-4958-86A4-44DD0958394F}"/>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0E4114A6-2525-472A-9CED-A485D64831EB}"/>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방법</a:t>
            </a:r>
            <a:r>
              <a:rPr lang="en-US" altLang="ko-KR"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 Process Ontology</a:t>
            </a:r>
            <a:endPar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endParaRPr>
          </a:p>
        </p:txBody>
      </p:sp>
      <p:grpSp>
        <p:nvGrpSpPr>
          <p:cNvPr id="33" name="그룹 32">
            <a:extLst>
              <a:ext uri="{FF2B5EF4-FFF2-40B4-BE49-F238E27FC236}">
                <a16:creationId xmlns:a16="http://schemas.microsoft.com/office/drawing/2014/main" id="{76062067-0299-03B1-9B9A-F4B4916DDB3C}"/>
              </a:ext>
            </a:extLst>
          </p:cNvPr>
          <p:cNvGrpSpPr/>
          <p:nvPr/>
        </p:nvGrpSpPr>
        <p:grpSpPr>
          <a:xfrm>
            <a:off x="508000" y="1492250"/>
            <a:ext cx="11303000" cy="3873500"/>
            <a:chOff x="508000" y="1079500"/>
            <a:chExt cx="11303000" cy="3873500"/>
          </a:xfrm>
        </p:grpSpPr>
        <p:sp>
          <p:nvSpPr>
            <p:cNvPr id="6" name="TextBox 5">
              <a:extLst>
                <a:ext uri="{FF2B5EF4-FFF2-40B4-BE49-F238E27FC236}">
                  <a16:creationId xmlns:a16="http://schemas.microsoft.com/office/drawing/2014/main" id="{7FF04FC5-E6DE-4314-B88E-8B62C54BD745}"/>
                </a:ext>
              </a:extLst>
            </p:cNvPr>
            <p:cNvSpPr txBox="1"/>
            <p:nvPr/>
          </p:nvSpPr>
          <p:spPr>
            <a:xfrm>
              <a:off x="508000" y="1079500"/>
              <a:ext cx="5461000" cy="355600"/>
            </a:xfrm>
            <a:prstGeom prst="rect">
              <a:avLst/>
            </a:prstGeom>
            <a:noFill/>
          </p:spPr>
          <p:txBody>
            <a:bodyPr vertOverflow="overflow" vert="horz" wrap="square" rtlCol="0" anchor="t">
              <a:noAutofit/>
            </a:bodyPr>
            <a:lstStyle/>
            <a:p>
              <a:pPr algn="l"/>
              <a:r>
                <a:rPr lang="en-US" altLang="ko-KR"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Dynamic Process Ontology </a:t>
              </a:r>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구조</a:t>
              </a:r>
            </a:p>
          </p:txBody>
        </p:sp>
        <p:sp>
          <p:nvSpPr>
            <p:cNvPr id="7" name="타원 6">
              <a:extLst>
                <a:ext uri="{FF2B5EF4-FFF2-40B4-BE49-F238E27FC236}">
                  <a16:creationId xmlns:a16="http://schemas.microsoft.com/office/drawing/2014/main" id="{72B36EF0-DA64-427D-A2F0-C7F8526CA2B7}"/>
                </a:ext>
              </a:extLst>
            </p:cNvPr>
            <p:cNvSpPr/>
            <p:nvPr/>
          </p:nvSpPr>
          <p:spPr>
            <a:xfrm>
              <a:off x="635000" y="1562100"/>
              <a:ext cx="177800" cy="177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3C980A7A-C995-4F59-89AB-50786DD5E054}"/>
                </a:ext>
              </a:extLst>
            </p:cNvPr>
            <p:cNvSpPr txBox="1"/>
            <p:nvPr/>
          </p:nvSpPr>
          <p:spPr>
            <a:xfrm>
              <a:off x="914400" y="15240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a:t>
              </a:r>
              <a:r>
                <a:rPr lang="en-US" altLang="ko-KR"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장비 정의 및 사양</a:t>
              </a:r>
            </a:p>
          </p:txBody>
        </p:sp>
        <p:sp>
          <p:nvSpPr>
            <p:cNvPr id="9" name="타원 8">
              <a:extLst>
                <a:ext uri="{FF2B5EF4-FFF2-40B4-BE49-F238E27FC236}">
                  <a16:creationId xmlns:a16="http://schemas.microsoft.com/office/drawing/2014/main" id="{13877009-AE40-41BC-8BCF-DBC901922A04}"/>
                </a:ext>
              </a:extLst>
            </p:cNvPr>
            <p:cNvSpPr/>
            <p:nvPr/>
          </p:nvSpPr>
          <p:spPr>
            <a:xfrm>
              <a:off x="635000" y="1917700"/>
              <a:ext cx="177800" cy="1778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670865AE-20EE-47E3-B7A6-6BCF88F8F7DE}"/>
                </a:ext>
              </a:extLst>
            </p:cNvPr>
            <p:cNvSpPr txBox="1"/>
            <p:nvPr/>
          </p:nvSpPr>
          <p:spPr>
            <a:xfrm>
              <a:off x="914400" y="18796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센서</a:t>
              </a:r>
              <a:r>
                <a:rPr lang="en-US" altLang="ko-KR"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장비 간 관계 매핑</a:t>
              </a:r>
            </a:p>
          </p:txBody>
        </p:sp>
        <p:sp>
          <p:nvSpPr>
            <p:cNvPr id="11" name="타원 10">
              <a:extLst>
                <a:ext uri="{FF2B5EF4-FFF2-40B4-BE49-F238E27FC236}">
                  <a16:creationId xmlns:a16="http://schemas.microsoft.com/office/drawing/2014/main" id="{62ACD15C-4D6D-4424-8FAD-322E61D3E584}"/>
                </a:ext>
              </a:extLst>
            </p:cNvPr>
            <p:cNvSpPr/>
            <p:nvPr/>
          </p:nvSpPr>
          <p:spPr>
            <a:xfrm>
              <a:off x="635000" y="2273300"/>
              <a:ext cx="177800" cy="1778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DD27683A-1F6E-4216-B737-C1E0FC92DFDB}"/>
                </a:ext>
              </a:extLst>
            </p:cNvPr>
            <p:cNvSpPr txBox="1"/>
            <p:nvPr/>
          </p:nvSpPr>
          <p:spPr>
            <a:xfrm>
              <a:off x="914400" y="22352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사이클 상태별 센서 정상 범위</a:t>
              </a:r>
            </a:p>
          </p:txBody>
        </p:sp>
        <p:sp>
          <p:nvSpPr>
            <p:cNvPr id="13" name="타원 12">
              <a:extLst>
                <a:ext uri="{FF2B5EF4-FFF2-40B4-BE49-F238E27FC236}">
                  <a16:creationId xmlns:a16="http://schemas.microsoft.com/office/drawing/2014/main" id="{64D8057C-8383-48FB-8013-7BA4A5E82D5C}"/>
                </a:ext>
              </a:extLst>
            </p:cNvPr>
            <p:cNvSpPr/>
            <p:nvPr/>
          </p:nvSpPr>
          <p:spPr>
            <a:xfrm>
              <a:off x="635000" y="2628900"/>
              <a:ext cx="177800" cy="177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6C6E123C-39CD-418C-96EB-69EEC52E28B8}"/>
                </a:ext>
              </a:extLst>
            </p:cNvPr>
            <p:cNvSpPr txBox="1"/>
            <p:nvPr/>
          </p:nvSpPr>
          <p:spPr>
            <a:xfrm>
              <a:off x="914400" y="25908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상태별 이상 유형 연결</a:t>
              </a:r>
            </a:p>
          </p:txBody>
        </p:sp>
        <p:sp>
          <p:nvSpPr>
            <p:cNvPr id="15" name="타원 14">
              <a:extLst>
                <a:ext uri="{FF2B5EF4-FFF2-40B4-BE49-F238E27FC236}">
                  <a16:creationId xmlns:a16="http://schemas.microsoft.com/office/drawing/2014/main" id="{AFD95A3E-0709-418F-813F-825156F58966}"/>
                </a:ext>
              </a:extLst>
            </p:cNvPr>
            <p:cNvSpPr/>
            <p:nvPr/>
          </p:nvSpPr>
          <p:spPr>
            <a:xfrm>
              <a:off x="635000" y="2984500"/>
              <a:ext cx="177800" cy="177800"/>
            </a:xfrm>
            <a:prstGeom prst="ellipse">
              <a:avLst/>
            </a:prstGeom>
            <a:solidFill>
              <a:srgbClr val="AE72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A4D91B3C-D6D0-4CF6-87DF-56A191C4B1E7}"/>
                </a:ext>
              </a:extLst>
            </p:cNvPr>
            <p:cNvSpPr txBox="1"/>
            <p:nvPr/>
          </p:nvSpPr>
          <p:spPr>
            <a:xfrm>
              <a:off x="914400" y="2946400"/>
              <a:ext cx="4953000" cy="279400"/>
            </a:xfrm>
            <a:prstGeom prst="rect">
              <a:avLst/>
            </a:prstGeom>
            <a:noFill/>
          </p:spPr>
          <p:txBody>
            <a:bodyPr vertOverflow="overflow" vert="horz" wrap="square" rtlCol="0" anchor="t">
              <a:noAutofit/>
            </a:bodyPr>
            <a:lstStyle/>
            <a:p>
              <a:pPr algn="l"/>
              <a:r>
                <a:rPr lang="ko-KR" altLang="en-US" sz="1300">
                  <a:solidFill>
                    <a:srgbClr val="444444"/>
                  </a:solidFill>
                  <a:latin typeface="나눔고딕" panose="020D0604000000000000" pitchFamily="50" charset="-127"/>
                  <a:ea typeface="나눔고딕" panose="020D0604000000000000" pitchFamily="50" charset="-127"/>
                  <a:cs typeface="Arial" panose="020B0604020202020204" pitchFamily="34" charset="0"/>
                </a:rPr>
                <a:t>실험 환경 변경 시 동적 업데이트</a:t>
              </a:r>
            </a:p>
          </p:txBody>
        </p:sp>
        <p:sp>
          <p:nvSpPr>
            <p:cNvPr id="17" name="TextBox 16">
              <a:extLst>
                <a:ext uri="{FF2B5EF4-FFF2-40B4-BE49-F238E27FC236}">
                  <a16:creationId xmlns:a16="http://schemas.microsoft.com/office/drawing/2014/main" id="{CB9FE051-F9E7-49DD-A792-F2C519C58A8A}"/>
                </a:ext>
              </a:extLst>
            </p:cNvPr>
            <p:cNvSpPr txBox="1"/>
            <p:nvPr/>
          </p:nvSpPr>
          <p:spPr>
            <a:xfrm>
              <a:off x="6477000" y="1079500"/>
              <a:ext cx="5334000" cy="355600"/>
            </a:xfrm>
            <a:prstGeom prst="rect">
              <a:avLst/>
            </a:prstGeom>
            <a:noFill/>
          </p:spPr>
          <p:txBody>
            <a:bodyPr vertOverflow="overflow" vert="horz" wrap="square" rtlCol="0" anchor="t">
              <a:noAutofit/>
            </a:bodyPr>
            <a:lstStyle/>
            <a:p>
              <a:pPr algn="l"/>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온톨로지의 </a:t>
              </a:r>
              <a:r>
                <a:rPr lang="en-US" altLang="ko-KR"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3</a:t>
              </a:r>
              <a:r>
                <a:rPr lang="ko-KR" altLang="en-US" sz="1600" b="1">
                  <a:solidFill>
                    <a:srgbClr val="1B2A4A"/>
                  </a:solidFill>
                  <a:latin typeface="나눔고딕" panose="020D0604000000000000" pitchFamily="50" charset="-127"/>
                  <a:ea typeface="나눔고딕" panose="020D0604000000000000" pitchFamily="50" charset="-127"/>
                  <a:cs typeface="Arial" panose="020B0604020202020204" pitchFamily="34" charset="0"/>
                </a:rPr>
                <a:t>가지 역할</a:t>
              </a:r>
            </a:p>
          </p:txBody>
        </p:sp>
        <p:sp>
          <p:nvSpPr>
            <p:cNvPr id="18" name="사각형: 둥근 모서리 17">
              <a:extLst>
                <a:ext uri="{FF2B5EF4-FFF2-40B4-BE49-F238E27FC236}">
                  <a16:creationId xmlns:a16="http://schemas.microsoft.com/office/drawing/2014/main" id="{18E7A2C6-9C7E-4BBC-AB6E-F152EF2354D0}"/>
                </a:ext>
              </a:extLst>
            </p:cNvPr>
            <p:cNvSpPr/>
            <p:nvPr/>
          </p:nvSpPr>
          <p:spPr>
            <a:xfrm>
              <a:off x="6477000" y="14605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14183ABD-2781-4379-938C-E9C2D33F632C}"/>
                </a:ext>
              </a:extLst>
            </p:cNvPr>
            <p:cNvSpPr/>
            <p:nvPr/>
          </p:nvSpPr>
          <p:spPr>
            <a:xfrm>
              <a:off x="6604000" y="1562100"/>
              <a:ext cx="381000" cy="3810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1</a:t>
              </a:r>
              <a:endParaRPr lang="ko-KR" altLang="en-US" sz="1400" b="1">
                <a:solidFill>
                  <a:srgbClr val="FFFFFF"/>
                </a:solidFill>
              </a:endParaRPr>
            </a:p>
          </p:txBody>
        </p:sp>
        <p:sp>
          <p:nvSpPr>
            <p:cNvPr id="20" name="TextBox 19">
              <a:extLst>
                <a:ext uri="{FF2B5EF4-FFF2-40B4-BE49-F238E27FC236}">
                  <a16:creationId xmlns:a16="http://schemas.microsoft.com/office/drawing/2014/main" id="{3C57ABAA-2C0E-4FCC-AF64-4F8C3ECE728B}"/>
                </a:ext>
              </a:extLst>
            </p:cNvPr>
            <p:cNvSpPr txBox="1"/>
            <p:nvPr/>
          </p:nvSpPr>
          <p:spPr>
            <a:xfrm>
              <a:off x="7086600" y="1562100"/>
              <a:ext cx="4572000" cy="279400"/>
            </a:xfrm>
            <a:prstGeom prst="rect">
              <a:avLst/>
            </a:prstGeom>
            <a:noFill/>
          </p:spPr>
          <p:txBody>
            <a:bodyPr vertOverflow="overflow" vert="horz" wrap="square" rtlCol="0" anchor="t">
              <a:noAutofit/>
            </a:bodyPr>
            <a:lstStyle/>
            <a:p>
              <a:pPr algn="l"/>
              <a:r>
                <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학습 가이드 </a:t>
              </a:r>
              <a:r>
                <a:rPr lang="en-US" altLang="ko-KR" sz="1300" b="1">
                  <a:solidFill>
                    <a:srgbClr val="2676AC"/>
                  </a:solidFill>
                  <a:latin typeface="나눔고딕" panose="020D0604000000000000" pitchFamily="50" charset="-127"/>
                  <a:ea typeface="나눔고딕" panose="020D0604000000000000" pitchFamily="50" charset="-127"/>
                  <a:cs typeface="Arial" panose="020B0604020202020204" pitchFamily="34" charset="0"/>
                </a:rPr>
                <a:t>(Knowledge Infusion)</a:t>
              </a:r>
              <a:endParaRPr lang="ko-KR" altLang="en-US" sz="1300" b="1">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1" name="TextBox 20">
              <a:extLst>
                <a:ext uri="{FF2B5EF4-FFF2-40B4-BE49-F238E27FC236}">
                  <a16:creationId xmlns:a16="http://schemas.microsoft.com/office/drawing/2014/main" id="{BF108F68-81CA-41DC-B1E0-CB50D7AD2DE5}"/>
                </a:ext>
              </a:extLst>
            </p:cNvPr>
            <p:cNvSpPr txBox="1"/>
            <p:nvPr/>
          </p:nvSpPr>
          <p:spPr>
            <a:xfrm>
              <a:off x="7086600" y="18669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센서값이 정상 범위 안인데 이상 예측 → 패널티
범위 밖인데 정상 예측 → 패널티
→ 손실 함수에 직접 반영</a:t>
              </a:r>
            </a:p>
          </p:txBody>
        </p:sp>
        <p:sp>
          <p:nvSpPr>
            <p:cNvPr id="22" name="사각형: 둥근 모서리 21">
              <a:extLst>
                <a:ext uri="{FF2B5EF4-FFF2-40B4-BE49-F238E27FC236}">
                  <a16:creationId xmlns:a16="http://schemas.microsoft.com/office/drawing/2014/main" id="{4B861E64-26CF-4F6F-BA25-C6F5ECEF4B29}"/>
                </a:ext>
              </a:extLst>
            </p:cNvPr>
            <p:cNvSpPr/>
            <p:nvPr/>
          </p:nvSpPr>
          <p:spPr>
            <a:xfrm>
              <a:off x="6477000" y="26670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타원 22">
              <a:extLst>
                <a:ext uri="{FF2B5EF4-FFF2-40B4-BE49-F238E27FC236}">
                  <a16:creationId xmlns:a16="http://schemas.microsoft.com/office/drawing/2014/main" id="{DCCB24D6-56C1-4157-91C1-CCAB2A911E4C}"/>
                </a:ext>
              </a:extLst>
            </p:cNvPr>
            <p:cNvSpPr/>
            <p:nvPr/>
          </p:nvSpPr>
          <p:spPr>
            <a:xfrm>
              <a:off x="6604000" y="2768600"/>
              <a:ext cx="381000" cy="381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2</a:t>
              </a:r>
              <a:endParaRPr lang="ko-KR" altLang="en-US" sz="1400" b="1">
                <a:solidFill>
                  <a:srgbClr val="FFFFFF"/>
                </a:solidFill>
              </a:endParaRPr>
            </a:p>
          </p:txBody>
        </p:sp>
        <p:sp>
          <p:nvSpPr>
            <p:cNvPr id="24" name="TextBox 23">
              <a:extLst>
                <a:ext uri="{FF2B5EF4-FFF2-40B4-BE49-F238E27FC236}">
                  <a16:creationId xmlns:a16="http://schemas.microsoft.com/office/drawing/2014/main" id="{CBE37B07-C6E9-4B38-A4DF-81AEB9D64885}"/>
                </a:ext>
              </a:extLst>
            </p:cNvPr>
            <p:cNvSpPr txBox="1"/>
            <p:nvPr/>
          </p:nvSpPr>
          <p:spPr>
            <a:xfrm>
              <a:off x="7086600" y="2768600"/>
              <a:ext cx="4572000" cy="279400"/>
            </a:xfrm>
            <a:prstGeom prst="rect">
              <a:avLst/>
            </a:prstGeom>
            <a:noFill/>
          </p:spPr>
          <p:txBody>
            <a:bodyPr vertOverflow="overflow" vert="horz" wrap="square" rtlCol="0" anchor="t">
              <a:noAutofit/>
            </a:bodyPr>
            <a:lstStyle/>
            <a:p>
              <a:pPr algn="l"/>
              <a:r>
                <a:rPr lang="ko-KR" altLang="en-US" sz="1300" b="1">
                  <a:solidFill>
                    <a:srgbClr val="16A295"/>
                  </a:solidFill>
                  <a:latin typeface="나눔고딕" panose="020D0604000000000000" pitchFamily="50" charset="-127"/>
                  <a:ea typeface="나눔고딕" panose="020D0604000000000000" pitchFamily="50" charset="-127"/>
                  <a:cs typeface="Arial" panose="020B0604020202020204" pitchFamily="34" charset="0"/>
                </a:rPr>
                <a:t>오분류 감지</a:t>
              </a:r>
            </a:p>
          </p:txBody>
        </p:sp>
        <p:sp>
          <p:nvSpPr>
            <p:cNvPr id="25" name="TextBox 24">
              <a:extLst>
                <a:ext uri="{FF2B5EF4-FFF2-40B4-BE49-F238E27FC236}">
                  <a16:creationId xmlns:a16="http://schemas.microsoft.com/office/drawing/2014/main" id="{9A22B5BF-B797-4597-A5BF-0899C35B4DE3}"/>
                </a:ext>
              </a:extLst>
            </p:cNvPr>
            <p:cNvSpPr txBox="1"/>
            <p:nvPr/>
          </p:nvSpPr>
          <p:spPr>
            <a:xfrm>
              <a:off x="7086600" y="30734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Cycle 4</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에서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"NoNose"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예측 시
→ 온톨로지 확인</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NoNose</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는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Cycle 8</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부터 발생
→ 오분류 자동 감지</a:t>
              </a:r>
            </a:p>
          </p:txBody>
        </p:sp>
        <p:sp>
          <p:nvSpPr>
            <p:cNvPr id="26" name="사각형: 둥근 모서리 25">
              <a:extLst>
                <a:ext uri="{FF2B5EF4-FFF2-40B4-BE49-F238E27FC236}">
                  <a16:creationId xmlns:a16="http://schemas.microsoft.com/office/drawing/2014/main" id="{58443DDA-DCCC-4B68-A8AB-66CEF068B8AD}"/>
                </a:ext>
              </a:extLst>
            </p:cNvPr>
            <p:cNvSpPr/>
            <p:nvPr/>
          </p:nvSpPr>
          <p:spPr>
            <a:xfrm>
              <a:off x="6477000" y="3873500"/>
              <a:ext cx="5334000" cy="1079500"/>
            </a:xfrm>
            <a:prstGeom prst="round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7" name="타원 26">
              <a:extLst>
                <a:ext uri="{FF2B5EF4-FFF2-40B4-BE49-F238E27FC236}">
                  <a16:creationId xmlns:a16="http://schemas.microsoft.com/office/drawing/2014/main" id="{BD67F333-15CB-47ED-B4FD-BB816CD4E440}"/>
                </a:ext>
              </a:extLst>
            </p:cNvPr>
            <p:cNvSpPr/>
            <p:nvPr/>
          </p:nvSpPr>
          <p:spPr>
            <a:xfrm>
              <a:off x="6604000" y="3975100"/>
              <a:ext cx="381000" cy="3810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rPr>
                <a:t>3</a:t>
              </a:r>
              <a:endParaRPr lang="ko-KR" altLang="en-US" sz="1400" b="1">
                <a:solidFill>
                  <a:srgbClr val="FFFFFF"/>
                </a:solidFill>
              </a:endParaRPr>
            </a:p>
          </p:txBody>
        </p:sp>
        <p:sp>
          <p:nvSpPr>
            <p:cNvPr id="28" name="TextBox 27">
              <a:extLst>
                <a:ext uri="{FF2B5EF4-FFF2-40B4-BE49-F238E27FC236}">
                  <a16:creationId xmlns:a16="http://schemas.microsoft.com/office/drawing/2014/main" id="{FF1F88AA-314E-45D4-BBD1-CEDE2D9E18F4}"/>
                </a:ext>
              </a:extLst>
            </p:cNvPr>
            <p:cNvSpPr txBox="1"/>
            <p:nvPr/>
          </p:nvSpPr>
          <p:spPr>
            <a:xfrm>
              <a:off x="7086600" y="3975100"/>
              <a:ext cx="4572000" cy="279400"/>
            </a:xfrm>
            <a:prstGeom prst="rect">
              <a:avLst/>
            </a:prstGeom>
            <a:noFill/>
          </p:spPr>
          <p:txBody>
            <a:bodyPr vertOverflow="overflow" vert="horz" wrap="square" rtlCol="0" anchor="t">
              <a:noAutofit/>
            </a:bodyPr>
            <a:lstStyle/>
            <a:p>
              <a:pPr algn="l"/>
              <a:r>
                <a:rPr lang="ko-KR" altLang="en-US" sz="1300" b="1">
                  <a:solidFill>
                    <a:srgbClr val="93B64E"/>
                  </a:solidFill>
                  <a:latin typeface="나눔고딕" panose="020D0604000000000000" pitchFamily="50" charset="-127"/>
                  <a:ea typeface="나눔고딕" panose="020D0604000000000000" pitchFamily="50" charset="-127"/>
                  <a:cs typeface="Arial" panose="020B0604020202020204" pitchFamily="34" charset="0"/>
                </a:rPr>
                <a:t>설명 가능성 </a:t>
              </a:r>
              <a:r>
                <a:rPr lang="en-US" altLang="ko-KR" sz="1300" b="1">
                  <a:solidFill>
                    <a:srgbClr val="93B64E"/>
                  </a:solidFill>
                  <a:latin typeface="나눔고딕" panose="020D0604000000000000" pitchFamily="50" charset="-127"/>
                  <a:ea typeface="나눔고딕" panose="020D0604000000000000" pitchFamily="50" charset="-127"/>
                  <a:cs typeface="Arial" panose="020B0604020202020204" pitchFamily="34" charset="0"/>
                </a:rPr>
                <a:t>(Explainability)</a:t>
              </a:r>
              <a:endParaRPr lang="ko-KR" altLang="en-US" sz="1300" b="1">
                <a:solidFill>
                  <a:srgbClr val="93B64E"/>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29" name="TextBox 28">
              <a:extLst>
                <a:ext uri="{FF2B5EF4-FFF2-40B4-BE49-F238E27FC236}">
                  <a16:creationId xmlns:a16="http://schemas.microsoft.com/office/drawing/2014/main" id="{18CDB7D6-9896-46CB-8921-39E541D8C0C3}"/>
                </a:ext>
              </a:extLst>
            </p:cNvPr>
            <p:cNvSpPr txBox="1"/>
            <p:nvPr/>
          </p:nvSpPr>
          <p:spPr>
            <a:xfrm>
              <a:off x="7086600" y="4279900"/>
              <a:ext cx="4572000" cy="63500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어떤 센서가 이상의 원인인지</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해당 상태에서 어떤 동작 수행 중이었는지</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사용자 수준 설명 제공</a:t>
              </a:r>
            </a:p>
          </p:txBody>
        </p:sp>
        <p:sp>
          <p:nvSpPr>
            <p:cNvPr id="30" name="사각형: 둥근 모서리 29">
              <a:extLst>
                <a:ext uri="{FF2B5EF4-FFF2-40B4-BE49-F238E27FC236}">
                  <a16:creationId xmlns:a16="http://schemas.microsoft.com/office/drawing/2014/main" id="{06B11A08-3EC1-4DED-A834-0F394ED0BA6F}"/>
                </a:ext>
              </a:extLst>
            </p:cNvPr>
            <p:cNvSpPr/>
            <p:nvPr/>
          </p:nvSpPr>
          <p:spPr>
            <a:xfrm>
              <a:off x="508000" y="3683000"/>
              <a:ext cx="5588000" cy="1206500"/>
            </a:xfrm>
            <a:prstGeom prst="roundRect">
              <a:avLst/>
            </a:prstGeom>
            <a:solidFill>
              <a:srgbClr val="FFF8E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TextBox 30">
              <a:extLst>
                <a:ext uri="{FF2B5EF4-FFF2-40B4-BE49-F238E27FC236}">
                  <a16:creationId xmlns:a16="http://schemas.microsoft.com/office/drawing/2014/main" id="{B48C463E-6173-4725-98D5-30DEDD2E7025}"/>
                </a:ext>
              </a:extLst>
            </p:cNvPr>
            <p:cNvSpPr txBox="1"/>
            <p:nvPr/>
          </p:nvSpPr>
          <p:spPr>
            <a:xfrm>
              <a:off x="698500" y="3746500"/>
              <a:ext cx="3810000" cy="279400"/>
            </a:xfrm>
            <a:prstGeom prst="rect">
              <a:avLst/>
            </a:prstGeom>
            <a:noFill/>
          </p:spPr>
          <p:txBody>
            <a:bodyPr vertOverflow="overflow" vert="horz" wrap="square" rtlCol="0" anchor="t">
              <a:noAutofit/>
            </a:bodyPr>
            <a:lstStyle/>
            <a:p>
              <a:pPr algn="l"/>
              <a:r>
                <a:rPr lang="ko-KR" altLang="en-US" sz="1300" b="1">
                  <a:solidFill>
                    <a:srgbClr val="F29E16"/>
                  </a:solidFill>
                  <a:latin typeface="나눔고딕" panose="020D0604000000000000" pitchFamily="50" charset="-127"/>
                  <a:ea typeface="나눔고딕" panose="020D0604000000000000" pitchFamily="50" charset="-127"/>
                  <a:cs typeface="Arial" panose="020B0604020202020204" pitchFamily="34" charset="0"/>
                </a:rPr>
                <a:t>예시</a:t>
              </a:r>
              <a:r>
                <a:rPr lang="en-US" altLang="ko-KR" sz="1300" b="1">
                  <a:solidFill>
                    <a:srgbClr val="F29E16"/>
                  </a:solidFill>
                  <a:latin typeface="나눔고딕" panose="020D0604000000000000" pitchFamily="50" charset="-127"/>
                  <a:ea typeface="나눔고딕" panose="020D0604000000000000" pitchFamily="50" charset="-127"/>
                  <a:cs typeface="Arial" panose="020B0604020202020204" pitchFamily="34" charset="0"/>
                </a:rPr>
                <a:t>: Cycle State 4</a:t>
              </a:r>
              <a:endParaRPr lang="ko-KR" altLang="en-US" sz="1300" b="1">
                <a:solidFill>
                  <a:srgbClr val="F29E16"/>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32" name="TextBox 31">
              <a:extLst>
                <a:ext uri="{FF2B5EF4-FFF2-40B4-BE49-F238E27FC236}">
                  <a16:creationId xmlns:a16="http://schemas.microsoft.com/office/drawing/2014/main" id="{B835B27B-E7A6-47F4-AF18-266658A57C88}"/>
                </a:ext>
              </a:extLst>
            </p:cNvPr>
            <p:cNvSpPr txBox="1"/>
            <p:nvPr/>
          </p:nvSpPr>
          <p:spPr>
            <a:xfrm>
              <a:off x="698500" y="4064000"/>
              <a:ext cx="5270500" cy="762000"/>
            </a:xfrm>
            <a:prstGeom prst="rect">
              <a:avLst/>
            </a:prstGeom>
            <a:noFill/>
          </p:spPr>
          <p:txBody>
            <a:bodyPr vertOverflow="overflow" vert="horz" wrap="square" rtlCol="0" anchor="t">
              <a:noAutofit/>
            </a:bodyPr>
            <a:lstStyle/>
            <a:p>
              <a:pPr algn="l"/>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R01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포텐셔미터 정상 범위</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 6,000 ~ 8,000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예측값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3,000 → </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범위 이탈 → 이상 감지 및 원인 설명 가능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로봇 </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1</a:t>
              </a:r>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의 그리퍼 센서가 비정상적으로 낮은 값을 보임</a:t>
              </a:r>
              <a:r>
                <a:rPr lang="en-US" altLang="ko-KR"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a:t>
              </a:r>
              <a:endPar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30600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핵심 결과</a:t>
            </a:r>
          </a:p>
        </p:txBody>
      </p:sp>
      <p:sp>
        <p:nvSpPr>
          <p:cNvPr id="6" name="Rounded Rectangle 5"/>
          <p:cNvSpPr/>
          <p:nvPr/>
        </p:nvSpPr>
        <p:spPr>
          <a:xfrm>
            <a:off x="457200" y="1554480"/>
            <a:ext cx="3840480" cy="164592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3474720" cy="365760"/>
          </a:xfrm>
          <a:prstGeom prst="rect">
            <a:avLst/>
          </a:prstGeom>
          <a:noFill/>
        </p:spPr>
        <p:txBody>
          <a:bodyPr wrap="square">
            <a:spAutoFit/>
          </a:bodyPr>
          <a:lstStyle/>
          <a:p>
            <a:r>
              <a:rPr sz="1600" b="1">
                <a:solidFill>
                  <a:srgbClr val="1E2A4A"/>
                </a:solidFill>
                <a:latin typeface="맑은 고딕"/>
              </a:rPr>
              <a:t>평가 조건</a:t>
            </a:r>
          </a:p>
        </p:txBody>
      </p:sp>
      <p:sp>
        <p:nvSpPr>
          <p:cNvPr id="8" name="TextBox 7"/>
          <p:cNvSpPr txBox="1"/>
          <p:nvPr/>
        </p:nvSpPr>
        <p:spPr>
          <a:xfrm>
            <a:off x="640080" y="2103120"/>
            <a:ext cx="3566160" cy="1280160"/>
          </a:xfrm>
          <a:prstGeom prst="rect">
            <a:avLst/>
          </a:prstGeom>
          <a:noFill/>
        </p:spPr>
        <p:txBody>
          <a:bodyPr wrap="square">
            <a:spAutoFit/>
          </a:bodyPr>
          <a:lstStyle/>
          <a:p>
            <a:r>
              <a:rPr sz="1200" b="0">
                <a:solidFill>
                  <a:srgbClr val="1E2A4A"/>
                </a:solidFill>
                <a:latin typeface="맑은 고딕"/>
              </a:rPr>
              <a:t>센서·이미지가 모두 있는 시점</a:t>
            </a:r>
          </a:p>
          <a:p>
            <a:r>
              <a:rPr sz="1200" b="0">
                <a:solidFill>
                  <a:srgbClr val="1E2A4A"/>
                </a:solidFill>
                <a:latin typeface="맑은 고딕"/>
              </a:rPr>
              <a:t>3,912개 (Cycle 4·9 중 이미지 매칭 41%)</a:t>
            </a:r>
          </a:p>
          <a:p>
            <a:r>
              <a:rPr sz="1200" b="0">
                <a:solidFill>
                  <a:srgbClr val="1E2A4A"/>
                </a:solidFill>
                <a:latin typeface="맑은 고딕"/>
              </a:rPr>
              <a:t>지표: Weighted F1</a:t>
            </a:r>
          </a:p>
        </p:txBody>
      </p:sp>
      <p:sp>
        <p:nvSpPr>
          <p:cNvPr id="9" name="Rounded Rectangle 8"/>
          <p:cNvSpPr/>
          <p:nvPr/>
        </p:nvSpPr>
        <p:spPr>
          <a:xfrm>
            <a:off x="457200" y="3474720"/>
            <a:ext cx="3840480" cy="2194560"/>
          </a:xfrm>
          <a:prstGeom prst="roundRect">
            <a:avLst/>
          </a:prstGeom>
          <a:solidFill>
            <a:srgbClr val="FD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80"/>
            <a:ext cx="3474720" cy="365760"/>
          </a:xfrm>
          <a:prstGeom prst="rect">
            <a:avLst/>
          </a:prstGeom>
          <a:noFill/>
        </p:spPr>
        <p:txBody>
          <a:bodyPr wrap="square">
            <a:spAutoFit/>
          </a:bodyPr>
          <a:lstStyle/>
          <a:p>
            <a:r>
              <a:rPr sz="1600" b="1">
                <a:solidFill>
                  <a:srgbClr val="2E9D8F"/>
                </a:solidFill>
                <a:latin typeface="맑은 고딕"/>
              </a:rPr>
              <a:t>핵심 발견</a:t>
            </a:r>
          </a:p>
        </p:txBody>
      </p:sp>
      <p:sp>
        <p:nvSpPr>
          <p:cNvPr id="11" name="TextBox 10"/>
          <p:cNvSpPr txBox="1"/>
          <p:nvPr/>
        </p:nvSpPr>
        <p:spPr>
          <a:xfrm>
            <a:off x="640080" y="4069080"/>
            <a:ext cx="3566160" cy="1554480"/>
          </a:xfrm>
          <a:prstGeom prst="rect">
            <a:avLst/>
          </a:prstGeom>
          <a:noFill/>
        </p:spPr>
        <p:txBody>
          <a:bodyPr wrap="square">
            <a:spAutoFit/>
          </a:bodyPr>
          <a:lstStyle/>
          <a:p>
            <a:r>
              <a:rPr sz="1300" b="0">
                <a:solidFill>
                  <a:srgbClr val="1E2A4A"/>
                </a:solidFill>
                <a:latin typeface="맑은 고딕"/>
              </a:rPr>
              <a:t>센서  0.907</a:t>
            </a:r>
          </a:p>
          <a:p>
            <a:r>
              <a:rPr sz="1300" b="0">
                <a:solidFill>
                  <a:srgbClr val="1E2A4A"/>
                </a:solidFill>
                <a:latin typeface="맑은 고딕"/>
              </a:rPr>
              <a:t>이미지  0.925</a:t>
            </a:r>
          </a:p>
          <a:p>
            <a:r>
              <a:rPr sz="1300" b="0">
                <a:solidFill>
                  <a:srgbClr val="1E2A4A"/>
                </a:solidFill>
                <a:latin typeface="맑은 고딕"/>
              </a:rPr>
              <a:t>융합  0.986</a:t>
            </a:r>
          </a:p>
          <a:p/>
          <a:p>
            <a:r>
              <a:rPr sz="1300" b="0">
                <a:solidFill>
                  <a:srgbClr val="1E2A4A"/>
                </a:solidFill>
                <a:latin typeface="맑은 고딕"/>
              </a:rPr>
              <a:t>→ 융합이 두 단독을 능가</a:t>
            </a:r>
          </a:p>
        </p:txBody>
      </p:sp>
      <p:pic>
        <p:nvPicPr>
          <p:cNvPr id="12" name="Picture 11" descr="res_present.png"/>
          <p:cNvPicPr>
            <a:picLocks noChangeAspect="1"/>
          </p:cNvPicPr>
          <p:nvPr/>
        </p:nvPicPr>
        <p:blipFill>
          <a:blip r:embed="rId3"/>
          <a:stretch>
            <a:fillRect/>
          </a:stretch>
        </p:blipFill>
        <p:spPr>
          <a:xfrm>
            <a:off x="4572000" y="1417320"/>
            <a:ext cx="7132320" cy="3840480"/>
          </a:xfrm>
          <a:prstGeom prst="rect">
            <a:avLst/>
          </a:prstGeom>
        </p:spPr>
      </p:pic>
    </p:spTree>
    <p:extLst>
      <p:ext uri="{BB962C8B-B14F-4D97-AF65-F5344CB8AC3E}">
        <p14:creationId xmlns:p14="http://schemas.microsoft.com/office/powerpoint/2010/main" val="215505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A5DF926-B695-41BD-8FFF-2E98E0FED5D2}"/>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7AFD8D2D-4A8D-4741-AF8C-B51B2CEAECDC}"/>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08</a:t>
            </a:r>
            <a:endParaRPr lang="ko-KR" altLang="en-US" sz="1600" b="1">
              <a:solidFill>
                <a:srgbClr val="FFFFFF"/>
              </a:solidFill>
            </a:endParaRPr>
          </a:p>
        </p:txBody>
      </p:sp>
      <p:sp>
        <p:nvSpPr>
          <p:cNvPr id="5" name="TextBox 4">
            <a:extLst>
              <a:ext uri="{FF2B5EF4-FFF2-40B4-BE49-F238E27FC236}">
                <a16:creationId xmlns:a16="http://schemas.microsoft.com/office/drawing/2014/main" id="{1BFEE3B8-B4B5-4FEB-BC0B-63E7D1069C0C}"/>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추가 검증: 융합 효과의 일관성</a:t>
            </a:r>
          </a:p>
        </p:txBody>
      </p:sp>
      <p:pic>
        <p:nvPicPr>
          <p:cNvPr id="6" name="Picture 5" descr="res_story.png"/>
          <p:cNvPicPr>
            <a:picLocks noChangeAspect="1"/>
          </p:cNvPicPr>
          <p:nvPr/>
        </p:nvPicPr>
        <p:blipFill>
          <a:blip r:embed="rId3"/>
          <a:stretch>
            <a:fillRect/>
          </a:stretch>
        </p:blipFill>
        <p:spPr>
          <a:xfrm>
            <a:off x="1828800" y="1417320"/>
            <a:ext cx="8503920" cy="4754880"/>
          </a:xfrm>
          <a:prstGeom prst="rect">
            <a:avLst/>
          </a:prstGeom>
        </p:spPr>
      </p:pic>
    </p:spTree>
    <p:extLst>
      <p:ext uri="{BB962C8B-B14F-4D97-AF65-F5344CB8AC3E}">
        <p14:creationId xmlns:p14="http://schemas.microsoft.com/office/powerpoint/2010/main" val="94739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AB589446-007F-4E3B-A7FE-92D910E0E2E2}"/>
              </a:ext>
            </a:extLst>
          </p:cNvPr>
          <p:cNvSpPr/>
          <p:nvPr/>
        </p:nvSpPr>
        <p:spPr>
          <a:xfrm>
            <a:off x="0" y="-9989"/>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91E87C97-72F7-424B-B4A5-2568480F102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10</a:t>
            </a:r>
            <a:endParaRPr lang="ko-KR" altLang="en-US" sz="1600" b="1">
              <a:solidFill>
                <a:srgbClr val="FFFFFF"/>
              </a:solidFill>
            </a:endParaRPr>
          </a:p>
        </p:txBody>
      </p:sp>
      <p:sp>
        <p:nvSpPr>
          <p:cNvPr id="5" name="TextBox 4">
            <a:extLst>
              <a:ext uri="{FF2B5EF4-FFF2-40B4-BE49-F238E27FC236}">
                <a16:creationId xmlns:a16="http://schemas.microsoft.com/office/drawing/2014/main" id="{BC1B2A0C-7324-4F06-A534-90FAF346333E}"/>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결론</a:t>
            </a:r>
          </a:p>
        </p:txBody>
      </p:sp>
      <p:grpSp>
        <p:nvGrpSpPr>
          <p:cNvPr id="27" name="그룹 26">
            <a:extLst>
              <a:ext uri="{FF2B5EF4-FFF2-40B4-BE49-F238E27FC236}">
                <a16:creationId xmlns:a16="http://schemas.microsoft.com/office/drawing/2014/main" id="{7298CF3B-A84D-ADF6-3948-50F9EA3D9900}"/>
              </a:ext>
            </a:extLst>
          </p:cNvPr>
          <p:cNvGrpSpPr/>
          <p:nvPr/>
        </p:nvGrpSpPr>
        <p:grpSpPr>
          <a:xfrm>
            <a:off x="503464" y="1526426"/>
            <a:ext cx="11185071" cy="3944565"/>
            <a:chOff x="508000" y="1079500"/>
            <a:chExt cx="11185071" cy="3944565"/>
          </a:xfrm>
        </p:grpSpPr>
        <p:sp>
          <p:nvSpPr>
            <p:cNvPr id="6" name="TextBox 5">
              <a:extLst>
                <a:ext uri="{FF2B5EF4-FFF2-40B4-BE49-F238E27FC236}">
                  <a16:creationId xmlns:a16="http://schemas.microsoft.com/office/drawing/2014/main" id="{BA38A69D-BEEF-4273-B308-C9A310256D24}"/>
                </a:ext>
              </a:extLst>
            </p:cNvPr>
            <p:cNvSpPr txBox="1"/>
            <p:nvPr/>
          </p:nvSpPr>
          <p:spPr>
            <a:xfrm>
              <a:off x="508000" y="1079500"/>
              <a:ext cx="5461000" cy="355600"/>
            </a:xfrm>
            <a:prstGeom prst="rect">
              <a:avLst/>
            </a:prstGeom>
            <a:noFill/>
          </p:spPr>
          <p:txBody>
            <a:bodyPr vertOverflow="overflow" vert="horz" wrap="square" rtlCol="0" anchor="t">
              <a:noAutofit/>
            </a:bodyPr>
            <a:lstStyle/>
            <a:p>
              <a:pPr algn="l"/>
              <a:r>
                <a:rPr lang="ko-KR" altLang="en-US" sz="1600" b="1">
                  <a:solidFill>
                    <a:srgbClr val="2676AC"/>
                  </a:solidFill>
                  <a:latin typeface="나눔고딕" panose="020D0604000000000000" pitchFamily="50" charset="-127"/>
                  <a:ea typeface="나눔고딕" panose="020D0604000000000000" pitchFamily="50" charset="-127"/>
                  <a:cs typeface="Arial" panose="020B0604020202020204" pitchFamily="34" charset="0"/>
                </a:rPr>
                <a:t>우리가 확인한 것</a:t>
              </a:r>
            </a:p>
          </p:txBody>
        </p:sp>
        <p:sp>
          <p:nvSpPr>
            <p:cNvPr id="7" name="타원 6">
              <a:extLst>
                <a:ext uri="{FF2B5EF4-FFF2-40B4-BE49-F238E27FC236}">
                  <a16:creationId xmlns:a16="http://schemas.microsoft.com/office/drawing/2014/main" id="{189276FD-987D-488F-90C0-C082EF97739C}"/>
                </a:ext>
              </a:extLst>
            </p:cNvPr>
            <p:cNvSpPr/>
            <p:nvPr/>
          </p:nvSpPr>
          <p:spPr>
            <a:xfrm>
              <a:off x="635000" y="1549400"/>
              <a:ext cx="152400" cy="1524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61E512BB-9A60-4A9B-BE4B-95B577BC6DA6}"/>
                </a:ext>
              </a:extLst>
            </p:cNvPr>
            <p:cNvSpPr txBox="1"/>
            <p:nvPr/>
          </p:nvSpPr>
          <p:spPr>
            <a:xfrm>
              <a:off x="889000" y="1498600"/>
              <a:ext cx="5080000" cy="508000"/>
            </a:xfrm>
            <a:prstGeom prst="rect">
              <a:avLst/>
            </a:prstGeom>
            <a:noFill/>
          </p:spPr>
          <p:txBody>
            <a:bodyPr vertOverflow="overflow" vert="horz" wrap="square" rtlCol="0" anchor="t">
              <a:noAutofit/>
            </a:bodyPr>
            <a:lstStyle/>
            <a:p>
              <a:pPr algn="l"/>
              <a:r>
                <a:rPr lang="ko-KR" altLang="en-US" sz="1200" err="1">
                  <a:solidFill>
                    <a:srgbClr val="444444"/>
                  </a:solidFill>
                  <a:latin typeface="나눔고딕" panose="020D0604000000000000" pitchFamily="50" charset="-127"/>
                  <a:ea typeface="나눔고딕" panose="020D0604000000000000" pitchFamily="50" charset="-127"/>
                  <a:cs typeface="Arial" panose="020B0604020202020204" pitchFamily="34" charset="0"/>
                </a:rPr>
                <a:t>두 모달리티가 함께 입력되는 시점에서 융합이 두 단독을 능가 (F1 0.986 vs 센서 0.907, 이미지 0.925 · 통계적으로 유의)</a:t>
              </a:r>
            </a:p>
          </p:txBody>
        </p:sp>
        <p:sp>
          <p:nvSpPr>
            <p:cNvPr id="9" name="타원 8">
              <a:extLst>
                <a:ext uri="{FF2B5EF4-FFF2-40B4-BE49-F238E27FC236}">
                  <a16:creationId xmlns:a16="http://schemas.microsoft.com/office/drawing/2014/main" id="{BAB5E685-F963-4BBF-A984-6D2AB36D3A0C}"/>
                </a:ext>
              </a:extLst>
            </p:cNvPr>
            <p:cNvSpPr/>
            <p:nvPr/>
          </p:nvSpPr>
          <p:spPr>
            <a:xfrm>
              <a:off x="635000" y="2082800"/>
              <a:ext cx="152400" cy="1524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0" name="TextBox 9">
              <a:extLst>
                <a:ext uri="{FF2B5EF4-FFF2-40B4-BE49-F238E27FC236}">
                  <a16:creationId xmlns:a16="http://schemas.microsoft.com/office/drawing/2014/main" id="{E175F7E2-9C3F-42FE-B2FB-4312B40B2628}"/>
                </a:ext>
              </a:extLst>
            </p:cNvPr>
            <p:cNvSpPr txBox="1"/>
            <p:nvPr/>
          </p:nvSpPr>
          <p:spPr>
            <a:xfrm>
              <a:off x="889000" y="20320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이미지가 약하면 융합이 센서 수준을 안전하게 유지하고, 이미지가 강할수록 이득이 커짐</a:t>
              </a:r>
            </a:p>
          </p:txBody>
        </p:sp>
        <p:sp>
          <p:nvSpPr>
            <p:cNvPr id="11" name="타원 10">
              <a:extLst>
                <a:ext uri="{FF2B5EF4-FFF2-40B4-BE49-F238E27FC236}">
                  <a16:creationId xmlns:a16="http://schemas.microsoft.com/office/drawing/2014/main" id="{E2333871-9B83-422F-868D-B7CEFFB08A02}"/>
                </a:ext>
              </a:extLst>
            </p:cNvPr>
            <p:cNvSpPr/>
            <p:nvPr/>
          </p:nvSpPr>
          <p:spPr>
            <a:xfrm>
              <a:off x="635000" y="2616200"/>
              <a:ext cx="152400" cy="152400"/>
            </a:xfrm>
            <a:prstGeom prst="ellipse">
              <a:avLst/>
            </a:prstGeom>
            <a:solidFill>
              <a:srgbClr val="93B64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1B69CE7B-D609-419A-8569-338A91169E4F}"/>
                </a:ext>
              </a:extLst>
            </p:cNvPr>
            <p:cNvSpPr txBox="1"/>
            <p:nvPr/>
          </p:nvSpPr>
          <p:spPr>
            <a:xfrm>
              <a:off x="889000" y="2565400"/>
              <a:ext cx="5080000" cy="508000"/>
            </a:xfrm>
            <a:prstGeom prst="rect">
              <a:avLst/>
            </a:prstGeom>
            <a:noFill/>
          </p:spPr>
          <p:txBody>
            <a:bodyPr vertOverflow="overflow" vert="horz" wrap="square" rtlCol="0" anchor="t">
              <a:noAutofit/>
            </a:bodyPr>
            <a:lstStyle/>
            <a:p>
              <a:pPr algn="l"/>
              <a:r>
                <a:rPr lang="en-US" altLang="ko-KR"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이미지가 없는 시점엔 자동으로 센서만 사용 → 결측에 견고한 시스템</a:t>
              </a:r>
            </a:p>
          </p:txBody>
        </p:sp>
        <p:sp>
          <p:nvSpPr>
            <p:cNvPr id="13" name="타원 12">
              <a:extLst>
                <a:ext uri="{FF2B5EF4-FFF2-40B4-BE49-F238E27FC236}">
                  <a16:creationId xmlns:a16="http://schemas.microsoft.com/office/drawing/2014/main" id="{DB01A3C4-731A-4425-9DA1-2243602803F0}"/>
                </a:ext>
              </a:extLst>
            </p:cNvPr>
            <p:cNvSpPr/>
            <p:nvPr/>
          </p:nvSpPr>
          <p:spPr>
            <a:xfrm>
              <a:off x="635000" y="3149600"/>
              <a:ext cx="152400" cy="1524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7EB5D305-AD62-4FB8-B5E9-75A3F59C0578}"/>
                </a:ext>
              </a:extLst>
            </p:cNvPr>
            <p:cNvSpPr txBox="1"/>
            <p:nvPr/>
          </p:nvSpPr>
          <p:spPr>
            <a:xfrm>
              <a:off x="889000" y="3098800"/>
              <a:ext cx="5080000"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‘멀티모달이 좋다’가 아니라 ‘어떤 조건에서 어떻게 좋은가’를 정량적으로 규명</a:t>
              </a:r>
            </a:p>
          </p:txBody>
        </p:sp>
        <p:sp>
          <p:nvSpPr>
            <p:cNvPr id="15" name="TextBox 14">
              <a:extLst>
                <a:ext uri="{FF2B5EF4-FFF2-40B4-BE49-F238E27FC236}">
                  <a16:creationId xmlns:a16="http://schemas.microsoft.com/office/drawing/2014/main" id="{0F363533-564F-4D1A-8877-EB3DF6A0B60C}"/>
                </a:ext>
              </a:extLst>
            </p:cNvPr>
            <p:cNvSpPr txBox="1"/>
            <p:nvPr/>
          </p:nvSpPr>
          <p:spPr>
            <a:xfrm>
              <a:off x="6477000" y="1079500"/>
              <a:ext cx="5207000" cy="355600"/>
            </a:xfrm>
            <a:prstGeom prst="rect">
              <a:avLst/>
            </a:prstGeom>
            <a:noFill/>
          </p:spPr>
          <p:txBody>
            <a:bodyPr vertOverflow="overflow" vert="horz" wrap="square" rtlCol="0" anchor="t">
              <a:noAutofit/>
            </a:bodyPr>
            <a:lstStyle/>
            <a:p>
              <a:pPr algn="l"/>
              <a:r>
                <a:rPr lang="ko-KR" altLang="en-US" sz="1600" b="1">
                  <a:solidFill>
                    <a:srgbClr val="E8584F"/>
                  </a:solidFill>
                  <a:latin typeface="나눔고딕" panose="020D0604000000000000" pitchFamily="50" charset="-127"/>
                  <a:ea typeface="나눔고딕" panose="020D0604000000000000" pitchFamily="50" charset="-127"/>
                  <a:cs typeface="Arial" panose="020B0604020202020204" pitchFamily="34" charset="0"/>
                </a:rPr>
                <a:t>프로젝트 의의</a:t>
              </a:r>
            </a:p>
          </p:txBody>
        </p:sp>
        <p:sp>
          <p:nvSpPr>
            <p:cNvPr id="16" name="타원 15">
              <a:extLst>
                <a:ext uri="{FF2B5EF4-FFF2-40B4-BE49-F238E27FC236}">
                  <a16:creationId xmlns:a16="http://schemas.microsoft.com/office/drawing/2014/main" id="{56DE1520-C052-4F1D-91E9-24FE270FBAB8}"/>
                </a:ext>
              </a:extLst>
            </p:cNvPr>
            <p:cNvSpPr/>
            <p:nvPr/>
          </p:nvSpPr>
          <p:spPr>
            <a:xfrm>
              <a:off x="6604000" y="15494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TextBox 16">
              <a:extLst>
                <a:ext uri="{FF2B5EF4-FFF2-40B4-BE49-F238E27FC236}">
                  <a16:creationId xmlns:a16="http://schemas.microsoft.com/office/drawing/2014/main" id="{02DE8309-9F4D-4C4C-ABB0-911C89EA4E19}"/>
                </a:ext>
              </a:extLst>
            </p:cNvPr>
            <p:cNvSpPr txBox="1"/>
            <p:nvPr/>
          </p:nvSpPr>
          <p:spPr>
            <a:xfrm>
              <a:off x="6858000" y="14886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실제 산업 환경(카메라가 항상 가용하지 않은 상황)에 적용 가능한 견고한 멀티모달 구조 설계</a:t>
              </a:r>
            </a:p>
          </p:txBody>
        </p:sp>
        <p:sp>
          <p:nvSpPr>
            <p:cNvPr id="18" name="타원 17">
              <a:extLst>
                <a:ext uri="{FF2B5EF4-FFF2-40B4-BE49-F238E27FC236}">
                  <a16:creationId xmlns:a16="http://schemas.microsoft.com/office/drawing/2014/main" id="{35F5A69E-92A2-4659-84BF-4DA043AE353C}"/>
                </a:ext>
              </a:extLst>
            </p:cNvPr>
            <p:cNvSpPr/>
            <p:nvPr/>
          </p:nvSpPr>
          <p:spPr>
            <a:xfrm>
              <a:off x="6604000" y="20828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36B1CB5B-7772-4248-8681-713DAD99DA86}"/>
                </a:ext>
              </a:extLst>
            </p:cNvPr>
            <p:cNvSpPr txBox="1"/>
            <p:nvPr/>
          </p:nvSpPr>
          <p:spPr>
            <a:xfrm>
              <a:off x="6858000" y="20220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단계별 통제 실험으로 융합 효과의 발생 조건을 정량적으로 분석</a:t>
              </a:r>
            </a:p>
          </p:txBody>
        </p:sp>
        <p:sp>
          <p:nvSpPr>
            <p:cNvPr id="20" name="타원 19">
              <a:extLst>
                <a:ext uri="{FF2B5EF4-FFF2-40B4-BE49-F238E27FC236}">
                  <a16:creationId xmlns:a16="http://schemas.microsoft.com/office/drawing/2014/main" id="{233A48B4-1A56-4258-ADD7-CAC382C67A28}"/>
                </a:ext>
              </a:extLst>
            </p:cNvPr>
            <p:cNvSpPr/>
            <p:nvPr/>
          </p:nvSpPr>
          <p:spPr>
            <a:xfrm>
              <a:off x="6604000" y="26162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6D0AC1FF-B7C0-4083-8C7E-23F829AF0948}"/>
                </a:ext>
              </a:extLst>
            </p:cNvPr>
            <p:cNvSpPr txBox="1"/>
            <p:nvPr/>
          </p:nvSpPr>
          <p:spPr>
            <a:xfrm>
              <a:off x="6858000" y="25554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강의에서 배운 CNN·LSTM·전이학습·멀티모달 융합을 실제 산업 데이터에 직접 구현·통합</a:t>
              </a:r>
            </a:p>
          </p:txBody>
        </p:sp>
        <p:sp>
          <p:nvSpPr>
            <p:cNvPr id="22" name="타원 21">
              <a:extLst>
                <a:ext uri="{FF2B5EF4-FFF2-40B4-BE49-F238E27FC236}">
                  <a16:creationId xmlns:a16="http://schemas.microsoft.com/office/drawing/2014/main" id="{3716658D-D286-4D58-98B5-5FC0DDA6750C}"/>
                </a:ext>
              </a:extLst>
            </p:cNvPr>
            <p:cNvSpPr/>
            <p:nvPr/>
          </p:nvSpPr>
          <p:spPr>
            <a:xfrm>
              <a:off x="6604000" y="3149600"/>
              <a:ext cx="152400" cy="1524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3" name="TextBox 22">
              <a:extLst>
                <a:ext uri="{FF2B5EF4-FFF2-40B4-BE49-F238E27FC236}">
                  <a16:creationId xmlns:a16="http://schemas.microsoft.com/office/drawing/2014/main" id="{434C0496-91C1-4F88-AA19-195D1A6CA473}"/>
                </a:ext>
              </a:extLst>
            </p:cNvPr>
            <p:cNvSpPr txBox="1"/>
            <p:nvPr/>
          </p:nvSpPr>
          <p:spPr>
            <a:xfrm>
              <a:off x="6858000" y="3088811"/>
              <a:ext cx="4835071" cy="508000"/>
            </a:xfrm>
            <a:prstGeom prst="rect">
              <a:avLst/>
            </a:prstGeom>
            <a:noFill/>
          </p:spPr>
          <p:txBody>
            <a:bodyPr vertOverflow="overflow" vert="horz" wrap="square" rtlCol="0" anchor="t">
              <a:noAutofit/>
            </a:bodyPr>
            <a:lstStyle/>
            <a:p>
              <a:pPr algn="l"/>
              <a:r>
                <a:rPr lang="ko-KR" altLang="en-US" sz="1200">
                  <a:solidFill>
                    <a:srgbClr val="444444"/>
                  </a:solidFill>
                  <a:latin typeface="나눔고딕" panose="020D0604000000000000" pitchFamily="50" charset="-127"/>
                  <a:ea typeface="나눔고딕" panose="020D0604000000000000" pitchFamily="50" charset="-127"/>
                  <a:cs typeface="Arial" panose="020B0604020202020204" pitchFamily="34" charset="0"/>
                </a:rPr>
                <a:t>중간발표의 ‘데이터 균형’ 가설을 추가 실험으로 검증한 가설–검증형 프로젝트</a:t>
              </a:r>
            </a:p>
          </p:txBody>
        </p:sp>
        <p:sp>
          <p:nvSpPr>
            <p:cNvPr id="24" name="사각형: 둥근 모서리 23">
              <a:extLst>
                <a:ext uri="{FF2B5EF4-FFF2-40B4-BE49-F238E27FC236}">
                  <a16:creationId xmlns:a16="http://schemas.microsoft.com/office/drawing/2014/main" id="{B1D319AA-6843-4098-9661-E3B04AF5CBFA}"/>
                </a:ext>
              </a:extLst>
            </p:cNvPr>
            <p:cNvSpPr/>
            <p:nvPr/>
          </p:nvSpPr>
          <p:spPr>
            <a:xfrm>
              <a:off x="508000" y="3829123"/>
              <a:ext cx="11176000" cy="1194942"/>
            </a:xfrm>
            <a:prstGeom prst="roundRect">
              <a:avLst/>
            </a:prstGeom>
            <a:solidFill>
              <a:srgbClr val="F5F7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67381BE4-6ED7-4569-ACF7-D88DA64329BD}"/>
                </a:ext>
              </a:extLst>
            </p:cNvPr>
            <p:cNvSpPr txBox="1"/>
            <p:nvPr/>
          </p:nvSpPr>
          <p:spPr>
            <a:xfrm>
              <a:off x="698500" y="4000500"/>
              <a:ext cx="3810000" cy="2794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발표를 마치며</a:t>
              </a:r>
            </a:p>
          </p:txBody>
        </p:sp>
        <p:sp>
          <p:nvSpPr>
            <p:cNvPr id="26" name="TextBox 25">
              <a:extLst>
                <a:ext uri="{FF2B5EF4-FFF2-40B4-BE49-F238E27FC236}">
                  <a16:creationId xmlns:a16="http://schemas.microsoft.com/office/drawing/2014/main" id="{7D8AFD0B-A337-40C3-BA3B-BF2C7795271F}"/>
                </a:ext>
              </a:extLst>
            </p:cNvPr>
            <p:cNvSpPr txBox="1"/>
            <p:nvPr/>
          </p:nvSpPr>
          <p:spPr>
            <a:xfrm>
              <a:off x="698500" y="4343400"/>
              <a:ext cx="10795000" cy="533400"/>
            </a:xfrm>
            <a:prstGeom prst="rect">
              <a:avLst/>
            </a:prstGeom>
            <a:noFill/>
          </p:spPr>
          <p:txBody>
            <a:bodyPr vertOverflow="overflow" vert="horz" wrap="square" rtlCol="0" anchor="t">
              <a:noAutofit/>
            </a:bodyPr>
            <a:lstStyle/>
            <a:p>
              <a:pPr algn="l"/>
              <a:r>
                <a:rPr lang="en-US" altLang="ko-KR" sz="1200">
                  <a:solidFill>
                    <a:srgbClr val="555555"/>
                  </a:solidFill>
                  <a:latin typeface="나눔고딕" panose="020D0604000000000000" pitchFamily="50" charset="-127"/>
                  <a:ea typeface="나눔고딕" panose="020D0604000000000000" pitchFamily="50" charset="-127"/>
                  <a:cs typeface="Arial" panose="020B0604020202020204" pitchFamily="34" charset="0"/>
                </a:rPr>
                <a:t>단순한 결합을 넘어, 언제·어떻게 효과적인지를 실험으로 답한 프로젝트입니다.</a:t>
              </a:r>
            </a:p>
          </p:txBody>
        </p:sp>
      </p:grpSp>
    </p:spTree>
    <p:extLst>
      <p:ext uri="{BB962C8B-B14F-4D97-AF65-F5344CB8AC3E}">
        <p14:creationId xmlns:p14="http://schemas.microsoft.com/office/powerpoint/2010/main" val="4367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4DE33E0-C7C1-4A9C-3B83-F44A86D4831E}"/>
              </a:ext>
            </a:extLst>
          </p:cNvPr>
          <p:cNvGrpSpPr/>
          <p:nvPr/>
        </p:nvGrpSpPr>
        <p:grpSpPr>
          <a:xfrm>
            <a:off x="2390454" y="2719087"/>
            <a:ext cx="7411092" cy="1306812"/>
            <a:chOff x="1250023" y="1493750"/>
            <a:chExt cx="7411092" cy="1306812"/>
          </a:xfrm>
        </p:grpSpPr>
        <p:sp>
          <p:nvSpPr>
            <p:cNvPr id="4" name="TextBox 3">
              <a:extLst>
                <a:ext uri="{FF2B5EF4-FFF2-40B4-BE49-F238E27FC236}">
                  <a16:creationId xmlns:a16="http://schemas.microsoft.com/office/drawing/2014/main" id="{D590DF89-2A84-E6AC-5F5A-106DD6628239}"/>
                </a:ext>
              </a:extLst>
            </p:cNvPr>
            <p:cNvSpPr txBox="1"/>
            <p:nvPr/>
          </p:nvSpPr>
          <p:spPr>
            <a:xfrm>
              <a:off x="1250023" y="1493750"/>
              <a:ext cx="7411092" cy="918965"/>
            </a:xfrm>
            <a:prstGeom prst="rect">
              <a:avLst/>
            </a:prstGeom>
            <a:noFill/>
          </p:spPr>
          <p:txBody>
            <a:bodyPr vertOverflow="overflow" vert="horz" wrap="square" rtlCol="0" anchor="t">
              <a:noAutofit/>
            </a:bodyPr>
            <a:lstStyle/>
            <a:p>
              <a:pPr algn="ctr"/>
              <a:r>
                <a:rPr lang="en-US" altLang="ko-KR" sz="6000" b="1">
                  <a:solidFill>
                    <a:srgbClr val="1B2A4A"/>
                  </a:solidFill>
                  <a:latin typeface="나눔고딕" panose="020D0604000000000000" pitchFamily="50" charset="-127"/>
                  <a:ea typeface="나눔고딕" panose="020D0604000000000000" pitchFamily="50" charset="-127"/>
                  <a:cs typeface="Arial" panose="020B0604020202020204" pitchFamily="34" charset="0"/>
                </a:rPr>
                <a:t>Thank you</a:t>
              </a:r>
              <a:endParaRPr lang="ko-KR" altLang="en-US" sz="60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5" name="TextBox 4">
              <a:extLst>
                <a:ext uri="{FF2B5EF4-FFF2-40B4-BE49-F238E27FC236}">
                  <a16:creationId xmlns:a16="http://schemas.microsoft.com/office/drawing/2014/main" id="{F2B5A417-0130-FBC3-C785-24284DFF8E7E}"/>
                </a:ext>
              </a:extLst>
            </p:cNvPr>
            <p:cNvSpPr txBox="1"/>
            <p:nvPr/>
          </p:nvSpPr>
          <p:spPr>
            <a:xfrm>
              <a:off x="1470061" y="2427338"/>
              <a:ext cx="6971016" cy="373224"/>
            </a:xfrm>
            <a:prstGeom prst="rect">
              <a:avLst/>
            </a:prstGeom>
            <a:noFill/>
          </p:spPr>
          <p:txBody>
            <a:bodyPr vertOverflow="overflow" vert="horz" wrap="square" rtlCol="0" anchor="t">
              <a:noAutofit/>
            </a:bodyPr>
            <a:lstStyle/>
            <a:p>
              <a:pPr algn="ctr"/>
              <a:r>
                <a:rPr lang="en-US" altLang="ko-KR" sz="1500">
                  <a:solidFill>
                    <a:srgbClr val="555555"/>
                  </a:solidFill>
                  <a:latin typeface="나눔고딕" panose="020D0604000000000000" pitchFamily="50" charset="-127"/>
                  <a:ea typeface="나눔고딕" panose="020D0604000000000000" pitchFamily="50" charset="-127"/>
                  <a:cs typeface="Arial" panose="020B0604020202020204" pitchFamily="34" charset="0"/>
                </a:rPr>
                <a:t>Thank you for your attention</a:t>
              </a:r>
              <a:endParaRPr lang="ko-KR" altLang="en-US" sz="15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1546479590"/>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09</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결함 유형별 성능 분석</a:t>
            </a:r>
          </a:p>
        </p:txBody>
      </p:sp>
      <p:pic>
        <p:nvPicPr>
          <p:cNvPr id="6" name="Picture 5" descr="res_byclass.png"/>
          <p:cNvPicPr>
            <a:picLocks noChangeAspect="1"/>
          </p:cNvPicPr>
          <p:nvPr/>
        </p:nvPicPr>
        <p:blipFill>
          <a:blip r:embed="rId3"/>
          <a:stretch>
            <a:fillRect/>
          </a:stretch>
        </p:blipFill>
        <p:spPr>
          <a:xfrm>
            <a:off x="2286000" y="1417320"/>
            <a:ext cx="7589520" cy="42976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11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한계와 향후 방향</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단일 데이터셋 검증</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Future Factories 한 데이터셋에서만 검증 → 다른 제조 환경 일반화 검증 필요</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복합 결함 어려움</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3부품 동시 빠짐 케이스 F1 0.62 → 특화 모델·데이터 증강 필요</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이미지 커버리지 의존</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융합 이득은 이미지가 있는 41% 구간에 집중 → 전체 구간으론 폭이 줄어듦, 커버리지 확대 필요</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도메인 지식(센서 정상 범위) 반영, 결함 유형별 특화 모델 등 후속 연구로 확장 가능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t">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중간발표 → 최종: 가설과 검증</a:t>
            </a:r>
          </a:p>
        </p:txBody>
      </p:sp>
      <p:sp>
        <p:nvSpPr>
          <p:cNvPr id="6" name="사각형: 둥근 모서리 5">
            <a:extLst>
              <a:ext uri="{FF2B5EF4-FFF2-40B4-BE49-F238E27FC236}">
                <a16:creationId xmlns:a16="http://schemas.microsoft.com/office/drawing/2014/main" id="{9A273F3F-2AEF-447C-BC82-BB76D864C141}"/>
              </a:ext>
            </a:extLst>
          </p:cNvPr>
          <p:cNvSpPr/>
          <p:nvPr/>
        </p:nvSpPr>
        <p:spPr>
          <a:xfrm>
            <a:off x="508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7" name="타원 6">
            <a:extLst>
              <a:ext uri="{FF2B5EF4-FFF2-40B4-BE49-F238E27FC236}">
                <a16:creationId xmlns:a16="http://schemas.microsoft.com/office/drawing/2014/main" id="{C73788D4-5A1F-400E-890E-B6BFD40CDCE1}"/>
              </a:ext>
            </a:extLst>
          </p:cNvPr>
          <p:cNvSpPr/>
          <p:nvPr/>
        </p:nvSpPr>
        <p:spPr>
          <a:xfrm>
            <a:off x="698500" y="1960507"/>
            <a:ext cx="558800" cy="558800"/>
          </a:xfrm>
          <a:prstGeom prst="ellipse">
            <a:avLst/>
          </a:prstGeom>
          <a:solidFill>
            <a:srgbClr val="E858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1</a:t>
            </a:r>
            <a:endParaRPr lang="ko-KR" altLang="en-US" b="1">
              <a:solidFill>
                <a:srgbClr val="FFFFFF"/>
              </a:solidFill>
            </a:endParaRPr>
          </a:p>
        </p:txBody>
      </p:sp>
      <p:sp>
        <p:nvSpPr>
          <p:cNvPr id="8" name="TextBox 7">
            <a:extLst>
              <a:ext uri="{FF2B5EF4-FFF2-40B4-BE49-F238E27FC236}">
                <a16:creationId xmlns:a16="http://schemas.microsoft.com/office/drawing/2014/main" id="{15996D88-2BF2-4E0A-A04D-9CEDE1D6FCF3}"/>
              </a:ext>
            </a:extLst>
          </p:cNvPr>
          <p:cNvSpPr txBox="1"/>
          <p:nvPr/>
        </p:nvSpPr>
        <p:spPr>
          <a:xfrm>
            <a:off x="698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중간발표: 융합이 졌다</a:t>
            </a:r>
          </a:p>
        </p:txBody>
      </p:sp>
      <p:sp>
        <p:nvSpPr>
          <p:cNvPr id="9" name="TextBox 8">
            <a:extLst>
              <a:ext uri="{FF2B5EF4-FFF2-40B4-BE49-F238E27FC236}">
                <a16:creationId xmlns:a16="http://schemas.microsoft.com/office/drawing/2014/main" id="{0BFC10EF-A748-466A-8A6C-C1187D2021BF}"/>
              </a:ext>
            </a:extLst>
          </p:cNvPr>
          <p:cNvSpPr txBox="1"/>
          <p:nvPr/>
        </p:nvSpPr>
        <p:spPr>
          <a:xfrm>
            <a:off x="698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전체 구간에서 Fusion F1 0.88 &lt; 센서 0.93</a:t>
            </a:r>
          </a:p>
          <a:p>
            <a:r>
              <a:rPr sz="1100">
                <a:solidFill>
                  <a:srgbClr val="555555"/>
                </a:solidFill>
              </a:rPr>
              <a:t>→ 멀티모달이 단독보다 낮게 나옴</a:t>
            </a:r>
          </a:p>
        </p:txBody>
      </p:sp>
      <p:sp>
        <p:nvSpPr>
          <p:cNvPr id="10" name="사각형: 둥근 모서리 9">
            <a:extLst>
              <a:ext uri="{FF2B5EF4-FFF2-40B4-BE49-F238E27FC236}">
                <a16:creationId xmlns:a16="http://schemas.microsoft.com/office/drawing/2014/main" id="{DA909A98-DF5F-43AB-A3AD-DAFD96B69844}"/>
              </a:ext>
            </a:extLst>
          </p:cNvPr>
          <p:cNvSpPr/>
          <p:nvPr/>
        </p:nvSpPr>
        <p:spPr>
          <a:xfrm>
            <a:off x="43815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AD77D43F-E4C2-47A6-A3F4-17EB0C92814C}"/>
              </a:ext>
            </a:extLst>
          </p:cNvPr>
          <p:cNvSpPr/>
          <p:nvPr/>
        </p:nvSpPr>
        <p:spPr>
          <a:xfrm>
            <a:off x="4572000" y="1960507"/>
            <a:ext cx="558800" cy="558800"/>
          </a:xfrm>
          <a:prstGeom prst="ellipse">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2</a:t>
            </a:r>
            <a:endParaRPr lang="ko-KR" altLang="en-US" b="1">
              <a:solidFill>
                <a:srgbClr val="FFFFFF"/>
              </a:solidFill>
            </a:endParaRPr>
          </a:p>
        </p:txBody>
      </p:sp>
      <p:sp>
        <p:nvSpPr>
          <p:cNvPr id="12" name="TextBox 11">
            <a:extLst>
              <a:ext uri="{FF2B5EF4-FFF2-40B4-BE49-F238E27FC236}">
                <a16:creationId xmlns:a16="http://schemas.microsoft.com/office/drawing/2014/main" id="{8539E669-4223-4495-B9BD-16B39089B15E}"/>
              </a:ext>
            </a:extLst>
          </p:cNvPr>
          <p:cNvSpPr txBox="1"/>
          <p:nvPr/>
        </p:nvSpPr>
        <p:spPr>
          <a:xfrm>
            <a:off x="45720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원인 가설: 데이터 균형</a:t>
            </a:r>
          </a:p>
        </p:txBody>
      </p:sp>
      <p:sp>
        <p:nvSpPr>
          <p:cNvPr id="13" name="TextBox 12">
            <a:extLst>
              <a:ext uri="{FF2B5EF4-FFF2-40B4-BE49-F238E27FC236}">
                <a16:creationId xmlns:a16="http://schemas.microsoft.com/office/drawing/2014/main" id="{3E72EADB-F944-40B1-8E9C-01DB9245986F}"/>
              </a:ext>
            </a:extLst>
          </p:cNvPr>
          <p:cNvSpPr txBox="1"/>
          <p:nvPr/>
        </p:nvSpPr>
        <p:spPr>
          <a:xfrm>
            <a:off x="45720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이미지 9.5천 장 vs 센서 12만 시퀀스</a:t>
            </a:r>
          </a:p>
          <a:p>
            <a:r>
              <a:rPr sz="1100">
                <a:solidFill>
                  <a:srgbClr val="555555"/>
                </a:solidFill>
              </a:rPr>
              <a:t>→ 불균형으로 이미지가 노이즈로 작용한다고 진단</a:t>
            </a:r>
          </a:p>
        </p:txBody>
      </p:sp>
      <p:sp>
        <p:nvSpPr>
          <p:cNvPr id="14" name="사각형: 둥근 모서리 13">
            <a:extLst>
              <a:ext uri="{FF2B5EF4-FFF2-40B4-BE49-F238E27FC236}">
                <a16:creationId xmlns:a16="http://schemas.microsoft.com/office/drawing/2014/main" id="{959A7773-03D9-44AC-BF27-C60E7BED8DBC}"/>
              </a:ext>
            </a:extLst>
          </p:cNvPr>
          <p:cNvSpPr/>
          <p:nvPr/>
        </p:nvSpPr>
        <p:spPr>
          <a:xfrm>
            <a:off x="8255000" y="1795407"/>
            <a:ext cx="3429000" cy="2286000"/>
          </a:xfrm>
          <a:prstGeom prst="roundRect">
            <a:avLst/>
          </a:prstGeom>
          <a:solidFill>
            <a:srgbClr val="F0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타원 14">
            <a:extLst>
              <a:ext uri="{FF2B5EF4-FFF2-40B4-BE49-F238E27FC236}">
                <a16:creationId xmlns:a16="http://schemas.microsoft.com/office/drawing/2014/main" id="{A8C3D7CA-D422-4BD2-B749-77AAD111C442}"/>
              </a:ext>
            </a:extLst>
          </p:cNvPr>
          <p:cNvSpPr/>
          <p:nvPr/>
        </p:nvSpPr>
        <p:spPr>
          <a:xfrm>
            <a:off x="8445500" y="1960507"/>
            <a:ext cx="558800" cy="558800"/>
          </a:xfrm>
          <a:prstGeom prst="ellipse">
            <a:avLst/>
          </a:prstGeom>
          <a:solidFill>
            <a:srgbClr val="F29E1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b="1">
                <a:solidFill>
                  <a:srgbClr val="FFFFFF"/>
                </a:solidFill>
              </a:rPr>
              <a:t>3</a:t>
            </a:r>
            <a:endParaRPr lang="ko-KR" altLang="en-US" b="1">
              <a:solidFill>
                <a:srgbClr val="FFFFFF"/>
              </a:solidFill>
            </a:endParaRPr>
          </a:p>
        </p:txBody>
      </p:sp>
      <p:sp>
        <p:nvSpPr>
          <p:cNvPr id="16" name="TextBox 15">
            <a:extLst>
              <a:ext uri="{FF2B5EF4-FFF2-40B4-BE49-F238E27FC236}">
                <a16:creationId xmlns:a16="http://schemas.microsoft.com/office/drawing/2014/main" id="{2E5936FC-FE61-42EE-B66E-AD61043C53DE}"/>
              </a:ext>
            </a:extLst>
          </p:cNvPr>
          <p:cNvSpPr txBox="1"/>
          <p:nvPr/>
        </p:nvSpPr>
        <p:spPr>
          <a:xfrm>
            <a:off x="8445500" y="2766485"/>
            <a:ext cx="3048000" cy="381000"/>
          </a:xfrm>
          <a:prstGeom prst="rect">
            <a:avLst/>
          </a:prstGeom>
          <a:noFill/>
        </p:spPr>
        <p:txBody>
          <a:bodyPr vertOverflow="overflow" vert="horz" wrap="square" rtlCol="0" anchor="t">
            <a:noAutofit/>
          </a:bodyPr>
          <a:lstStyle/>
          <a:p>
            <a:pPr algn="l"/>
            <a:r>
              <a:rPr lang="ko-KR" altLang="en-US" sz="1400" b="1">
                <a:solidFill>
                  <a:srgbClr val="1B2A4A"/>
                </a:solidFill>
                <a:latin typeface="나눔고딕" panose="020D0604000000000000" pitchFamily="50" charset="-127"/>
                <a:ea typeface="나눔고딕" panose="020D0604000000000000" pitchFamily="50" charset="-127"/>
                <a:cs typeface="Arial" panose="020B0604020202020204" pitchFamily="34" charset="0"/>
              </a:rPr>
              <a:t>최종: 가설 검증됨</a:t>
            </a:r>
          </a:p>
        </p:txBody>
      </p:sp>
      <p:sp>
        <p:nvSpPr>
          <p:cNvPr id="17" name="TextBox 16">
            <a:extLst>
              <a:ext uri="{FF2B5EF4-FFF2-40B4-BE49-F238E27FC236}">
                <a16:creationId xmlns:a16="http://schemas.microsoft.com/office/drawing/2014/main" id="{E9519485-7AED-4405-A759-96C3E903A76C}"/>
              </a:ext>
            </a:extLst>
          </p:cNvPr>
          <p:cNvSpPr txBox="1"/>
          <p:nvPr/>
        </p:nvSpPr>
        <p:spPr>
          <a:xfrm>
            <a:off x="8445500" y="3185585"/>
            <a:ext cx="3048000" cy="805180"/>
          </a:xfrm>
          <a:prstGeom prst="rect">
            <a:avLst/>
          </a:prstGeom>
          <a:noFill/>
        </p:spPr>
        <p:txBody>
          <a:bodyPr vertOverflow="overflow" vert="horz" wrap="square" rtlCol="0" anchor="t">
            <a:noAutofit/>
          </a:bodyPr>
          <a:lstStyle/>
          <a:p>
            <a:pPr algn="l"/>
            <a:r>
              <a:rPr lang="ko-KR" altLang="en-US" sz="1100">
                <a:solidFill>
                  <a:srgbClr val="555555"/>
                </a:solidFill>
                <a:latin typeface="나눔고딕" panose="020D0604000000000000" pitchFamily="50" charset="-127"/>
                <a:ea typeface="나눔고딕" panose="020D0604000000000000" pitchFamily="50" charset="-127"/>
                <a:cs typeface="Arial" panose="020B0604020202020204" pitchFamily="34" charset="0"/>
              </a:rPr>
              <a:t>이미지 커버리지 확장 + 융합전략 개선</a:t>
            </a:r>
          </a:p>
          <a:p>
            <a:r>
              <a:rPr sz="1100">
                <a:solidFill>
                  <a:srgbClr val="555555"/>
                </a:solidFill>
              </a:rPr>
              <a:t>→ 두 모달이 함께 있는 구간에서 Fusion 0.986 &gt; 두 단독 (유의)</a:t>
            </a:r>
          </a:p>
        </p:txBody>
      </p:sp>
      <p:sp>
        <p:nvSpPr>
          <p:cNvPr id="18" name="사각형: 둥근 모서리 17">
            <a:extLst>
              <a:ext uri="{FF2B5EF4-FFF2-40B4-BE49-F238E27FC236}">
                <a16:creationId xmlns:a16="http://schemas.microsoft.com/office/drawing/2014/main" id="{3BDF29AB-32B2-4ABC-AEB6-8C0EE16496B9}"/>
              </a:ext>
            </a:extLst>
          </p:cNvPr>
          <p:cNvSpPr/>
          <p:nvPr/>
        </p:nvSpPr>
        <p:spPr>
          <a:xfrm>
            <a:off x="508000" y="4335407"/>
            <a:ext cx="11176000" cy="635000"/>
          </a:xfrm>
          <a:prstGeom prst="roundRect">
            <a:avLst/>
          </a:prstGeom>
          <a:solidFill>
            <a:srgbClr val="EBF5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CB4E20F-CA0E-4EF6-A20A-82BB4499ECA0}"/>
              </a:ext>
            </a:extLst>
          </p:cNvPr>
          <p:cNvSpPr txBox="1"/>
          <p:nvPr/>
        </p:nvSpPr>
        <p:spPr>
          <a:xfrm>
            <a:off x="698500" y="4506499"/>
            <a:ext cx="10795000" cy="444500"/>
          </a:xfrm>
          <a:prstGeom prst="rect">
            <a:avLst/>
          </a:prstGeom>
          <a:noFill/>
        </p:spPr>
        <p:txBody>
          <a:bodyPr vertOverflow="overflow" vert="horz" wrap="square" rtlCol="0" anchor="t">
            <a:noAutofit/>
          </a:bodyPr>
          <a:lstStyle/>
          <a:p>
            <a:pPr algn="l"/>
            <a:r>
              <a:rPr lang="ko-KR" altLang="en-US" sz="1400" b="1">
                <a:solidFill>
                  <a:srgbClr val="2676AC"/>
                </a:solidFill>
                <a:latin typeface="나눔고딕" panose="020D0604000000000000" pitchFamily="50" charset="-127"/>
                <a:ea typeface="나눔고딕" panose="020D0604000000000000" pitchFamily="50" charset="-127"/>
                <a:cs typeface="Arial" panose="020B0604020202020204" pitchFamily="34" charset="0"/>
              </a:rPr>
              <a:t>→  멀티모달은 무조건 이기지 않는다. 두 모달이 함께·균형 있게 있을 때 이긴다 — 이 조건을 정량으로 규명</a:t>
            </a:r>
          </a:p>
        </p:txBody>
      </p:sp>
    </p:spTree>
  </p:cSld>
  <p:clrMapOvr>
    <a:masterClrMapping/>
  </p:clrMapOvr>
</p:sld>
</file>

<file path=ppt/theme/theme1.xml><?xml version="1.0" encoding="utf-8"?>
<a:theme xmlns:a="http://schemas.openxmlformats.org/drawingml/2006/main" name="Office 2013 - 2022 테마 [1777720222177]">
  <a:themeElements>
    <a:clrScheme name="Office 2013 - 2022 테마">
      <a:dk1>
        <a:srgbClr val="1B2A4A"/>
      </a:dk1>
      <a:lt1>
        <a:srgbClr val="FFFFFF"/>
      </a:lt1>
      <a:dk2>
        <a:srgbClr val="2C3E5D"/>
      </a:dk2>
      <a:lt2>
        <a:srgbClr val="F0F2F5"/>
      </a:lt2>
      <a:accent1>
        <a:srgbClr val="2676AC"/>
      </a:accent1>
      <a:accent2>
        <a:srgbClr val="16A295"/>
      </a:accent2>
      <a:accent3>
        <a:srgbClr val="E8584F"/>
      </a:accent3>
      <a:accent4>
        <a:srgbClr val="F29E16"/>
      </a:accent4>
      <a:accent5>
        <a:srgbClr val="93B64E"/>
      </a:accent5>
      <a:accent6>
        <a:srgbClr val="AE729E"/>
      </a:accent6>
      <a:hlink>
        <a:srgbClr val="0563C1"/>
      </a:hlink>
      <a:folHlink>
        <a:srgbClr val="954F72"/>
      </a:folHlink>
    </a:clrScheme>
    <a:fontScheme name="사용자 지정 4">
      <a:majorFont>
        <a:latin typeface="Pretendard"/>
        <a:ea typeface=""/>
        <a:cs typeface=""/>
      </a:majorFont>
      <a:minorFont>
        <a:latin typeface="Pretendard"/>
        <a:ea typeface=""/>
        <a:cs typeface=""/>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200" dirty="0" smtClean="0">
            <a:solidFill>
              <a:schemeClr val="tx1">
                <a:lumMod val="65000"/>
                <a:lumOff val="35000"/>
              </a:schemeClr>
            </a:solidFill>
            <a:latin typeface="나눔고딕" panose="020D0604000000000000" pitchFamily="50" charset="-127"/>
            <a:ea typeface="나눔고딕" panose="020D0604000000000000" pitchFamily="50" charset="-127"/>
            <a:cs typeface="Arial" panose="020B0604020202020204" pitchFamily="34" charset="0"/>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8D53C4-EB30-4D06-B415-8CAF9BDD6141}">
  <we:reference id="WA200010001" version="1.0.0.1" store="Omex" storeType="OMEX"/>
  <we:alternateReferences>
    <we:reference id="WA200010001" version="1.0.0.1" store="WA200010001" storeType="OMEX"/>
  </we:alternateReferences>
  <we:properties>
    <we:property name="claude.fileId" value="&quot;c072c8d9-7136-4530-9268-0bffd5bfecc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597F093C87EF87408D5C5F04BCF3A1CB" ma:contentTypeVersion="9" ma:contentTypeDescription="새 문서를 만듭니다." ma:contentTypeScope="" ma:versionID="cd7cd375469c6d4b522ce2b3e8029dd3">
  <xsd:schema xmlns:xsd="http://www.w3.org/2001/XMLSchema" xmlns:xs="http://www.w3.org/2001/XMLSchema" xmlns:p="http://schemas.microsoft.com/office/2006/metadata/properties" xmlns:ns3="1f7d68b1-f69b-49f8-80cd-f995854cf296" xmlns:ns4="362945be-0545-4d77-ba0f-90fd258c610d" targetNamespace="http://schemas.microsoft.com/office/2006/metadata/properties" ma:root="true" ma:fieldsID="3709e7358902c5645f0e406a38b57213" ns3:_="" ns4:_="">
    <xsd:import namespace="1f7d68b1-f69b-49f8-80cd-f995854cf296"/>
    <xsd:import namespace="362945be-0545-4d77-ba0f-90fd258c610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d68b1-f69b-49f8-80cd-f995854cf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2945be-0545-4d77-ba0f-90fd258c610d" elementFormDefault="qualified">
    <xsd:import namespace="http://schemas.microsoft.com/office/2006/documentManagement/types"/>
    <xsd:import namespace="http://schemas.microsoft.com/office/infopath/2007/PartnerControls"/>
    <xsd:element name="SharedWithUsers" ma:index="13"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세부 정보 공유" ma:internalName="SharedWithDetails" ma:readOnly="true">
      <xsd:simpleType>
        <xsd:restriction base="dms:Note">
          <xsd:maxLength value="255"/>
        </xsd:restriction>
      </xsd:simpleType>
    </xsd:element>
    <xsd:element name="SharingHintHash" ma:index="15" nillable="true" ma:displayName="힌트 해시 공유"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7d68b1-f69b-49f8-80cd-f995854cf296" xsi:nil="true"/>
  </documentManagement>
</p:properties>
</file>

<file path=customXml/itemProps1.xml><?xml version="1.0" encoding="utf-8"?>
<ds:datastoreItem xmlns:ds="http://schemas.openxmlformats.org/officeDocument/2006/customXml" ds:itemID="{27312C13-A2B3-4A01-B220-75D5986F7D62}">
  <ds:schemaRefs>
    <ds:schemaRef ds:uri="1f7d68b1-f69b-49f8-80cd-f995854cf296"/>
    <ds:schemaRef ds:uri="362945be-0545-4d77-ba0f-90fd258c61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21C8D9-4205-4504-9844-72894E2B915B}">
  <ds:schemaRefs>
    <ds:schemaRef ds:uri="http://schemas.microsoft.com/sharepoint/v3/contenttype/forms"/>
  </ds:schemaRefs>
</ds:datastoreItem>
</file>

<file path=customXml/itemProps3.xml><?xml version="1.0" encoding="utf-8"?>
<ds:datastoreItem xmlns:ds="http://schemas.openxmlformats.org/officeDocument/2006/customXml" ds:itemID="{D3D5EEEF-55DE-415E-A824-415CEA62A4FB}">
  <ds:schemaRefs>
    <ds:schemaRef ds:uri="http://schemas.microsoft.com/office/2006/documentManagement/types"/>
    <ds:schemaRef ds:uri="http://schemas.microsoft.com/office/2006/metadata/properties"/>
    <ds:schemaRef ds:uri="http://purl.org/dc/terms/"/>
    <ds:schemaRef ds:uri="1f7d68b1-f69b-49f8-80cd-f995854cf296"/>
    <ds:schemaRef ds:uri="http://schemas.openxmlformats.org/package/2006/metadata/core-properties"/>
    <ds:schemaRef ds:uri="http://purl.org/dc/elements/1.1/"/>
    <ds:schemaRef ds:uri="http://purl.org/dc/dcmitype/"/>
    <ds:schemaRef ds:uri="http://schemas.microsoft.com/office/infopath/2007/PartnerControls"/>
    <ds:schemaRef ds:uri="362945be-0545-4d77-ba0f-90fd258c610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2293</Words>
  <Application>Microsoft Office PowerPoint</Application>
  <PresentationFormat>와이드스크린</PresentationFormat>
  <Paragraphs>207</Paragraphs>
  <Slides>12</Slides>
  <Notes>12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Pretendard</vt:lpstr>
      <vt:lpstr>나눔고딕</vt:lpstr>
      <vt:lpstr>맑은 고딕</vt:lpstr>
      <vt:lpstr>Arial</vt:lpstr>
      <vt:lpstr>Office 2013 - 2022 테마 [1777720222177]</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현성 하</dc:creator>
  <cp:lastModifiedBy>하 현성</cp:lastModifiedBy>
  <cp:revision>1</cp:revision>
  <dcterms:created xsi:type="dcterms:W3CDTF">2024-04-02T11:49:31Z</dcterms:created>
  <dcterms:modified xsi:type="dcterms:W3CDTF">2026-05-08T13:22:00Z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0x010100597F093C87EF87408D5C5F04BCF3A1CB</vt:lpwstr>
  </property>
</Properties>
</file>