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17"/>
  </p:notesMasterIdLst>
  <p:sldIdLst>
    <p:sldId id="256" r:id="rId5"/>
    <p:sldId id="257" r:id="rId6"/>
    <p:sldId id="258" r:id="rId7"/>
    <p:sldId id="260" r:id="rId9"/>
    <p:sldId id="259" r:id="rId8"/>
    <p:sldId id="261" r:id="rId10"/>
    <p:sldId id="264" r:id="rId13"/>
    <p:sldId id="265" r:id="rId14"/>
    <p:sldId id="268" r:id="rId24"/>
    <p:sldId id="266" r:id="rId15"/>
    <p:sldId id="269" r:id="rId2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2676AC"/>
    <a:srgbClr val="EBECF1"/>
    <a:srgbClr val="3B3535"/>
    <a:srgbClr val="F1F2F5"/>
    <a:srgbClr val="EDEEF3"/>
    <a:srgbClr val="A3A3A3"/>
    <a:srgbClr val="9D9D9D"/>
    <a:srgbClr val="929292"/>
    <a:srgbClr val="E6E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82C3E0-EFE3-4D6B-A4EB-282364353C02}" v="5" dt="2026-05-08T03:41:44.70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73" autoAdjust="0"/>
  </p:normalViewPr>
  <p:slideViewPr>
    <p:cSldViewPr snapToGrid="0">
      <p:cViewPr varScale="1">
        <p:scale>
          <a:sx n="110" d="100"/>
          <a:sy n="110" d="100"/>
        </p:scale>
        <p:origin x="576" y="8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 Id="rId24" Type="http://schemas.openxmlformats.org/officeDocument/2006/relationships/slide" Target="slides/slide13.xml"/><Relationship Id="rId25"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하 현성" userId="545a4ab8-e4ee-4590-b348-fc04c608cfe8" providerId="ADAL" clId="{D7EE3CC3-84C1-417B-9413-2A5A64C9CA42}"/>
    <pc:docChg chg="modSld">
      <pc:chgData name="하 현성" userId="545a4ab8-e4ee-4590-b348-fc04c608cfe8" providerId="ADAL" clId="{D7EE3CC3-84C1-417B-9413-2A5A64C9CA42}" dt="2026-05-08T03:41:44.707" v="4" actId="207"/>
      <pc:docMkLst>
        <pc:docMk/>
      </pc:docMkLst>
      <pc:sldChg chg="modSp mod">
        <pc:chgData name="하 현성" userId="545a4ab8-e4ee-4590-b348-fc04c608cfe8" providerId="ADAL" clId="{D7EE3CC3-84C1-417B-9413-2A5A64C9CA42}" dt="2026-05-08T03:41:39.524" v="3" actId="207"/>
        <pc:sldMkLst>
          <pc:docMk/>
          <pc:sldMk cId="797869273" sldId="261"/>
        </pc:sldMkLst>
        <pc:spChg chg="mod">
          <ac:chgData name="하 현성" userId="545a4ab8-e4ee-4590-b348-fc04c608cfe8" providerId="ADAL" clId="{D7EE3CC3-84C1-417B-9413-2A5A64C9CA42}" dt="2026-05-08T03:41:24.471" v="2" actId="207"/>
          <ac:spMkLst>
            <pc:docMk/>
            <pc:sldMk cId="797869273" sldId="261"/>
            <ac:spMk id="7" creationId="{D7F909FE-EA72-4430-84E5-711DDED494E4}"/>
          </ac:spMkLst>
        </pc:spChg>
        <pc:spChg chg="mod">
          <ac:chgData name="하 현성" userId="545a4ab8-e4ee-4590-b348-fc04c608cfe8" providerId="ADAL" clId="{D7EE3CC3-84C1-417B-9413-2A5A64C9CA42}" dt="2026-05-08T03:41:24.471" v="2" actId="207"/>
          <ac:spMkLst>
            <pc:docMk/>
            <pc:sldMk cId="797869273" sldId="261"/>
            <ac:spMk id="9" creationId="{505D91E8-F199-4B9F-93A0-3A3C6FB4450D}"/>
          </ac:spMkLst>
        </pc:spChg>
        <pc:spChg chg="mod">
          <ac:chgData name="하 현성" userId="545a4ab8-e4ee-4590-b348-fc04c608cfe8" providerId="ADAL" clId="{D7EE3CC3-84C1-417B-9413-2A5A64C9CA42}" dt="2026-05-08T03:41:15.507" v="0" actId="207"/>
          <ac:spMkLst>
            <pc:docMk/>
            <pc:sldMk cId="797869273" sldId="261"/>
            <ac:spMk id="12" creationId="{B4D160E4-B85C-4F6B-992E-79BD9580D8BF}"/>
          </ac:spMkLst>
        </pc:spChg>
        <pc:spChg chg="mod">
          <ac:chgData name="하 현성" userId="545a4ab8-e4ee-4590-b348-fc04c608cfe8" providerId="ADAL" clId="{D7EE3CC3-84C1-417B-9413-2A5A64C9CA42}" dt="2026-05-08T03:41:15.507" v="0" actId="207"/>
          <ac:spMkLst>
            <pc:docMk/>
            <pc:sldMk cId="797869273" sldId="261"/>
            <ac:spMk id="14" creationId="{F3B4D038-5F48-47D0-B924-6182A661C3D2}"/>
          </ac:spMkLst>
        </pc:spChg>
        <pc:spChg chg="mod">
          <ac:chgData name="하 현성" userId="545a4ab8-e4ee-4590-b348-fc04c608cfe8" providerId="ADAL" clId="{D7EE3CC3-84C1-417B-9413-2A5A64C9CA42}" dt="2026-05-08T03:41:15.507" v="0" actId="207"/>
          <ac:spMkLst>
            <pc:docMk/>
            <pc:sldMk cId="797869273" sldId="261"/>
            <ac:spMk id="16" creationId="{A52EA78F-89A1-4DCB-9025-CA3124B9C5C0}"/>
          </ac:spMkLst>
        </pc:spChg>
        <pc:spChg chg="mod">
          <ac:chgData name="하 현성" userId="545a4ab8-e4ee-4590-b348-fc04c608cfe8" providerId="ADAL" clId="{D7EE3CC3-84C1-417B-9413-2A5A64C9CA42}" dt="2026-05-08T03:41:39.524" v="3" actId="207"/>
          <ac:spMkLst>
            <pc:docMk/>
            <pc:sldMk cId="797869273" sldId="261"/>
            <ac:spMk id="19" creationId="{30E731E0-7D1D-4D66-82D2-7CE3BF61D67E}"/>
          </ac:spMkLst>
        </pc:spChg>
        <pc:spChg chg="mod">
          <ac:chgData name="하 현성" userId="545a4ab8-e4ee-4590-b348-fc04c608cfe8" providerId="ADAL" clId="{D7EE3CC3-84C1-417B-9413-2A5A64C9CA42}" dt="2026-05-08T03:41:24.471" v="2" actId="207"/>
          <ac:spMkLst>
            <pc:docMk/>
            <pc:sldMk cId="797869273" sldId="261"/>
            <ac:spMk id="22" creationId="{643DCCE1-B3BE-4827-A6A7-12FF1B638CA9}"/>
          </ac:spMkLst>
        </pc:spChg>
      </pc:sldChg>
      <pc:sldChg chg="modSp mod">
        <pc:chgData name="하 현성" userId="545a4ab8-e4ee-4590-b348-fc04c608cfe8" providerId="ADAL" clId="{D7EE3CC3-84C1-417B-9413-2A5A64C9CA42}" dt="2026-05-08T03:41:44.707" v="4" actId="207"/>
        <pc:sldMkLst>
          <pc:docMk/>
          <pc:sldMk cId="1763201014" sldId="262"/>
        </pc:sldMkLst>
        <pc:spChg chg="mod">
          <ac:chgData name="하 현성" userId="545a4ab8-e4ee-4590-b348-fc04c608cfe8" providerId="ADAL" clId="{D7EE3CC3-84C1-417B-9413-2A5A64C9CA42}" dt="2026-05-08T03:41:44.707" v="4" actId="207"/>
          <ac:spMkLst>
            <pc:docMk/>
            <pc:sldMk cId="1763201014" sldId="262"/>
            <ac:spMk id="11" creationId="{03057C49-52E1-4DD5-95D1-DDEEC5107A29}"/>
          </ac:spMkLst>
        </pc:spChg>
        <pc:spChg chg="mod">
          <ac:chgData name="하 현성" userId="545a4ab8-e4ee-4590-b348-fc04c608cfe8" providerId="ADAL" clId="{D7EE3CC3-84C1-417B-9413-2A5A64C9CA42}" dt="2026-05-08T03:41:44.707" v="4" actId="207"/>
          <ac:spMkLst>
            <pc:docMk/>
            <pc:sldMk cId="1763201014" sldId="262"/>
            <ac:spMk id="17" creationId="{9655BF96-6805-47BC-8A01-845DE1108082}"/>
          </ac:spMkLst>
        </pc:spChg>
      </pc:sldChg>
    </pc:docChg>
  </pc:docChgLst>
  <pc:docChgLst>
    <pc:chgData name="하 현성" userId="545a4ab8-e4ee-4590-b348-fc04c608cfe8" providerId="ADAL" clId="{19A5CB6E-E37B-4EDD-80DF-4815AA54A118}"/>
    <pc:docChg chg="undo custSel modSld">
      <pc:chgData name="하 현성" userId="545a4ab8-e4ee-4590-b348-fc04c608cfe8" providerId="ADAL" clId="{19A5CB6E-E37B-4EDD-80DF-4815AA54A118}" dt="2026-05-08T12:41:53.690" v="108" actId="1076"/>
      <pc:docMkLst>
        <pc:docMk/>
      </pc:docMkLst>
      <pc:sldChg chg="modSp mod">
        <pc:chgData name="하 현성" userId="545a4ab8-e4ee-4590-b348-fc04c608cfe8" providerId="ADAL" clId="{19A5CB6E-E37B-4EDD-80DF-4815AA54A118}" dt="2026-05-08T12:41:53.690" v="108" actId="1076"/>
        <pc:sldMkLst>
          <pc:docMk/>
          <pc:sldMk cId="1423671779" sldId="256"/>
        </pc:sldMkLst>
        <pc:grpChg chg="mod">
          <ac:chgData name="하 현성" userId="545a4ab8-e4ee-4590-b348-fc04c608cfe8" providerId="ADAL" clId="{19A5CB6E-E37B-4EDD-80DF-4815AA54A118}" dt="2026-05-08T12:41:53.690" v="108" actId="1076"/>
          <ac:grpSpMkLst>
            <pc:docMk/>
            <pc:sldMk cId="1423671779" sldId="256"/>
            <ac:grpSpMk id="21" creationId="{EBE95E33-541A-7ECA-DBE6-55DDF3E50930}"/>
          </ac:grpSpMkLst>
        </pc:grpChg>
      </pc:sldChg>
      <pc:sldChg chg="modNotesTx">
        <pc:chgData name="하 현성" userId="545a4ab8-e4ee-4590-b348-fc04c608cfe8" providerId="ADAL" clId="{19A5CB6E-E37B-4EDD-80DF-4815AA54A118}" dt="2026-05-08T11:18:38.379" v="71" actId="20577"/>
        <pc:sldMkLst>
          <pc:docMk/>
          <pc:sldMk cId="1651085585" sldId="257"/>
        </pc:sldMkLst>
      </pc:sldChg>
      <pc:sldChg chg="modNotesTx">
        <pc:chgData name="하 현성" userId="545a4ab8-e4ee-4590-b348-fc04c608cfe8" providerId="ADAL" clId="{19A5CB6E-E37B-4EDD-80DF-4815AA54A118}" dt="2026-05-08T11:28:35.603" v="106" actId="20577"/>
        <pc:sldMkLst>
          <pc:docMk/>
          <pc:sldMk cId="797869273"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B455BE-1399-48B6-9FDD-6D8F9FE4BCA3}" type="datetimeFigureOut">
              <a:rPr lang="ko-KR" altLang="en-US" smtClean="0"/>
              <a:t>2026-05-08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8DF1B-83BF-4DB2-ADDA-54159C83935C}" type="slidenum">
              <a:rPr lang="ko-KR" altLang="en-US" smtClean="0"/>
              <a:t>‹#›</a:t>
            </a:fld>
            <a:endParaRPr lang="ko-KR" altLang="en-US"/>
          </a:p>
        </p:txBody>
      </p:sp>
    </p:spTree>
    <p:extLst>
      <p:ext uri="{BB962C8B-B14F-4D97-AF65-F5344CB8AC3E}">
        <p14:creationId xmlns:p14="http://schemas.microsoft.com/office/powerpoint/2010/main" val="1992069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안녕하세요, 딥러닝응용 3조 김주헌, 하현성입니다. 저희는 제조 공정에서 발생하는 결함을 시계열 센서와 카메라 이미지를 함께 사용하는 멀티모달 딥러닝으로 탐지하는 프로젝트를 진행했습니다. 오늘 발표에서는 저희가 어떤 문제를 풀었고, 어떤 방법을 썼으며, 어떤 결과를 얻었는지를 차례로 말씀드리겠습니다.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a:t>
            </a:fld>
            <a:endParaRPr lang="ko-KR" altLang="en-US"/>
          </a:p>
        </p:txBody>
      </p:sp>
    </p:spTree>
    <p:extLst>
      <p:ext uri="{BB962C8B-B14F-4D97-AF65-F5344CB8AC3E}">
        <p14:creationId xmlns:p14="http://schemas.microsoft.com/office/powerpoint/2010/main" val="6929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제조 라인의 자동 검수 시스템은 보통 두 종류의 데이터를 활용합니다. 첫 번째는 로봇의 부하나 관절 각도, 컨베이어 온도 같은 센서 측정값이고, 두 번째는 카메라로 찍은 제품 이미지입니다. 그런데 이 두 가지를 따로따로 쓰면 각자 놓치는 부분이 생깁니다. 센서값만 보면 부품이 시각적으로 빠진 결함을 알기 어렵고, 이미지만 보면 로봇이 비정상적인 힘으로 작동하는 상황은 알 수 없습니다. 그래서 두 모달리티를 결합하는 멀티모달 접근이 필요한데, 핵심 질문은 이겁니다. 정말 결합이 항상 더 좋은가, 그렇다면 어떤 조건에서 효과가 있는가. 저희 프로젝트는 이 질문에 실험으로 답하는 것이 목표였습니다.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2</a:t>
            </a:fld>
            <a:endParaRPr lang="ko-KR" altLang="en-US"/>
          </a:p>
        </p:txBody>
      </p:sp>
    </p:spTree>
    <p:extLst>
      <p:ext uri="{BB962C8B-B14F-4D97-AF65-F5344CB8AC3E}">
        <p14:creationId xmlns:p14="http://schemas.microsoft.com/office/powerpoint/2010/main" val="230093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저희 프로젝트는 세 가지 구체적인 질문에 답하려 했습니다. 첫째, 멀티모달 결합 모델이 센서 단독, 이미지 단독보다 실제로 더 좋은 성능을 내는가. 둘째, 두 모달리티 중 한쪽이 너무 강하거나 약할 때 융합 효과가 어떻게 달라지는가. 셋째, 카메라 이미지가 항상 들어오는 것이 아닐 때, 즉 이미지가 없는 순간에도 모델이 안정적으로 작동할 수 있는가입니다. 이 세 가지 질문에 정량적으로 답하는 것이 저희 프로젝트의 핵심입니다.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3</a:t>
            </a:fld>
            <a:endParaRPr lang="ko-KR" altLang="en-US"/>
          </a:p>
        </p:txBody>
      </p:sp>
    </p:spTree>
    <p:extLst>
      <p:ext uri="{BB962C8B-B14F-4D97-AF65-F5344CB8AC3E}">
        <p14:creationId xmlns:p14="http://schemas.microsoft.com/office/powerpoint/2010/main" val="173324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세 가지 모델을 만들어 비교했습니다. 첫 번째는 센서 단독 모델로, 양방향 LSTM을 사용해 22채널 센서값의 시간적 흐름을 분석합니다. 이 모델은 센서가 항상 측정되기 때문에 모든 시점에서 작동합니다. 두 번째는 이미지 단독 모델로, ImageNet으로 사전학습된 ResNet18을 사용합니다. 카메라가 두 대이기 때문에 두 이미지를 각각 통과시킨 뒤 특징을 평균내는 방식으로 두 시점의 정보를 모두 활용했습니다. 세 번째는 융합 모델인데, 두 모델의 예측 확률을 가중 결합하는 Decision-level 방식을 채택했습니다. 이 방식의 장점은 이미지가 들어오지 않는 순간에는 자동으로 센서 모델만 사용하도록 설계할 수 있어서, 결측 상황에서도 안정적으로 작동한다는 점입니다.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4</a:t>
            </a:fld>
            <a:endParaRPr lang="ko-KR" altLang="en-US"/>
          </a:p>
        </p:txBody>
      </p:sp>
    </p:spTree>
    <p:extLst>
      <p:ext uri="{BB962C8B-B14F-4D97-AF65-F5344CB8AC3E}">
        <p14:creationId xmlns:p14="http://schemas.microsoft.com/office/powerpoint/2010/main" val="4243134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저희가 사용한 데이터는 사우스캐롤라이나 대학 Future Factories 연구실에서 공개한 산업용 데이터셋입니다. 실제 조립 라인을 그대로 옮긴 시설에서 로봇 4대와 컨베이어가 30시간 동안 로켓 모형을 만들었고, 그동안 16만 6천 건의 측정 데이터가 쌓였습니다. 측정 데이터에는 두 종류가 들어 있습니다. 22개 센서값은 모든 측정 순간에 기록되었고, 카메라 두 대가 찍은 이미지는 부품이 명확히 보이는 특정 공정 단계에서 사용했습니다. 결함은 의도적으로 만들었습니다. 부품을 빼고 조립하게 해서 정상 외에 NoNose, NoBody1 같은 결함 유형이 만들어졌고, 매 측정 순간마다 그 시점에 어떤 상태였는지가 라벨로 기록되어 있습니다. 즉 저희 문제는 ‘지금 이 순간 어떤 상태인가’를 매 시점마다 분류하는 과제입니다.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5</a:t>
            </a:fld>
            <a:endParaRPr lang="ko-KR" altLang="en-US"/>
          </a:p>
        </p:txBody>
      </p:sp>
    </p:spTree>
    <p:extLst>
      <p:ext uri="{BB962C8B-B14F-4D97-AF65-F5344CB8AC3E}">
        <p14:creationId xmlns:p14="http://schemas.microsoft.com/office/powerpoint/2010/main" val="1063792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전체 시스템은 이렇게 구성됩니다. 센서값은 항상 들어오기 때문에 매 시점마다 BiLSTM이 예측 확률을 만듭니다. 카메라 이미지는 부품이 보이는 시점에 들어오는데, 두 대의 이미지를 각각 ResNet18에 통과시켜 특징을 합친 뒤 이미지 예측 확률을 만듭니다. 마지막에 두 확률을 가중 평균해서 최종 분류 결과를 냅니다. 만약 이미지가 들어오지 않는 시점이면 자동으로 센서 확률만 사용하기 때문에, 시스템은 어떤 상황에서도 멈추지 않고 작동합니다.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6</a:t>
            </a:fld>
            <a:endParaRPr lang="ko-KR" altLang="en-US"/>
          </a:p>
        </p:txBody>
      </p:sp>
    </p:spTree>
    <p:extLst>
      <p:ext uri="{BB962C8B-B14F-4D97-AF65-F5344CB8AC3E}">
        <p14:creationId xmlns:p14="http://schemas.microsoft.com/office/powerpoint/2010/main" val="28661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i="0" kern="1200">
                <a:solidFill>
                  <a:schemeClr val="tx1"/>
                </a:solidFill>
                <a:effectLst/>
                <a:latin typeface="+mn-lt"/>
                <a:ea typeface="+mn-ea"/>
                <a:cs typeface="+mn-cs"/>
              </a:rPr>
              <a:t>이 논문의 핵심은 세 단계로 모델을 발전시키면서 각 기법의 기여도를 분리해서 보여준다는 점입니다. P1은 방금 설명한 기본 Fusion 구조로, Encoder와 Decoder를 end-to-end로 함께 학습합니다. P2에서는 Transfer Learning을 적용하여 먼저 학습된 Encoder의 가중치를 동결한 채 Decoder만 Fine-tuning합니다. 이렇게 하면 Encoder가 안정적인 특징 추출기 역할을 하면서 학습 시간 단축과 과적합 완화 효과를 얻을 수 있습니다. P3에서는 여기에 Process Ontology 기반의 Knowledge-Infused Learning을 추가하여 도메인 지식까지 학습 과정에 반영합니다.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7</a:t>
            </a:fld>
            <a:endParaRPr lang="ko-KR" altLang="en-US"/>
          </a:p>
        </p:txBody>
      </p:sp>
    </p:spTree>
    <p:extLst>
      <p:ext uri="{BB962C8B-B14F-4D97-AF65-F5344CB8AC3E}">
        <p14:creationId xmlns:p14="http://schemas.microsoft.com/office/powerpoint/2010/main" val="146341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a:solidFill>
                  <a:schemeClr val="tx1"/>
                </a:solidFill>
                <a:effectLst/>
                <a:latin typeface="+mn-lt"/>
                <a:ea typeface="+mn-ea"/>
                <a:cs typeface="+mn-cs"/>
              </a:rPr>
              <a:t>Process Ontology</a:t>
            </a:r>
            <a:r>
              <a:rPr lang="ko-KR" altLang="en-US" sz="1200" b="0" i="0" kern="1200">
                <a:solidFill>
                  <a:schemeClr val="tx1"/>
                </a:solidFill>
                <a:effectLst/>
                <a:latin typeface="+mn-lt"/>
                <a:ea typeface="+mn-ea"/>
                <a:cs typeface="+mn-cs"/>
              </a:rPr>
              <a:t>는 공정 전문가의 지식을 구조화한 것입니다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예를 들어 사이클 상태 </a:t>
            </a:r>
            <a:r>
              <a:rPr lang="en-US" altLang="ko-KR" sz="1200" b="0" i="0" kern="1200">
                <a:solidFill>
                  <a:schemeClr val="tx1"/>
                </a:solidFill>
                <a:effectLst/>
                <a:latin typeface="+mn-lt"/>
                <a:ea typeface="+mn-ea"/>
                <a:cs typeface="+mn-cs"/>
              </a:rPr>
              <a:t>4</a:t>
            </a:r>
            <a:r>
              <a:rPr lang="ko-KR" altLang="en-US" sz="1200" b="0" i="0" kern="1200">
                <a:solidFill>
                  <a:schemeClr val="tx1"/>
                </a:solidFill>
                <a:effectLst/>
                <a:latin typeface="+mn-lt"/>
                <a:ea typeface="+mn-ea"/>
                <a:cs typeface="+mn-cs"/>
              </a:rPr>
              <a:t>에서 </a:t>
            </a:r>
            <a:r>
              <a:rPr lang="en-US" altLang="ko-KR" sz="1200" b="0" i="0" kern="1200">
                <a:solidFill>
                  <a:schemeClr val="tx1"/>
                </a:solidFill>
                <a:effectLst/>
                <a:latin typeface="+mn-lt"/>
                <a:ea typeface="+mn-ea"/>
                <a:cs typeface="+mn-cs"/>
              </a:rPr>
              <a:t>R01 </a:t>
            </a:r>
            <a:r>
              <a:rPr lang="ko-KR" altLang="en-US" sz="1200" b="0" i="0" kern="1200" err="1">
                <a:solidFill>
                  <a:schemeClr val="tx1"/>
                </a:solidFill>
                <a:effectLst/>
                <a:latin typeface="+mn-lt"/>
                <a:ea typeface="+mn-ea"/>
                <a:cs typeface="+mn-cs"/>
              </a:rPr>
              <a:t>포텐셔미터의</a:t>
            </a:r>
            <a:r>
              <a:rPr lang="ko-KR" altLang="en-US" sz="1200" b="0" i="0" kern="1200">
                <a:solidFill>
                  <a:schemeClr val="tx1"/>
                </a:solidFill>
                <a:effectLst/>
                <a:latin typeface="+mn-lt"/>
                <a:ea typeface="+mn-ea"/>
                <a:cs typeface="+mn-cs"/>
              </a:rPr>
              <a:t> 정상 범위가 </a:t>
            </a:r>
            <a:r>
              <a:rPr lang="en-US" altLang="ko-KR" sz="1200" b="0" i="0" kern="1200">
                <a:solidFill>
                  <a:schemeClr val="tx1"/>
                </a:solidFill>
                <a:effectLst/>
                <a:latin typeface="+mn-lt"/>
                <a:ea typeface="+mn-ea"/>
                <a:cs typeface="+mn-cs"/>
              </a:rPr>
              <a:t>6,000</a:t>
            </a:r>
            <a:r>
              <a:rPr lang="ko-KR" altLang="en-US" sz="1200" b="0" i="0" kern="1200">
                <a:solidFill>
                  <a:schemeClr val="tx1"/>
                </a:solidFill>
                <a:effectLst/>
                <a:latin typeface="+mn-lt"/>
                <a:ea typeface="+mn-ea"/>
                <a:cs typeface="+mn-cs"/>
              </a:rPr>
              <a:t>에서 </a:t>
            </a:r>
            <a:r>
              <a:rPr lang="en-US" altLang="ko-KR" sz="1200" b="0" i="0" kern="1200">
                <a:solidFill>
                  <a:schemeClr val="tx1"/>
                </a:solidFill>
                <a:effectLst/>
                <a:latin typeface="+mn-lt"/>
                <a:ea typeface="+mn-ea"/>
                <a:cs typeface="+mn-cs"/>
              </a:rPr>
              <a:t>8,000</a:t>
            </a:r>
            <a:r>
              <a:rPr lang="ko-KR" altLang="en-US" sz="1200" b="0" i="0" kern="1200">
                <a:solidFill>
                  <a:schemeClr val="tx1"/>
                </a:solidFill>
                <a:effectLst/>
                <a:latin typeface="+mn-lt"/>
                <a:ea typeface="+mn-ea"/>
                <a:cs typeface="+mn-cs"/>
              </a:rPr>
              <a:t>이라는 정보가 저장되어 있습니다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모델 학습 시 </a:t>
            </a:r>
            <a:r>
              <a:rPr lang="ko-KR" altLang="en-US" sz="1200" b="0" i="0" kern="1200" err="1">
                <a:solidFill>
                  <a:schemeClr val="tx1"/>
                </a:solidFill>
                <a:effectLst/>
                <a:latin typeface="+mn-lt"/>
                <a:ea typeface="+mn-ea"/>
                <a:cs typeface="+mn-cs"/>
              </a:rPr>
              <a:t>센서값이</a:t>
            </a:r>
            <a:r>
              <a:rPr lang="ko-KR" altLang="en-US" sz="1200" b="0" i="0" kern="1200">
                <a:solidFill>
                  <a:schemeClr val="tx1"/>
                </a:solidFill>
                <a:effectLst/>
                <a:latin typeface="+mn-lt"/>
                <a:ea typeface="+mn-ea"/>
                <a:cs typeface="+mn-cs"/>
              </a:rPr>
              <a:t> 정상 범위 안인데 이상으로 예측하거나</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범위를 벗어났는데 정상으로 예측하면 손실 함수에 </a:t>
            </a:r>
            <a:r>
              <a:rPr lang="ko-KR" altLang="en-US" sz="1200" b="0" i="0" kern="1200" err="1">
                <a:solidFill>
                  <a:schemeClr val="tx1"/>
                </a:solidFill>
                <a:effectLst/>
                <a:latin typeface="+mn-lt"/>
                <a:ea typeface="+mn-ea"/>
                <a:cs typeface="+mn-cs"/>
              </a:rPr>
              <a:t>패널티를</a:t>
            </a:r>
            <a:r>
              <a:rPr lang="ko-KR" altLang="en-US" sz="1200" b="0" i="0" kern="1200">
                <a:solidFill>
                  <a:schemeClr val="tx1"/>
                </a:solidFill>
                <a:effectLst/>
                <a:latin typeface="+mn-lt"/>
                <a:ea typeface="+mn-ea"/>
                <a:cs typeface="+mn-cs"/>
              </a:rPr>
              <a:t> 추가합니다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이를 통해 데이터만으로 학습하는 것이 아니라 도메인 지식이 모델을 </a:t>
            </a:r>
            <a:r>
              <a:rPr lang="ko-KR" altLang="en-US" sz="1200" b="0" i="0" kern="1200" err="1">
                <a:solidFill>
                  <a:schemeClr val="tx1"/>
                </a:solidFill>
                <a:effectLst/>
                <a:latin typeface="+mn-lt"/>
                <a:ea typeface="+mn-ea"/>
                <a:cs typeface="+mn-cs"/>
              </a:rPr>
              <a:t>가이드하게</a:t>
            </a:r>
            <a:r>
              <a:rPr lang="ko-KR" altLang="en-US" sz="1200" b="0" i="0" kern="1200">
                <a:solidFill>
                  <a:schemeClr val="tx1"/>
                </a:solidFill>
                <a:effectLst/>
                <a:latin typeface="+mn-lt"/>
                <a:ea typeface="+mn-ea"/>
                <a:cs typeface="+mn-cs"/>
              </a:rPr>
              <a:t> 됩니다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또한 예측 결과에 대해 어떤 센서가 이상의 원인인지</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해당 상태에서 어떤 동작이 수행 중이었는지 등을 설명할 수 있어 해석 가능성도 확보합니다</a:t>
            </a:r>
            <a:r>
              <a:rPr lang="en-US" altLang="ko-KR" sz="1200" b="0" i="0" kern="1200">
                <a:solidFill>
                  <a:schemeClr val="tx1"/>
                </a:solidFill>
                <a:effectLst/>
                <a:latin typeface="+mn-lt"/>
                <a:ea typeface="+mn-ea"/>
                <a:cs typeface="+mn-cs"/>
              </a:rPr>
              <a:t>.</a:t>
            </a:r>
            <a:endParaRPr lang="ko-KR" altLang="en-US"/>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8</a:t>
            </a:fld>
            <a:endParaRPr lang="ko-KR" altLang="en-US"/>
          </a:p>
        </p:txBody>
      </p:sp>
    </p:spTree>
    <p:extLst>
      <p:ext uri="{BB962C8B-B14F-4D97-AF65-F5344CB8AC3E}">
        <p14:creationId xmlns:p14="http://schemas.microsoft.com/office/powerpoint/2010/main" val="181818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첫 번째 핵심 결과입니다. 이 그래프는 카메라 이미지가 함께 입력되는 시점, 즉 두 모달리티 데이터가 모두 있는 2,161개 시점에서 각 모델의 성능을 측정한 것입니다. 평가 지표는 클래스 불균형을 고려한 Weighted F1 점수입니다. 결과를 보시면, 센서 단독 모델이 0.974, 카메라 두 대를 결합한 이미지 단독 모델이 0.928, 그리고 두 모델을 결합한 융합 모델이 0.981로 가장 높습니다. 차이가 크지는 않지만 중요한 점은 융합 모델이 센서·이미지 어느 한쪽보다도 더 나은 성능을 보였다는 것입니다. 이는 두 모달리티가 서로 다른 정보를 제공하고 있고, 융합 모델이 그 정보를 종합해서 더 정확한 판단을 내릴 수 있다는 것을 의미합니다. 즉 멀티모달 결합의 효과가 실제로 존재한다는 것을 보여줍니다.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9</a:t>
            </a:fld>
            <a:endParaRPr lang="ko-KR" altLang="en-US"/>
          </a:p>
        </p:txBody>
      </p:sp>
    </p:spTree>
    <p:extLst>
      <p:ext uri="{BB962C8B-B14F-4D97-AF65-F5344CB8AC3E}">
        <p14:creationId xmlns:p14="http://schemas.microsoft.com/office/powerpoint/2010/main" val="3255979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그런데 한 가지 의문이 들 수 있습니다. 만약 두 모달리티 중 한쪽이 너무 강하다면 다른 쪽을 결합해도 의미가 없는 것 아닌가, 반대로 한쪽이 너무 약하면 오히려 융합 모델이 끌려 내려가는 것 아닌가 하는 의문입니다. 이걸 확인하기 위해 추가 실험을 했습니다. 이미지 모델의 학습량을 인위적으로 조절해서 강한 이미지·약한 이미지·중간 강도 이렇게 세 가지 시나리오를 만들고, 각 경우에서 융합 성능을 측정했습니다. 결과를 보시면, 이미지가 약한 경우, 두 모달이 비등한 경우, 이미지가 강한 경우 모두에서 융합 모델이 두 단독 모델을 능가했습니다. 즉 두 모달리티의 강도가 다양하게 변해도 융합 효과가 일관되게 나타난다는 것이 확인되었습니다. 이는 멀티모달 접근이 특정 조건에서만 운 좋게 작동하는 것이 아니라, 일반적으로 유효한 전략임을 보여줍니다.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10</a:t>
            </a:fld>
            <a:endParaRPr lang="ko-KR" altLang="en-US"/>
          </a:p>
        </p:txBody>
      </p:sp>
    </p:spTree>
    <p:extLst>
      <p:ext uri="{BB962C8B-B14F-4D97-AF65-F5344CB8AC3E}">
        <p14:creationId xmlns:p14="http://schemas.microsoft.com/office/powerpoint/2010/main" val="86370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결론입니다. 저희 프로젝트는 세 가지를 확인했습니다. 첫째, 두 모달리티가 함께 입력되는 시점에서 융합 모델이 센서 단독 0.974, 이미지 단독 0.928보다 높은 F1 0.981을 기록하여 멀티모달 결합의 효과를 정량적으로 확인했습니다. 둘째, 이미지 모델의 강도를 다양하게 바꿔서 추가 실험을 한 결과, 어떤 강도 조건에서도 융합 모델이 단독 모델을 능가해 융합 효과의 일관성을 확인했습니다. 셋째, 이미지가 들어오지 않는 시점에는 자동으로 센서 모델만 사용하도록 설계해서, 결측 상황에서도 시스템이 안정적으로 작동합니다. 즉 저희 프로젝트의 의의는 단순히 멀티모달이 좋다는 결론을 내리는 것이 아니라, 어떤 조건에서 어떻게 좋은지를 실험으로 밝히고, 실제 산업 환경에 적용 가능한 견고한 구조를 설계했다는 점입니다.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11</a:t>
            </a:fld>
            <a:endParaRPr lang="ko-KR" altLang="en-US"/>
          </a:p>
        </p:txBody>
      </p:sp>
    </p:spTree>
    <p:extLst>
      <p:ext uri="{BB962C8B-B14F-4D97-AF65-F5344CB8AC3E}">
        <p14:creationId xmlns:p14="http://schemas.microsoft.com/office/powerpoint/2010/main" val="950960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질문 받겠습니다.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12</a:t>
            </a:fld>
            <a:endParaRPr lang="ko-KR" altLang="en-US"/>
          </a:p>
        </p:txBody>
      </p:sp>
    </p:spTree>
    <p:extLst>
      <p:ext uri="{BB962C8B-B14F-4D97-AF65-F5344CB8AC3E}">
        <p14:creationId xmlns:p14="http://schemas.microsoft.com/office/powerpoint/2010/main" val="69453913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결함 유형별로 모델이 얼마나 잘 작동하는지 분석한 결과입니다. NoNose 같은 단순한 단일 부품 결함은 F1 0.98로 거의 완벽하게 검출됩니다. 두 부품이 빠진 복합 결함은 0.87로 양호한 편입니다. 그런데 세 부품이 동시에 빠진 가장 복잡한 결함은 0.59로 검출 성능이 크게 떨어집니다. 이는 결함이 누적될수록 각 결함 유형의 시각적·센서적 특징이 서로 닮아져서 모델이 구분하기 어려워지기 때문입니다. 향후 개선이 필요한 핵심 지점이기도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분명히 있습니다. 단일 데이터셋으로만 검증해서 다른 제조 환경에서도 같은 효과가 나타날지는 추가 검증이 필요합니다. 또 융합 모델의 성능 향상이 크지는 않아서 통계적 유의성 검증이 더 필요합니다. 복합 결함 케이스도 0.59로 개선 여지가 큽니다. 향후 방향은 세 가지입니다. 다른 제조 환경 데이터로 일반화 검증, 도메인 지식을 학습에 반영하는 Knowledge Infusion, 그리고 복합 결함을 위한 특화 모델이나 데이터 증강 등입니다.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08931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09169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27079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87728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8891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2857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1958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637784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144301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9D645-73ED-4348-97C8-7DB3ADE2B2C4}" type="slidenum">
              <a:rPr lang="ko-KR" altLang="en-US" smtClean="0"/>
              <a:t>‹#›</a:t>
            </a:fld>
            <a:endParaRPr lang="ko-KR" altLang="en-US"/>
          </a:p>
        </p:txBody>
      </p:sp>
      <p:sp>
        <p:nvSpPr>
          <p:cNvPr id="200" name="BottomBar"/>
          <p:cNvSpPr/>
          <p:nvPr/>
        </p:nvSpPr>
        <p:spPr>
          <a:xfrm>
            <a:off x="0" y="6705600"/>
            <a:ext cx="12192000" cy="152400"/>
          </a:xfrm>
          <a:prstGeom prst="rect">
            <a:avLst/>
          </a:prstGeom>
          <a:gradFill>
            <a:gsLst>
              <a:gs pos="0">
                <a:srgbClr val="2676AC"/>
              </a:gs>
              <a:gs pos="35000">
                <a:srgbClr val="16A295"/>
              </a:gs>
              <a:gs pos="65000">
                <a:srgbClr val="93B64E"/>
              </a:gs>
              <a:gs pos="100000">
                <a:srgbClr val="AE729E"/>
              </a:gs>
            </a:gsLst>
            <a:lin ang="0" scaled="1"/>
          </a:gradFill>
          <a:ln>
            <a:noFill/>
          </a:ln>
        </p:spPr>
        <p:txBody>
          <a:bodyPr/>
          <a:lstStyle/>
          <a:p>
            <a:endParaRPr lang="ko-KR"/>
          </a:p>
        </p:txBody>
      </p:sp>
    </p:spTree>
    <p:extLst>
      <p:ext uri="{BB962C8B-B14F-4D97-AF65-F5344CB8AC3E}">
        <p14:creationId xmlns:p14="http://schemas.microsoft.com/office/powerpoint/2010/main" val="15577208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9" r:id="rId6"/>
    <p:sldLayoutId id="2147483770" r:id="rId7"/>
    <p:sldLayoutId id="2147483771" r:id="rId8"/>
    <p:sldLayoutId id="2147483772" r:id="rId9"/>
  </p:sldLayoutIdLst>
  <p:txStyles>
    <p:titleStyle>
      <a:lvl1pPr algn="l" defTabSz="914400" rtl="0" eaLnBrk="1" latinLnBrk="1" hangingPunct="1">
        <a:lnSpc>
          <a:spcPct val="90000"/>
        </a:lnSpc>
        <a:spcBef>
          <a:spcPct val="0"/>
        </a:spcBef>
        <a:buNone/>
        <a:defRPr sz="4400" kern="1200">
          <a:solidFill>
            <a:srgbClr val="1B2A4A"/>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2C759EB-AE6E-48F6-AB6F-B6041826839F}"/>
              </a:ext>
            </a:extLst>
          </p:cNvPr>
          <p:cNvSpPr/>
          <p:nvPr/>
        </p:nvSpPr>
        <p:spPr>
          <a:xfrm>
            <a:off x="0" y="0"/>
            <a:ext cx="12192000" cy="101600"/>
          </a:xfrm>
          <a:prstGeom prst="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nvGrpSpPr>
          <p:cNvPr id="21" name="그룹 20">
            <a:extLst>
              <a:ext uri="{FF2B5EF4-FFF2-40B4-BE49-F238E27FC236}">
                <a16:creationId xmlns:a16="http://schemas.microsoft.com/office/drawing/2014/main" id="{EBE95E33-541A-7ECA-DBE6-55DDF3E50930}"/>
              </a:ext>
            </a:extLst>
          </p:cNvPr>
          <p:cNvGrpSpPr/>
          <p:nvPr/>
        </p:nvGrpSpPr>
        <p:grpSpPr>
          <a:xfrm>
            <a:off x="1938392" y="1634163"/>
            <a:ext cx="7411092" cy="3302001"/>
            <a:chOff x="1250023" y="1632449"/>
            <a:chExt cx="7411092" cy="3302001"/>
          </a:xfrm>
        </p:grpSpPr>
        <p:sp>
          <p:nvSpPr>
            <p:cNvPr id="4" name="TextBox 3">
              <a:extLst>
                <a:ext uri="{FF2B5EF4-FFF2-40B4-BE49-F238E27FC236}">
                  <a16:creationId xmlns:a16="http://schemas.microsoft.com/office/drawing/2014/main" id="{3C0DAF61-DDE0-4C67-A740-1F6B1CD7178B}"/>
                </a:ext>
              </a:extLst>
            </p:cNvPr>
            <p:cNvSpPr txBox="1"/>
            <p:nvPr/>
          </p:nvSpPr>
          <p:spPr>
            <a:xfrm>
              <a:off x="1250023" y="1632449"/>
              <a:ext cx="7411092" cy="2286000"/>
            </a:xfrm>
            <a:prstGeom prst="rect">
              <a:avLst/>
            </a:prstGeom>
            <a:noFill/>
          </p:spPr>
          <p:txBody>
            <a:bodyPr vertOverflow="overflow" vert="horz" wrap="square" rtlCol="0" anchor="t">
              <a:noAutofit/>
            </a:bodyPr>
            <a:lstStyle/>
            <a:p>
              <a:pPr algn="l"/>
              <a:r>
                <a:rPr lang="en-US" altLang="ko-KR" sz="2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멀티모달 딥러닝 기반</a:t>
              </a:r>
              <a:endParaRPr lang="ko-KR" altLang="en-US" sz="26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a:p>
              <a:r>
                <a:rPr sz="2600" b="1">
                  <a:solidFill>
                    <a:srgbClr val="1B2A4A"/>
                  </a:solidFill>
                </a:rPr>
                <a:t>제조 공정 이상 탐지</a:t>
              </a:r>
            </a:p>
          </p:txBody>
        </p:sp>
        <p:sp>
          <p:nvSpPr>
            <p:cNvPr id="6" name="TextBox 5">
              <a:extLst>
                <a:ext uri="{FF2B5EF4-FFF2-40B4-BE49-F238E27FC236}">
                  <a16:creationId xmlns:a16="http://schemas.microsoft.com/office/drawing/2014/main" id="{FF4E0AD3-7E47-44C0-A762-E4DB795E0B7E}"/>
                </a:ext>
              </a:extLst>
            </p:cNvPr>
            <p:cNvSpPr txBox="1"/>
            <p:nvPr/>
          </p:nvSpPr>
          <p:spPr>
            <a:xfrm>
              <a:off x="1250023" y="3251699"/>
              <a:ext cx="6971016" cy="762000"/>
            </a:xfrm>
            <a:prstGeom prst="rect">
              <a:avLst/>
            </a:prstGeom>
            <a:noFill/>
          </p:spPr>
          <p:txBody>
            <a:bodyPr vertOverflow="overflow" vert="horz" wrap="square" rtlCol="0" anchor="t">
              <a:noAutofit/>
            </a:bodyPr>
            <a:lstStyle/>
            <a:p>
              <a:pPr algn="l"/>
              <a:r>
                <a:rPr lang="en-US" altLang="ko-KR" sz="1400">
                  <a:solidFill>
                    <a:srgbClr val="555555"/>
                  </a:solidFill>
                  <a:latin typeface="나눔고딕" panose="020D0604000000000000" pitchFamily="50" charset="-127"/>
                  <a:ea typeface="나눔고딕" panose="020D0604000000000000" pitchFamily="50" charset="-127"/>
                  <a:cs typeface="Arial" panose="020B0604020202020204" pitchFamily="34" charset="0"/>
                </a:rPr>
                <a:t>시계열 센서와 카메라 이미지를 함께 활용한 결함 자동 검출</a:t>
              </a:r>
              <a:endParaRPr lang="ko-KR" altLang="en-US" sz="14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TextBox 6">
              <a:extLst>
                <a:ext uri="{FF2B5EF4-FFF2-40B4-BE49-F238E27FC236}">
                  <a16:creationId xmlns:a16="http://schemas.microsoft.com/office/drawing/2014/main" id="{2E156A38-9E34-40E2-BAAB-0D515E2FAD93}"/>
                </a:ext>
              </a:extLst>
            </p:cNvPr>
            <p:cNvSpPr txBox="1"/>
            <p:nvPr/>
          </p:nvSpPr>
          <p:spPr>
            <a:xfrm>
              <a:off x="1250023" y="3791450"/>
              <a:ext cx="7298076" cy="381000"/>
            </a:xfrm>
            <a:prstGeom prst="rect">
              <a:avLst/>
            </a:prstGeom>
            <a:noFill/>
          </p:spPr>
          <p:txBody>
            <a:bodyPr vertOverflow="overflow" vert="horz" wrap="square" rtlCol="0" anchor="t">
              <a:noAutofit/>
            </a:bodyPr>
            <a:lstStyle/>
            <a:p>
              <a:pPr algn="l"/>
              <a:r>
                <a:rPr lang="en-US" altLang="ko-KR" sz="1400">
                  <a:solidFill>
                    <a:srgbClr val="2676AC"/>
                  </a:solidFill>
                  <a:latin typeface="나눔고딕" panose="020D0604000000000000" pitchFamily="50" charset="-127"/>
                  <a:ea typeface="나눔고딕" panose="020D0604000000000000" pitchFamily="50" charset="-127"/>
                  <a:cs typeface="Arial" panose="020B0604020202020204" pitchFamily="34" charset="0"/>
                </a:rPr>
                <a:t>아주대학교 딥러닝응용  |  최종 발표</a:t>
              </a:r>
              <a:endParaRPr lang="ko-KR" altLang="en-US" sz="1400">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23E903E7-1FBD-4E21-BB75-28CCF49C4405}"/>
                </a:ext>
              </a:extLst>
            </p:cNvPr>
            <p:cNvSpPr txBox="1"/>
            <p:nvPr/>
          </p:nvSpPr>
          <p:spPr>
            <a:xfrm>
              <a:off x="1250023" y="4553450"/>
              <a:ext cx="2099353" cy="381000"/>
            </a:xfrm>
            <a:prstGeom prst="rect">
              <a:avLst/>
            </a:prstGeom>
            <a:noFill/>
          </p:spPr>
          <p:txBody>
            <a:bodyPr vertOverflow="overflow" vert="horz" wrap="square" rtlCol="0" anchor="t">
              <a:noAutofit/>
            </a:bodyPr>
            <a:lstStyle/>
            <a:p>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[3</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조</a:t>
              </a:r>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김주헌</a:t>
              </a:r>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하현성</a:t>
              </a:r>
            </a:p>
          </p:txBody>
        </p:sp>
      </p:grpSp>
    </p:spTree>
    <p:extLst>
      <p:ext uri="{BB962C8B-B14F-4D97-AF65-F5344CB8AC3E}">
        <p14:creationId xmlns:p14="http://schemas.microsoft.com/office/powerpoint/2010/main" val="142367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왜 멀티모달이 필요한가</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센서만 보면?</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진동·온도·각도는 알지만 부품이 시각적으로 빠진 결함은 알기 어려움</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이미지만 보면?</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시각적 결함은 보이지만 로봇의 비정상 부하·동작 등은 알 수 없음</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두 데이터를 함께 쓰면?</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서로의 한계를 보완할 수 있다는 기대 — 멀티모달 접근의 출발점</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핵심 질문: 결합은 정말 항상 더 나은가? 어떤 조건에서 효과적인가?</a:t>
            </a:r>
          </a:p>
        </p:txBody>
      </p:sp>
    </p:spTree>
    <p:extLst>
      <p:ext uri="{BB962C8B-B14F-4D97-AF65-F5344CB8AC3E}">
        <p14:creationId xmlns:p14="http://schemas.microsoft.com/office/powerpoint/2010/main" val="165108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4F2F343-49D9-45BA-933C-349D18958A8C}"/>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F279297E-1192-4907-A5E6-BFAAC5E1F3C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02</a:t>
            </a:r>
            <a:endParaRPr lang="ko-KR" altLang="en-US" sz="1600" b="1">
              <a:solidFill>
                <a:srgbClr val="FFFFFF"/>
              </a:solidFill>
            </a:endParaRPr>
          </a:p>
        </p:txBody>
      </p:sp>
      <p:sp>
        <p:nvSpPr>
          <p:cNvPr id="5" name="TextBox 4">
            <a:extLst>
              <a:ext uri="{FF2B5EF4-FFF2-40B4-BE49-F238E27FC236}">
                <a16:creationId xmlns:a16="http://schemas.microsoft.com/office/drawing/2014/main" id="{72CF5864-6C9A-40FE-A90D-FD95FABB8883}"/>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프로젝트 목표</a:t>
            </a:r>
          </a:p>
        </p:txBody>
      </p:sp>
      <p:grpSp>
        <p:nvGrpSpPr>
          <p:cNvPr id="23" name="그룹 22">
            <a:extLst>
              <a:ext uri="{FF2B5EF4-FFF2-40B4-BE49-F238E27FC236}">
                <a16:creationId xmlns:a16="http://schemas.microsoft.com/office/drawing/2014/main" id="{5F3AB159-139A-0CE4-327C-F4D77DD803D5}"/>
              </a:ext>
            </a:extLst>
          </p:cNvPr>
          <p:cNvGrpSpPr/>
          <p:nvPr/>
        </p:nvGrpSpPr>
        <p:grpSpPr>
          <a:xfrm>
            <a:off x="698500" y="1600200"/>
            <a:ext cx="10795000" cy="3657600"/>
            <a:chOff x="508000" y="1079500"/>
            <a:chExt cx="10795000" cy="3657600"/>
          </a:xfrm>
        </p:grpSpPr>
        <p:sp>
          <p:nvSpPr>
            <p:cNvPr id="6" name="TextBox 5">
              <a:extLst>
                <a:ext uri="{FF2B5EF4-FFF2-40B4-BE49-F238E27FC236}">
                  <a16:creationId xmlns:a16="http://schemas.microsoft.com/office/drawing/2014/main" id="{A0639D39-7C95-4595-9A73-52E2B28BA140}"/>
                </a:ext>
              </a:extLst>
            </p:cNvPr>
            <p:cNvSpPr txBox="1"/>
            <p:nvPr/>
          </p:nvSpPr>
          <p:spPr>
            <a:xfrm>
              <a:off x="508000" y="1079500"/>
              <a:ext cx="10606783"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답하려는 세 가지 질문</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0D10900D-DD54-484D-8D37-9901F4C89756}"/>
                </a:ext>
              </a:extLst>
            </p:cNvPr>
            <p:cNvSpPr/>
            <p:nvPr/>
          </p:nvSpPr>
          <p:spPr>
            <a:xfrm>
              <a:off x="508000" y="1587500"/>
              <a:ext cx="3048000" cy="2286000"/>
            </a:xfrm>
            <a:prstGeom prst="roundRect">
              <a:avLst/>
            </a:prstGeom>
            <a:solidFill>
              <a:srgbClr val="FFFFFF"/>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타원 7">
              <a:extLst>
                <a:ext uri="{FF2B5EF4-FFF2-40B4-BE49-F238E27FC236}">
                  <a16:creationId xmlns:a16="http://schemas.microsoft.com/office/drawing/2014/main" id="{FA028449-C84E-4C1B-9017-AF23C4F6A054}"/>
                </a:ext>
              </a:extLst>
            </p:cNvPr>
            <p:cNvSpPr/>
            <p:nvPr/>
          </p:nvSpPr>
          <p:spPr>
            <a:xfrm>
              <a:off x="765281" y="1805183"/>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9" name="TextBox 8">
              <a:extLst>
                <a:ext uri="{FF2B5EF4-FFF2-40B4-BE49-F238E27FC236}">
                  <a16:creationId xmlns:a16="http://schemas.microsoft.com/office/drawing/2014/main" id="{4BE1EC74-9750-4E51-BE3F-E3C049FCAC73}"/>
                </a:ext>
              </a:extLst>
            </p:cNvPr>
            <p:cNvSpPr txBox="1"/>
            <p:nvPr/>
          </p:nvSpPr>
          <p:spPr>
            <a:xfrm>
              <a:off x="765281" y="2524158"/>
              <a:ext cx="3048000" cy="355600"/>
            </a:xfrm>
            <a:prstGeom prst="rect">
              <a:avLst/>
            </a:prstGeom>
            <a:noFill/>
          </p:spPr>
          <p:txBody>
            <a:bodyPr vertOverflow="overflow" vert="horz" wrap="square" rtlCol="0" anchor="t">
              <a:noAutofit/>
            </a:bodyPr>
            <a:lstStyle/>
            <a:p>
              <a:pPr algn="l"/>
              <a:r>
                <a:rPr lang="en-US" altLang="ko-KR" sz="1500" b="1">
                  <a:solidFill>
                    <a:srgbClr val="2676AC"/>
                  </a:solidFill>
                  <a:latin typeface="나눔고딕" panose="020D0604000000000000" pitchFamily="50" charset="-127"/>
                  <a:ea typeface="나눔고딕" panose="020D0604000000000000" pitchFamily="50" charset="-127"/>
                  <a:cs typeface="Arial" panose="020B0604020202020204" pitchFamily="34" charset="0"/>
                </a:rPr>
                <a:t>결합이 단독보다 나은가</a:t>
              </a:r>
              <a:endParaRPr lang="ko-KR" altLang="en-US" sz="15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0" name="TextBox 9">
              <a:extLst>
                <a:ext uri="{FF2B5EF4-FFF2-40B4-BE49-F238E27FC236}">
                  <a16:creationId xmlns:a16="http://schemas.microsoft.com/office/drawing/2014/main" id="{C07B4BBF-534C-43CD-9A4D-BDE0E4D82B9F}"/>
                </a:ext>
              </a:extLst>
            </p:cNvPr>
            <p:cNvSpPr txBox="1"/>
            <p:nvPr/>
          </p:nvSpPr>
          <p:spPr>
            <a:xfrm>
              <a:off x="7652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센서·이미지·융합 세 모델을</a:t>
              </a:r>
            </a:p>
            <a:p>
              <a:r>
                <a:rPr sz="1200">
                  <a:solidFill>
                    <a:srgbClr val="444444"/>
                  </a:solidFill>
                </a:rPr>
                <a:t>같은 조건에서 직접 비교</a:t>
              </a:r>
            </a:p>
          </p:txBody>
        </p:sp>
        <p:sp>
          <p:nvSpPr>
            <p:cNvPr id="12" name="사각형: 둥근 모서리 11">
              <a:extLst>
                <a:ext uri="{FF2B5EF4-FFF2-40B4-BE49-F238E27FC236}">
                  <a16:creationId xmlns:a16="http://schemas.microsoft.com/office/drawing/2014/main" id="{3F50AED4-79D2-4514-B234-E3195E11449D}"/>
                </a:ext>
              </a:extLst>
            </p:cNvPr>
            <p:cNvSpPr/>
            <p:nvPr/>
          </p:nvSpPr>
          <p:spPr>
            <a:xfrm>
              <a:off x="4381500" y="1587500"/>
              <a:ext cx="3048000" cy="2286000"/>
            </a:xfrm>
            <a:prstGeom prst="roundRect">
              <a:avLst/>
            </a:prstGeom>
            <a:solidFill>
              <a:srgbClr val="FFFFFF"/>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타원 12">
              <a:extLst>
                <a:ext uri="{FF2B5EF4-FFF2-40B4-BE49-F238E27FC236}">
                  <a16:creationId xmlns:a16="http://schemas.microsoft.com/office/drawing/2014/main" id="{0C2FA366-2311-42DF-9390-21A4FC725CCF}"/>
                </a:ext>
              </a:extLst>
            </p:cNvPr>
            <p:cNvSpPr/>
            <p:nvPr/>
          </p:nvSpPr>
          <p:spPr>
            <a:xfrm>
              <a:off x="4638781" y="1805183"/>
              <a:ext cx="558800" cy="5588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4" name="TextBox 13">
              <a:extLst>
                <a:ext uri="{FF2B5EF4-FFF2-40B4-BE49-F238E27FC236}">
                  <a16:creationId xmlns:a16="http://schemas.microsoft.com/office/drawing/2014/main" id="{DC19206D-A76F-4BB5-BD39-0F868D2F5FA7}"/>
                </a:ext>
              </a:extLst>
            </p:cNvPr>
            <p:cNvSpPr txBox="1"/>
            <p:nvPr/>
          </p:nvSpPr>
          <p:spPr>
            <a:xfrm>
              <a:off x="4638781" y="2524158"/>
              <a:ext cx="3048000" cy="355600"/>
            </a:xfrm>
            <a:prstGeom prst="rect">
              <a:avLst/>
            </a:prstGeom>
            <a:noFill/>
          </p:spPr>
          <p:txBody>
            <a:bodyPr vertOverflow="overflow" vert="horz" wrap="square" rtlCol="0" anchor="t">
              <a:noAutofit/>
            </a:bodyPr>
            <a:lstStyle/>
            <a:p>
              <a:pPr algn="l"/>
              <a:r>
                <a:rPr lang="en-US" altLang="ko-KR" sz="15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언제 이득이 발생하는가</a:t>
              </a:r>
              <a:endParaRPr lang="ko-KR" altLang="en-US" sz="15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5" name="TextBox 14">
              <a:extLst>
                <a:ext uri="{FF2B5EF4-FFF2-40B4-BE49-F238E27FC236}">
                  <a16:creationId xmlns:a16="http://schemas.microsoft.com/office/drawing/2014/main" id="{A5158363-372F-41F1-BC04-59E175D89C52}"/>
                </a:ext>
              </a:extLst>
            </p:cNvPr>
            <p:cNvSpPr txBox="1"/>
            <p:nvPr/>
          </p:nvSpPr>
          <p:spPr>
            <a:xfrm>
              <a:off x="46387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모달리티의 강도를</a:t>
              </a:r>
            </a:p>
            <a:p>
              <a:r>
                <a:rPr sz="1200">
                  <a:solidFill>
                    <a:srgbClr val="444444"/>
                  </a:solidFill>
                </a:rPr>
                <a:t>다양하게 조절하여</a:t>
              </a:r>
            </a:p>
            <a:p>
              <a:r>
                <a:rPr sz="1200">
                  <a:solidFill>
                    <a:srgbClr val="444444"/>
                  </a:solidFill>
                </a:rPr>
                <a:t>융합 효과의 일관성 검증</a:t>
              </a:r>
            </a:p>
          </p:txBody>
        </p:sp>
        <p:sp>
          <p:nvSpPr>
            <p:cNvPr id="17" name="사각형: 둥근 모서리 16">
              <a:extLst>
                <a:ext uri="{FF2B5EF4-FFF2-40B4-BE49-F238E27FC236}">
                  <a16:creationId xmlns:a16="http://schemas.microsoft.com/office/drawing/2014/main" id="{BD2E5B76-71D6-4872-BB9C-ABB15EAFAA0A}"/>
                </a:ext>
              </a:extLst>
            </p:cNvPr>
            <p:cNvSpPr/>
            <p:nvPr/>
          </p:nvSpPr>
          <p:spPr>
            <a:xfrm>
              <a:off x="8255000" y="1587500"/>
              <a:ext cx="3048000" cy="2286000"/>
            </a:xfrm>
            <a:prstGeom prst="roundRect">
              <a:avLst/>
            </a:prstGeom>
            <a:solidFill>
              <a:srgbClr val="FFFFFF"/>
            </a:solidFill>
            <a:ln w="25400" cap="flat" cmpd="sng" algn="ctr">
              <a:solidFill>
                <a:srgbClr val="93B6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타원 17">
              <a:extLst>
                <a:ext uri="{FF2B5EF4-FFF2-40B4-BE49-F238E27FC236}">
                  <a16:creationId xmlns:a16="http://schemas.microsoft.com/office/drawing/2014/main" id="{91B52DC5-B94F-4010-BCFA-DC5FFEE86617}"/>
                </a:ext>
              </a:extLst>
            </p:cNvPr>
            <p:cNvSpPr/>
            <p:nvPr/>
          </p:nvSpPr>
          <p:spPr>
            <a:xfrm>
              <a:off x="8512281" y="1805183"/>
              <a:ext cx="558800" cy="5588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9" name="TextBox 18">
              <a:extLst>
                <a:ext uri="{FF2B5EF4-FFF2-40B4-BE49-F238E27FC236}">
                  <a16:creationId xmlns:a16="http://schemas.microsoft.com/office/drawing/2014/main" id="{B6A0EC6B-2D35-4AD0-B4A4-3966345D54C8}"/>
                </a:ext>
              </a:extLst>
            </p:cNvPr>
            <p:cNvSpPr txBox="1"/>
            <p:nvPr/>
          </p:nvSpPr>
          <p:spPr>
            <a:xfrm>
              <a:off x="8512281" y="2524158"/>
              <a:ext cx="2602502" cy="355600"/>
            </a:xfrm>
            <a:prstGeom prst="rect">
              <a:avLst/>
            </a:prstGeom>
            <a:noFill/>
          </p:spPr>
          <p:txBody>
            <a:bodyPr vertOverflow="overflow" vert="horz" wrap="square" rtlCol="0" anchor="t">
              <a:noAutofit/>
            </a:bodyPr>
            <a:lstStyle/>
            <a:p>
              <a:pPr algn="l"/>
              <a:r>
                <a:rPr lang="en-US" altLang="ko-KR" sz="1500" b="1">
                  <a:solidFill>
                    <a:srgbClr val="93B64E"/>
                  </a:solidFill>
                  <a:latin typeface="나눔고딕" panose="020D0604000000000000" pitchFamily="50" charset="-127"/>
                  <a:ea typeface="나눔고딕" panose="020D0604000000000000" pitchFamily="50" charset="-127"/>
                  <a:cs typeface="Arial" panose="020B0604020202020204" pitchFamily="34" charset="0"/>
                </a:rPr>
                <a:t>이미지가 없는 순간엔</a:t>
              </a:r>
              <a:endParaRPr lang="ko-KR" altLang="en-US" sz="15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0" name="TextBox 19">
              <a:extLst>
                <a:ext uri="{FF2B5EF4-FFF2-40B4-BE49-F238E27FC236}">
                  <a16:creationId xmlns:a16="http://schemas.microsoft.com/office/drawing/2014/main" id="{F9B8E14A-D287-4F92-AA49-AADA410682D2}"/>
                </a:ext>
              </a:extLst>
            </p:cNvPr>
            <p:cNvSpPr txBox="1"/>
            <p:nvPr/>
          </p:nvSpPr>
          <p:spPr>
            <a:xfrm>
              <a:off x="8512281" y="2943258"/>
              <a:ext cx="2602502"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카메라 데이터가 없는 시점에도</a:t>
              </a:r>
            </a:p>
            <a:p>
              <a:r>
                <a:rPr sz="1200">
                  <a:solidFill>
                    <a:srgbClr val="444444"/>
                  </a:solidFill>
                </a:rPr>
                <a:t>안정적으로 작동하는</a:t>
              </a:r>
            </a:p>
            <a:p>
              <a:r>
                <a:rPr sz="1200">
                  <a:solidFill>
                    <a:srgbClr val="444444"/>
                  </a:solidFill>
                </a:rPr>
                <a:t>견고한 융합 설계</a:t>
              </a:r>
            </a:p>
          </p:txBody>
        </p:sp>
        <p:sp>
          <p:nvSpPr>
            <p:cNvPr id="21" name="사각형: 둥근 모서리 20">
              <a:extLst>
                <a:ext uri="{FF2B5EF4-FFF2-40B4-BE49-F238E27FC236}">
                  <a16:creationId xmlns:a16="http://schemas.microsoft.com/office/drawing/2014/main" id="{5D8CE290-11EE-4720-B950-D0F4FDB322F3}"/>
                </a:ext>
              </a:extLst>
            </p:cNvPr>
            <p:cNvSpPr/>
            <p:nvPr/>
          </p:nvSpPr>
          <p:spPr>
            <a:xfrm>
              <a:off x="508000" y="4127500"/>
              <a:ext cx="10795000" cy="609600"/>
            </a:xfrm>
            <a:prstGeom prst="roundRect">
              <a:avLst/>
            </a:prstGeom>
            <a:solidFill>
              <a:srgbClr val="F5F9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6641A26-DEA1-4E71-8F56-F64745B9F16C}"/>
                </a:ext>
              </a:extLst>
            </p:cNvPr>
            <p:cNvSpPr txBox="1"/>
            <p:nvPr/>
          </p:nvSpPr>
          <p:spPr>
            <a:xfrm>
              <a:off x="762000" y="4216400"/>
              <a:ext cx="10352783" cy="4445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단순히 ‘멀티모달이 좋다’가 아니라, ‘어떤 조건에서 어떻게 좋은가’를 정량적으로 규명</a:t>
              </a:r>
            </a:p>
          </p:txBody>
        </p:sp>
        <p:sp>
          <p:nvSpPr>
            <p:cNvPr id="11" name="화살표: 오른쪽 10">
              <a:extLst>
                <a:ext uri="{FF2B5EF4-FFF2-40B4-BE49-F238E27FC236}">
                  <a16:creationId xmlns:a16="http://schemas.microsoft.com/office/drawing/2014/main" id="{3450B821-5DF0-46D3-8A36-B63AA5080FCB}"/>
                </a:ext>
              </a:extLst>
            </p:cNvPr>
            <p:cNvSpPr/>
            <p:nvPr/>
          </p:nvSpPr>
          <p:spPr>
            <a:xfrm>
              <a:off x="3619500" y="25781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화살표: 오른쪽 15">
              <a:extLst>
                <a:ext uri="{FF2B5EF4-FFF2-40B4-BE49-F238E27FC236}">
                  <a16:creationId xmlns:a16="http://schemas.microsoft.com/office/drawing/2014/main" id="{69633D6C-C335-4D3A-94F8-788705375CCC}"/>
                </a:ext>
              </a:extLst>
            </p:cNvPr>
            <p:cNvSpPr/>
            <p:nvPr/>
          </p:nvSpPr>
          <p:spPr>
            <a:xfrm>
              <a:off x="7493000" y="25146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spTree>
    <p:extLst>
      <p:ext uri="{BB962C8B-B14F-4D97-AF65-F5344CB8AC3E}">
        <p14:creationId xmlns:p14="http://schemas.microsoft.com/office/powerpoint/2010/main" val="275203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94D440F-2CDE-4A22-95E0-BC24D298F7E8}"/>
              </a:ext>
            </a:extLst>
          </p:cNvPr>
          <p:cNvSpPr/>
          <p:nvPr/>
        </p:nvSpPr>
        <p:spPr>
          <a:xfrm>
            <a:off x="0" y="-46234"/>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3BC0469-B0DB-42C8-AF7F-884DFE2A8C1E}"/>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04</a:t>
            </a:r>
            <a:endParaRPr lang="ko-KR" altLang="en-US" sz="1600" b="1">
              <a:solidFill>
                <a:srgbClr val="FFFFFF"/>
              </a:solidFill>
            </a:endParaRPr>
          </a:p>
        </p:txBody>
      </p:sp>
      <p:sp>
        <p:nvSpPr>
          <p:cNvPr id="5" name="TextBox 4">
            <a:extLst>
              <a:ext uri="{FF2B5EF4-FFF2-40B4-BE49-F238E27FC236}">
                <a16:creationId xmlns:a16="http://schemas.microsoft.com/office/drawing/2014/main" id="{0C12993F-6372-46DC-A47F-FD97393BD727}"/>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세 가지 모델로 비교</a:t>
            </a:r>
          </a:p>
        </p:txBody>
      </p:sp>
      <p:sp>
        <p:nvSpPr>
          <p:cNvPr id="6" name="사각형: 둥근 모서리 5">
            <a:extLst>
              <a:ext uri="{FF2B5EF4-FFF2-40B4-BE49-F238E27FC236}">
                <a16:creationId xmlns:a16="http://schemas.microsoft.com/office/drawing/2014/main" id="{65127842-14A5-42F0-B28E-3ACFB2C79F05}"/>
              </a:ext>
            </a:extLst>
          </p:cNvPr>
          <p:cNvSpPr/>
          <p:nvPr/>
        </p:nvSpPr>
        <p:spPr>
          <a:xfrm>
            <a:off x="381000" y="1598342"/>
            <a:ext cx="3683000" cy="4826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ko-KR" altLang="en-US" sz="1400" b="1">
                <a:solidFill>
                  <a:srgbClr val="FFFFFF"/>
                </a:solidFill>
              </a:rPr>
              <a:t>센서 단독 — BiLSTM</a:t>
            </a:r>
            <a:endParaRPr lang="ko-KR" altLang="en-US" sz="1400" b="1">
              <a:solidFill>
                <a:srgbClr val="FFFFFF"/>
              </a:solidFill>
            </a:endParaRPr>
          </a:p>
        </p:txBody>
      </p:sp>
      <p:sp>
        <p:nvSpPr>
          <p:cNvPr id="7" name="사각형: 둥근 모서리 6">
            <a:extLst>
              <a:ext uri="{FF2B5EF4-FFF2-40B4-BE49-F238E27FC236}">
                <a16:creationId xmlns:a16="http://schemas.microsoft.com/office/drawing/2014/main" id="{310A4AF8-297D-4FDA-B735-7155BB78FF46}"/>
              </a:ext>
            </a:extLst>
          </p:cNvPr>
          <p:cNvSpPr/>
          <p:nvPr/>
        </p:nvSpPr>
        <p:spPr>
          <a:xfrm>
            <a:off x="381000" y="2144442"/>
            <a:ext cx="3683000" cy="1841500"/>
          </a:xfrm>
          <a:prstGeom prst="roundRect">
            <a:avLst>
              <a:gd name="adj" fmla="val 4184"/>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40A717B7-CFC2-4421-86C6-850E8CA586B0}"/>
              </a:ext>
            </a:extLst>
          </p:cNvPr>
          <p:cNvSpPr txBox="1"/>
          <p:nvPr/>
        </p:nvSpPr>
        <p:spPr>
          <a:xfrm>
            <a:off x="53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22채널 시계열 데이터</a:t>
            </a:r>
            <a:endParaRPr lang="ko-KR" altLang="en-US" sz="110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a:p>
            <a:r>
              <a:rPr sz="1100">
                <a:solidFill>
                  <a:srgbClr val="444444"/>
                </a:solidFill>
              </a:rPr>
              <a:t>• 양방향 LSTM (2-layer)</a:t>
            </a:r>
          </a:p>
          <a:p>
            <a:r>
              <a:rPr sz="1100">
                <a:solidFill>
                  <a:srgbClr val="444444"/>
                </a:solidFill>
              </a:rPr>
              <a:t>• 시간 흐름 패턴 분석</a:t>
            </a:r>
          </a:p>
          <a:p>
            <a:r>
              <a:rPr sz="1100">
                <a:solidFill>
                  <a:srgbClr val="444444"/>
                </a:solidFill>
              </a:rPr>
              <a:t>• 모든 시점에서 작동</a:t>
            </a:r>
          </a:p>
        </p:txBody>
      </p:sp>
      <p:sp>
        <p:nvSpPr>
          <p:cNvPr id="9" name="사각형: 둥근 모서리 8">
            <a:extLst>
              <a:ext uri="{FF2B5EF4-FFF2-40B4-BE49-F238E27FC236}">
                <a16:creationId xmlns:a16="http://schemas.microsoft.com/office/drawing/2014/main" id="{73137C35-247D-4CAF-B0E7-3F74A27D7ACC}"/>
              </a:ext>
            </a:extLst>
          </p:cNvPr>
          <p:cNvSpPr/>
          <p:nvPr/>
        </p:nvSpPr>
        <p:spPr>
          <a:xfrm>
            <a:off x="381000" y="4049442"/>
            <a:ext cx="3683000" cy="698500"/>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33E428B-44F8-4E37-BC47-8D2F449591A3}"/>
              </a:ext>
            </a:extLst>
          </p:cNvPr>
          <p:cNvSpPr txBox="1"/>
          <p:nvPr/>
        </p:nvSpPr>
        <p:spPr>
          <a:xfrm>
            <a:off x="53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항상 가용한</a:t>
            </a:r>
          </a:p>
          <a:p>
            <a:r>
              <a:rPr sz="1100" b="1">
                <a:solidFill>
                  <a:srgbClr val="E8584F"/>
                </a:solidFill>
              </a:rPr>
              <a:t>기본 모달리티</a:t>
            </a:r>
          </a:p>
        </p:txBody>
      </p:sp>
      <p:sp>
        <p:nvSpPr>
          <p:cNvPr id="11" name="사각형: 둥근 모서리 10">
            <a:extLst>
              <a:ext uri="{FF2B5EF4-FFF2-40B4-BE49-F238E27FC236}">
                <a16:creationId xmlns:a16="http://schemas.microsoft.com/office/drawing/2014/main" id="{7E223DCD-5241-4F1B-A6BE-CC72A0E0AF43}"/>
              </a:ext>
            </a:extLst>
          </p:cNvPr>
          <p:cNvSpPr/>
          <p:nvPr/>
        </p:nvSpPr>
        <p:spPr>
          <a:xfrm>
            <a:off x="4191000" y="1598342"/>
            <a:ext cx="3683000" cy="4826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이미지 단독 — ResNet18</a:t>
            </a:r>
            <a:endParaRPr lang="ko-KR" altLang="en-US" sz="1400" b="1">
              <a:solidFill>
                <a:srgbClr val="FFFFFF"/>
              </a:solidFill>
            </a:endParaRPr>
          </a:p>
        </p:txBody>
      </p:sp>
      <p:sp>
        <p:nvSpPr>
          <p:cNvPr id="12" name="사각형: 둥근 모서리 11">
            <a:extLst>
              <a:ext uri="{FF2B5EF4-FFF2-40B4-BE49-F238E27FC236}">
                <a16:creationId xmlns:a16="http://schemas.microsoft.com/office/drawing/2014/main" id="{AB26570A-179F-4888-A971-49AED315E673}"/>
              </a:ext>
            </a:extLst>
          </p:cNvPr>
          <p:cNvSpPr/>
          <p:nvPr/>
        </p:nvSpPr>
        <p:spPr>
          <a:xfrm>
            <a:off x="4191000" y="2144442"/>
            <a:ext cx="3683000" cy="1841500"/>
          </a:xfrm>
          <a:prstGeom prst="roundRect">
            <a:avLst>
              <a:gd name="adj" fmla="val 4393"/>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TextBox 12">
            <a:extLst>
              <a:ext uri="{FF2B5EF4-FFF2-40B4-BE49-F238E27FC236}">
                <a16:creationId xmlns:a16="http://schemas.microsoft.com/office/drawing/2014/main" id="{748AB003-6FDA-47A0-AE37-49397A164B5C}"/>
              </a:ext>
            </a:extLst>
          </p:cNvPr>
          <p:cNvSpPr txBox="1"/>
          <p:nvPr/>
        </p:nvSpPr>
        <p:spPr>
          <a:xfrm>
            <a:off x="434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카메라 2대 동기 입력</a:t>
            </a:r>
          </a:p>
          <a:p>
            <a:r>
              <a:rPr sz="1100">
                <a:solidFill>
                  <a:srgbClr val="444444"/>
                </a:solidFill>
              </a:rPr>
              <a:t>• ImageNet 전이학습</a:t>
            </a:r>
          </a:p>
          <a:p>
            <a:r>
              <a:rPr sz="1100">
                <a:solidFill>
                  <a:srgbClr val="444444"/>
                </a:solidFill>
              </a:rPr>
              <a:t>• 두 카메라 특징 평균</a:t>
            </a:r>
          </a:p>
          <a:p>
            <a:r>
              <a:rPr sz="1100">
                <a:solidFill>
                  <a:srgbClr val="444444"/>
                </a:solidFill>
              </a:rPr>
              <a:t>• 시각적 결함 직접 판별</a:t>
            </a:r>
          </a:p>
        </p:txBody>
      </p:sp>
      <p:sp>
        <p:nvSpPr>
          <p:cNvPr id="14" name="사각형: 둥근 모서리 13">
            <a:extLst>
              <a:ext uri="{FF2B5EF4-FFF2-40B4-BE49-F238E27FC236}">
                <a16:creationId xmlns:a16="http://schemas.microsoft.com/office/drawing/2014/main" id="{CA05D5A7-5FFE-4205-A2EB-F052149016EB}"/>
              </a:ext>
            </a:extLst>
          </p:cNvPr>
          <p:cNvSpPr/>
          <p:nvPr/>
        </p:nvSpPr>
        <p:spPr>
          <a:xfrm>
            <a:off x="4191000" y="4049442"/>
            <a:ext cx="3683000" cy="698500"/>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796E16D0-C435-4DC5-B5BF-A0E3B602E14C}"/>
              </a:ext>
            </a:extLst>
          </p:cNvPr>
          <p:cNvSpPr txBox="1"/>
          <p:nvPr/>
        </p:nvSpPr>
        <p:spPr>
          <a:xfrm>
            <a:off x="434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시각 정보로</a:t>
            </a:r>
          </a:p>
          <a:p>
            <a:r>
              <a:rPr sz="1100" b="1">
                <a:solidFill>
                  <a:srgbClr val="E8584F"/>
                </a:solidFill>
              </a:rPr>
              <a:t>결함 직접 포착</a:t>
            </a:r>
          </a:p>
        </p:txBody>
      </p:sp>
      <p:sp>
        <p:nvSpPr>
          <p:cNvPr id="16" name="사각형: 둥근 모서리 15">
            <a:extLst>
              <a:ext uri="{FF2B5EF4-FFF2-40B4-BE49-F238E27FC236}">
                <a16:creationId xmlns:a16="http://schemas.microsoft.com/office/drawing/2014/main" id="{116A9196-9330-494A-834F-2B0C2CBA3D66}"/>
              </a:ext>
            </a:extLst>
          </p:cNvPr>
          <p:cNvSpPr/>
          <p:nvPr/>
        </p:nvSpPr>
        <p:spPr>
          <a:xfrm>
            <a:off x="8001000" y="1598342"/>
            <a:ext cx="3683000" cy="4826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융합 — Decision-level</a:t>
            </a:r>
            <a:endParaRPr lang="ko-KR" altLang="en-US" sz="1400" b="1">
              <a:solidFill>
                <a:srgbClr val="FFFFFF"/>
              </a:solidFill>
            </a:endParaRPr>
          </a:p>
        </p:txBody>
      </p:sp>
      <p:sp>
        <p:nvSpPr>
          <p:cNvPr id="17" name="사각형: 둥근 모서리 16">
            <a:extLst>
              <a:ext uri="{FF2B5EF4-FFF2-40B4-BE49-F238E27FC236}">
                <a16:creationId xmlns:a16="http://schemas.microsoft.com/office/drawing/2014/main" id="{6E029E81-9A6F-4464-951C-CC79A9F835F7}"/>
              </a:ext>
            </a:extLst>
          </p:cNvPr>
          <p:cNvSpPr/>
          <p:nvPr/>
        </p:nvSpPr>
        <p:spPr>
          <a:xfrm>
            <a:off x="8001000" y="2144442"/>
            <a:ext cx="3683000" cy="1841500"/>
          </a:xfrm>
          <a:prstGeom prst="roundRect">
            <a:avLst>
              <a:gd name="adj" fmla="val 3835"/>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904F73FC-4C57-4C87-9023-B72CE7DC9922}"/>
              </a:ext>
            </a:extLst>
          </p:cNvPr>
          <p:cNvSpPr txBox="1"/>
          <p:nvPr/>
        </p:nvSpPr>
        <p:spPr>
          <a:xfrm>
            <a:off x="815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두 모델 출력 확률 결합</a:t>
            </a:r>
          </a:p>
          <a:p>
            <a:r>
              <a:rPr sz="1100">
                <a:solidFill>
                  <a:srgbClr val="444444"/>
                </a:solidFill>
              </a:rPr>
              <a:t>• 가중치는 train에서 결정</a:t>
            </a:r>
          </a:p>
          <a:p>
            <a:r>
              <a:rPr sz="1100">
                <a:solidFill>
                  <a:srgbClr val="444444"/>
                </a:solidFill>
              </a:rPr>
              <a:t>• 이미지 없으면 센서만</a:t>
            </a:r>
          </a:p>
          <a:p>
            <a:r>
              <a:rPr sz="1100">
                <a:solidFill>
                  <a:srgbClr val="444444"/>
                </a:solidFill>
              </a:rPr>
              <a:t>• 결측에 견고한 구조</a:t>
            </a:r>
          </a:p>
        </p:txBody>
      </p:sp>
      <p:sp>
        <p:nvSpPr>
          <p:cNvPr id="19" name="사각형: 둥근 모서리 18">
            <a:extLst>
              <a:ext uri="{FF2B5EF4-FFF2-40B4-BE49-F238E27FC236}">
                <a16:creationId xmlns:a16="http://schemas.microsoft.com/office/drawing/2014/main" id="{10DFF70D-1BD4-4535-828C-4CBF9985661E}"/>
              </a:ext>
            </a:extLst>
          </p:cNvPr>
          <p:cNvSpPr/>
          <p:nvPr/>
        </p:nvSpPr>
        <p:spPr>
          <a:xfrm>
            <a:off x="8001000" y="4049442"/>
            <a:ext cx="3683000" cy="698500"/>
          </a:xfrm>
          <a:prstGeom prst="roundRect">
            <a:avLst>
              <a:gd name="adj" fmla="val 11519"/>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TextBox 19">
            <a:extLst>
              <a:ext uri="{FF2B5EF4-FFF2-40B4-BE49-F238E27FC236}">
                <a16:creationId xmlns:a16="http://schemas.microsoft.com/office/drawing/2014/main" id="{08200ACC-F9B7-453E-8D25-84864C768E0D}"/>
              </a:ext>
            </a:extLst>
          </p:cNvPr>
          <p:cNvSpPr txBox="1"/>
          <p:nvPr/>
        </p:nvSpPr>
        <p:spPr>
          <a:xfrm>
            <a:off x="815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두 정보 종합</a:t>
            </a:r>
          </a:p>
          <a:p>
            <a:r>
              <a:rPr sz="1100" b="1">
                <a:solidFill>
                  <a:srgbClr val="E8584F"/>
                </a:solidFill>
              </a:rPr>
              <a:t>+ 자동 폴백</a:t>
            </a:r>
          </a:p>
        </p:txBody>
      </p:sp>
      <p:sp>
        <p:nvSpPr>
          <p:cNvPr id="21" name="사각형: 둥근 모서리 20">
            <a:extLst>
              <a:ext uri="{FF2B5EF4-FFF2-40B4-BE49-F238E27FC236}">
                <a16:creationId xmlns:a16="http://schemas.microsoft.com/office/drawing/2014/main" id="{E22FFDF2-E4C6-4A0A-808D-AD162E1B89C7}"/>
              </a:ext>
            </a:extLst>
          </p:cNvPr>
          <p:cNvSpPr/>
          <p:nvPr/>
        </p:nvSpPr>
        <p:spPr>
          <a:xfrm>
            <a:off x="381000" y="4900342"/>
            <a:ext cx="11341813" cy="508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31801983-7CEE-40A2-8D51-4C50978BAF1C}"/>
              </a:ext>
            </a:extLst>
          </p:cNvPr>
          <p:cNvSpPr txBox="1"/>
          <p:nvPr/>
        </p:nvSpPr>
        <p:spPr>
          <a:xfrm>
            <a:off x="635000" y="4989242"/>
            <a:ext cx="10922000" cy="3556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세 모델 모두 같은 학습/테스트 분할로 학습되어 공정한 직접 비교가 가능</a:t>
            </a:r>
          </a:p>
        </p:txBody>
      </p:sp>
    </p:spTree>
    <p:extLst>
      <p:ext uri="{BB962C8B-B14F-4D97-AF65-F5344CB8AC3E}">
        <p14:creationId xmlns:p14="http://schemas.microsoft.com/office/powerpoint/2010/main" val="368323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44F69472-44A6-4369-B22F-F106D9569905}"/>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9EBD975-E638-41F2-ADA6-952D8B13AAC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03</a:t>
            </a:r>
            <a:endParaRPr lang="ko-KR" altLang="en-US" sz="1600" b="1">
              <a:solidFill>
                <a:srgbClr val="FFFFFF"/>
              </a:solidFill>
            </a:endParaRPr>
          </a:p>
        </p:txBody>
      </p:sp>
      <p:sp>
        <p:nvSpPr>
          <p:cNvPr id="5" name="TextBox 4">
            <a:extLst>
              <a:ext uri="{FF2B5EF4-FFF2-40B4-BE49-F238E27FC236}">
                <a16:creationId xmlns:a16="http://schemas.microsoft.com/office/drawing/2014/main" id="{113D395D-7CB5-4918-BCDF-218B4B5BC332}"/>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데이터셋: Future Factories Lab (USC)</a:t>
            </a:r>
          </a:p>
        </p:txBody>
      </p:sp>
      <p:sp>
        <p:nvSpPr>
          <p:cNvPr id="6" name="TextBox 5">
            <a:extLst>
              <a:ext uri="{FF2B5EF4-FFF2-40B4-BE49-F238E27FC236}">
                <a16:creationId xmlns:a16="http://schemas.microsoft.com/office/drawing/2014/main" id="{0FC210FD-6C21-435B-9045-5ED8170F5EAF}"/>
              </a:ext>
            </a:extLst>
          </p:cNvPr>
          <p:cNvSpPr txBox="1"/>
          <p:nvPr/>
        </p:nvSpPr>
        <p:spPr>
          <a:xfrm>
            <a:off x="508000" y="1611615"/>
            <a:ext cx="5080000"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Future Factories Lab Dataset (USC)</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D41B44AC-E48C-4514-BD49-9D6B33BFEB01}"/>
              </a:ext>
            </a:extLst>
          </p:cNvPr>
          <p:cNvSpPr/>
          <p:nvPr/>
        </p:nvSpPr>
        <p:spPr>
          <a:xfrm>
            <a:off x="508000" y="2094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749D75D6-073B-4DE6-B2AA-F29C7C8D9F68}"/>
              </a:ext>
            </a:extLst>
          </p:cNvPr>
          <p:cNvSpPr txBox="1"/>
          <p:nvPr/>
        </p:nvSpPr>
        <p:spPr>
          <a:xfrm>
            <a:off x="698500" y="2132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라인:  로봇 4대 + 컨베이어로 구성된 실제 산업 라인</a:t>
            </a:r>
          </a:p>
        </p:txBody>
      </p:sp>
      <p:sp>
        <p:nvSpPr>
          <p:cNvPr id="9" name="사각형: 둥근 모서리 8">
            <a:extLst>
              <a:ext uri="{FF2B5EF4-FFF2-40B4-BE49-F238E27FC236}">
                <a16:creationId xmlns:a16="http://schemas.microsoft.com/office/drawing/2014/main" id="{1FE7DB88-1722-48F8-B696-334F217387B1}"/>
              </a:ext>
            </a:extLst>
          </p:cNvPr>
          <p:cNvSpPr/>
          <p:nvPr/>
        </p:nvSpPr>
        <p:spPr>
          <a:xfrm>
            <a:off x="508000" y="25387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F8F1F657-AD2B-494F-A655-424D39DC48B5}"/>
              </a:ext>
            </a:extLst>
          </p:cNvPr>
          <p:cNvSpPr txBox="1"/>
          <p:nvPr/>
        </p:nvSpPr>
        <p:spPr>
          <a:xfrm>
            <a:off x="698500" y="25768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대상:  4개 부품으로 된 로켓 모형</a:t>
            </a:r>
          </a:p>
        </p:txBody>
      </p:sp>
      <p:sp>
        <p:nvSpPr>
          <p:cNvPr id="11" name="사각형: 둥근 모서리 10">
            <a:extLst>
              <a:ext uri="{FF2B5EF4-FFF2-40B4-BE49-F238E27FC236}">
                <a16:creationId xmlns:a16="http://schemas.microsoft.com/office/drawing/2014/main" id="{276E0808-C1DE-4798-9D3C-93369AA53683}"/>
              </a:ext>
            </a:extLst>
          </p:cNvPr>
          <p:cNvSpPr/>
          <p:nvPr/>
        </p:nvSpPr>
        <p:spPr>
          <a:xfrm>
            <a:off x="508000" y="2983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4F7220DD-14E3-49DA-A899-FB6C57395553}"/>
              </a:ext>
            </a:extLst>
          </p:cNvPr>
          <p:cNvSpPr txBox="1"/>
          <p:nvPr/>
        </p:nvSpPr>
        <p:spPr>
          <a:xfrm>
            <a:off x="698500" y="3021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수집 시간:  30시간, 약 166,000 측정 시점</a:t>
            </a:r>
          </a:p>
        </p:txBody>
      </p:sp>
      <p:sp>
        <p:nvSpPr>
          <p:cNvPr id="13" name="사각형: 둥근 모서리 12">
            <a:extLst>
              <a:ext uri="{FF2B5EF4-FFF2-40B4-BE49-F238E27FC236}">
                <a16:creationId xmlns:a16="http://schemas.microsoft.com/office/drawing/2014/main" id="{FDEC831B-D5BD-4095-85D4-D5521CA4AA25}"/>
              </a:ext>
            </a:extLst>
          </p:cNvPr>
          <p:cNvSpPr/>
          <p:nvPr/>
        </p:nvSpPr>
        <p:spPr>
          <a:xfrm>
            <a:off x="508000" y="34277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226B8F36-EED6-472F-A736-8B51F7BA4E79}"/>
              </a:ext>
            </a:extLst>
          </p:cNvPr>
          <p:cNvSpPr txBox="1"/>
          <p:nvPr/>
        </p:nvSpPr>
        <p:spPr>
          <a:xfrm>
            <a:off x="698500" y="34658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센서 데이터:  22채널 (그리퍼 부하, 관절 각도, 컨베이어 온도 등)</a:t>
            </a:r>
          </a:p>
        </p:txBody>
      </p:sp>
      <p:sp>
        <p:nvSpPr>
          <p:cNvPr id="15" name="사각형: 둥근 모서리 14">
            <a:extLst>
              <a:ext uri="{FF2B5EF4-FFF2-40B4-BE49-F238E27FC236}">
                <a16:creationId xmlns:a16="http://schemas.microsoft.com/office/drawing/2014/main" id="{C193E774-E4A3-47FD-871B-12E28412B0E6}"/>
              </a:ext>
            </a:extLst>
          </p:cNvPr>
          <p:cNvSpPr/>
          <p:nvPr/>
        </p:nvSpPr>
        <p:spPr>
          <a:xfrm>
            <a:off x="508000" y="3872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D21068F9-F28A-487F-91EF-57F506834EEC}"/>
              </a:ext>
            </a:extLst>
          </p:cNvPr>
          <p:cNvSpPr txBox="1"/>
          <p:nvPr/>
        </p:nvSpPr>
        <p:spPr>
          <a:xfrm>
            <a:off x="698500" y="3910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이미지 데이터:  카메라 2대 동기 촬영, 부품 보이는 단계에서 사용</a:t>
            </a:r>
          </a:p>
        </p:txBody>
      </p:sp>
      <p:sp>
        <p:nvSpPr>
          <p:cNvPr id="17" name="TextBox 16">
            <a:extLst>
              <a:ext uri="{FF2B5EF4-FFF2-40B4-BE49-F238E27FC236}">
                <a16:creationId xmlns:a16="http://schemas.microsoft.com/office/drawing/2014/main" id="{9951BA10-3E6D-40E9-9DE0-CC15ADE521DB}"/>
              </a:ext>
            </a:extLst>
          </p:cNvPr>
          <p:cNvSpPr txBox="1"/>
          <p:nvPr/>
        </p:nvSpPr>
        <p:spPr>
          <a:xfrm>
            <a:off x="6604002" y="1713215"/>
            <a:ext cx="5080000" cy="3175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이상 유형 분류</a:t>
            </a:r>
          </a:p>
        </p:txBody>
      </p:sp>
      <p:graphicFrame>
        <p:nvGraphicFramePr>
          <p:cNvPr id="19" name="표 18">
            <a:extLst>
              <a:ext uri="{FF2B5EF4-FFF2-40B4-BE49-F238E27FC236}">
                <a16:creationId xmlns:a16="http://schemas.microsoft.com/office/drawing/2014/main" id="{CB84146B-07C4-4062-A314-23E8D7C31CCA}"/>
              </a:ext>
            </a:extLst>
          </p:cNvPr>
          <p:cNvGraphicFramePr>
            <a:graphicFrameLocks noGrp="1"/>
          </p:cNvGraphicFramePr>
          <p:nvPr>
            <p:extLst>
              <p:ext uri="{D42A27DB-BD31-4B8C-83A1-F6EECF244321}">
                <p14:modId xmlns:p14="http://schemas.microsoft.com/office/powerpoint/2010/main" val="1253984825"/>
              </p:ext>
            </p:extLst>
          </p:nvPr>
        </p:nvGraphicFramePr>
        <p:xfrm>
          <a:off x="6604002" y="2094215"/>
          <a:ext cx="5080000" cy="2158998"/>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3642264490"/>
                    </a:ext>
                  </a:extLst>
                </a:gridCol>
                <a:gridCol w="2540000">
                  <a:extLst>
                    <a:ext uri="{9D8B030D-6E8A-4147-A177-3AD203B41FA5}">
                      <a16:colId xmlns:a16="http://schemas.microsoft.com/office/drawing/2014/main" val="1844567270"/>
                    </a:ext>
                  </a:extLst>
                </a:gridCol>
              </a:tblGrid>
              <a:tr h="359833">
                <a:tc>
                  <a:txBody>
                    <a:bodyPr/>
                    <a:lstStyle/>
                    <a:p>
                      <a:pPr algn="ctr">
                        <a:lnSpc>
                          <a:spcPct val="150000"/>
                        </a:lnSpc>
                      </a:pPr>
                      <a:r>
                        <a:rPr lang="ko-KR" altLang="en-US" sz="1100" b="1">
                          <a:solidFill>
                            <a:srgbClr val="FFFFFF"/>
                          </a:solidFill>
                        </a:rPr>
                        <a:t>이상 유형</a:t>
                      </a:r>
                    </a:p>
                  </a:txBody>
                  <a:tcPr>
                    <a:solidFill>
                      <a:srgbClr val="1B2A4A"/>
                    </a:solidFill>
                  </a:tcPr>
                </a:tc>
                <a:tc>
                  <a:txBody>
                    <a:bodyPr/>
                    <a:lstStyle/>
                    <a:p>
                      <a:pPr algn="ctr">
                        <a:lnSpc>
                          <a:spcPct val="150000"/>
                        </a:lnSpc>
                      </a:pPr>
                      <a:r>
                        <a:rPr lang="ko-KR" altLang="en-US" sz="1100" b="1">
                          <a:solidFill>
                            <a:srgbClr val="FFFFFF"/>
                          </a:solidFill>
                        </a:rPr>
                        <a:t>비율</a:t>
                      </a:r>
                    </a:p>
                  </a:txBody>
                  <a:tcPr>
                    <a:solidFill>
                      <a:srgbClr val="1B2A4A"/>
                    </a:solidFill>
                  </a:tcPr>
                </a:tc>
                <a:extLst>
                  <a:ext uri="{0D108BD9-81ED-4DB2-BD59-A6C34878D82A}">
                    <a16:rowId xmlns:a16="http://schemas.microsoft.com/office/drawing/2014/main" val="550871531"/>
                  </a:ext>
                </a:extLst>
              </a:tr>
              <a:tr h="359833">
                <a:tc>
                  <a:txBody>
                    <a:bodyPr/>
                    <a:lstStyle/>
                    <a:p>
                      <a:pPr algn="l">
                        <a:lnSpc>
                          <a:spcPct val="150000"/>
                        </a:lnSpc>
                      </a:pPr>
                      <a:r>
                        <a:rPr lang="ko-KR" altLang="en-US" sz="1100" err="1">
                          <a:solidFill>
                            <a:srgbClr val="333333"/>
                          </a:solidFill>
                        </a:rPr>
                        <a:t>No</a:t>
                      </a:r>
                      <a:r>
                        <a:rPr lang="ko-KR" altLang="en-US" sz="1100">
                          <a:solidFill>
                            <a:srgbClr val="333333"/>
                          </a:solidFill>
                        </a:rPr>
                        <a:t> </a:t>
                      </a:r>
                      <a:r>
                        <a:rPr lang="ko-KR" altLang="en-US" sz="1100" err="1">
                          <a:solidFill>
                            <a:srgbClr val="333333"/>
                          </a:solidFill>
                        </a:rPr>
                        <a:t>Anomaly</a:t>
                      </a:r>
                      <a:r>
                        <a:rPr lang="ko-KR" altLang="en-US" sz="1100">
                          <a:solidFill>
                            <a:srgbClr val="333333"/>
                          </a:solidFill>
                        </a:rPr>
                        <a:t> (정상)</a:t>
                      </a:r>
                    </a:p>
                  </a:txBody>
                  <a:tcPr/>
                </a:tc>
                <a:tc>
                  <a:txBody>
                    <a:bodyPr/>
                    <a:lstStyle/>
                    <a:p>
                      <a:pPr algn="ctr">
                        <a:lnSpc>
                          <a:spcPct val="150000"/>
                        </a:lnSpc>
                      </a:pPr>
                      <a:r>
                        <a:rPr lang="ko-KR" altLang="en-US" sz="1100">
                          <a:solidFill>
                            <a:srgbClr val="333333"/>
                          </a:solidFill>
                        </a:rPr>
                        <a:t>54.72%</a:t>
                      </a:r>
                    </a:p>
                  </a:txBody>
                  <a:tcPr/>
                </a:tc>
                <a:extLst>
                  <a:ext uri="{0D108BD9-81ED-4DB2-BD59-A6C34878D82A}">
                    <a16:rowId xmlns:a16="http://schemas.microsoft.com/office/drawing/2014/main" val="57346582"/>
                  </a:ext>
                </a:extLst>
              </a:tr>
              <a:tr h="359833">
                <a:tc>
                  <a:txBody>
                    <a:bodyPr/>
                    <a:lstStyle/>
                    <a:p>
                      <a:pPr algn="l">
                        <a:lnSpc>
                          <a:spcPct val="150000"/>
                        </a:lnSpc>
                      </a:pPr>
                      <a:r>
                        <a:rPr lang="ko-KR" altLang="en-US" sz="1100" err="1">
                          <a:solidFill>
                            <a:srgbClr val="333333"/>
                          </a:solidFill>
                        </a:rPr>
                        <a:t>NoNose</a:t>
                      </a:r>
                      <a:endParaRPr lang="ko-KR" altLang="en-US" sz="1100">
                        <a:solidFill>
                          <a:srgbClr val="333333"/>
                        </a:solidFill>
                      </a:endParaRPr>
                    </a:p>
                  </a:txBody>
                  <a:tcPr>
                    <a:solidFill>
                      <a:srgbClr val="F5F7FA"/>
                    </a:solidFill>
                  </a:tcPr>
                </a:tc>
                <a:tc>
                  <a:txBody>
                    <a:bodyPr/>
                    <a:lstStyle/>
                    <a:p>
                      <a:pPr algn="ctr">
                        <a:lnSpc>
                          <a:spcPct val="150000"/>
                        </a:lnSpc>
                      </a:pPr>
                      <a:r>
                        <a:rPr lang="ko-KR" altLang="en-US" sz="1100">
                          <a:solidFill>
                            <a:srgbClr val="333333"/>
                          </a:solidFill>
                        </a:rPr>
                        <a:t>11.63%</a:t>
                      </a:r>
                    </a:p>
                  </a:txBody>
                  <a:tcPr>
                    <a:solidFill>
                      <a:srgbClr val="F5F7FA"/>
                    </a:solidFill>
                  </a:tcPr>
                </a:tc>
                <a:extLst>
                  <a:ext uri="{0D108BD9-81ED-4DB2-BD59-A6C34878D82A}">
                    <a16:rowId xmlns:a16="http://schemas.microsoft.com/office/drawing/2014/main" val="4259242690"/>
                  </a:ext>
                </a:extLst>
              </a:tr>
              <a:tr h="359833">
                <a:tc>
                  <a:txBody>
                    <a:bodyPr/>
                    <a:lstStyle/>
                    <a:p>
                      <a:pPr algn="l">
                        <a:lnSpc>
                          <a:spcPct val="150000"/>
                        </a:lnSpc>
                      </a:pPr>
                      <a:r>
                        <a:rPr lang="ko-KR" altLang="en-US" sz="1100" err="1">
                          <a:solidFill>
                            <a:srgbClr val="333333"/>
                          </a:solidFill>
                        </a:rPr>
                        <a:t>NoNose</a:t>
                      </a:r>
                      <a:r>
                        <a:rPr lang="ko-KR" altLang="en-US" sz="1100">
                          <a:solidFill>
                            <a:srgbClr val="333333"/>
                          </a:solidFill>
                        </a:rPr>
                        <a:t>, NoBody2</a:t>
                      </a:r>
                    </a:p>
                  </a:txBody>
                  <a:tcPr/>
                </a:tc>
                <a:tc>
                  <a:txBody>
                    <a:bodyPr/>
                    <a:lstStyle/>
                    <a:p>
                      <a:pPr algn="ctr">
                        <a:lnSpc>
                          <a:spcPct val="150000"/>
                        </a:lnSpc>
                      </a:pPr>
                      <a:r>
                        <a:rPr lang="ko-KR" altLang="en-US" sz="1100">
                          <a:solidFill>
                            <a:srgbClr val="333333"/>
                          </a:solidFill>
                        </a:rPr>
                        <a:t>15.18%</a:t>
                      </a:r>
                    </a:p>
                  </a:txBody>
                  <a:tcPr/>
                </a:tc>
                <a:extLst>
                  <a:ext uri="{0D108BD9-81ED-4DB2-BD59-A6C34878D82A}">
                    <a16:rowId xmlns:a16="http://schemas.microsoft.com/office/drawing/2014/main" val="1689734928"/>
                  </a:ext>
                </a:extLst>
              </a:tr>
              <a:tr h="359833">
                <a:tc>
                  <a:txBody>
                    <a:bodyPr/>
                    <a:lstStyle/>
                    <a:p>
                      <a:pPr algn="l">
                        <a:lnSpc>
                          <a:spcPct val="150000"/>
                        </a:lnSpc>
                      </a:pPr>
                      <a:r>
                        <a:rPr lang="ko-KR" altLang="en-US" sz="1100">
                          <a:solidFill>
                            <a:srgbClr val="333333"/>
                          </a:solidFill>
                        </a:rPr>
                        <a:t>NoNose, NoBody2, NoBody1</a:t>
                      </a:r>
                    </a:p>
                  </a:txBody>
                  <a:tcPr>
                    <a:solidFill>
                      <a:srgbClr val="F5F7FA"/>
                    </a:solidFill>
                  </a:tcPr>
                </a:tc>
                <a:tc>
                  <a:txBody>
                    <a:bodyPr/>
                    <a:lstStyle/>
                    <a:p>
                      <a:pPr algn="ctr">
                        <a:lnSpc>
                          <a:spcPct val="150000"/>
                        </a:lnSpc>
                      </a:pPr>
                      <a:r>
                        <a:rPr lang="ko-KR" altLang="en-US" sz="1100">
                          <a:solidFill>
                            <a:srgbClr val="333333"/>
                          </a:solidFill>
                        </a:rPr>
                        <a:t>16.04%</a:t>
                      </a:r>
                    </a:p>
                  </a:txBody>
                  <a:tcPr>
                    <a:solidFill>
                      <a:srgbClr val="F5F7FA"/>
                    </a:solidFill>
                  </a:tcPr>
                </a:tc>
                <a:extLst>
                  <a:ext uri="{0D108BD9-81ED-4DB2-BD59-A6C34878D82A}">
                    <a16:rowId xmlns:a16="http://schemas.microsoft.com/office/drawing/2014/main" val="3607165976"/>
                  </a:ext>
                </a:extLst>
              </a:tr>
              <a:tr h="359833">
                <a:tc>
                  <a:txBody>
                    <a:bodyPr/>
                    <a:lstStyle/>
                    <a:p>
                      <a:pPr algn="l">
                        <a:lnSpc>
                          <a:spcPct val="150000"/>
                        </a:lnSpc>
                      </a:pPr>
                      <a:r>
                        <a:rPr lang="ko-KR" altLang="en-US" sz="1100">
                          <a:solidFill>
                            <a:srgbClr val="333333"/>
                          </a:solidFill>
                        </a:rPr>
                        <a:t>NoBody1, NoBody2 등</a:t>
                      </a:r>
                    </a:p>
                  </a:txBody>
                  <a:tcPr/>
                </a:tc>
                <a:tc>
                  <a:txBody>
                    <a:bodyPr/>
                    <a:lstStyle/>
                    <a:p>
                      <a:pPr algn="ctr">
                        <a:lnSpc>
                          <a:spcPct val="150000"/>
                        </a:lnSpc>
                      </a:pPr>
                      <a:r>
                        <a:rPr lang="ko-KR" altLang="en-US" sz="1100">
                          <a:solidFill>
                            <a:srgbClr val="333333"/>
                          </a:solidFill>
                        </a:rPr>
                        <a:t>합계 ~2.4%</a:t>
                      </a:r>
                    </a:p>
                  </a:txBody>
                  <a:tcPr/>
                </a:tc>
                <a:extLst>
                  <a:ext uri="{0D108BD9-81ED-4DB2-BD59-A6C34878D82A}">
                    <a16:rowId xmlns:a16="http://schemas.microsoft.com/office/drawing/2014/main" val="830743961"/>
                  </a:ext>
                </a:extLst>
              </a:tr>
            </a:tbl>
          </a:graphicData>
        </a:graphic>
      </p:graphicFrame>
      <p:sp>
        <p:nvSpPr>
          <p:cNvPr id="20" name="사각형: 둥근 모서리 19">
            <a:extLst>
              <a:ext uri="{FF2B5EF4-FFF2-40B4-BE49-F238E27FC236}">
                <a16:creationId xmlns:a16="http://schemas.microsoft.com/office/drawing/2014/main" id="{327A8F6E-5198-422A-8B6E-5F618B643376}"/>
              </a:ext>
            </a:extLst>
          </p:cNvPr>
          <p:cNvSpPr/>
          <p:nvPr/>
        </p:nvSpPr>
        <p:spPr>
          <a:xfrm>
            <a:off x="508000" y="4634215"/>
            <a:ext cx="11176000" cy="825500"/>
          </a:xfrm>
          <a:prstGeom prst="roundRect">
            <a:avLst/>
          </a:prstGeom>
          <a:solidFill>
            <a:srgbClr val="FFF8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7CBCE0F1-738A-43FE-B6CA-3BA4F3DD9CBB}"/>
              </a:ext>
            </a:extLst>
          </p:cNvPr>
          <p:cNvSpPr txBox="1"/>
          <p:nvPr/>
        </p:nvSpPr>
        <p:spPr>
          <a:xfrm>
            <a:off x="698500" y="4697715"/>
            <a:ext cx="2540000" cy="279400"/>
          </a:xfrm>
          <a:prstGeom prst="rect">
            <a:avLst/>
          </a:prstGeom>
          <a:noFill/>
        </p:spPr>
        <p:txBody>
          <a:bodyPr vertOverflow="overflow" vert="horz" wrap="square" rtlCol="0" anchor="t">
            <a:noAutofit/>
          </a:bodyPr>
          <a:lstStyle/>
          <a:p>
            <a:pPr algn="l"/>
            <a:r>
              <a:rPr lang="ko-KR" altLang="en-US" sz="1200" b="1">
                <a:solidFill>
                  <a:srgbClr val="F29E16"/>
                </a:solidFill>
                <a:latin typeface="나눔고딕" panose="020D0604000000000000" pitchFamily="50" charset="-127"/>
                <a:ea typeface="나눔고딕" panose="020D0604000000000000" pitchFamily="50" charset="-127"/>
                <a:cs typeface="Arial" panose="020B0604020202020204" pitchFamily="34" charset="0"/>
              </a:rPr>
              <a:t>라벨 구조</a:t>
            </a:r>
          </a:p>
        </p:txBody>
      </p:sp>
      <p:sp>
        <p:nvSpPr>
          <p:cNvPr id="22" name="TextBox 21">
            <a:extLst>
              <a:ext uri="{FF2B5EF4-FFF2-40B4-BE49-F238E27FC236}">
                <a16:creationId xmlns:a16="http://schemas.microsoft.com/office/drawing/2014/main" id="{8EBD75B3-898E-40CF-8468-BCF0BF5705CF}"/>
              </a:ext>
            </a:extLst>
          </p:cNvPr>
          <p:cNvSpPr txBox="1"/>
          <p:nvPr/>
        </p:nvSpPr>
        <p:spPr>
          <a:xfrm>
            <a:off x="698500" y="4989815"/>
            <a:ext cx="10668000" cy="444500"/>
          </a:xfrm>
          <a:prstGeom prst="rect">
            <a:avLst/>
          </a:prstGeom>
          <a:noFill/>
        </p:spPr>
        <p:txBody>
          <a:bodyPr vertOverflow="overflow" vert="horz" wrap="square" rtlCol="0" anchor="t">
            <a:noAutofit/>
          </a:bodyPr>
          <a:lstStyle/>
          <a:p>
            <a:pPr algn="l"/>
            <a:r>
              <a:rPr lang="en-US" altLang="ko-KR"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매 측정 시점마다 그 순간의 상태(정상/어떤 부품 빠짐)가 기록됨</a:t>
            </a:r>
          </a:p>
          <a:p>
            <a:r>
              <a:rPr sz="1200">
                <a:solidFill>
                  <a:srgbClr val="555555"/>
                </a:solidFill>
              </a:rPr>
              <a:t>→ ‘지금 이 순간 어떤 상태인가’를 매 시점 분류하는 과제</a:t>
            </a:r>
          </a:p>
        </p:txBody>
      </p:sp>
      <p:pic>
        <p:nvPicPr>
          <p:cNvPr id="23" name="Picture 22" descr="sensor_sample.png"/>
          <p:cNvPicPr>
            <a:picLocks noChangeAspect="1"/>
          </p:cNvPicPr>
          <p:nvPr/>
        </p:nvPicPr>
        <p:blipFill>
          <a:blip r:embed="rId3"/>
          <a:stretch>
            <a:fillRect/>
          </a:stretch>
        </p:blipFill>
        <p:spPr>
          <a:xfrm>
            <a:off x="640080" y="5760720"/>
            <a:ext cx="10972800" cy="914400"/>
          </a:xfrm>
          <a:prstGeom prst="rect">
            <a:avLst/>
          </a:prstGeom>
        </p:spPr>
      </p:pic>
    </p:spTree>
    <p:extLst>
      <p:ext uri="{BB962C8B-B14F-4D97-AF65-F5344CB8AC3E}">
        <p14:creationId xmlns:p14="http://schemas.microsoft.com/office/powerpoint/2010/main" val="392735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BE1E22D-06CF-4359-9924-19C9B34A5E61}"/>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DD25A201-B6C3-4649-8DB9-EF4302B01CD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05</a:t>
            </a:r>
            <a:endParaRPr lang="ko-KR" altLang="en-US" sz="1600" b="1">
              <a:solidFill>
                <a:srgbClr val="FFFFFF"/>
              </a:solidFill>
            </a:endParaRPr>
          </a:p>
        </p:txBody>
      </p:sp>
      <p:sp>
        <p:nvSpPr>
          <p:cNvPr id="5" name="TextBox 4">
            <a:extLst>
              <a:ext uri="{FF2B5EF4-FFF2-40B4-BE49-F238E27FC236}">
                <a16:creationId xmlns:a16="http://schemas.microsoft.com/office/drawing/2014/main" id="{D0824D9D-2C94-4564-B459-7DF5AD17E2EF}"/>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시스템 전체 파이프라인</a:t>
            </a:r>
          </a:p>
        </p:txBody>
      </p:sp>
      <p:grpSp>
        <p:nvGrpSpPr>
          <p:cNvPr id="30" name="그룹 29">
            <a:extLst>
              <a:ext uri="{FF2B5EF4-FFF2-40B4-BE49-F238E27FC236}">
                <a16:creationId xmlns:a16="http://schemas.microsoft.com/office/drawing/2014/main" id="{6EA34650-0C38-F7E2-4F58-538998269DDB}"/>
              </a:ext>
            </a:extLst>
          </p:cNvPr>
          <p:cNvGrpSpPr/>
          <p:nvPr/>
        </p:nvGrpSpPr>
        <p:grpSpPr>
          <a:xfrm>
            <a:off x="444500" y="1778000"/>
            <a:ext cx="11303000" cy="3302000"/>
            <a:chOff x="508000" y="1143000"/>
            <a:chExt cx="11303000" cy="3302000"/>
          </a:xfrm>
        </p:grpSpPr>
        <p:sp>
          <p:nvSpPr>
            <p:cNvPr id="6" name="사각형: 둥근 모서리 5">
              <a:extLst>
                <a:ext uri="{FF2B5EF4-FFF2-40B4-BE49-F238E27FC236}">
                  <a16:creationId xmlns:a16="http://schemas.microsoft.com/office/drawing/2014/main" id="{33121B5B-AC7E-4EB0-8007-DB0275201BA6}"/>
                </a:ext>
              </a:extLst>
            </p:cNvPr>
            <p:cNvSpPr/>
            <p:nvPr/>
          </p:nvSpPr>
          <p:spPr>
            <a:xfrm>
              <a:off x="508000" y="1143000"/>
              <a:ext cx="2286000" cy="6985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Sensor Data</a:t>
              </a:r>
              <a:endParaRPr lang="ko-KR" altLang="en-US" sz="1200" b="1">
                <a:solidFill>
                  <a:srgbClr val="FFFFFF"/>
                </a:solidFill>
              </a:endParaRPr>
            </a:p>
            <a:p>
              <a:r>
                <a:rPr sz="1200" b="1">
                  <a:solidFill>
                    <a:srgbClr val="FFFFFF"/>
                  </a:solidFill>
                </a:rPr>
                <a:t>(All timesteps)</a:t>
              </a:r>
            </a:p>
          </p:txBody>
        </p:sp>
        <p:sp>
          <p:nvSpPr>
            <p:cNvPr id="7" name="화살표: 오른쪽 6">
              <a:extLst>
                <a:ext uri="{FF2B5EF4-FFF2-40B4-BE49-F238E27FC236}">
                  <a16:creationId xmlns:a16="http://schemas.microsoft.com/office/drawing/2014/main" id="{D7F909FE-EA72-4430-84E5-711DDED494E4}"/>
                </a:ext>
              </a:extLst>
            </p:cNvPr>
            <p:cNvSpPr/>
            <p:nvPr/>
          </p:nvSpPr>
          <p:spPr>
            <a:xfrm>
              <a:off x="2895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사각형: 둥근 모서리 7">
              <a:extLst>
                <a:ext uri="{FF2B5EF4-FFF2-40B4-BE49-F238E27FC236}">
                  <a16:creationId xmlns:a16="http://schemas.microsoft.com/office/drawing/2014/main" id="{5C325942-ABD3-4032-9824-5E8B98A01446}"/>
                </a:ext>
              </a:extLst>
            </p:cNvPr>
            <p:cNvSpPr/>
            <p:nvPr/>
          </p:nvSpPr>
          <p:spPr>
            <a:xfrm>
              <a:off x="3429000" y="1143000"/>
              <a:ext cx="2286000" cy="698500"/>
            </a:xfrm>
            <a:prstGeom prst="roundRect">
              <a:avLst/>
            </a:prstGeom>
            <a:solidFill>
              <a:srgbClr val="EBF5FB"/>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2676AC"/>
                  </a:solidFill>
                </a:rPr>
                <a:t>BiLSTM</a:t>
              </a:r>
              <a:endParaRPr lang="ko-KR" altLang="en-US" sz="1200" b="1">
                <a:solidFill>
                  <a:srgbClr val="2676AC"/>
                </a:solidFill>
              </a:endParaRPr>
            </a:p>
            <a:p>
              <a:r>
                <a:rPr sz="1200" b="1">
                  <a:solidFill>
                    <a:srgbClr val="2676AC"/>
                  </a:solidFill>
                </a:rPr>
                <a:t>(2-layer)</a:t>
              </a:r>
            </a:p>
          </p:txBody>
        </p:sp>
        <p:sp>
          <p:nvSpPr>
            <p:cNvPr id="9" name="화살표: 오른쪽 8">
              <a:extLst>
                <a:ext uri="{FF2B5EF4-FFF2-40B4-BE49-F238E27FC236}">
                  <a16:creationId xmlns:a16="http://schemas.microsoft.com/office/drawing/2014/main" id="{505D91E8-F199-4B9F-93A0-3A3C6FB4450D}"/>
                </a:ext>
              </a:extLst>
            </p:cNvPr>
            <p:cNvSpPr/>
            <p:nvPr/>
          </p:nvSpPr>
          <p:spPr>
            <a:xfrm>
              <a:off x="5816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사각형: 둥근 모서리 9">
              <a:extLst>
                <a:ext uri="{FF2B5EF4-FFF2-40B4-BE49-F238E27FC236}">
                  <a16:creationId xmlns:a16="http://schemas.microsoft.com/office/drawing/2014/main" id="{911A605E-621C-477D-BAAC-1865812E62F7}"/>
                </a:ext>
              </a:extLst>
            </p:cNvPr>
            <p:cNvSpPr/>
            <p:nvPr/>
          </p:nvSpPr>
          <p:spPr>
            <a:xfrm>
              <a:off x="6350000" y="1143000"/>
              <a:ext cx="1651000" cy="698500"/>
            </a:xfrm>
            <a:prstGeom prst="roundRect">
              <a:avLst/>
            </a:prstGeom>
            <a:solidFill>
              <a:srgbClr val="D6EA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2676AC"/>
                  </a:solidFill>
                </a:rPr>
                <a:t>Sensor</a:t>
              </a:r>
              <a:endParaRPr lang="ko-KR" altLang="en-US" sz="1100">
                <a:solidFill>
                  <a:srgbClr val="2676AC"/>
                </a:solidFill>
              </a:endParaRPr>
            </a:p>
            <a:p>
              <a:r>
                <a:rPr sz="1100">
                  <a:solidFill>
                    <a:srgbClr val="2676AC"/>
                  </a:solidFill>
                </a:rPr>
                <a:t>Probability</a:t>
              </a:r>
            </a:p>
          </p:txBody>
        </p:sp>
        <p:sp>
          <p:nvSpPr>
            <p:cNvPr id="11" name="사각형: 둥근 모서리 10">
              <a:extLst>
                <a:ext uri="{FF2B5EF4-FFF2-40B4-BE49-F238E27FC236}">
                  <a16:creationId xmlns:a16="http://schemas.microsoft.com/office/drawing/2014/main" id="{0172FC1D-D90A-4E57-8018-A4D693A1840F}"/>
                </a:ext>
              </a:extLst>
            </p:cNvPr>
            <p:cNvSpPr/>
            <p:nvPr/>
          </p:nvSpPr>
          <p:spPr>
            <a:xfrm>
              <a:off x="508000" y="2159000"/>
              <a:ext cx="2286000" cy="6985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Camera Images</a:t>
              </a:r>
              <a:endParaRPr lang="ko-KR" altLang="en-US" sz="1200" b="1">
                <a:solidFill>
                  <a:srgbClr val="FFFFFF"/>
                </a:solidFill>
              </a:endParaRPr>
            </a:p>
            <a:p>
              <a:r>
                <a:rPr sz="1200" b="1">
                  <a:solidFill>
                    <a:srgbClr val="FFFFFF"/>
                  </a:solidFill>
                </a:rPr>
                <a:t>(Cam1 + Cam2)</a:t>
              </a:r>
            </a:p>
          </p:txBody>
        </p:sp>
        <p:sp>
          <p:nvSpPr>
            <p:cNvPr id="12" name="화살표: 오른쪽 11">
              <a:extLst>
                <a:ext uri="{FF2B5EF4-FFF2-40B4-BE49-F238E27FC236}">
                  <a16:creationId xmlns:a16="http://schemas.microsoft.com/office/drawing/2014/main" id="{B4D160E4-B85C-4F6B-992E-79BD9580D8BF}"/>
                </a:ext>
              </a:extLst>
            </p:cNvPr>
            <p:cNvSpPr/>
            <p:nvPr/>
          </p:nvSpPr>
          <p:spPr>
            <a:xfrm>
              <a:off x="2895600" y="2349500"/>
              <a:ext cx="444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사각형: 둥근 모서리 12">
              <a:extLst>
                <a:ext uri="{FF2B5EF4-FFF2-40B4-BE49-F238E27FC236}">
                  <a16:creationId xmlns:a16="http://schemas.microsoft.com/office/drawing/2014/main" id="{56365EAE-1EC0-4680-B1C3-B8BAF769F0F0}"/>
                </a:ext>
              </a:extLst>
            </p:cNvPr>
            <p:cNvSpPr/>
            <p:nvPr/>
          </p:nvSpPr>
          <p:spPr>
            <a:xfrm>
              <a:off x="34290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ResNet18</a:t>
              </a:r>
              <a:endParaRPr lang="ko-KR" altLang="en-US" sz="1200" b="1">
                <a:solidFill>
                  <a:srgbClr val="16A295"/>
                </a:solidFill>
              </a:endParaRPr>
            </a:p>
          </p:txBody>
        </p:sp>
        <p:sp>
          <p:nvSpPr>
            <p:cNvPr id="14" name="화살표: 오른쪽 13">
              <a:extLst>
                <a:ext uri="{FF2B5EF4-FFF2-40B4-BE49-F238E27FC236}">
                  <a16:creationId xmlns:a16="http://schemas.microsoft.com/office/drawing/2014/main" id="{F3B4D038-5F48-47D0-B924-6182A661C3D2}"/>
                </a:ext>
              </a:extLst>
            </p:cNvPr>
            <p:cNvSpPr/>
            <p:nvPr/>
          </p:nvSpPr>
          <p:spPr>
            <a:xfrm>
              <a:off x="46355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사각형: 둥근 모서리 14">
              <a:extLst>
                <a:ext uri="{FF2B5EF4-FFF2-40B4-BE49-F238E27FC236}">
                  <a16:creationId xmlns:a16="http://schemas.microsoft.com/office/drawing/2014/main" id="{32C01469-2A96-4041-8DEA-70BA92E31C2F}"/>
                </a:ext>
              </a:extLst>
            </p:cNvPr>
            <p:cNvSpPr/>
            <p:nvPr/>
          </p:nvSpPr>
          <p:spPr>
            <a:xfrm>
              <a:off x="50165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(shared)</a:t>
              </a:r>
              <a:endParaRPr lang="ko-KR" altLang="en-US" sz="1200" b="1">
                <a:solidFill>
                  <a:srgbClr val="16A295"/>
                </a:solidFill>
              </a:endParaRPr>
            </a:p>
          </p:txBody>
        </p:sp>
        <p:sp>
          <p:nvSpPr>
            <p:cNvPr id="16" name="화살표: 오른쪽 15">
              <a:extLst>
                <a:ext uri="{FF2B5EF4-FFF2-40B4-BE49-F238E27FC236}">
                  <a16:creationId xmlns:a16="http://schemas.microsoft.com/office/drawing/2014/main" id="{A52EA78F-89A1-4DCB-9025-CA3124B9C5C0}"/>
                </a:ext>
              </a:extLst>
            </p:cNvPr>
            <p:cNvSpPr/>
            <p:nvPr/>
          </p:nvSpPr>
          <p:spPr>
            <a:xfrm>
              <a:off x="62230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사각형: 둥근 모서리 16">
              <a:extLst>
                <a:ext uri="{FF2B5EF4-FFF2-40B4-BE49-F238E27FC236}">
                  <a16:creationId xmlns:a16="http://schemas.microsoft.com/office/drawing/2014/main" id="{0D4E11F3-CAAA-4E58-AC71-A87E456D5970}"/>
                </a:ext>
              </a:extLst>
            </p:cNvPr>
            <p:cNvSpPr/>
            <p:nvPr/>
          </p:nvSpPr>
          <p:spPr>
            <a:xfrm>
              <a:off x="6604000" y="2159000"/>
              <a:ext cx="1397000" cy="698500"/>
            </a:xfrm>
            <a:prstGeom prst="roundRect">
              <a:avLst/>
            </a:prstGeom>
            <a:solidFill>
              <a:srgbClr val="D5F5E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16A295"/>
                  </a:solidFill>
                </a:rPr>
                <a:t>Image</a:t>
              </a:r>
              <a:endParaRPr lang="ko-KR" altLang="en-US" sz="1100">
                <a:solidFill>
                  <a:srgbClr val="16A295"/>
                </a:solidFill>
              </a:endParaRPr>
            </a:p>
            <a:p>
              <a:r>
                <a:rPr sz="1100">
                  <a:solidFill>
                    <a:srgbClr val="16A295"/>
                  </a:solidFill>
                </a:rPr>
                <a:t>Probability</a:t>
              </a:r>
            </a:p>
          </p:txBody>
        </p:sp>
        <p:sp>
          <p:nvSpPr>
            <p:cNvPr id="18" name="사각형: 둥근 모서리 17">
              <a:extLst>
                <a:ext uri="{FF2B5EF4-FFF2-40B4-BE49-F238E27FC236}">
                  <a16:creationId xmlns:a16="http://schemas.microsoft.com/office/drawing/2014/main" id="{1A803B99-8160-4851-B53B-38D8ECFFDEF0}"/>
                </a:ext>
              </a:extLst>
            </p:cNvPr>
            <p:cNvSpPr/>
            <p:nvPr/>
          </p:nvSpPr>
          <p:spPr>
            <a:xfrm>
              <a:off x="8382000" y="1333500"/>
              <a:ext cx="1270000" cy="1270000"/>
            </a:xfrm>
            <a:prstGeom prst="roundRect">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Decision
Fusion
[fV ; hT]</a:t>
              </a:r>
              <a:endParaRPr lang="ko-KR" altLang="en-US" sz="1200" b="1">
                <a:solidFill>
                  <a:srgbClr val="FFFFFF"/>
                </a:solidFill>
              </a:endParaRPr>
            </a:p>
          </p:txBody>
        </p:sp>
        <p:sp>
          <p:nvSpPr>
            <p:cNvPr id="19" name="화살표: 오른쪽 18">
              <a:extLst>
                <a:ext uri="{FF2B5EF4-FFF2-40B4-BE49-F238E27FC236}">
                  <a16:creationId xmlns:a16="http://schemas.microsoft.com/office/drawing/2014/main" id="{30E731E0-7D1D-4D66-82D2-7CE3BF61D67E}"/>
                </a:ext>
              </a:extLst>
            </p:cNvPr>
            <p:cNvSpPr/>
            <p:nvPr/>
          </p:nvSpPr>
          <p:spPr>
            <a:xfrm>
              <a:off x="9753600" y="1778000"/>
              <a:ext cx="444500" cy="2794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사각형: 둥근 모서리 19">
              <a:extLst>
                <a:ext uri="{FF2B5EF4-FFF2-40B4-BE49-F238E27FC236}">
                  <a16:creationId xmlns:a16="http://schemas.microsoft.com/office/drawing/2014/main" id="{F6DAF1C8-FEA6-41A1-9071-9BE3E90DF4E6}"/>
                </a:ext>
              </a:extLst>
            </p:cNvPr>
            <p:cNvSpPr/>
            <p:nvPr/>
          </p:nvSpPr>
          <p:spPr>
            <a:xfrm>
              <a:off x="10287000" y="1206500"/>
              <a:ext cx="1524000" cy="6985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FC Layer
+ Classifier</a:t>
              </a:r>
              <a:endParaRPr lang="ko-KR" altLang="en-US" sz="1200" b="1">
                <a:solidFill>
                  <a:srgbClr val="FFFFFF"/>
                </a:solidFill>
              </a:endParaRPr>
            </a:p>
          </p:txBody>
        </p:sp>
        <p:sp>
          <p:nvSpPr>
            <p:cNvPr id="21" name="사각형: 둥근 모서리 20">
              <a:extLst>
                <a:ext uri="{FF2B5EF4-FFF2-40B4-BE49-F238E27FC236}">
                  <a16:creationId xmlns:a16="http://schemas.microsoft.com/office/drawing/2014/main" id="{CAC944CE-4FD8-4E22-97DB-B478F1517300}"/>
                </a:ext>
              </a:extLst>
            </p:cNvPr>
            <p:cNvSpPr/>
            <p:nvPr/>
          </p:nvSpPr>
          <p:spPr>
            <a:xfrm>
              <a:off x="10287000" y="2095500"/>
              <a:ext cx="1524000" cy="635000"/>
            </a:xfrm>
            <a:prstGeom prst="roundRect">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Anomaly
Prediction</a:t>
              </a:r>
              <a:endParaRPr lang="ko-KR" altLang="en-US" sz="1200" b="1">
                <a:solidFill>
                  <a:srgbClr val="FFFFFF"/>
                </a:solidFill>
              </a:endParaRPr>
            </a:p>
          </p:txBody>
        </p:sp>
        <p:sp>
          <p:nvSpPr>
            <p:cNvPr id="22" name="화살표: 오른쪽 21">
              <a:extLst>
                <a:ext uri="{FF2B5EF4-FFF2-40B4-BE49-F238E27FC236}">
                  <a16:creationId xmlns:a16="http://schemas.microsoft.com/office/drawing/2014/main" id="{643DCCE1-B3BE-4827-A6A7-12FF1B638CA9}"/>
                </a:ext>
              </a:extLst>
            </p:cNvPr>
            <p:cNvSpPr/>
            <p:nvPr/>
          </p:nvSpPr>
          <p:spPr>
            <a:xfrm>
              <a:off x="8064500" y="1371600"/>
              <a:ext cx="279400" cy="2286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화살표: 오른쪽 22">
              <a:extLst>
                <a:ext uri="{FF2B5EF4-FFF2-40B4-BE49-F238E27FC236}">
                  <a16:creationId xmlns:a16="http://schemas.microsoft.com/office/drawing/2014/main" id="{9DCE0817-C196-47F5-A78E-415878D487AF}"/>
                </a:ext>
              </a:extLst>
            </p:cNvPr>
            <p:cNvSpPr/>
            <p:nvPr/>
          </p:nvSpPr>
          <p:spPr>
            <a:xfrm>
              <a:off x="8064500" y="2349500"/>
              <a:ext cx="279400" cy="228600"/>
            </a:xfrm>
            <a:prstGeom prst="rightArrow">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사각형: 둥근 모서리 23">
              <a:extLst>
                <a:ext uri="{FF2B5EF4-FFF2-40B4-BE49-F238E27FC236}">
                  <a16:creationId xmlns:a16="http://schemas.microsoft.com/office/drawing/2014/main" id="{12FE88E6-971A-4EAD-991D-C734DF8BE0F7}"/>
                </a:ext>
              </a:extLst>
            </p:cNvPr>
            <p:cNvSpPr/>
            <p:nvPr/>
          </p:nvSpPr>
          <p:spPr>
            <a:xfrm>
              <a:off x="508000" y="3175000"/>
              <a:ext cx="5588000" cy="1270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E18F0ED5-23D1-456C-B55A-210A18A19C31}"/>
                </a:ext>
              </a:extLst>
            </p:cNvPr>
            <p:cNvSpPr txBox="1"/>
            <p:nvPr/>
          </p:nvSpPr>
          <p:spPr>
            <a:xfrm>
              <a:off x="698500" y="3276600"/>
              <a:ext cx="5207000" cy="279400"/>
            </a:xfrm>
            <a:prstGeom prst="rect">
              <a:avLst/>
            </a:prstGeom>
            <a:noFill/>
          </p:spPr>
          <p:txBody>
            <a:bodyPr vertOverflow="overflow" vert="horz" wrap="square" rtlCol="0" anchor="t">
              <a:noAutofit/>
            </a:bodyPr>
            <a:lstStyle/>
            <a:p>
              <a:pPr algn="l"/>
              <a:r>
                <a:rPr lang="en-US" altLang="ko-KR"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이미지가 들어오는 시점</a:t>
              </a:r>
              <a:endPar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6" name="TextBox 25">
              <a:extLst>
                <a:ext uri="{FF2B5EF4-FFF2-40B4-BE49-F238E27FC236}">
                  <a16:creationId xmlns:a16="http://schemas.microsoft.com/office/drawing/2014/main" id="{49E1646C-A8D7-4E7F-99D1-8CD75AD0A484}"/>
                </a:ext>
              </a:extLst>
            </p:cNvPr>
            <p:cNvSpPr txBox="1"/>
            <p:nvPr/>
          </p:nvSpPr>
          <p:spPr>
            <a:xfrm>
              <a:off x="698500" y="3594100"/>
              <a:ext cx="5207000" cy="69850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두 모델의 예측 확률을 가중 평균하여 최종 분류</a:t>
              </a:r>
              <a:endPar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a:p>
              <a:r>
                <a:rPr sz="1200">
                  <a:solidFill>
                    <a:srgbClr val="555555"/>
                  </a:solidFill>
                </a:rPr>
                <a:t>→ Decision-level Fusion</a:t>
              </a:r>
            </a:p>
          </p:txBody>
        </p:sp>
        <p:sp>
          <p:nvSpPr>
            <p:cNvPr id="27" name="사각형: 둥근 모서리 26">
              <a:extLst>
                <a:ext uri="{FF2B5EF4-FFF2-40B4-BE49-F238E27FC236}">
                  <a16:creationId xmlns:a16="http://schemas.microsoft.com/office/drawing/2014/main" id="{CE3F9BFF-3C3C-4EFD-B579-64D26021D1AF}"/>
                </a:ext>
              </a:extLst>
            </p:cNvPr>
            <p:cNvSpPr/>
            <p:nvPr/>
          </p:nvSpPr>
          <p:spPr>
            <a:xfrm>
              <a:off x="6350000" y="3175000"/>
              <a:ext cx="5461000" cy="1270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E3F29EAC-BBB8-47FE-9F29-225371A168BE}"/>
                </a:ext>
              </a:extLst>
            </p:cNvPr>
            <p:cNvSpPr txBox="1"/>
            <p:nvPr/>
          </p:nvSpPr>
          <p:spPr>
            <a:xfrm>
              <a:off x="6540500" y="3276600"/>
              <a:ext cx="5080000" cy="279400"/>
            </a:xfrm>
            <a:prstGeom prst="rect">
              <a:avLst/>
            </a:prstGeom>
            <a:noFill/>
          </p:spPr>
          <p:txBody>
            <a:bodyPr vertOverflow="overflow" vert="horz" wrap="square" rtlCol="0" anchor="t">
              <a:noAutofit/>
            </a:bodyPr>
            <a:lstStyle/>
            <a:p>
              <a:pPr algn="l"/>
              <a:r>
                <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이미지가 없는 시점</a:t>
              </a:r>
              <a:endPar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9" name="TextBox 28">
              <a:extLst>
                <a:ext uri="{FF2B5EF4-FFF2-40B4-BE49-F238E27FC236}">
                  <a16:creationId xmlns:a16="http://schemas.microsoft.com/office/drawing/2014/main" id="{1DAAD64D-E611-4E4E-9F5B-4F5CBD923DF1}"/>
                </a:ext>
              </a:extLst>
            </p:cNvPr>
            <p:cNvSpPr txBox="1"/>
            <p:nvPr/>
          </p:nvSpPr>
          <p:spPr>
            <a:xfrm>
              <a:off x="6540500" y="3594100"/>
              <a:ext cx="5080000" cy="69850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자동으로 센서 확률만 사용</a:t>
              </a:r>
            </a:p>
            <a:p>
              <a:r>
                <a:rPr sz="1200">
                  <a:solidFill>
                    <a:srgbClr val="555555"/>
                  </a:solidFill>
                </a:rPr>
                <a:t>→ 결측에 안정적으로 작동</a:t>
              </a:r>
            </a:p>
          </p:txBody>
        </p:sp>
      </p:grpSp>
    </p:spTree>
    <p:extLst>
      <p:ext uri="{BB962C8B-B14F-4D97-AF65-F5344CB8AC3E}">
        <p14:creationId xmlns:p14="http://schemas.microsoft.com/office/powerpoint/2010/main" val="79786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B455E5B-71F4-48C2-ADEC-0559BD1D01E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C40322B8-1E27-411D-81DF-682938F5447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AA609288-408F-4951-A1ED-CA79BB61EE2A}"/>
              </a:ext>
            </a:extLst>
          </p:cNvPr>
          <p:cNvSpPr txBox="1"/>
          <p:nvPr/>
        </p:nvSpPr>
        <p:spPr>
          <a:xfrm>
            <a:off x="1079500" y="190500"/>
            <a:ext cx="635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방법</a:t>
            </a:r>
            <a:r>
              <a:rPr lang="en-US" altLang="ko-KR"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 P1 → P2 → P3 </a:t>
            </a: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단계적 발전</a:t>
            </a:r>
          </a:p>
        </p:txBody>
      </p:sp>
      <p:grpSp>
        <p:nvGrpSpPr>
          <p:cNvPr id="24" name="그룹 23">
            <a:extLst>
              <a:ext uri="{FF2B5EF4-FFF2-40B4-BE49-F238E27FC236}">
                <a16:creationId xmlns:a16="http://schemas.microsoft.com/office/drawing/2014/main" id="{39498BBE-8CE1-A7FC-A774-EB4097957748}"/>
              </a:ext>
            </a:extLst>
          </p:cNvPr>
          <p:cNvGrpSpPr/>
          <p:nvPr/>
        </p:nvGrpSpPr>
        <p:grpSpPr>
          <a:xfrm>
            <a:off x="503575" y="1524000"/>
            <a:ext cx="11184849" cy="3810000"/>
            <a:chOff x="381000" y="1659990"/>
            <a:chExt cx="11184849" cy="3810000"/>
          </a:xfrm>
        </p:grpSpPr>
        <p:sp>
          <p:nvSpPr>
            <p:cNvPr id="6" name="사각형: 둥근 모서리 5">
              <a:extLst>
                <a:ext uri="{FF2B5EF4-FFF2-40B4-BE49-F238E27FC236}">
                  <a16:creationId xmlns:a16="http://schemas.microsoft.com/office/drawing/2014/main" id="{DF1A7D5F-B943-4628-9636-D8DE9C93451E}"/>
                </a:ext>
              </a:extLst>
            </p:cNvPr>
            <p:cNvSpPr/>
            <p:nvPr/>
          </p:nvSpPr>
          <p:spPr>
            <a:xfrm>
              <a:off x="381000" y="1659990"/>
              <a:ext cx="3310849" cy="3302000"/>
            </a:xfrm>
            <a:prstGeom prst="roundRect">
              <a:avLst/>
            </a:prstGeom>
            <a:solidFill>
              <a:srgbClr val="FFFFFF"/>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사각형: 둥근 모서리 6">
              <a:extLst>
                <a:ext uri="{FF2B5EF4-FFF2-40B4-BE49-F238E27FC236}">
                  <a16:creationId xmlns:a16="http://schemas.microsoft.com/office/drawing/2014/main" id="{6A418355-CAB5-469D-AFF7-BC515BABDFA2}"/>
                </a:ext>
              </a:extLst>
            </p:cNvPr>
            <p:cNvSpPr/>
            <p:nvPr/>
          </p:nvSpPr>
          <p:spPr>
            <a:xfrm>
              <a:off x="626151" y="2223925"/>
              <a:ext cx="698500" cy="3810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P1</a:t>
              </a:r>
              <a:endParaRPr lang="ko-KR" altLang="en-US" sz="1600" b="1">
                <a:solidFill>
                  <a:srgbClr val="FFFFFF"/>
                </a:solidFill>
              </a:endParaRPr>
            </a:p>
          </p:txBody>
        </p:sp>
        <p:sp>
          <p:nvSpPr>
            <p:cNvPr id="8" name="TextBox 7">
              <a:extLst>
                <a:ext uri="{FF2B5EF4-FFF2-40B4-BE49-F238E27FC236}">
                  <a16:creationId xmlns:a16="http://schemas.microsoft.com/office/drawing/2014/main" id="{FF549BBF-5C2E-4922-B887-279ECD17C89B}"/>
                </a:ext>
              </a:extLst>
            </p:cNvPr>
            <p:cNvSpPr txBox="1"/>
            <p:nvPr/>
          </p:nvSpPr>
          <p:spPr>
            <a:xfrm>
              <a:off x="1388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Decision-level Fusion</a:t>
              </a:r>
              <a:endPar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00E1C0E4-4333-4531-864D-1F506BE0C0B8}"/>
                </a:ext>
              </a:extLst>
            </p:cNvPr>
            <p:cNvSpPr txBox="1"/>
            <p:nvPr/>
          </p:nvSpPr>
          <p:spPr>
            <a:xfrm>
              <a:off x="689651" y="2693825"/>
              <a:ext cx="3175000"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기본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Fusion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구조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EfficientNet + Autoencoder
•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특징 벡터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Concatenate
• Cycle 4, 9</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에서만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Fusion</a:t>
              </a:r>
              <a:endPar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0" name="사각형: 둥근 모서리 9">
              <a:extLst>
                <a:ext uri="{FF2B5EF4-FFF2-40B4-BE49-F238E27FC236}">
                  <a16:creationId xmlns:a16="http://schemas.microsoft.com/office/drawing/2014/main" id="{B0308E19-A520-4674-B22A-B47A7B8CCCD9}"/>
                </a:ext>
              </a:extLst>
            </p:cNvPr>
            <p:cNvSpPr/>
            <p:nvPr/>
          </p:nvSpPr>
          <p:spPr>
            <a:xfrm>
              <a:off x="1020424" y="3902394"/>
              <a:ext cx="2032000" cy="5715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72%</a:t>
              </a:r>
              <a:endParaRPr lang="ko-KR" altLang="en-US" b="1">
                <a:solidFill>
                  <a:srgbClr val="FFFFFF"/>
                </a:solidFill>
              </a:endParaRPr>
            </a:p>
          </p:txBody>
        </p:sp>
        <p:sp>
          <p:nvSpPr>
            <p:cNvPr id="11" name="화살표: 오른쪽 10">
              <a:extLst>
                <a:ext uri="{FF2B5EF4-FFF2-40B4-BE49-F238E27FC236}">
                  <a16:creationId xmlns:a16="http://schemas.microsoft.com/office/drawing/2014/main" id="{03057C49-52E1-4DD5-95D1-DDEEC5107A29}"/>
                </a:ext>
              </a:extLst>
            </p:cNvPr>
            <p:cNvSpPr/>
            <p:nvPr/>
          </p:nvSpPr>
          <p:spPr>
            <a:xfrm>
              <a:off x="3740723" y="3133190"/>
              <a:ext cx="524551" cy="3556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사각형: 둥근 모서리 11">
              <a:extLst>
                <a:ext uri="{FF2B5EF4-FFF2-40B4-BE49-F238E27FC236}">
                  <a16:creationId xmlns:a16="http://schemas.microsoft.com/office/drawing/2014/main" id="{CED74E29-D39C-468B-8973-55EC14697EA1}"/>
                </a:ext>
              </a:extLst>
            </p:cNvPr>
            <p:cNvSpPr/>
            <p:nvPr/>
          </p:nvSpPr>
          <p:spPr>
            <a:xfrm>
              <a:off x="4318000" y="1659990"/>
              <a:ext cx="3310849" cy="3302000"/>
            </a:xfrm>
            <a:prstGeom prst="roundRect">
              <a:avLst/>
            </a:prstGeom>
            <a:solidFill>
              <a:srgbClr val="FFFFFF"/>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사각형: 둥근 모서리 12">
              <a:extLst>
                <a:ext uri="{FF2B5EF4-FFF2-40B4-BE49-F238E27FC236}">
                  <a16:creationId xmlns:a16="http://schemas.microsoft.com/office/drawing/2014/main" id="{FF0676C5-F529-4152-A615-C56C63BE7777}"/>
                </a:ext>
              </a:extLst>
            </p:cNvPr>
            <p:cNvSpPr/>
            <p:nvPr/>
          </p:nvSpPr>
          <p:spPr>
            <a:xfrm>
              <a:off x="4563151" y="2223925"/>
              <a:ext cx="698500" cy="3810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P2</a:t>
              </a:r>
              <a:endParaRPr lang="ko-KR" altLang="en-US" sz="1600" b="1">
                <a:solidFill>
                  <a:srgbClr val="FFFFFF"/>
                </a:solidFill>
              </a:endParaRPr>
            </a:p>
          </p:txBody>
        </p:sp>
        <p:sp>
          <p:nvSpPr>
            <p:cNvPr id="14" name="TextBox 13">
              <a:extLst>
                <a:ext uri="{FF2B5EF4-FFF2-40B4-BE49-F238E27FC236}">
                  <a16:creationId xmlns:a16="http://schemas.microsoft.com/office/drawing/2014/main" id="{9787287F-C248-4F40-88BF-DA0FF5E0841F}"/>
                </a:ext>
              </a:extLst>
            </p:cNvPr>
            <p:cNvSpPr txBox="1"/>
            <p:nvPr/>
          </p:nvSpPr>
          <p:spPr>
            <a:xfrm>
              <a:off x="5325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16A295"/>
                  </a:solidFill>
                  <a:latin typeface="나눔고딕" panose="020D0604000000000000" pitchFamily="50" charset="-127"/>
                  <a:ea typeface="나눔고딕" panose="020D0604000000000000" pitchFamily="50" charset="-127"/>
                  <a:cs typeface="Arial" panose="020B0604020202020204" pitchFamily="34" charset="0"/>
                </a:rPr>
                <a:t>+ Transfer Learning</a:t>
              </a:r>
              <a:endParaRPr lang="ko-KR" altLang="en-US" sz="14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5" name="TextBox 14">
              <a:extLst>
                <a:ext uri="{FF2B5EF4-FFF2-40B4-BE49-F238E27FC236}">
                  <a16:creationId xmlns:a16="http://schemas.microsoft.com/office/drawing/2014/main" id="{FC431E95-0350-4195-A8E4-F2743031A5C6}"/>
                </a:ext>
              </a:extLst>
            </p:cNvPr>
            <p:cNvSpPr txBox="1"/>
            <p:nvPr/>
          </p:nvSpPr>
          <p:spPr>
            <a:xfrm>
              <a:off x="4626651" y="2693825"/>
              <a:ext cx="3175000"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Encoder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사전 학습 후 가중치 동결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Decoder</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만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Fine-tuning
•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안정적 특징 추출기 역할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과적합 방지</a:t>
              </a:r>
            </a:p>
          </p:txBody>
        </p:sp>
        <p:sp>
          <p:nvSpPr>
            <p:cNvPr id="16" name="사각형: 둥근 모서리 15">
              <a:extLst>
                <a:ext uri="{FF2B5EF4-FFF2-40B4-BE49-F238E27FC236}">
                  <a16:creationId xmlns:a16="http://schemas.microsoft.com/office/drawing/2014/main" id="{D1955C62-F397-4D24-ADDA-7CACDEAA0004}"/>
                </a:ext>
              </a:extLst>
            </p:cNvPr>
            <p:cNvSpPr/>
            <p:nvPr/>
          </p:nvSpPr>
          <p:spPr>
            <a:xfrm>
              <a:off x="4955568" y="3932075"/>
              <a:ext cx="2032000" cy="5715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88%</a:t>
              </a:r>
              <a:endParaRPr lang="ko-KR" altLang="en-US" b="1">
                <a:solidFill>
                  <a:srgbClr val="FFFFFF"/>
                </a:solidFill>
              </a:endParaRPr>
            </a:p>
          </p:txBody>
        </p:sp>
        <p:sp>
          <p:nvSpPr>
            <p:cNvPr id="17" name="화살표: 오른쪽 16">
              <a:extLst>
                <a:ext uri="{FF2B5EF4-FFF2-40B4-BE49-F238E27FC236}">
                  <a16:creationId xmlns:a16="http://schemas.microsoft.com/office/drawing/2014/main" id="{9655BF96-6805-47BC-8A01-845DE1108082}"/>
                </a:ext>
              </a:extLst>
            </p:cNvPr>
            <p:cNvSpPr/>
            <p:nvPr/>
          </p:nvSpPr>
          <p:spPr>
            <a:xfrm>
              <a:off x="7677723" y="3133190"/>
              <a:ext cx="524551" cy="3556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사각형: 둥근 모서리 17">
              <a:extLst>
                <a:ext uri="{FF2B5EF4-FFF2-40B4-BE49-F238E27FC236}">
                  <a16:creationId xmlns:a16="http://schemas.microsoft.com/office/drawing/2014/main" id="{AE7DE93B-3BF3-4A49-A860-6729294D3E5C}"/>
                </a:ext>
              </a:extLst>
            </p:cNvPr>
            <p:cNvSpPr/>
            <p:nvPr/>
          </p:nvSpPr>
          <p:spPr>
            <a:xfrm>
              <a:off x="8255000" y="1659990"/>
              <a:ext cx="3310849" cy="3302000"/>
            </a:xfrm>
            <a:prstGeom prst="roundRect">
              <a:avLst/>
            </a:prstGeom>
            <a:solidFill>
              <a:srgbClr val="FFFFFF"/>
            </a:solidFill>
            <a:ln w="25400" cap="flat" cmpd="sng" algn="ctr">
              <a:solidFill>
                <a:srgbClr val="93B6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사각형: 둥근 모서리 18">
              <a:extLst>
                <a:ext uri="{FF2B5EF4-FFF2-40B4-BE49-F238E27FC236}">
                  <a16:creationId xmlns:a16="http://schemas.microsoft.com/office/drawing/2014/main" id="{211182C5-A439-4A08-AA51-3F1FE76207A7}"/>
                </a:ext>
              </a:extLst>
            </p:cNvPr>
            <p:cNvSpPr/>
            <p:nvPr/>
          </p:nvSpPr>
          <p:spPr>
            <a:xfrm>
              <a:off x="8500151" y="2223925"/>
              <a:ext cx="698500" cy="3810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P3</a:t>
              </a:r>
              <a:endParaRPr lang="ko-KR" altLang="en-US" sz="1600" b="1">
                <a:solidFill>
                  <a:srgbClr val="FFFFFF"/>
                </a:solidFill>
              </a:endParaRPr>
            </a:p>
          </p:txBody>
        </p:sp>
        <p:sp>
          <p:nvSpPr>
            <p:cNvPr id="20" name="TextBox 19">
              <a:extLst>
                <a:ext uri="{FF2B5EF4-FFF2-40B4-BE49-F238E27FC236}">
                  <a16:creationId xmlns:a16="http://schemas.microsoft.com/office/drawing/2014/main" id="{A5818C40-2E64-4A75-BE99-F1CC4B68EE31}"/>
                </a:ext>
              </a:extLst>
            </p:cNvPr>
            <p:cNvSpPr txBox="1"/>
            <p:nvPr/>
          </p:nvSpPr>
          <p:spPr>
            <a:xfrm>
              <a:off x="9262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93B64E"/>
                  </a:solidFill>
                  <a:latin typeface="나눔고딕" panose="020D0604000000000000" pitchFamily="50" charset="-127"/>
                  <a:ea typeface="나눔고딕" panose="020D0604000000000000" pitchFamily="50" charset="-127"/>
                  <a:cs typeface="Arial" panose="020B0604020202020204" pitchFamily="34" charset="0"/>
                </a:rPr>
                <a:t>+ Knowledge Infusion</a:t>
              </a:r>
              <a:endParaRPr lang="ko-KR" altLang="en-US" sz="14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1" name="TextBox 20">
              <a:extLst>
                <a:ext uri="{FF2B5EF4-FFF2-40B4-BE49-F238E27FC236}">
                  <a16:creationId xmlns:a16="http://schemas.microsoft.com/office/drawing/2014/main" id="{F2581A4C-15F4-440B-9A60-89BC6CF12157}"/>
                </a:ext>
              </a:extLst>
            </p:cNvPr>
            <p:cNvSpPr txBox="1"/>
            <p:nvPr/>
          </p:nvSpPr>
          <p:spPr>
            <a:xfrm>
              <a:off x="8563651" y="2693825"/>
              <a:ext cx="2799566"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Process Ontology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기반 패널티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 허용 범위 위반 시 손실 추가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도메인 지식이 학습 가이드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해석 가능성 확보</a:t>
              </a:r>
            </a:p>
          </p:txBody>
        </p:sp>
        <p:sp>
          <p:nvSpPr>
            <p:cNvPr id="22" name="사각형: 둥근 모서리 21">
              <a:extLst>
                <a:ext uri="{FF2B5EF4-FFF2-40B4-BE49-F238E27FC236}">
                  <a16:creationId xmlns:a16="http://schemas.microsoft.com/office/drawing/2014/main" id="{A5330073-35A6-4AF8-B370-30CAFB0E3327}"/>
                </a:ext>
              </a:extLst>
            </p:cNvPr>
            <p:cNvSpPr/>
            <p:nvPr/>
          </p:nvSpPr>
          <p:spPr>
            <a:xfrm>
              <a:off x="8894424" y="3932075"/>
              <a:ext cx="2032000" cy="5715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93%</a:t>
              </a:r>
              <a:endParaRPr lang="ko-KR" altLang="en-US" b="1">
                <a:solidFill>
                  <a:srgbClr val="FFFFFF"/>
                </a:solidFill>
              </a:endParaRPr>
            </a:p>
          </p:txBody>
        </p:sp>
        <p:sp>
          <p:nvSpPr>
            <p:cNvPr id="23" name="TextBox 22">
              <a:extLst>
                <a:ext uri="{FF2B5EF4-FFF2-40B4-BE49-F238E27FC236}">
                  <a16:creationId xmlns:a16="http://schemas.microsoft.com/office/drawing/2014/main" id="{211C63E8-AECB-4CBE-8842-50E6E2957B8F}"/>
                </a:ext>
              </a:extLst>
            </p:cNvPr>
            <p:cNvSpPr txBox="1"/>
            <p:nvPr/>
          </p:nvSpPr>
          <p:spPr>
            <a:xfrm>
              <a:off x="508001" y="5152490"/>
              <a:ext cx="10531582" cy="317500"/>
            </a:xfrm>
            <a:prstGeom prst="rect">
              <a:avLst/>
            </a:prstGeom>
            <a:noFill/>
          </p:spPr>
          <p:txBody>
            <a:bodyPr vertOverflow="overflow" vert="horz" wrap="square" rtlCol="0" anchor="t">
              <a:noAutofit/>
            </a:bodyPr>
            <a:lstStyle/>
            <a:p>
              <a:pPr algn="l"/>
              <a:r>
                <a:rPr lang="ko-KR" altLang="en-US"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각 단계를 분리하여 기법별 기여도를 명확하게 검증하는 </a:t>
              </a:r>
              <a:r>
                <a:rPr lang="en-US" altLang="ko-KR"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Ablation Study </a:t>
              </a:r>
              <a:r>
                <a:rPr lang="ko-KR" altLang="en-US"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설계</a:t>
              </a:r>
            </a:p>
          </p:txBody>
        </p:sp>
      </p:grpSp>
    </p:spTree>
    <p:extLst>
      <p:ext uri="{BB962C8B-B14F-4D97-AF65-F5344CB8AC3E}">
        <p14:creationId xmlns:p14="http://schemas.microsoft.com/office/powerpoint/2010/main" val="176320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F1601DD-21D7-4974-8C6C-652A366892A7}"/>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68C4A86-D0B0-4958-86A4-44DD0958394F}"/>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0E4114A6-2525-472A-9CED-A485D64831EB}"/>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방법</a:t>
            </a:r>
            <a:r>
              <a:rPr lang="en-US" altLang="ko-KR"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 Process Ontology</a:t>
            </a:r>
            <a:endPar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endParaRPr>
          </a:p>
        </p:txBody>
      </p:sp>
      <p:grpSp>
        <p:nvGrpSpPr>
          <p:cNvPr id="33" name="그룹 32">
            <a:extLst>
              <a:ext uri="{FF2B5EF4-FFF2-40B4-BE49-F238E27FC236}">
                <a16:creationId xmlns:a16="http://schemas.microsoft.com/office/drawing/2014/main" id="{76062067-0299-03B1-9B9A-F4B4916DDB3C}"/>
              </a:ext>
            </a:extLst>
          </p:cNvPr>
          <p:cNvGrpSpPr/>
          <p:nvPr/>
        </p:nvGrpSpPr>
        <p:grpSpPr>
          <a:xfrm>
            <a:off x="508000" y="1492250"/>
            <a:ext cx="11303000" cy="3873500"/>
            <a:chOff x="508000" y="1079500"/>
            <a:chExt cx="11303000" cy="3873500"/>
          </a:xfrm>
        </p:grpSpPr>
        <p:sp>
          <p:nvSpPr>
            <p:cNvPr id="6" name="TextBox 5">
              <a:extLst>
                <a:ext uri="{FF2B5EF4-FFF2-40B4-BE49-F238E27FC236}">
                  <a16:creationId xmlns:a16="http://schemas.microsoft.com/office/drawing/2014/main" id="{7FF04FC5-E6DE-4314-B88E-8B62C54BD745}"/>
                </a:ext>
              </a:extLst>
            </p:cNvPr>
            <p:cNvSpPr txBox="1"/>
            <p:nvPr/>
          </p:nvSpPr>
          <p:spPr>
            <a:xfrm>
              <a:off x="508000" y="1079500"/>
              <a:ext cx="5461000" cy="355600"/>
            </a:xfrm>
            <a:prstGeom prst="rect">
              <a:avLst/>
            </a:prstGeom>
            <a:noFill/>
          </p:spPr>
          <p:txBody>
            <a:bodyPr vertOverflow="overflow" vert="horz" wrap="square" rtlCol="0" anchor="t">
              <a:noAutofit/>
            </a:bodyPr>
            <a:lstStyle/>
            <a:p>
              <a:pPr algn="l"/>
              <a:r>
                <a:rPr lang="en-US" altLang="ko-KR"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Dynamic Process Ontology </a:t>
              </a:r>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구조</a:t>
              </a:r>
            </a:p>
          </p:txBody>
        </p:sp>
        <p:sp>
          <p:nvSpPr>
            <p:cNvPr id="7" name="타원 6">
              <a:extLst>
                <a:ext uri="{FF2B5EF4-FFF2-40B4-BE49-F238E27FC236}">
                  <a16:creationId xmlns:a16="http://schemas.microsoft.com/office/drawing/2014/main" id="{72B36EF0-DA64-427D-A2F0-C7F8526CA2B7}"/>
                </a:ext>
              </a:extLst>
            </p:cNvPr>
            <p:cNvSpPr/>
            <p:nvPr/>
          </p:nvSpPr>
          <p:spPr>
            <a:xfrm>
              <a:off x="635000" y="1562100"/>
              <a:ext cx="177800" cy="177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3C980A7A-C995-4F59-89AB-50786DD5E054}"/>
                </a:ext>
              </a:extLst>
            </p:cNvPr>
            <p:cNvSpPr txBox="1"/>
            <p:nvPr/>
          </p:nvSpPr>
          <p:spPr>
            <a:xfrm>
              <a:off x="914400" y="15240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a:t>
              </a:r>
              <a:r>
                <a:rPr lang="en-US" altLang="ko-KR"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장비 정의 및 사양</a:t>
              </a:r>
            </a:p>
          </p:txBody>
        </p:sp>
        <p:sp>
          <p:nvSpPr>
            <p:cNvPr id="9" name="타원 8">
              <a:extLst>
                <a:ext uri="{FF2B5EF4-FFF2-40B4-BE49-F238E27FC236}">
                  <a16:creationId xmlns:a16="http://schemas.microsoft.com/office/drawing/2014/main" id="{13877009-AE40-41BC-8BCF-DBC901922A04}"/>
                </a:ext>
              </a:extLst>
            </p:cNvPr>
            <p:cNvSpPr/>
            <p:nvPr/>
          </p:nvSpPr>
          <p:spPr>
            <a:xfrm>
              <a:off x="635000" y="1917700"/>
              <a:ext cx="177800" cy="1778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670865AE-20EE-47E3-B7A6-6BCF88F8F7DE}"/>
                </a:ext>
              </a:extLst>
            </p:cNvPr>
            <p:cNvSpPr txBox="1"/>
            <p:nvPr/>
          </p:nvSpPr>
          <p:spPr>
            <a:xfrm>
              <a:off x="914400" y="18796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a:t>
              </a:r>
              <a:r>
                <a:rPr lang="en-US" altLang="ko-KR"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장비 간 관계 매핑</a:t>
              </a:r>
            </a:p>
          </p:txBody>
        </p:sp>
        <p:sp>
          <p:nvSpPr>
            <p:cNvPr id="11" name="타원 10">
              <a:extLst>
                <a:ext uri="{FF2B5EF4-FFF2-40B4-BE49-F238E27FC236}">
                  <a16:creationId xmlns:a16="http://schemas.microsoft.com/office/drawing/2014/main" id="{62ACD15C-4D6D-4424-8FAD-322E61D3E584}"/>
                </a:ext>
              </a:extLst>
            </p:cNvPr>
            <p:cNvSpPr/>
            <p:nvPr/>
          </p:nvSpPr>
          <p:spPr>
            <a:xfrm>
              <a:off x="635000" y="2273300"/>
              <a:ext cx="177800" cy="1778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DD27683A-1F6E-4216-B737-C1E0FC92DFDB}"/>
                </a:ext>
              </a:extLst>
            </p:cNvPr>
            <p:cNvSpPr txBox="1"/>
            <p:nvPr/>
          </p:nvSpPr>
          <p:spPr>
            <a:xfrm>
              <a:off x="914400" y="22352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사이클 상태별 센서 정상 범위</a:t>
              </a:r>
            </a:p>
          </p:txBody>
        </p:sp>
        <p:sp>
          <p:nvSpPr>
            <p:cNvPr id="13" name="타원 12">
              <a:extLst>
                <a:ext uri="{FF2B5EF4-FFF2-40B4-BE49-F238E27FC236}">
                  <a16:creationId xmlns:a16="http://schemas.microsoft.com/office/drawing/2014/main" id="{64D8057C-8383-48FB-8013-7BA4A5E82D5C}"/>
                </a:ext>
              </a:extLst>
            </p:cNvPr>
            <p:cNvSpPr/>
            <p:nvPr/>
          </p:nvSpPr>
          <p:spPr>
            <a:xfrm>
              <a:off x="635000" y="2628900"/>
              <a:ext cx="177800" cy="177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6C6E123C-39CD-418C-96EB-69EEC52E28B8}"/>
                </a:ext>
              </a:extLst>
            </p:cNvPr>
            <p:cNvSpPr txBox="1"/>
            <p:nvPr/>
          </p:nvSpPr>
          <p:spPr>
            <a:xfrm>
              <a:off x="914400" y="25908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상태별 이상 유형 연결</a:t>
              </a:r>
            </a:p>
          </p:txBody>
        </p:sp>
        <p:sp>
          <p:nvSpPr>
            <p:cNvPr id="15" name="타원 14">
              <a:extLst>
                <a:ext uri="{FF2B5EF4-FFF2-40B4-BE49-F238E27FC236}">
                  <a16:creationId xmlns:a16="http://schemas.microsoft.com/office/drawing/2014/main" id="{AFD95A3E-0709-418F-813F-825156F58966}"/>
                </a:ext>
              </a:extLst>
            </p:cNvPr>
            <p:cNvSpPr/>
            <p:nvPr/>
          </p:nvSpPr>
          <p:spPr>
            <a:xfrm>
              <a:off x="635000" y="2984500"/>
              <a:ext cx="177800" cy="177800"/>
            </a:xfrm>
            <a:prstGeom prst="ellipse">
              <a:avLst/>
            </a:prstGeom>
            <a:solidFill>
              <a:srgbClr val="AE72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A4D91B3C-D6D0-4CF6-87DF-56A191C4B1E7}"/>
                </a:ext>
              </a:extLst>
            </p:cNvPr>
            <p:cNvSpPr txBox="1"/>
            <p:nvPr/>
          </p:nvSpPr>
          <p:spPr>
            <a:xfrm>
              <a:off x="914400" y="29464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실험 환경 변경 시 동적 업데이트</a:t>
              </a:r>
            </a:p>
          </p:txBody>
        </p:sp>
        <p:sp>
          <p:nvSpPr>
            <p:cNvPr id="17" name="TextBox 16">
              <a:extLst>
                <a:ext uri="{FF2B5EF4-FFF2-40B4-BE49-F238E27FC236}">
                  <a16:creationId xmlns:a16="http://schemas.microsoft.com/office/drawing/2014/main" id="{CB9FE051-F9E7-49DD-A792-F2C519C58A8A}"/>
                </a:ext>
              </a:extLst>
            </p:cNvPr>
            <p:cNvSpPr txBox="1"/>
            <p:nvPr/>
          </p:nvSpPr>
          <p:spPr>
            <a:xfrm>
              <a:off x="6477000" y="1079500"/>
              <a:ext cx="5334000" cy="355600"/>
            </a:xfrm>
            <a:prstGeom prst="rect">
              <a:avLst/>
            </a:prstGeom>
            <a:noFill/>
          </p:spPr>
          <p:txBody>
            <a:bodyPr vertOverflow="overflow" vert="horz" wrap="square" rtlCol="0" anchor="t">
              <a:noAutofit/>
            </a:bodyPr>
            <a:lstStyle/>
            <a:p>
              <a:pPr algn="l"/>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온톨로지의 </a:t>
              </a:r>
              <a:r>
                <a:rPr lang="en-US" altLang="ko-KR"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3</a:t>
              </a:r>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가지 역할</a:t>
              </a:r>
            </a:p>
          </p:txBody>
        </p:sp>
        <p:sp>
          <p:nvSpPr>
            <p:cNvPr id="18" name="사각형: 둥근 모서리 17">
              <a:extLst>
                <a:ext uri="{FF2B5EF4-FFF2-40B4-BE49-F238E27FC236}">
                  <a16:creationId xmlns:a16="http://schemas.microsoft.com/office/drawing/2014/main" id="{18E7A2C6-9C7E-4BBC-AB6E-F152EF2354D0}"/>
                </a:ext>
              </a:extLst>
            </p:cNvPr>
            <p:cNvSpPr/>
            <p:nvPr/>
          </p:nvSpPr>
          <p:spPr>
            <a:xfrm>
              <a:off x="6477000" y="14605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14183ABD-2781-4379-938C-E9C2D33F632C}"/>
                </a:ext>
              </a:extLst>
            </p:cNvPr>
            <p:cNvSpPr/>
            <p:nvPr/>
          </p:nvSpPr>
          <p:spPr>
            <a:xfrm>
              <a:off x="6604000" y="1562100"/>
              <a:ext cx="381000" cy="3810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1</a:t>
              </a:r>
              <a:endParaRPr lang="ko-KR" altLang="en-US" sz="1400" b="1">
                <a:solidFill>
                  <a:srgbClr val="FFFFFF"/>
                </a:solidFill>
              </a:endParaRPr>
            </a:p>
          </p:txBody>
        </p:sp>
        <p:sp>
          <p:nvSpPr>
            <p:cNvPr id="20" name="TextBox 19">
              <a:extLst>
                <a:ext uri="{FF2B5EF4-FFF2-40B4-BE49-F238E27FC236}">
                  <a16:creationId xmlns:a16="http://schemas.microsoft.com/office/drawing/2014/main" id="{3C57ABAA-2C0E-4FCC-AF64-4F8C3ECE728B}"/>
                </a:ext>
              </a:extLst>
            </p:cNvPr>
            <p:cNvSpPr txBox="1"/>
            <p:nvPr/>
          </p:nvSpPr>
          <p:spPr>
            <a:xfrm>
              <a:off x="7086600" y="1562100"/>
              <a:ext cx="4572000" cy="279400"/>
            </a:xfrm>
            <a:prstGeom prst="rect">
              <a:avLst/>
            </a:prstGeom>
            <a:noFill/>
          </p:spPr>
          <p:txBody>
            <a:bodyPr vertOverflow="overflow" vert="horz" wrap="square" rtlCol="0" anchor="t">
              <a:noAutofit/>
            </a:bodyPr>
            <a:lstStyle/>
            <a:p>
              <a:pPr algn="l"/>
              <a:r>
                <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학습 가이드 </a:t>
              </a:r>
              <a:r>
                <a:rPr lang="en-US" altLang="ko-KR"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(Knowledge Infusion)</a:t>
              </a:r>
              <a:endPar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1" name="TextBox 20">
              <a:extLst>
                <a:ext uri="{FF2B5EF4-FFF2-40B4-BE49-F238E27FC236}">
                  <a16:creationId xmlns:a16="http://schemas.microsoft.com/office/drawing/2014/main" id="{BF108F68-81CA-41DC-B1E0-CB50D7AD2DE5}"/>
                </a:ext>
              </a:extLst>
            </p:cNvPr>
            <p:cNvSpPr txBox="1"/>
            <p:nvPr/>
          </p:nvSpPr>
          <p:spPr>
            <a:xfrm>
              <a:off x="7086600" y="18669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센서값이 정상 범위 안인데 이상 예측 → 패널티
범위 밖인데 정상 예측 → 패널티
→ 손실 함수에 직접 반영</a:t>
              </a:r>
            </a:p>
          </p:txBody>
        </p:sp>
        <p:sp>
          <p:nvSpPr>
            <p:cNvPr id="22" name="사각형: 둥근 모서리 21">
              <a:extLst>
                <a:ext uri="{FF2B5EF4-FFF2-40B4-BE49-F238E27FC236}">
                  <a16:creationId xmlns:a16="http://schemas.microsoft.com/office/drawing/2014/main" id="{4B861E64-26CF-4F6F-BA25-C6F5ECEF4B29}"/>
                </a:ext>
              </a:extLst>
            </p:cNvPr>
            <p:cNvSpPr/>
            <p:nvPr/>
          </p:nvSpPr>
          <p:spPr>
            <a:xfrm>
              <a:off x="6477000" y="26670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타원 22">
              <a:extLst>
                <a:ext uri="{FF2B5EF4-FFF2-40B4-BE49-F238E27FC236}">
                  <a16:creationId xmlns:a16="http://schemas.microsoft.com/office/drawing/2014/main" id="{DCCB24D6-56C1-4157-91C1-CCAB2A911E4C}"/>
                </a:ext>
              </a:extLst>
            </p:cNvPr>
            <p:cNvSpPr/>
            <p:nvPr/>
          </p:nvSpPr>
          <p:spPr>
            <a:xfrm>
              <a:off x="6604000" y="2768600"/>
              <a:ext cx="381000" cy="381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2</a:t>
              </a:r>
              <a:endParaRPr lang="ko-KR" altLang="en-US" sz="1400" b="1">
                <a:solidFill>
                  <a:srgbClr val="FFFFFF"/>
                </a:solidFill>
              </a:endParaRPr>
            </a:p>
          </p:txBody>
        </p:sp>
        <p:sp>
          <p:nvSpPr>
            <p:cNvPr id="24" name="TextBox 23">
              <a:extLst>
                <a:ext uri="{FF2B5EF4-FFF2-40B4-BE49-F238E27FC236}">
                  <a16:creationId xmlns:a16="http://schemas.microsoft.com/office/drawing/2014/main" id="{CBE37B07-C6E9-4B38-A4DF-81AEB9D64885}"/>
                </a:ext>
              </a:extLst>
            </p:cNvPr>
            <p:cNvSpPr txBox="1"/>
            <p:nvPr/>
          </p:nvSpPr>
          <p:spPr>
            <a:xfrm>
              <a:off x="7086600" y="2768600"/>
              <a:ext cx="4572000" cy="279400"/>
            </a:xfrm>
            <a:prstGeom prst="rect">
              <a:avLst/>
            </a:prstGeom>
            <a:noFill/>
          </p:spPr>
          <p:txBody>
            <a:bodyPr vertOverflow="overflow" vert="horz" wrap="square" rtlCol="0" anchor="t">
              <a:noAutofit/>
            </a:bodyPr>
            <a:lstStyle/>
            <a:p>
              <a:pPr algn="l"/>
              <a:r>
                <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오분류 감지</a:t>
              </a:r>
            </a:p>
          </p:txBody>
        </p:sp>
        <p:sp>
          <p:nvSpPr>
            <p:cNvPr id="25" name="TextBox 24">
              <a:extLst>
                <a:ext uri="{FF2B5EF4-FFF2-40B4-BE49-F238E27FC236}">
                  <a16:creationId xmlns:a16="http://schemas.microsoft.com/office/drawing/2014/main" id="{9A22B5BF-B797-4597-A5BF-0899C35B4DE3}"/>
                </a:ext>
              </a:extLst>
            </p:cNvPr>
            <p:cNvSpPr txBox="1"/>
            <p:nvPr/>
          </p:nvSpPr>
          <p:spPr>
            <a:xfrm>
              <a:off x="7086600" y="30734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Cycle 4</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에서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"NoNose"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예측 시
→ 온톨로지 확인</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NoNose</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는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Cycle 8</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부터 발생
→ 오분류 자동 감지</a:t>
              </a:r>
            </a:p>
          </p:txBody>
        </p:sp>
        <p:sp>
          <p:nvSpPr>
            <p:cNvPr id="26" name="사각형: 둥근 모서리 25">
              <a:extLst>
                <a:ext uri="{FF2B5EF4-FFF2-40B4-BE49-F238E27FC236}">
                  <a16:creationId xmlns:a16="http://schemas.microsoft.com/office/drawing/2014/main" id="{58443DDA-DCCC-4B68-A8AB-66CEF068B8AD}"/>
                </a:ext>
              </a:extLst>
            </p:cNvPr>
            <p:cNvSpPr/>
            <p:nvPr/>
          </p:nvSpPr>
          <p:spPr>
            <a:xfrm>
              <a:off x="6477000" y="38735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7" name="타원 26">
              <a:extLst>
                <a:ext uri="{FF2B5EF4-FFF2-40B4-BE49-F238E27FC236}">
                  <a16:creationId xmlns:a16="http://schemas.microsoft.com/office/drawing/2014/main" id="{BD67F333-15CB-47ED-B4FD-BB816CD4E440}"/>
                </a:ext>
              </a:extLst>
            </p:cNvPr>
            <p:cNvSpPr/>
            <p:nvPr/>
          </p:nvSpPr>
          <p:spPr>
            <a:xfrm>
              <a:off x="6604000" y="3975100"/>
              <a:ext cx="381000" cy="3810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3</a:t>
              </a:r>
              <a:endParaRPr lang="ko-KR" altLang="en-US" sz="1400" b="1">
                <a:solidFill>
                  <a:srgbClr val="FFFFFF"/>
                </a:solidFill>
              </a:endParaRPr>
            </a:p>
          </p:txBody>
        </p:sp>
        <p:sp>
          <p:nvSpPr>
            <p:cNvPr id="28" name="TextBox 27">
              <a:extLst>
                <a:ext uri="{FF2B5EF4-FFF2-40B4-BE49-F238E27FC236}">
                  <a16:creationId xmlns:a16="http://schemas.microsoft.com/office/drawing/2014/main" id="{FF1F88AA-314E-45D4-BBD1-CEDE2D9E18F4}"/>
                </a:ext>
              </a:extLst>
            </p:cNvPr>
            <p:cNvSpPr txBox="1"/>
            <p:nvPr/>
          </p:nvSpPr>
          <p:spPr>
            <a:xfrm>
              <a:off x="7086600" y="3975100"/>
              <a:ext cx="4572000" cy="279400"/>
            </a:xfrm>
            <a:prstGeom prst="rect">
              <a:avLst/>
            </a:prstGeom>
            <a:noFill/>
          </p:spPr>
          <p:txBody>
            <a:bodyPr vertOverflow="overflow" vert="horz" wrap="square" rtlCol="0" anchor="t">
              <a:noAutofit/>
            </a:bodyPr>
            <a:lstStyle/>
            <a:p>
              <a:pPr algn="l"/>
              <a:r>
                <a:rPr lang="ko-KR" altLang="en-US" sz="1300" b="1">
                  <a:solidFill>
                    <a:srgbClr val="93B64E"/>
                  </a:solidFill>
                  <a:latin typeface="나눔고딕" panose="020D0604000000000000" pitchFamily="50" charset="-127"/>
                  <a:ea typeface="나눔고딕" panose="020D0604000000000000" pitchFamily="50" charset="-127"/>
                  <a:cs typeface="Arial" panose="020B0604020202020204" pitchFamily="34" charset="0"/>
                </a:rPr>
                <a:t>설명 가능성 </a:t>
              </a:r>
              <a:r>
                <a:rPr lang="en-US" altLang="ko-KR" sz="1300" b="1">
                  <a:solidFill>
                    <a:srgbClr val="93B64E"/>
                  </a:solidFill>
                  <a:latin typeface="나눔고딕" panose="020D0604000000000000" pitchFamily="50" charset="-127"/>
                  <a:ea typeface="나눔고딕" panose="020D0604000000000000" pitchFamily="50" charset="-127"/>
                  <a:cs typeface="Arial" panose="020B0604020202020204" pitchFamily="34" charset="0"/>
                </a:rPr>
                <a:t>(Explainability)</a:t>
              </a:r>
              <a:endParaRPr lang="ko-KR" altLang="en-US" sz="13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9" name="TextBox 28">
              <a:extLst>
                <a:ext uri="{FF2B5EF4-FFF2-40B4-BE49-F238E27FC236}">
                  <a16:creationId xmlns:a16="http://schemas.microsoft.com/office/drawing/2014/main" id="{18CDB7D6-9896-46CB-8921-39E541D8C0C3}"/>
                </a:ext>
              </a:extLst>
            </p:cNvPr>
            <p:cNvSpPr txBox="1"/>
            <p:nvPr/>
          </p:nvSpPr>
          <p:spPr>
            <a:xfrm>
              <a:off x="7086600" y="42799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어떤 센서가 이상의 원인인지</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해당 상태에서 어떤 동작 수행 중이었는지</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사용자 수준 설명 제공</a:t>
              </a:r>
            </a:p>
          </p:txBody>
        </p:sp>
        <p:sp>
          <p:nvSpPr>
            <p:cNvPr id="30" name="사각형: 둥근 모서리 29">
              <a:extLst>
                <a:ext uri="{FF2B5EF4-FFF2-40B4-BE49-F238E27FC236}">
                  <a16:creationId xmlns:a16="http://schemas.microsoft.com/office/drawing/2014/main" id="{06B11A08-3EC1-4DED-A834-0F394ED0BA6F}"/>
                </a:ext>
              </a:extLst>
            </p:cNvPr>
            <p:cNvSpPr/>
            <p:nvPr/>
          </p:nvSpPr>
          <p:spPr>
            <a:xfrm>
              <a:off x="508000" y="3683000"/>
              <a:ext cx="5588000" cy="1206500"/>
            </a:xfrm>
            <a:prstGeom prst="roundRect">
              <a:avLst/>
            </a:prstGeom>
            <a:solidFill>
              <a:srgbClr val="FFF8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TextBox 30">
              <a:extLst>
                <a:ext uri="{FF2B5EF4-FFF2-40B4-BE49-F238E27FC236}">
                  <a16:creationId xmlns:a16="http://schemas.microsoft.com/office/drawing/2014/main" id="{B48C463E-6173-4725-98D5-30DEDD2E7025}"/>
                </a:ext>
              </a:extLst>
            </p:cNvPr>
            <p:cNvSpPr txBox="1"/>
            <p:nvPr/>
          </p:nvSpPr>
          <p:spPr>
            <a:xfrm>
              <a:off x="698500" y="3746500"/>
              <a:ext cx="3810000" cy="279400"/>
            </a:xfrm>
            <a:prstGeom prst="rect">
              <a:avLst/>
            </a:prstGeom>
            <a:noFill/>
          </p:spPr>
          <p:txBody>
            <a:bodyPr vertOverflow="overflow" vert="horz" wrap="square" rtlCol="0" anchor="t">
              <a:noAutofit/>
            </a:bodyPr>
            <a:lstStyle/>
            <a:p>
              <a:pPr algn="l"/>
              <a:r>
                <a:rPr lang="ko-KR" altLang="en-US" sz="1300" b="1">
                  <a:solidFill>
                    <a:srgbClr val="F29E16"/>
                  </a:solidFill>
                  <a:latin typeface="나눔고딕" panose="020D0604000000000000" pitchFamily="50" charset="-127"/>
                  <a:ea typeface="나눔고딕" panose="020D0604000000000000" pitchFamily="50" charset="-127"/>
                  <a:cs typeface="Arial" panose="020B0604020202020204" pitchFamily="34" charset="0"/>
                </a:rPr>
                <a:t>예시</a:t>
              </a:r>
              <a:r>
                <a:rPr lang="en-US" altLang="ko-KR" sz="1300" b="1">
                  <a:solidFill>
                    <a:srgbClr val="F29E16"/>
                  </a:solidFill>
                  <a:latin typeface="나눔고딕" panose="020D0604000000000000" pitchFamily="50" charset="-127"/>
                  <a:ea typeface="나눔고딕" panose="020D0604000000000000" pitchFamily="50" charset="-127"/>
                  <a:cs typeface="Arial" panose="020B0604020202020204" pitchFamily="34" charset="0"/>
                </a:rPr>
                <a:t>: Cycle State 4</a:t>
              </a:r>
              <a:endParaRPr lang="ko-KR" altLang="en-US" sz="1300" b="1">
                <a:solidFill>
                  <a:srgbClr val="F29E16"/>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32" name="TextBox 31">
              <a:extLst>
                <a:ext uri="{FF2B5EF4-FFF2-40B4-BE49-F238E27FC236}">
                  <a16:creationId xmlns:a16="http://schemas.microsoft.com/office/drawing/2014/main" id="{B835B27B-E7A6-47F4-AF18-266658A57C88}"/>
                </a:ext>
              </a:extLst>
            </p:cNvPr>
            <p:cNvSpPr txBox="1"/>
            <p:nvPr/>
          </p:nvSpPr>
          <p:spPr>
            <a:xfrm>
              <a:off x="698500" y="4064000"/>
              <a:ext cx="5270500" cy="762000"/>
            </a:xfrm>
            <a:prstGeom prst="rect">
              <a:avLst/>
            </a:prstGeom>
            <a:noFill/>
          </p:spPr>
          <p:txBody>
            <a:bodyPr vertOverflow="overflow" vert="horz" wrap="square" rtlCol="0" anchor="t">
              <a:noAutofit/>
            </a:bodyPr>
            <a:lstStyle/>
            <a:p>
              <a:pPr algn="l"/>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R01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포텐셔미터 정상 범위</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6,000 ~ 8,000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예측값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3,000 →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범위 이탈 → 이상 감지 및 원인 설명 가능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로봇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1</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의 그리퍼 센서가 비정상적으로 낮은 값을 보임</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endPar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30600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핵심 결과</a:t>
            </a:r>
          </a:p>
        </p:txBody>
      </p:sp>
      <p:sp>
        <p:nvSpPr>
          <p:cNvPr id="6" name="Rounded Rectangle 5"/>
          <p:cNvSpPr/>
          <p:nvPr/>
        </p:nvSpPr>
        <p:spPr>
          <a:xfrm>
            <a:off x="457200" y="1554480"/>
            <a:ext cx="3840480" cy="164592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3474720" cy="365760"/>
          </a:xfrm>
          <a:prstGeom prst="rect">
            <a:avLst/>
          </a:prstGeom>
          <a:noFill/>
        </p:spPr>
        <p:txBody>
          <a:bodyPr wrap="square">
            <a:spAutoFit/>
          </a:bodyPr>
          <a:lstStyle/>
          <a:p>
            <a:r>
              <a:rPr sz="1600" b="1">
                <a:solidFill>
                  <a:srgbClr val="1E2A4A"/>
                </a:solidFill>
                <a:latin typeface="맑은 고딕"/>
              </a:rPr>
              <a:t>평가 조건</a:t>
            </a:r>
          </a:p>
        </p:txBody>
      </p:sp>
      <p:sp>
        <p:nvSpPr>
          <p:cNvPr id="8" name="TextBox 7"/>
          <p:cNvSpPr txBox="1"/>
          <p:nvPr/>
        </p:nvSpPr>
        <p:spPr>
          <a:xfrm>
            <a:off x="640080" y="2103120"/>
            <a:ext cx="3566160" cy="1097280"/>
          </a:xfrm>
          <a:prstGeom prst="rect">
            <a:avLst/>
          </a:prstGeom>
          <a:noFill/>
        </p:spPr>
        <p:txBody>
          <a:bodyPr wrap="square">
            <a:spAutoFit/>
          </a:bodyPr>
          <a:lstStyle/>
          <a:p>
            <a:r>
              <a:rPr sz="1200" b="0">
                <a:solidFill>
                  <a:srgbClr val="1E2A4A"/>
                </a:solidFill>
                <a:latin typeface="맑은 고딕"/>
              </a:rPr>
              <a:t>두 모달리티 데이터가 모두</a:t>
            </a:r>
          </a:p>
          <a:p>
            <a:r>
              <a:rPr sz="1200" b="0">
                <a:solidFill>
                  <a:srgbClr val="1E2A4A"/>
                </a:solidFill>
                <a:latin typeface="맑은 고딕"/>
              </a:rPr>
              <a:t>입력되는 시점 2,161개</a:t>
            </a:r>
          </a:p>
          <a:p>
            <a:r>
              <a:rPr sz="1200" b="0">
                <a:solidFill>
                  <a:srgbClr val="1E2A4A"/>
                </a:solidFill>
                <a:latin typeface="맑은 고딕"/>
              </a:rPr>
              <a:t>(Weighted F1)</a:t>
            </a:r>
          </a:p>
        </p:txBody>
      </p:sp>
      <p:sp>
        <p:nvSpPr>
          <p:cNvPr id="9" name="Rounded Rectangle 8"/>
          <p:cNvSpPr/>
          <p:nvPr/>
        </p:nvSpPr>
        <p:spPr>
          <a:xfrm>
            <a:off x="457200" y="3474720"/>
            <a:ext cx="3840480" cy="2194560"/>
          </a:xfrm>
          <a:prstGeom prst="roundRect">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80"/>
            <a:ext cx="3474720" cy="365760"/>
          </a:xfrm>
          <a:prstGeom prst="rect">
            <a:avLst/>
          </a:prstGeom>
          <a:noFill/>
        </p:spPr>
        <p:txBody>
          <a:bodyPr wrap="square">
            <a:spAutoFit/>
          </a:bodyPr>
          <a:lstStyle/>
          <a:p>
            <a:r>
              <a:rPr sz="1600" b="1">
                <a:solidFill>
                  <a:srgbClr val="2E9D8F"/>
                </a:solidFill>
                <a:latin typeface="맑은 고딕"/>
              </a:rPr>
              <a:t>핵심 발견</a:t>
            </a:r>
          </a:p>
        </p:txBody>
      </p:sp>
      <p:sp>
        <p:nvSpPr>
          <p:cNvPr id="11" name="TextBox 10"/>
          <p:cNvSpPr txBox="1"/>
          <p:nvPr/>
        </p:nvSpPr>
        <p:spPr>
          <a:xfrm>
            <a:off x="640080" y="4069080"/>
            <a:ext cx="3566160" cy="1554480"/>
          </a:xfrm>
          <a:prstGeom prst="rect">
            <a:avLst/>
          </a:prstGeom>
          <a:noFill/>
        </p:spPr>
        <p:txBody>
          <a:bodyPr wrap="square">
            <a:spAutoFit/>
          </a:bodyPr>
          <a:lstStyle/>
          <a:p>
            <a:r>
              <a:rPr sz="1300" b="0">
                <a:solidFill>
                  <a:srgbClr val="1E2A4A"/>
                </a:solidFill>
                <a:latin typeface="맑은 고딕"/>
              </a:rPr>
              <a:t>센서  0.974</a:t>
            </a:r>
          </a:p>
          <a:p>
            <a:r>
              <a:rPr sz="1300" b="0">
                <a:solidFill>
                  <a:srgbClr val="1E2A4A"/>
                </a:solidFill>
                <a:latin typeface="맑은 고딕"/>
              </a:rPr>
              <a:t>이미지  0.928</a:t>
            </a:r>
          </a:p>
          <a:p>
            <a:r>
              <a:rPr sz="1300" b="0">
                <a:solidFill>
                  <a:srgbClr val="1E2A4A"/>
                </a:solidFill>
                <a:latin typeface="맑은 고딕"/>
              </a:rPr>
              <a:t>융합  0.981</a:t>
            </a:r>
          </a:p>
          <a:p/>
          <a:p>
            <a:r>
              <a:rPr sz="1300" b="0">
                <a:solidFill>
                  <a:srgbClr val="1E2A4A"/>
                </a:solidFill>
                <a:latin typeface="맑은 고딕"/>
              </a:rPr>
              <a:t>→ 융합이 두 단독을 능가</a:t>
            </a:r>
          </a:p>
        </p:txBody>
      </p:sp>
      <p:pic>
        <p:nvPicPr>
          <p:cNvPr id="12" name="Picture 11" descr="res_present.png"/>
          <p:cNvPicPr>
            <a:picLocks noChangeAspect="1"/>
          </p:cNvPicPr>
          <p:nvPr/>
        </p:nvPicPr>
        <p:blipFill>
          <a:blip r:embed="rId3"/>
          <a:stretch>
            <a:fillRect/>
          </a:stretch>
        </p:blipFill>
        <p:spPr>
          <a:xfrm>
            <a:off x="4572000" y="1417320"/>
            <a:ext cx="7132320" cy="3840480"/>
          </a:xfrm>
          <a:prstGeom prst="rect">
            <a:avLst/>
          </a:prstGeom>
        </p:spPr>
      </p:pic>
    </p:spTree>
    <p:extLst>
      <p:ext uri="{BB962C8B-B14F-4D97-AF65-F5344CB8AC3E}">
        <p14:creationId xmlns:p14="http://schemas.microsoft.com/office/powerpoint/2010/main" val="215505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A5DF926-B695-41BD-8FFF-2E98E0FED5D2}"/>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7AFD8D2D-4A8D-4741-AF8C-B51B2CEAECDC}"/>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1BFEE3B8-B4B5-4FEB-BC0B-63E7D1069C0C}"/>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추가 검증: 융합 효과의 일관성</a:t>
            </a:r>
          </a:p>
        </p:txBody>
      </p:sp>
      <p:pic>
        <p:nvPicPr>
          <p:cNvPr id="6" name="Picture 5" descr="res_story.png"/>
          <p:cNvPicPr>
            <a:picLocks noChangeAspect="1"/>
          </p:cNvPicPr>
          <p:nvPr/>
        </p:nvPicPr>
        <p:blipFill>
          <a:blip r:embed="rId3"/>
          <a:stretch>
            <a:fillRect/>
          </a:stretch>
        </p:blipFill>
        <p:spPr>
          <a:xfrm>
            <a:off x="1828800" y="1417320"/>
            <a:ext cx="8503920" cy="4754880"/>
          </a:xfrm>
          <a:prstGeom prst="rect">
            <a:avLst/>
          </a:prstGeom>
        </p:spPr>
      </p:pic>
    </p:spTree>
    <p:extLst>
      <p:ext uri="{BB962C8B-B14F-4D97-AF65-F5344CB8AC3E}">
        <p14:creationId xmlns:p14="http://schemas.microsoft.com/office/powerpoint/2010/main" val="94739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AB589446-007F-4E3B-A7FE-92D910E0E2E2}"/>
              </a:ext>
            </a:extLst>
          </p:cNvPr>
          <p:cNvSpPr/>
          <p:nvPr/>
        </p:nvSpPr>
        <p:spPr>
          <a:xfrm>
            <a:off x="0" y="-9989"/>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91E87C97-72F7-424B-B4A5-2568480F102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09</a:t>
            </a:r>
            <a:endParaRPr lang="ko-KR" altLang="en-US" sz="1600" b="1">
              <a:solidFill>
                <a:srgbClr val="FFFFFF"/>
              </a:solidFill>
            </a:endParaRPr>
          </a:p>
        </p:txBody>
      </p:sp>
      <p:sp>
        <p:nvSpPr>
          <p:cNvPr id="5" name="TextBox 4">
            <a:extLst>
              <a:ext uri="{FF2B5EF4-FFF2-40B4-BE49-F238E27FC236}">
                <a16:creationId xmlns:a16="http://schemas.microsoft.com/office/drawing/2014/main" id="{BC1B2A0C-7324-4F06-A534-90FAF346333E}"/>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결론</a:t>
            </a:r>
          </a:p>
        </p:txBody>
      </p:sp>
      <p:grpSp>
        <p:nvGrpSpPr>
          <p:cNvPr id="27" name="그룹 26">
            <a:extLst>
              <a:ext uri="{FF2B5EF4-FFF2-40B4-BE49-F238E27FC236}">
                <a16:creationId xmlns:a16="http://schemas.microsoft.com/office/drawing/2014/main" id="{7298CF3B-A84D-ADF6-3948-50F9EA3D9900}"/>
              </a:ext>
            </a:extLst>
          </p:cNvPr>
          <p:cNvGrpSpPr/>
          <p:nvPr/>
        </p:nvGrpSpPr>
        <p:grpSpPr>
          <a:xfrm>
            <a:off x="503464" y="1526426"/>
            <a:ext cx="11185071" cy="3944565"/>
            <a:chOff x="508000" y="1079500"/>
            <a:chExt cx="11185071" cy="3944565"/>
          </a:xfrm>
        </p:grpSpPr>
        <p:sp>
          <p:nvSpPr>
            <p:cNvPr id="6" name="TextBox 5">
              <a:extLst>
                <a:ext uri="{FF2B5EF4-FFF2-40B4-BE49-F238E27FC236}">
                  <a16:creationId xmlns:a16="http://schemas.microsoft.com/office/drawing/2014/main" id="{BA38A69D-BEEF-4273-B308-C9A310256D24}"/>
                </a:ext>
              </a:extLst>
            </p:cNvPr>
            <p:cNvSpPr txBox="1"/>
            <p:nvPr/>
          </p:nvSpPr>
          <p:spPr>
            <a:xfrm>
              <a:off x="508000" y="1079500"/>
              <a:ext cx="5461000" cy="355600"/>
            </a:xfrm>
            <a:prstGeom prst="rect">
              <a:avLst/>
            </a:prstGeom>
            <a:noFill/>
          </p:spPr>
          <p:txBody>
            <a:bodyPr vertOverflow="overflow" vert="horz" wrap="square" rtlCol="0" anchor="t">
              <a:noAutofit/>
            </a:bodyPr>
            <a:lstStyle/>
            <a:p>
              <a:pPr algn="l"/>
              <a:r>
                <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확인한 것</a:t>
              </a:r>
            </a:p>
          </p:txBody>
        </p:sp>
        <p:sp>
          <p:nvSpPr>
            <p:cNvPr id="7" name="타원 6">
              <a:extLst>
                <a:ext uri="{FF2B5EF4-FFF2-40B4-BE49-F238E27FC236}">
                  <a16:creationId xmlns:a16="http://schemas.microsoft.com/office/drawing/2014/main" id="{189276FD-987D-488F-90C0-C082EF97739C}"/>
                </a:ext>
              </a:extLst>
            </p:cNvPr>
            <p:cNvSpPr/>
            <p:nvPr/>
          </p:nvSpPr>
          <p:spPr>
            <a:xfrm>
              <a:off x="635000" y="1549400"/>
              <a:ext cx="152400" cy="1524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61E512BB-9A60-4A9B-BE4B-95B577BC6DA6}"/>
                </a:ext>
              </a:extLst>
            </p:cNvPr>
            <p:cNvSpPr txBox="1"/>
            <p:nvPr/>
          </p:nvSpPr>
          <p:spPr>
            <a:xfrm>
              <a:off x="889000" y="1498600"/>
              <a:ext cx="5080000" cy="508000"/>
            </a:xfrm>
            <a:prstGeom prst="rect">
              <a:avLst/>
            </a:prstGeom>
            <a:noFill/>
          </p:spPr>
          <p:txBody>
            <a:bodyPr vertOverflow="overflow" vert="horz" wrap="square" rtlCol="0" anchor="t">
              <a:noAutofit/>
            </a:bodyPr>
            <a:lstStyle/>
            <a:p>
              <a:pPr algn="l"/>
              <a:r>
                <a:rPr lang="ko-KR" altLang="en-US" sz="120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모달리티가 함께 입력되는 시점에서 융합이 두 단독을 능가 (F1 0.981 vs 0.974, 0.928)</a:t>
              </a:r>
            </a:p>
          </p:txBody>
        </p:sp>
        <p:sp>
          <p:nvSpPr>
            <p:cNvPr id="9" name="타원 8">
              <a:extLst>
                <a:ext uri="{FF2B5EF4-FFF2-40B4-BE49-F238E27FC236}">
                  <a16:creationId xmlns:a16="http://schemas.microsoft.com/office/drawing/2014/main" id="{BAB5E685-F963-4BBF-A984-6D2AB36D3A0C}"/>
                </a:ext>
              </a:extLst>
            </p:cNvPr>
            <p:cNvSpPr/>
            <p:nvPr/>
          </p:nvSpPr>
          <p:spPr>
            <a:xfrm>
              <a:off x="635000" y="2082800"/>
              <a:ext cx="152400" cy="1524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175F7E2-9C3F-42FE-B2FB-4312B40B2628}"/>
                </a:ext>
              </a:extLst>
            </p:cNvPr>
            <p:cNvSpPr txBox="1"/>
            <p:nvPr/>
          </p:nvSpPr>
          <p:spPr>
            <a:xfrm>
              <a:off x="889000" y="20320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 강도를 약·중·강으로 바꿔도 융합 우위가 일관되게 유지됨</a:t>
              </a:r>
            </a:p>
          </p:txBody>
        </p:sp>
        <p:sp>
          <p:nvSpPr>
            <p:cNvPr id="11" name="타원 10">
              <a:extLst>
                <a:ext uri="{FF2B5EF4-FFF2-40B4-BE49-F238E27FC236}">
                  <a16:creationId xmlns:a16="http://schemas.microsoft.com/office/drawing/2014/main" id="{E2333871-9B83-422F-868D-B7CEFFB08A02}"/>
                </a:ext>
              </a:extLst>
            </p:cNvPr>
            <p:cNvSpPr/>
            <p:nvPr/>
          </p:nvSpPr>
          <p:spPr>
            <a:xfrm>
              <a:off x="635000" y="2616200"/>
              <a:ext cx="152400" cy="1524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1B69CE7B-D609-419A-8569-338A91169E4F}"/>
                </a:ext>
              </a:extLst>
            </p:cNvPr>
            <p:cNvSpPr txBox="1"/>
            <p:nvPr/>
          </p:nvSpPr>
          <p:spPr>
            <a:xfrm>
              <a:off x="889000" y="25654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이미지가 없는 시점엔 자동으로 센서만 사용 → 결측에 견고한 시스템</a:t>
              </a:r>
            </a:p>
          </p:txBody>
        </p:sp>
        <p:sp>
          <p:nvSpPr>
            <p:cNvPr id="13" name="타원 12">
              <a:extLst>
                <a:ext uri="{FF2B5EF4-FFF2-40B4-BE49-F238E27FC236}">
                  <a16:creationId xmlns:a16="http://schemas.microsoft.com/office/drawing/2014/main" id="{DB01A3C4-731A-4425-9DA1-2243602803F0}"/>
                </a:ext>
              </a:extLst>
            </p:cNvPr>
            <p:cNvSpPr/>
            <p:nvPr/>
          </p:nvSpPr>
          <p:spPr>
            <a:xfrm>
              <a:off x="635000" y="3149600"/>
              <a:ext cx="152400" cy="1524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7EB5D305-AD62-4FB8-B5E9-75A3F59C0578}"/>
                </a:ext>
              </a:extLst>
            </p:cNvPr>
            <p:cNvSpPr txBox="1"/>
            <p:nvPr/>
          </p:nvSpPr>
          <p:spPr>
            <a:xfrm>
              <a:off x="889000" y="3098800"/>
              <a:ext cx="5080000"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‘멀티모달이 좋다’가 아니라 ‘어떤 조건에서 어떻게 좋은가’를 정량적으로 규명</a:t>
              </a:r>
            </a:p>
          </p:txBody>
        </p:sp>
        <p:sp>
          <p:nvSpPr>
            <p:cNvPr id="15" name="TextBox 14">
              <a:extLst>
                <a:ext uri="{FF2B5EF4-FFF2-40B4-BE49-F238E27FC236}">
                  <a16:creationId xmlns:a16="http://schemas.microsoft.com/office/drawing/2014/main" id="{0F363533-564F-4D1A-8877-EB3DF6A0B60C}"/>
                </a:ext>
              </a:extLst>
            </p:cNvPr>
            <p:cNvSpPr txBox="1"/>
            <p:nvPr/>
          </p:nvSpPr>
          <p:spPr>
            <a:xfrm>
              <a:off x="6477000" y="1079500"/>
              <a:ext cx="5207000" cy="355600"/>
            </a:xfrm>
            <a:prstGeom prst="rect">
              <a:avLst/>
            </a:prstGeom>
            <a:noFill/>
          </p:spPr>
          <p:txBody>
            <a:bodyPr vertOverflow="overflow" vert="horz" wrap="square" rtlCol="0" anchor="t">
              <a:noAutofit/>
            </a:bodyPr>
            <a:lstStyle/>
            <a:p>
              <a:pPr algn="l"/>
              <a:r>
                <a:rPr lang="ko-KR" altLang="en-US" sz="1600" b="1">
                  <a:solidFill>
                    <a:srgbClr val="E8584F"/>
                  </a:solidFill>
                  <a:latin typeface="나눔고딕" panose="020D0604000000000000" pitchFamily="50" charset="-127"/>
                  <a:ea typeface="나눔고딕" panose="020D0604000000000000" pitchFamily="50" charset="-127"/>
                  <a:cs typeface="Arial" panose="020B0604020202020204" pitchFamily="34" charset="0"/>
                </a:rPr>
                <a:t>프로젝트 의의</a:t>
              </a:r>
            </a:p>
          </p:txBody>
        </p:sp>
        <p:sp>
          <p:nvSpPr>
            <p:cNvPr id="16" name="타원 15">
              <a:extLst>
                <a:ext uri="{FF2B5EF4-FFF2-40B4-BE49-F238E27FC236}">
                  <a16:creationId xmlns:a16="http://schemas.microsoft.com/office/drawing/2014/main" id="{56DE1520-C052-4F1D-91E9-24FE270FBAB8}"/>
                </a:ext>
              </a:extLst>
            </p:cNvPr>
            <p:cNvSpPr/>
            <p:nvPr/>
          </p:nvSpPr>
          <p:spPr>
            <a:xfrm>
              <a:off x="6604000" y="15494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TextBox 16">
              <a:extLst>
                <a:ext uri="{FF2B5EF4-FFF2-40B4-BE49-F238E27FC236}">
                  <a16:creationId xmlns:a16="http://schemas.microsoft.com/office/drawing/2014/main" id="{02DE8309-9F4D-4C4C-ABB0-911C89EA4E19}"/>
                </a:ext>
              </a:extLst>
            </p:cNvPr>
            <p:cNvSpPr txBox="1"/>
            <p:nvPr/>
          </p:nvSpPr>
          <p:spPr>
            <a:xfrm>
              <a:off x="6858000" y="14886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실제 산업 환경(카메라가 항상 가용하지 않은 상황)에 적용 가능한 견고한 멀티모달 구조 설계</a:t>
              </a:r>
            </a:p>
          </p:txBody>
        </p:sp>
        <p:sp>
          <p:nvSpPr>
            <p:cNvPr id="18" name="타원 17">
              <a:extLst>
                <a:ext uri="{FF2B5EF4-FFF2-40B4-BE49-F238E27FC236}">
                  <a16:creationId xmlns:a16="http://schemas.microsoft.com/office/drawing/2014/main" id="{35F5A69E-92A2-4659-84BF-4DA043AE353C}"/>
                </a:ext>
              </a:extLst>
            </p:cNvPr>
            <p:cNvSpPr/>
            <p:nvPr/>
          </p:nvSpPr>
          <p:spPr>
            <a:xfrm>
              <a:off x="6604000" y="20828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36B1CB5B-7772-4248-8681-713DAD99DA86}"/>
                </a:ext>
              </a:extLst>
            </p:cNvPr>
            <p:cNvSpPr txBox="1"/>
            <p:nvPr/>
          </p:nvSpPr>
          <p:spPr>
            <a:xfrm>
              <a:off x="6858000" y="20220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단계별 통제 실험으로 융합 효과의 발생 조건을 정량적으로 분석</a:t>
              </a:r>
            </a:p>
          </p:txBody>
        </p:sp>
        <p:sp>
          <p:nvSpPr>
            <p:cNvPr id="20" name="타원 19">
              <a:extLst>
                <a:ext uri="{FF2B5EF4-FFF2-40B4-BE49-F238E27FC236}">
                  <a16:creationId xmlns:a16="http://schemas.microsoft.com/office/drawing/2014/main" id="{233A48B4-1A56-4258-ADD7-CAC382C67A28}"/>
                </a:ext>
              </a:extLst>
            </p:cNvPr>
            <p:cNvSpPr/>
            <p:nvPr/>
          </p:nvSpPr>
          <p:spPr>
            <a:xfrm>
              <a:off x="6604000" y="26162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6D0AC1FF-B7C0-4083-8C7E-23F829AF0948}"/>
                </a:ext>
              </a:extLst>
            </p:cNvPr>
            <p:cNvSpPr txBox="1"/>
            <p:nvPr/>
          </p:nvSpPr>
          <p:spPr>
            <a:xfrm>
              <a:off x="6858000" y="25554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p>
          </p:txBody>
        </p:sp>
        <p:sp>
          <p:nvSpPr>
            <p:cNvPr id="22" name="타원 21">
              <a:extLst>
                <a:ext uri="{FF2B5EF4-FFF2-40B4-BE49-F238E27FC236}">
                  <a16:creationId xmlns:a16="http://schemas.microsoft.com/office/drawing/2014/main" id="{3716658D-D286-4D58-98B5-5FC0DDA6750C}"/>
                </a:ext>
              </a:extLst>
            </p:cNvPr>
            <p:cNvSpPr/>
            <p:nvPr/>
          </p:nvSpPr>
          <p:spPr>
            <a:xfrm>
              <a:off x="6604000" y="31496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TextBox 22">
              <a:extLst>
                <a:ext uri="{FF2B5EF4-FFF2-40B4-BE49-F238E27FC236}">
                  <a16:creationId xmlns:a16="http://schemas.microsoft.com/office/drawing/2014/main" id="{434C0496-91C1-4F88-AA19-195D1A6CA473}"/>
                </a:ext>
              </a:extLst>
            </p:cNvPr>
            <p:cNvSpPr txBox="1"/>
            <p:nvPr/>
          </p:nvSpPr>
          <p:spPr>
            <a:xfrm>
              <a:off x="6858000" y="30888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p>
          </p:txBody>
        </p:sp>
        <p:sp>
          <p:nvSpPr>
            <p:cNvPr id="24" name="사각형: 둥근 모서리 23">
              <a:extLst>
                <a:ext uri="{FF2B5EF4-FFF2-40B4-BE49-F238E27FC236}">
                  <a16:creationId xmlns:a16="http://schemas.microsoft.com/office/drawing/2014/main" id="{B1D319AA-6843-4098-9661-E3B04AF5CBFA}"/>
                </a:ext>
              </a:extLst>
            </p:cNvPr>
            <p:cNvSpPr/>
            <p:nvPr/>
          </p:nvSpPr>
          <p:spPr>
            <a:xfrm>
              <a:off x="508000" y="3829123"/>
              <a:ext cx="11176000" cy="1194942"/>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67381BE4-6ED7-4569-ACF7-D88DA64329BD}"/>
                </a:ext>
              </a:extLst>
            </p:cNvPr>
            <p:cNvSpPr txBox="1"/>
            <p:nvPr/>
          </p:nvSpPr>
          <p:spPr>
            <a:xfrm>
              <a:off x="698500" y="4000500"/>
              <a:ext cx="3810000" cy="2794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발표를 마치며</a:t>
              </a:r>
            </a:p>
          </p:txBody>
        </p:sp>
        <p:sp>
          <p:nvSpPr>
            <p:cNvPr id="26" name="TextBox 25">
              <a:extLst>
                <a:ext uri="{FF2B5EF4-FFF2-40B4-BE49-F238E27FC236}">
                  <a16:creationId xmlns:a16="http://schemas.microsoft.com/office/drawing/2014/main" id="{7D8AFD0B-A337-40C3-BA3B-BF2C7795271F}"/>
                </a:ext>
              </a:extLst>
            </p:cNvPr>
            <p:cNvSpPr txBox="1"/>
            <p:nvPr/>
          </p:nvSpPr>
          <p:spPr>
            <a:xfrm>
              <a:off x="698500" y="4343400"/>
              <a:ext cx="10795000" cy="533400"/>
            </a:xfrm>
            <a:prstGeom prst="rect">
              <a:avLst/>
            </a:prstGeom>
            <a:noFill/>
          </p:spPr>
          <p:txBody>
            <a:bodyPr vertOverflow="overflow" vert="horz" wrap="square" rtlCol="0" anchor="t">
              <a:noAutofit/>
            </a:bodyPr>
            <a:lstStyle/>
            <a:p>
              <a:pPr algn="l"/>
              <a:r>
                <a:rPr lang="en-US" altLang="ko-KR"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단순한 결합을 넘어, 언제·어떻게 효과적인지를 실험으로 답한 프로젝트입니다.</a:t>
              </a:r>
            </a:p>
          </p:txBody>
        </p:sp>
      </p:grpSp>
    </p:spTree>
    <p:extLst>
      <p:ext uri="{BB962C8B-B14F-4D97-AF65-F5344CB8AC3E}">
        <p14:creationId xmlns:p14="http://schemas.microsoft.com/office/powerpoint/2010/main" val="4367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4DE33E0-C7C1-4A9C-3B83-F44A86D4831E}"/>
              </a:ext>
            </a:extLst>
          </p:cNvPr>
          <p:cNvGrpSpPr/>
          <p:nvPr/>
        </p:nvGrpSpPr>
        <p:grpSpPr>
          <a:xfrm>
            <a:off x="2390454" y="2719087"/>
            <a:ext cx="7411092" cy="1306812"/>
            <a:chOff x="1250023" y="1493750"/>
            <a:chExt cx="7411092" cy="1306812"/>
          </a:xfrm>
        </p:grpSpPr>
        <p:sp>
          <p:nvSpPr>
            <p:cNvPr id="4" name="TextBox 3">
              <a:extLst>
                <a:ext uri="{FF2B5EF4-FFF2-40B4-BE49-F238E27FC236}">
                  <a16:creationId xmlns:a16="http://schemas.microsoft.com/office/drawing/2014/main" id="{D590DF89-2A84-E6AC-5F5A-106DD6628239}"/>
                </a:ext>
              </a:extLst>
            </p:cNvPr>
            <p:cNvSpPr txBox="1"/>
            <p:nvPr/>
          </p:nvSpPr>
          <p:spPr>
            <a:xfrm>
              <a:off x="1250023" y="1493750"/>
              <a:ext cx="7411092" cy="918965"/>
            </a:xfrm>
            <a:prstGeom prst="rect">
              <a:avLst/>
            </a:prstGeom>
            <a:noFill/>
          </p:spPr>
          <p:txBody>
            <a:bodyPr vertOverflow="overflow" vert="horz" wrap="square" rtlCol="0" anchor="t">
              <a:noAutofit/>
            </a:bodyPr>
            <a:lstStyle/>
            <a:p>
              <a:pPr algn="ctr"/>
              <a:r>
                <a:rPr lang="en-US" altLang="ko-KR" sz="6000" b="1">
                  <a:solidFill>
                    <a:srgbClr val="1B2A4A"/>
                  </a:solidFill>
                  <a:latin typeface="나눔고딕" panose="020D0604000000000000" pitchFamily="50" charset="-127"/>
                  <a:ea typeface="나눔고딕" panose="020D0604000000000000" pitchFamily="50" charset="-127"/>
                  <a:cs typeface="Arial" panose="020B0604020202020204" pitchFamily="34" charset="0"/>
                </a:rPr>
                <a:t>Thank you</a:t>
              </a:r>
              <a:endParaRPr lang="ko-KR" altLang="en-US" sz="60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5" name="TextBox 4">
              <a:extLst>
                <a:ext uri="{FF2B5EF4-FFF2-40B4-BE49-F238E27FC236}">
                  <a16:creationId xmlns:a16="http://schemas.microsoft.com/office/drawing/2014/main" id="{F2B5A417-0130-FBC3-C785-24284DFF8E7E}"/>
                </a:ext>
              </a:extLst>
            </p:cNvPr>
            <p:cNvSpPr txBox="1"/>
            <p:nvPr/>
          </p:nvSpPr>
          <p:spPr>
            <a:xfrm>
              <a:off x="1470061" y="2427338"/>
              <a:ext cx="6971016" cy="373224"/>
            </a:xfrm>
            <a:prstGeom prst="rect">
              <a:avLst/>
            </a:prstGeom>
            <a:noFill/>
          </p:spPr>
          <p:txBody>
            <a:bodyPr vertOverflow="overflow" vert="horz" wrap="square" rtlCol="0" anchor="t">
              <a:noAutofit/>
            </a:bodyPr>
            <a:lstStyle/>
            <a:p>
              <a:pPr algn="ctr"/>
              <a:r>
                <a:rPr lang="en-US" altLang="ko-KR" sz="1500">
                  <a:solidFill>
                    <a:srgbClr val="555555"/>
                  </a:solidFill>
                  <a:latin typeface="나눔고딕" panose="020D0604000000000000" pitchFamily="50" charset="-127"/>
                  <a:ea typeface="나눔고딕" panose="020D0604000000000000" pitchFamily="50" charset="-127"/>
                  <a:cs typeface="Arial" panose="020B0604020202020204" pitchFamily="34" charset="0"/>
                </a:rPr>
                <a:t>Thank you for your attention</a:t>
              </a:r>
              <a:endParaRPr lang="ko-KR" altLang="en-US" sz="15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1546479590"/>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08</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결함 유형별 성능 분석</a:t>
            </a:r>
          </a:p>
        </p:txBody>
      </p:sp>
      <p:pic>
        <p:nvPicPr>
          <p:cNvPr id="6" name="Picture 5" descr="res_byclass.png"/>
          <p:cNvPicPr>
            <a:picLocks noChangeAspect="1"/>
          </p:cNvPicPr>
          <p:nvPr/>
        </p:nvPicPr>
        <p:blipFill>
          <a:blip r:embed="rId3"/>
          <a:stretch>
            <a:fillRect/>
          </a:stretch>
        </p:blipFill>
        <p:spPr>
          <a:xfrm>
            <a:off x="2286000" y="1417320"/>
            <a:ext cx="7589520" cy="42976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10</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한계와 향후 방향</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단일 데이터셋 검증</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Future Factories 한 데이터셋에서만 검증 → 다른 제조 환경 일반화 검증 필요</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복합 결함 어려움</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3부품 동시 빠짐 케이스 F1 0.59 → 특화 모델·데이터 증강 필요</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통계 유의성</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융합 향상 폭이 작은 편 (약 +0.007) → 통계적 유의성 검증 추가 필요</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도메인 지식(센서 정상 범위) 반영, 결함 유형별 특화 모델 등 후속 연구로 확장 가능</a:t>
            </a:r>
          </a:p>
        </p:txBody>
      </p:sp>
    </p:spTree>
  </p:cSld>
  <p:clrMapOvr>
    <a:masterClrMapping/>
  </p:clrMapOvr>
</p:sld>
</file>

<file path=ppt/theme/theme1.xml><?xml version="1.0" encoding="utf-8"?>
<a:theme xmlns:a="http://schemas.openxmlformats.org/drawingml/2006/main" name="Office 2013 - 2022 테마 [1777720222177]">
  <a:themeElements>
    <a:clrScheme name="Office 2013 - 2022 테마">
      <a:dk1>
        <a:srgbClr val="1B2A4A"/>
      </a:dk1>
      <a:lt1>
        <a:srgbClr val="FFFFFF"/>
      </a:lt1>
      <a:dk2>
        <a:srgbClr val="2C3E5D"/>
      </a:dk2>
      <a:lt2>
        <a:srgbClr val="F0F2F5"/>
      </a:lt2>
      <a:accent1>
        <a:srgbClr val="2676AC"/>
      </a:accent1>
      <a:accent2>
        <a:srgbClr val="16A295"/>
      </a:accent2>
      <a:accent3>
        <a:srgbClr val="E8584F"/>
      </a:accent3>
      <a:accent4>
        <a:srgbClr val="F29E16"/>
      </a:accent4>
      <a:accent5>
        <a:srgbClr val="93B64E"/>
      </a:accent5>
      <a:accent6>
        <a:srgbClr val="AE729E"/>
      </a:accent6>
      <a:hlink>
        <a:srgbClr val="0563C1"/>
      </a:hlink>
      <a:folHlink>
        <a:srgbClr val="954F72"/>
      </a:folHlink>
    </a:clrScheme>
    <a:fontScheme name="사용자 지정 4">
      <a:majorFont>
        <a:latin typeface="Pretendard"/>
        <a:ea typeface=""/>
        <a:cs typeface=""/>
      </a:majorFont>
      <a:minorFont>
        <a:latin typeface="Pretendard"/>
        <a:ea typeface=""/>
        <a:cs typeface=""/>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200" dirty="0" smtClean="0">
            <a:solidFill>
              <a:schemeClr val="tx1">
                <a:lumMod val="65000"/>
                <a:lumOff val="35000"/>
              </a:schemeClr>
            </a:solidFill>
            <a:latin typeface="나눔고딕" panose="020D0604000000000000" pitchFamily="50" charset="-127"/>
            <a:ea typeface="나눔고딕" panose="020D0604000000000000" pitchFamily="50" charset="-127"/>
            <a:cs typeface="Arial" panose="020B0604020202020204" pitchFamily="34" charset="0"/>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8D53C4-EB30-4D06-B415-8CAF9BDD6141}">
  <we:reference id="WA200010001" version="1.0.0.1" store="Omex" storeType="OMEX"/>
  <we:alternateReferences>
    <we:reference id="WA200010001" version="1.0.0.1" store="WA200010001" storeType="OMEX"/>
  </we:alternateReferences>
  <we:properties>
    <we:property name="claude.fileId" value="&quot;c072c8d9-7136-4530-9268-0bffd5bfecc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597F093C87EF87408D5C5F04BCF3A1CB" ma:contentTypeVersion="9" ma:contentTypeDescription="새 문서를 만듭니다." ma:contentTypeScope="" ma:versionID="cd7cd375469c6d4b522ce2b3e8029dd3">
  <xsd:schema xmlns:xsd="http://www.w3.org/2001/XMLSchema" xmlns:xs="http://www.w3.org/2001/XMLSchema" xmlns:p="http://schemas.microsoft.com/office/2006/metadata/properties" xmlns:ns3="1f7d68b1-f69b-49f8-80cd-f995854cf296" xmlns:ns4="362945be-0545-4d77-ba0f-90fd258c610d" targetNamespace="http://schemas.microsoft.com/office/2006/metadata/properties" ma:root="true" ma:fieldsID="3709e7358902c5645f0e406a38b57213" ns3:_="" ns4:_="">
    <xsd:import namespace="1f7d68b1-f69b-49f8-80cd-f995854cf296"/>
    <xsd:import namespace="362945be-0545-4d77-ba0f-90fd258c610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d68b1-f69b-49f8-80cd-f995854cf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2945be-0545-4d77-ba0f-90fd258c610d" elementFormDefault="qualified">
    <xsd:import namespace="http://schemas.microsoft.com/office/2006/documentManagement/types"/>
    <xsd:import namespace="http://schemas.microsoft.com/office/infopath/2007/PartnerControls"/>
    <xsd:element name="SharedWithUsers" ma:index="13"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세부 정보 공유" ma:internalName="SharedWithDetails" ma:readOnly="true">
      <xsd:simpleType>
        <xsd:restriction base="dms:Note">
          <xsd:maxLength value="255"/>
        </xsd:restriction>
      </xsd:simpleType>
    </xsd:element>
    <xsd:element name="SharingHintHash" ma:index="15" nillable="true" ma:displayName="힌트 해시 공유"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7d68b1-f69b-49f8-80cd-f995854cf296" xsi:nil="true"/>
  </documentManagement>
</p:properties>
</file>

<file path=customXml/itemProps1.xml><?xml version="1.0" encoding="utf-8"?>
<ds:datastoreItem xmlns:ds="http://schemas.openxmlformats.org/officeDocument/2006/customXml" ds:itemID="{27312C13-A2B3-4A01-B220-75D5986F7D62}">
  <ds:schemaRefs>
    <ds:schemaRef ds:uri="1f7d68b1-f69b-49f8-80cd-f995854cf296"/>
    <ds:schemaRef ds:uri="362945be-0545-4d77-ba0f-90fd258c61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21C8D9-4205-4504-9844-72894E2B915B}">
  <ds:schemaRefs>
    <ds:schemaRef ds:uri="http://schemas.microsoft.com/sharepoint/v3/contenttype/forms"/>
  </ds:schemaRefs>
</ds:datastoreItem>
</file>

<file path=customXml/itemProps3.xml><?xml version="1.0" encoding="utf-8"?>
<ds:datastoreItem xmlns:ds="http://schemas.openxmlformats.org/officeDocument/2006/customXml" ds:itemID="{D3D5EEEF-55DE-415E-A824-415CEA62A4FB}">
  <ds:schemaRefs>
    <ds:schemaRef ds:uri="http://schemas.microsoft.com/office/2006/documentManagement/types"/>
    <ds:schemaRef ds:uri="http://schemas.microsoft.com/office/2006/metadata/properties"/>
    <ds:schemaRef ds:uri="http://purl.org/dc/terms/"/>
    <ds:schemaRef ds:uri="1f7d68b1-f69b-49f8-80cd-f995854cf296"/>
    <ds:schemaRef ds:uri="http://schemas.openxmlformats.org/package/2006/metadata/core-properties"/>
    <ds:schemaRef ds:uri="http://purl.org/dc/elements/1.1/"/>
    <ds:schemaRef ds:uri="http://purl.org/dc/dcmitype/"/>
    <ds:schemaRef ds:uri="http://schemas.microsoft.com/office/infopath/2007/PartnerControls"/>
    <ds:schemaRef ds:uri="362945be-0545-4d77-ba0f-90fd258c610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2293</Words>
  <Application>Microsoft Office PowerPoint</Application>
  <PresentationFormat>와이드스크린</PresentationFormat>
  <Paragraphs>207</Paragraphs>
  <Slides>12</Slides>
  <Notes>12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Pretendard</vt:lpstr>
      <vt:lpstr>나눔고딕</vt:lpstr>
      <vt:lpstr>맑은 고딕</vt:lpstr>
      <vt:lpstr>Arial</vt:lpstr>
      <vt:lpstr>Office 2013 - 2022 테마 [1777720222177]</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현성 하</dc:creator>
  <cp:lastModifiedBy>하 현성</cp:lastModifiedBy>
  <cp:revision>1</cp:revision>
  <dcterms:created xsi:type="dcterms:W3CDTF">2024-04-02T11:49:31Z</dcterms:created>
  <dcterms:modified xsi:type="dcterms:W3CDTF">2026-05-08T13:22:00Z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0x010100597F093C87EF87408D5C5F04BCF3A1CB</vt:lpwstr>
  </property>
</Properties>
</file>