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CC"/>
    <a:srgbClr val="2676AC"/>
    <a:srgbClr val="EBECF1"/>
    <a:srgbClr val="3B3535"/>
    <a:srgbClr val="F1F2F5"/>
    <a:srgbClr val="EDEEF3"/>
    <a:srgbClr val="A3A3A3"/>
    <a:srgbClr val="9D9D9D"/>
    <a:srgbClr val="929292"/>
    <a:srgbClr val="E6E8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82C3E0-EFE3-4D6B-A4EB-282364353C02}" v="5" dt="2026-05-08T03:41:44.7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673" autoAdjust="0"/>
  </p:normalViewPr>
  <p:slideViewPr>
    <p:cSldViewPr snapToGrid="0">
      <p:cViewPr varScale="1">
        <p:scale>
          <a:sx n="110" d="100"/>
          <a:sy n="110" d="100"/>
        </p:scale>
        <p:origin x="57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하 현성" userId="545a4ab8-e4ee-4590-b348-fc04c608cfe8" providerId="ADAL" clId="{D7EE3CC3-84C1-417B-9413-2A5A64C9CA42}"/>
    <pc:docChg chg="modSld">
      <pc:chgData name="하 현성" userId="545a4ab8-e4ee-4590-b348-fc04c608cfe8" providerId="ADAL" clId="{D7EE3CC3-84C1-417B-9413-2A5A64C9CA42}" dt="2026-05-08T03:41:44.707" v="4" actId="207"/>
      <pc:docMkLst>
        <pc:docMk/>
      </pc:docMkLst>
      <pc:sldChg chg="modSp mod">
        <pc:chgData name="하 현성" userId="545a4ab8-e4ee-4590-b348-fc04c608cfe8" providerId="ADAL" clId="{D7EE3CC3-84C1-417B-9413-2A5A64C9CA42}" dt="2026-05-08T03:41:39.524" v="3" actId="207"/>
        <pc:sldMkLst>
          <pc:docMk/>
          <pc:sldMk cId="797869273" sldId="261"/>
        </pc:sldMkLst>
        <pc:spChg chg="mod">
          <ac:chgData name="하 현성" userId="545a4ab8-e4ee-4590-b348-fc04c608cfe8" providerId="ADAL" clId="{D7EE3CC3-84C1-417B-9413-2A5A64C9CA42}" dt="2026-05-08T03:41:24.471" v="2" actId="207"/>
          <ac:spMkLst>
            <pc:docMk/>
            <pc:sldMk cId="797869273" sldId="261"/>
            <ac:spMk id="7" creationId="{D7F909FE-EA72-4430-84E5-711DDED494E4}"/>
          </ac:spMkLst>
        </pc:spChg>
        <pc:spChg chg="mod">
          <ac:chgData name="하 현성" userId="545a4ab8-e4ee-4590-b348-fc04c608cfe8" providerId="ADAL" clId="{D7EE3CC3-84C1-417B-9413-2A5A64C9CA42}" dt="2026-05-08T03:41:24.471" v="2" actId="207"/>
          <ac:spMkLst>
            <pc:docMk/>
            <pc:sldMk cId="797869273" sldId="261"/>
            <ac:spMk id="9" creationId="{505D91E8-F199-4B9F-93A0-3A3C6FB4450D}"/>
          </ac:spMkLst>
        </pc:spChg>
        <pc:spChg chg="mod">
          <ac:chgData name="하 현성" userId="545a4ab8-e4ee-4590-b348-fc04c608cfe8" providerId="ADAL" clId="{D7EE3CC3-84C1-417B-9413-2A5A64C9CA42}" dt="2026-05-08T03:41:15.507" v="0" actId="207"/>
          <ac:spMkLst>
            <pc:docMk/>
            <pc:sldMk cId="797869273" sldId="261"/>
            <ac:spMk id="12" creationId="{B4D160E4-B85C-4F6B-992E-79BD9580D8BF}"/>
          </ac:spMkLst>
        </pc:spChg>
        <pc:spChg chg="mod">
          <ac:chgData name="하 현성" userId="545a4ab8-e4ee-4590-b348-fc04c608cfe8" providerId="ADAL" clId="{D7EE3CC3-84C1-417B-9413-2A5A64C9CA42}" dt="2026-05-08T03:41:15.507" v="0" actId="207"/>
          <ac:spMkLst>
            <pc:docMk/>
            <pc:sldMk cId="797869273" sldId="261"/>
            <ac:spMk id="14" creationId="{F3B4D038-5F48-47D0-B924-6182A661C3D2}"/>
          </ac:spMkLst>
        </pc:spChg>
        <pc:spChg chg="mod">
          <ac:chgData name="하 현성" userId="545a4ab8-e4ee-4590-b348-fc04c608cfe8" providerId="ADAL" clId="{D7EE3CC3-84C1-417B-9413-2A5A64C9CA42}" dt="2026-05-08T03:41:15.507" v="0" actId="207"/>
          <ac:spMkLst>
            <pc:docMk/>
            <pc:sldMk cId="797869273" sldId="261"/>
            <ac:spMk id="16" creationId="{A52EA78F-89A1-4DCB-9025-CA3124B9C5C0}"/>
          </ac:spMkLst>
        </pc:spChg>
        <pc:spChg chg="mod">
          <ac:chgData name="하 현성" userId="545a4ab8-e4ee-4590-b348-fc04c608cfe8" providerId="ADAL" clId="{D7EE3CC3-84C1-417B-9413-2A5A64C9CA42}" dt="2026-05-08T03:41:39.524" v="3" actId="207"/>
          <ac:spMkLst>
            <pc:docMk/>
            <pc:sldMk cId="797869273" sldId="261"/>
            <ac:spMk id="19" creationId="{30E731E0-7D1D-4D66-82D2-7CE3BF61D67E}"/>
          </ac:spMkLst>
        </pc:spChg>
        <pc:spChg chg="mod">
          <ac:chgData name="하 현성" userId="545a4ab8-e4ee-4590-b348-fc04c608cfe8" providerId="ADAL" clId="{D7EE3CC3-84C1-417B-9413-2A5A64C9CA42}" dt="2026-05-08T03:41:24.471" v="2" actId="207"/>
          <ac:spMkLst>
            <pc:docMk/>
            <pc:sldMk cId="797869273" sldId="261"/>
            <ac:spMk id="22" creationId="{643DCCE1-B3BE-4827-A6A7-12FF1B638CA9}"/>
          </ac:spMkLst>
        </pc:spChg>
      </pc:sldChg>
      <pc:sldChg chg="modSp mod">
        <pc:chgData name="하 현성" userId="545a4ab8-e4ee-4590-b348-fc04c608cfe8" providerId="ADAL" clId="{D7EE3CC3-84C1-417B-9413-2A5A64C9CA42}" dt="2026-05-08T03:41:44.707" v="4" actId="207"/>
        <pc:sldMkLst>
          <pc:docMk/>
          <pc:sldMk cId="1763201014" sldId="262"/>
        </pc:sldMkLst>
        <pc:spChg chg="mod">
          <ac:chgData name="하 현성" userId="545a4ab8-e4ee-4590-b348-fc04c608cfe8" providerId="ADAL" clId="{D7EE3CC3-84C1-417B-9413-2A5A64C9CA42}" dt="2026-05-08T03:41:44.707" v="4" actId="207"/>
          <ac:spMkLst>
            <pc:docMk/>
            <pc:sldMk cId="1763201014" sldId="262"/>
            <ac:spMk id="11" creationId="{03057C49-52E1-4DD5-95D1-DDEEC5107A29}"/>
          </ac:spMkLst>
        </pc:spChg>
        <pc:spChg chg="mod">
          <ac:chgData name="하 현성" userId="545a4ab8-e4ee-4590-b348-fc04c608cfe8" providerId="ADAL" clId="{D7EE3CC3-84C1-417B-9413-2A5A64C9CA42}" dt="2026-05-08T03:41:44.707" v="4" actId="207"/>
          <ac:spMkLst>
            <pc:docMk/>
            <pc:sldMk cId="1763201014" sldId="262"/>
            <ac:spMk id="17" creationId="{9655BF96-6805-47BC-8A01-845DE1108082}"/>
          </ac:spMkLst>
        </pc:spChg>
      </pc:sldChg>
    </pc:docChg>
  </pc:docChgLst>
  <pc:docChgLst>
    <pc:chgData name="하 현성" userId="545a4ab8-e4ee-4590-b348-fc04c608cfe8" providerId="ADAL" clId="{19A5CB6E-E37B-4EDD-80DF-4815AA54A118}"/>
    <pc:docChg chg="undo custSel modSld">
      <pc:chgData name="하 현성" userId="545a4ab8-e4ee-4590-b348-fc04c608cfe8" providerId="ADAL" clId="{19A5CB6E-E37B-4EDD-80DF-4815AA54A118}" dt="2026-05-08T12:41:53.690" v="108" actId="1076"/>
      <pc:docMkLst>
        <pc:docMk/>
      </pc:docMkLst>
      <pc:sldChg chg="modSp mod">
        <pc:chgData name="하 현성" userId="545a4ab8-e4ee-4590-b348-fc04c608cfe8" providerId="ADAL" clId="{19A5CB6E-E37B-4EDD-80DF-4815AA54A118}" dt="2026-05-08T12:41:53.690" v="108" actId="1076"/>
        <pc:sldMkLst>
          <pc:docMk/>
          <pc:sldMk cId="1423671779" sldId="256"/>
        </pc:sldMkLst>
        <pc:grpChg chg="mod">
          <ac:chgData name="하 현성" userId="545a4ab8-e4ee-4590-b348-fc04c608cfe8" providerId="ADAL" clId="{19A5CB6E-E37B-4EDD-80DF-4815AA54A118}" dt="2026-05-08T12:41:53.690" v="108" actId="1076"/>
          <ac:grpSpMkLst>
            <pc:docMk/>
            <pc:sldMk cId="1423671779" sldId="256"/>
            <ac:grpSpMk id="21" creationId="{EBE95E33-541A-7ECA-DBE6-55DDF3E50930}"/>
          </ac:grpSpMkLst>
        </pc:grpChg>
      </pc:sldChg>
      <pc:sldChg chg="modNotesTx">
        <pc:chgData name="하 현성" userId="545a4ab8-e4ee-4590-b348-fc04c608cfe8" providerId="ADAL" clId="{19A5CB6E-E37B-4EDD-80DF-4815AA54A118}" dt="2026-05-08T11:18:38.379" v="71" actId="20577"/>
        <pc:sldMkLst>
          <pc:docMk/>
          <pc:sldMk cId="1651085585" sldId="257"/>
        </pc:sldMkLst>
      </pc:sldChg>
      <pc:sldChg chg="modNotesTx">
        <pc:chgData name="하 현성" userId="545a4ab8-e4ee-4590-b348-fc04c608cfe8" providerId="ADAL" clId="{19A5CB6E-E37B-4EDD-80DF-4815AA54A118}" dt="2026-05-08T11:28:35.603" v="106" actId="20577"/>
        <pc:sldMkLst>
          <pc:docMk/>
          <pc:sldMk cId="797869273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455BE-1399-48B6-9FDD-6D8F9FE4BCA3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8DF1B-83BF-4DB2-ADDA-54159C8393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069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안녕하세요. 오늘 발표할 논문은 "NSF-MAP: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Neurosymbolic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Multimodal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Robust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Interpretable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Anomaly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Assembly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Pipelines"입니다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사우스캐롤라이나 대학교 AI 연구소와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클렘슨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대학교 연구팀이 공동으로 작성했고, 인공지능 분야 최상위 학회인 IJCAI 2025의 AI4Tech 트랙에 정식 게재된 논문입니다.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8DF1B-83BF-4DB2-ADDA-54159C83935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92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이 논문이 풀고자 하는 문제부터 말씀드리겠습니다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제조 조립 라인에서 이상을 탐지하는 건 품질과 효율에 직결되는 중요한 과제입니다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기존에는 센서 데이터만 분석하거나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카메라 이미지만 분석하는 단일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모달리티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방식이 주를 이뤘는데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공장 환경에서는 온도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속도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로봇 동작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시각적 상태 등 여러 변수가 복합적으로 작용하기 때문에 하나의 데이터만으로는 놓치는 이상 현상이 발생할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여러 종류의 데이터를 함께 활용하는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멀티모달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접근이 필요한데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큰 문제가 하나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시계열 센서 데이터와 이미지를 동시에 포함하는 공개 제조 데이터셋이 전 세계적으로 거의 없다는 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논문의 저자들도 조사 결과 해당 조건을 만족하는 데이터셋을 단 하나만 찾을 수 있었다고 밝히고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8DF1B-83BF-4DB2-ADDA-54159C83935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932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이런 배경에서 이 논문은 세 가지 핵심 기여를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시계열과 이미지를 결합하는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Decision-level Fusion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모델을 제안합니다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데이터가 적은 상황에서 과적합을 방지하기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Transfer Learning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적용합니다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 전문가의 도메인 지식을 온톨로지로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구조화하여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모델 학습에 직접 반영하는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Knowledge-Infused Learning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도입합니다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가지를 결합한 것이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NSF-MAP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프레임워크입니다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8DF1B-83BF-4DB2-ADDA-54159C83935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243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관련 이전 연구는 크게 세 분야로 나뉩니다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시계열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Fusion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분야에서는 원격 탐사의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ES-TARFM,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의료 분야의 전자 건강 기록과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X-ray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결합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제조 분야의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MFGAN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등이 있었습니다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 이들은 데이터 동기화 어려움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모델의 해석 불가능성 등의 한계가 있었습니다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Transfer Learning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분야에서는 산업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영상 감시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서비스 등에서 사전학습 모델을 활용한 이상 탐지 연구가 있었으나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도메인 불일치 시 성능 저하 문제가 과제로 남아 있었습니다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altLang="ko-K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Neurosymbolic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분야에서는 지식 그래프를 활용한 이상 탐지가 사이버 보안이나 </a:t>
            </a:r>
            <a:r>
              <a:rPr lang="ko-KR" alt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전력망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분야에서 시도되었지만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제조 조립 공정에 </a:t>
            </a:r>
            <a:r>
              <a:rPr lang="ko-KR" alt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멀티모달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데이터와 </a:t>
            </a:r>
            <a:r>
              <a:rPr lang="en-US" altLang="ko-KR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Neurosymbolic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동시에 적용한 사례는 이 논문 이전에 없었다고 저자들이 명시하고 있습니다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8DF1B-83BF-4DB2-ADDA-54159C83935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134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사용한 데이터셋은 사우스캐롤라이나 대학교 Future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Factories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공개 데이터셋입니다. 산업용 로봇 4대와 컨베이어로 구성된 조립 라인에서 4개 부품으로 이루어진 로켓 모형을 30시간 동안 조립하고 분해하면서 데이터를 수집했습니다. 1.95Hz의 샘플링 주기로 약 166,000개의 시계열 레코드를 수집했고, 각 레코드에는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포텐셔미터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로드셀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로봇 관절 각도, 컨베이어 온도 등 다양한 센서 변수와 함께 양쪽에서 동기화 촬영된 카메라 이미지가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매핑되어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있습니다. 의도적으로 부품을 제거하여 NoBody1,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NoNose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NoBody2 등을 조합한 총 6가지 결함 유형을 만들었고, 정상 클래스를 포함한 7개 클래스 분류 문제로 평가합니다. 중요한 점은 로봇과 장비의 위치 때문에 로켓 부품이 카메라에 명확히 보이는 구간이 21개 사이클 상태 중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9의 일부 구간으로 한정된다는 것이며, 그래서 이미지는 이 두 구간만 필터링하고 ROI 영역을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크롭해서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사용했습니다.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8DF1B-83BF-4DB2-ADDA-54159C83935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792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 아키텍처를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이미지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브랜치에서는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사전학습된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EfficientNet-B0의 분류 레이어를 제거하고 이미지 특징 벡터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fV를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추출합니다. 시계열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브랜치에서는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Autoencoder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구조를 사용하는데,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Encoder가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센서 데이터를 잠재 표현으로 압축한 뒤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Decoder가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다음 시점의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센서값을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재구성하며, 이때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Decoder의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재구성 출력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시계열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최종 출력이 됩니다. 사이클 상태 4번과 9번에서는 이미지 특징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fV와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시계열 출력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 벡터를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Concatenate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컨캔트네이트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Connected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레이어에 통과시키는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Decision-level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Fusion을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수행하고, 이미지가 없는 나머지 구간에서는 시계열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출력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hT만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단독으로 사용합니다. 최종적으로 분류 레이어를 거쳐 다음 시점의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센서값과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이상 유형을 동시에 예측합니다.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8DF1B-83BF-4DB2-ADDA-54159C83935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1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논문의 핵심은 세 단계로 모델을 발전시키면서 각 기법의 기여도를 분리해서 보여준다는 점입니다. P1은 방금 설명한 기본 Fusion 구조로, Encoder와 Decoder를 end-to-end로 함께 학습합니다. P2에서는 Transfer Learning을 적용하여 먼저 학습된 Encoder의 가중치를 동결한 채 Decoder만 Fine-tuning합니다. 이렇게 하면 Encoder가 안정적인 특징 추출기 역할을 하면서 학습 시간 단축과 과적합 완화 효과를 얻을 수 있습니다. P3에서는 여기에 Process Ontology 기반의 Knowledge-Infused Learning을 추가하여 도메인 지식까지 학습 과정에 반영합니다.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8DF1B-83BF-4DB2-ADDA-54159C83935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417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Ontology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공정 전문가의 지식을 구조화한 것입니다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사이클 상태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R01 </a:t>
            </a:r>
            <a:r>
              <a:rPr lang="ko-KR" alt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포텐셔미터의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정상 범위가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6,000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8,000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정보가 저장되어 있습니다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 학습 시 </a:t>
            </a:r>
            <a:r>
              <a:rPr lang="ko-KR" alt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센서값이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정상 범위 안인데 이상으로 예측하거나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범위를 벗어났는데 정상으로 예측하면 손실 함수에 </a:t>
            </a:r>
            <a:r>
              <a:rPr lang="ko-KR" alt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패널티를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추가합니다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데이터만으로 학습하는 것이 아니라 도메인 지식이 모델을 </a:t>
            </a:r>
            <a:r>
              <a:rPr lang="ko-KR" alt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가이드하게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됩니다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예측 결과에 대해 어떤 센서가 이상의 원인인지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상태에서 어떤 동작이 수행 중이었는지 등을 설명할 수 있어 해석 가능성도 확보합니다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8DF1B-83BF-4DB2-ADDA-54159C83935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185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실험 결과입니다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80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분할 기준으로 시계열 단독 모델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정확도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63%,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기본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Fusion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P1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72%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Fusion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만으로는 기대만큼 큰 개선이 나오지 않았습니다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Transfer Learning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적용한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88%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크게 올라가고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Knowledge-Infused Learning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 추가한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P3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93%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달성합니다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60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분할에서도 동일한 경향이 확인되어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53%, P3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83%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일관된 우위를 보여줍니다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8DF1B-83BF-4DB2-ADDA-54159C83935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979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결과에서 주목할 점은 각 단계별 성능 향상 폭입니다. P1에서 P2로 가면서 정확도가 72%에서 88%로, F1 스코어가 72%에서 89%로 16%p 가까이 크게 뛰는데, 이는 Transfer Learning이 Encoder의 과적합을 완화시키면서 Fusion 구조가 비로소 제 성능을 내기 시작한 것으로 해석할 수 있습니다. P2에서 P3으로의 향상 폭은 5%p 정도로 상대적으로 작지만, 도메인 지식 기반의 패널티가 잘못된 이상 분류를 줄여주기 때문에 실용적으로 중요한 개선입니다. 한편 이미지 단독 모델 B2는 97%로 매우 높은 수치를 보이지만, 이는 이미지가 존재하는 Cycle 4·9 구간만으로 평가한 결과이고 전체 공정에 적용할 수 없는 구조적 한계가 있다는 점을 함께 고려해야 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8DF1B-83BF-4DB2-ADDA-54159C83935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702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이 논문에 대한 분석입니다. 핵심 인사이트는 서로 다른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모달리티를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단순히 합치는 것만으로는 충분하지 않고, Transfer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Learning으로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각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안정화시킨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Fusion해야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효과가 제대로 나타난다는 점입니다. 단순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Fusion인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P1이 72%에 머문 점이 이를 잘 보여줍니다. 또한 도메인 지식을 손실 함수에 직접 반영하는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Infusion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접근은 단순한 데이터 기반 학습의 한계를 보완하는 실용적 방법이라는 점도 의의가 있습니다. 한계점으로는 이미지를 활용할 수 있는 구간이 21개 사이클 상태 중 2개에 불과해 대부분의 시간은 결국 센서 데이터에 의존한다는 구조적 제약, 그리고 시계열과 이미지를 모두 포함하는 공개 제조 데이터셋이 현재 이 Future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Factories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데이터셋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하나뿐이어서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다른 제조 환경에서의 일반화 검증이 아직 이루어지지 않았다는 점을 들 수 있습니다. 저희 팀의 프로젝트도 이 데이터셋을 활용한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멀티모달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이상 탐지를 주제로 하고 있어, 이 논문의 단계별 비교 실험 구조를 참고하여 진행할 계획입니다. 이상입니다. 감사합니다.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8DF1B-83BF-4DB2-ADDA-54159C83935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960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8DF1B-83BF-4DB2-ADDA-54159C83935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539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D42A-90C7-487F-8239-3BC9C7AE3FA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D645-73ED-4348-97C8-7DB3ADE2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93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D42A-90C7-487F-8239-3BC9C7AE3FA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D645-73ED-4348-97C8-7DB3ADE2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699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D42A-90C7-487F-8239-3BC9C7AE3FA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D645-73ED-4348-97C8-7DB3ADE2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79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D42A-90C7-487F-8239-3BC9C7AE3FA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D645-73ED-4348-97C8-7DB3ADE2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28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D42A-90C7-487F-8239-3BC9C7AE3FA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D645-73ED-4348-97C8-7DB3ADE2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14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D42A-90C7-487F-8239-3BC9C7AE3FA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D645-73ED-4348-97C8-7DB3ADE2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57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D42A-90C7-487F-8239-3BC9C7AE3FA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D645-73ED-4348-97C8-7DB3ADE2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828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D42A-90C7-487F-8239-3BC9C7AE3FA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D645-73ED-4348-97C8-7DB3ADE2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784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DD42A-90C7-487F-8239-3BC9C7AE3FA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9D645-73ED-4348-97C8-7DB3ADE2B2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DD42A-90C7-487F-8239-3BC9C7AE3FA4}" type="datetimeFigureOut">
              <a:rPr lang="ko-KR" altLang="en-US" smtClean="0"/>
              <a:t>2026-05-08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9D645-73ED-4348-97C8-7DB3ADE2B2C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00" name="Bottom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2676AC"/>
              </a:gs>
              <a:gs pos="35000">
                <a:srgbClr val="16A295"/>
              </a:gs>
              <a:gs pos="65000">
                <a:srgbClr val="93B64E"/>
              </a:gs>
              <a:gs pos="100000">
                <a:srgbClr val="AE729E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55772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9" r:id="rId6"/>
    <p:sldLayoutId id="2147483770" r:id="rId7"/>
    <p:sldLayoutId id="2147483771" r:id="rId8"/>
    <p:sldLayoutId id="2147483772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333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2C759EB-AE6E-48F6-AB6F-B6041826839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676A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BE95E33-541A-7ECA-DBE6-55DDF3E50930}"/>
              </a:ext>
            </a:extLst>
          </p:cNvPr>
          <p:cNvGrpSpPr/>
          <p:nvPr/>
        </p:nvGrpSpPr>
        <p:grpSpPr>
          <a:xfrm>
            <a:off x="1938392" y="1634163"/>
            <a:ext cx="7411092" cy="3302001"/>
            <a:chOff x="1250023" y="1632449"/>
            <a:chExt cx="7411092" cy="330200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C0DAF61-DDE0-4C67-A740-1F6B1CD7178B}"/>
                </a:ext>
              </a:extLst>
            </p:cNvPr>
            <p:cNvSpPr txBox="1"/>
            <p:nvPr/>
          </p:nvSpPr>
          <p:spPr>
            <a:xfrm>
              <a:off x="1250023" y="1632449"/>
              <a:ext cx="7411092" cy="2286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26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NSF-MAP: </a:t>
              </a:r>
              <a:r>
                <a:rPr lang="en-US" altLang="ko-KR" sz="2600" b="1" err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Neurosymbolic</a:t>
              </a:r>
              <a:r>
                <a:rPr lang="en-US" altLang="ko-KR" sz="26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 Multimodal Fusion
for Robust and Interpretable
Anomaly Prediction in Assembly Pipelines</a:t>
              </a:r>
              <a:endParaRPr lang="ko-KR" altLang="en-US" sz="2600" b="1">
                <a:solidFill>
                  <a:srgbClr val="1B2A4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F4E0AD3-7E47-44C0-A762-E4DB795E0B7E}"/>
                </a:ext>
              </a:extLst>
            </p:cNvPr>
            <p:cNvSpPr txBox="1"/>
            <p:nvPr/>
          </p:nvSpPr>
          <p:spPr>
            <a:xfrm>
              <a:off x="1250023" y="3251699"/>
              <a:ext cx="6971016" cy="762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4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Chathurangi Shyalika, Renjith Prasad, Fadi El Kalach,
Revathy Venkataramanan, Ramtin Zand, Ramy Harik, Amit Sheth</a:t>
              </a:r>
              <a:endParaRPr lang="ko-KR" altLang="en-US" sz="14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156A38-9E34-40E2-BAAB-0D515E2FAD93}"/>
                </a:ext>
              </a:extLst>
            </p:cNvPr>
            <p:cNvSpPr txBox="1"/>
            <p:nvPr/>
          </p:nvSpPr>
          <p:spPr>
            <a:xfrm>
              <a:off x="1250023" y="3791450"/>
              <a:ext cx="7298076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400">
                  <a:solidFill>
                    <a:srgbClr val="2676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University of South Carolina AI Institute  |  Clemson University</a:t>
              </a:r>
              <a:endParaRPr lang="ko-KR" altLang="en-US" sz="1400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E903E7-1FBD-4E21-BB75-28CCF49C4405}"/>
                </a:ext>
              </a:extLst>
            </p:cNvPr>
            <p:cNvSpPr txBox="1"/>
            <p:nvPr/>
          </p:nvSpPr>
          <p:spPr>
            <a:xfrm>
              <a:off x="1250023" y="4553450"/>
              <a:ext cx="2099353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r>
                <a:rPr lang="en-US" altLang="ko-KR" sz="1400">
                  <a:solidFill>
                    <a:srgbClr val="777777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[3</a:t>
              </a:r>
              <a:r>
                <a:rPr lang="ko-KR" altLang="en-US" sz="1400">
                  <a:solidFill>
                    <a:srgbClr val="777777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조</a:t>
              </a:r>
              <a:r>
                <a:rPr lang="en-US" altLang="ko-KR" sz="1400">
                  <a:solidFill>
                    <a:srgbClr val="777777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] </a:t>
              </a:r>
              <a:r>
                <a:rPr lang="ko-KR" altLang="en-US" sz="1400">
                  <a:solidFill>
                    <a:srgbClr val="777777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김주헌</a:t>
              </a:r>
              <a:r>
                <a:rPr lang="en-US" altLang="ko-KR" sz="1400">
                  <a:solidFill>
                    <a:srgbClr val="777777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1400">
                  <a:solidFill>
                    <a:srgbClr val="777777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하현성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671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0C173FE-BDB9-44F4-9507-2BDC13B0A1C6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8E27B50-23DB-4868-9BF9-20C20352E441}"/>
              </a:ext>
            </a:extLst>
          </p:cNvPr>
          <p:cNvSpPr/>
          <p:nvPr/>
        </p:nvSpPr>
        <p:spPr>
          <a:xfrm>
            <a:off x="381000" y="190500"/>
            <a:ext cx="508000" cy="508000"/>
          </a:xfrm>
          <a:prstGeom prst="ellipse">
            <a:avLst/>
          </a:prstGeom>
          <a:solidFill>
            <a:srgbClr val="16A29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</a:rPr>
              <a:t>01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E53DA-9CC3-4755-ADC0-C9AC56C8FBBD}"/>
              </a:ext>
            </a:extLst>
          </p:cNvPr>
          <p:cNvSpPr txBox="1"/>
          <p:nvPr/>
        </p:nvSpPr>
        <p:spPr>
          <a:xfrm>
            <a:off x="1079500" y="1905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서론</a:t>
            </a:r>
            <a:r>
              <a:rPr lang="en-US" altLang="ko-KR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문제 제기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A273F3F-2AEF-447C-BC82-BB76D864C141}"/>
              </a:ext>
            </a:extLst>
          </p:cNvPr>
          <p:cNvSpPr/>
          <p:nvPr/>
        </p:nvSpPr>
        <p:spPr>
          <a:xfrm>
            <a:off x="508000" y="1795407"/>
            <a:ext cx="3429000" cy="2286000"/>
          </a:xfrm>
          <a:prstGeom prst="roundRect">
            <a:avLst/>
          </a:prstGeom>
          <a:solidFill>
            <a:srgbClr val="F0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73788D4-5A1F-400E-890E-B6BFD40CDCE1}"/>
              </a:ext>
            </a:extLst>
          </p:cNvPr>
          <p:cNvSpPr/>
          <p:nvPr/>
        </p:nvSpPr>
        <p:spPr>
          <a:xfrm>
            <a:off x="698500" y="1960507"/>
            <a:ext cx="558800" cy="558800"/>
          </a:xfrm>
          <a:prstGeom prst="ellipse">
            <a:avLst/>
          </a:prstGeom>
          <a:solidFill>
            <a:srgbClr val="E858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b="1">
                <a:solidFill>
                  <a:srgbClr val="FFFFFF"/>
                </a:solidFill>
              </a:rPr>
              <a:t>1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996D88-2BF2-4E0A-A04D-9CEDE1D6FCF3}"/>
              </a:ext>
            </a:extLst>
          </p:cNvPr>
          <p:cNvSpPr txBox="1"/>
          <p:nvPr/>
        </p:nvSpPr>
        <p:spPr>
          <a:xfrm>
            <a:off x="698500" y="2766485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B2A4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단일 </a:t>
            </a:r>
            <a:r>
              <a:rPr lang="ko-KR" altLang="en-US" sz="1400" b="1" err="1">
                <a:solidFill>
                  <a:srgbClr val="1B2A4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모달리티의</a:t>
            </a:r>
            <a:r>
              <a:rPr lang="ko-KR" altLang="en-US" sz="1400" b="1">
                <a:solidFill>
                  <a:srgbClr val="1B2A4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한계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FC10EF-A748-466A-8A6C-C1187D2021BF}"/>
              </a:ext>
            </a:extLst>
          </p:cNvPr>
          <p:cNvSpPr txBox="1"/>
          <p:nvPr/>
        </p:nvSpPr>
        <p:spPr>
          <a:xfrm>
            <a:off x="698500" y="3185585"/>
            <a:ext cx="3048000" cy="80518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센서 데이터 또는 이미지만 분석하는 기존 방식은 복합 변수가 작용하는 실제 공장 환경에서 이상 탐지에 한계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A909A98-DF5F-43AB-A3AD-DAFD96B69844}"/>
              </a:ext>
            </a:extLst>
          </p:cNvPr>
          <p:cNvSpPr/>
          <p:nvPr/>
        </p:nvSpPr>
        <p:spPr>
          <a:xfrm>
            <a:off x="4381500" y="1795407"/>
            <a:ext cx="3429000" cy="2286000"/>
          </a:xfrm>
          <a:prstGeom prst="roundRect">
            <a:avLst/>
          </a:prstGeom>
          <a:solidFill>
            <a:srgbClr val="F0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D77D43F-E4C2-47A6-A3F4-17EB0C92814C}"/>
              </a:ext>
            </a:extLst>
          </p:cNvPr>
          <p:cNvSpPr/>
          <p:nvPr/>
        </p:nvSpPr>
        <p:spPr>
          <a:xfrm>
            <a:off x="4572000" y="1960507"/>
            <a:ext cx="558800" cy="558800"/>
          </a:xfrm>
          <a:prstGeom prst="ellipse">
            <a:avLst/>
          </a:prstGeom>
          <a:solidFill>
            <a:srgbClr val="2676A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b="1">
                <a:solidFill>
                  <a:srgbClr val="FFFFFF"/>
                </a:solidFill>
              </a:rPr>
              <a:t>2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39E669-4223-4495-B9BD-16B39089B15E}"/>
              </a:ext>
            </a:extLst>
          </p:cNvPr>
          <p:cNvSpPr txBox="1"/>
          <p:nvPr/>
        </p:nvSpPr>
        <p:spPr>
          <a:xfrm>
            <a:off x="4572000" y="2766485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B2A4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멀티모달 접근의 필요성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2EADB-F944-40B1-8E9C-01DB9245986F}"/>
              </a:ext>
            </a:extLst>
          </p:cNvPr>
          <p:cNvSpPr txBox="1"/>
          <p:nvPr/>
        </p:nvSpPr>
        <p:spPr>
          <a:xfrm>
            <a:off x="4572000" y="3185585"/>
            <a:ext cx="3048000" cy="80518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온도</a:t>
            </a:r>
            <a:r>
              <a:rPr lang="en-US" altLang="ko-KR" sz="11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속도</a:t>
            </a:r>
            <a:r>
              <a:rPr lang="en-US" altLang="ko-KR" sz="11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로봇 동작</a:t>
            </a:r>
            <a:r>
              <a:rPr lang="en-US" altLang="ko-KR" sz="11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시각적 상태 등 여러 변수가 상호작용하므로 다양한 데이터 </a:t>
            </a:r>
            <a:r>
              <a:rPr lang="ko-KR" altLang="en-US" sz="1100" err="1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모달리티의</a:t>
            </a:r>
            <a:r>
              <a:rPr lang="ko-KR" altLang="en-US" sz="11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통합 분석이 필수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59A7773-03D9-44AC-BF27-C60E7BED8DBC}"/>
              </a:ext>
            </a:extLst>
          </p:cNvPr>
          <p:cNvSpPr/>
          <p:nvPr/>
        </p:nvSpPr>
        <p:spPr>
          <a:xfrm>
            <a:off x="8255000" y="1795407"/>
            <a:ext cx="3429000" cy="2286000"/>
          </a:xfrm>
          <a:prstGeom prst="roundRect">
            <a:avLst/>
          </a:prstGeom>
          <a:solidFill>
            <a:srgbClr val="F0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8C3D7CA-D422-4BD2-B749-77AAD111C442}"/>
              </a:ext>
            </a:extLst>
          </p:cNvPr>
          <p:cNvSpPr/>
          <p:nvPr/>
        </p:nvSpPr>
        <p:spPr>
          <a:xfrm>
            <a:off x="8445500" y="1960507"/>
            <a:ext cx="558800" cy="558800"/>
          </a:xfrm>
          <a:prstGeom prst="ellipse">
            <a:avLst/>
          </a:prstGeom>
          <a:solidFill>
            <a:srgbClr val="F29E1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b="1">
                <a:solidFill>
                  <a:srgbClr val="FFFFFF"/>
                </a:solidFill>
              </a:rPr>
              <a:t>3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5936FC-FE61-42EE-B66E-AD61043C53DE}"/>
              </a:ext>
            </a:extLst>
          </p:cNvPr>
          <p:cNvSpPr txBox="1"/>
          <p:nvPr/>
        </p:nvSpPr>
        <p:spPr>
          <a:xfrm>
            <a:off x="8445500" y="2766485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B2A4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데이터셋의 극심한 희소성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519485-7AED-4405-A759-96C3E903A76C}"/>
              </a:ext>
            </a:extLst>
          </p:cNvPr>
          <p:cNvSpPr txBox="1"/>
          <p:nvPr/>
        </p:nvSpPr>
        <p:spPr>
          <a:xfrm>
            <a:off x="8445500" y="3185585"/>
            <a:ext cx="3048000" cy="80518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시계열 센서 </a:t>
            </a:r>
            <a:r>
              <a:rPr lang="en-US" altLang="ko-KR" sz="11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+ </a:t>
            </a:r>
            <a:r>
              <a:rPr lang="ko-KR" altLang="en-US" sz="11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이미지를 동시에 포함하는 공개 제조 데이터셋은 전 세계에 단 하나만 존재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DF29AB-32B2-4ABC-AEB6-8C0EE16496B9}"/>
              </a:ext>
            </a:extLst>
          </p:cNvPr>
          <p:cNvSpPr/>
          <p:nvPr/>
        </p:nvSpPr>
        <p:spPr>
          <a:xfrm>
            <a:off x="508000" y="4335407"/>
            <a:ext cx="11176000" cy="635000"/>
          </a:xfrm>
          <a:prstGeom prst="roundRect">
            <a:avLst/>
          </a:prstGeom>
          <a:solidFill>
            <a:srgbClr val="EBF5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B4E20F-CA0E-4EF6-A20A-82BB4499ECA0}"/>
              </a:ext>
            </a:extLst>
          </p:cNvPr>
          <p:cNvSpPr txBox="1"/>
          <p:nvPr/>
        </p:nvSpPr>
        <p:spPr>
          <a:xfrm>
            <a:off x="698500" y="4506499"/>
            <a:ext cx="1079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→  제조 조립 라인에서 이상 탐지는 품질과 효율에 직결되는 과제이나</a:t>
            </a:r>
            <a:r>
              <a:rPr lang="en-US" altLang="ko-KR" sz="14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단일 </a:t>
            </a:r>
            <a:r>
              <a:rPr lang="ko-KR" altLang="en-US" sz="1400" b="1" err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모달리티로는</a:t>
            </a:r>
            <a:r>
              <a:rPr lang="ko-KR" altLang="en-US" sz="14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놓치는 이상이 발생</a:t>
            </a:r>
          </a:p>
        </p:txBody>
      </p:sp>
    </p:spTree>
    <p:extLst>
      <p:ext uri="{BB962C8B-B14F-4D97-AF65-F5344CB8AC3E}">
        <p14:creationId xmlns:p14="http://schemas.microsoft.com/office/powerpoint/2010/main" val="1651085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4F2F343-49D9-45BA-933C-349D18958A8C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279297E-1192-4907-A5E6-BFAAC5E1F3CB}"/>
              </a:ext>
            </a:extLst>
          </p:cNvPr>
          <p:cNvSpPr/>
          <p:nvPr/>
        </p:nvSpPr>
        <p:spPr>
          <a:xfrm>
            <a:off x="381000" y="190500"/>
            <a:ext cx="508000" cy="508000"/>
          </a:xfrm>
          <a:prstGeom prst="ellipse">
            <a:avLst/>
          </a:prstGeom>
          <a:solidFill>
            <a:srgbClr val="16A29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F5864-6C9A-40FE-A90D-FD95FABB8883}"/>
              </a:ext>
            </a:extLst>
          </p:cNvPr>
          <p:cNvSpPr txBox="1"/>
          <p:nvPr/>
        </p:nvSpPr>
        <p:spPr>
          <a:xfrm>
            <a:off x="1079500" y="1905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논문의 목표와 핵심 기여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F3AB159-139A-0CE4-327C-F4D77DD803D5}"/>
              </a:ext>
            </a:extLst>
          </p:cNvPr>
          <p:cNvGrpSpPr/>
          <p:nvPr/>
        </p:nvGrpSpPr>
        <p:grpSpPr>
          <a:xfrm>
            <a:off x="698500" y="1600200"/>
            <a:ext cx="10795000" cy="3657600"/>
            <a:chOff x="508000" y="1079500"/>
            <a:chExt cx="10795000" cy="36576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639D39-7C95-4595-9A73-52E2B28BA140}"/>
                </a:ext>
              </a:extLst>
            </p:cNvPr>
            <p:cNvSpPr txBox="1"/>
            <p:nvPr/>
          </p:nvSpPr>
          <p:spPr>
            <a:xfrm>
              <a:off x="508000" y="1079500"/>
              <a:ext cx="10606783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600" b="1">
                  <a:solidFill>
                    <a:srgbClr val="2676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NSF-MAP Framework</a:t>
              </a:r>
              <a:endParaRPr lang="ko-KR" altLang="en-US" sz="16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0D10900D-DD54-484D-8D37-9901F4C89756}"/>
                </a:ext>
              </a:extLst>
            </p:cNvPr>
            <p:cNvSpPr/>
            <p:nvPr/>
          </p:nvSpPr>
          <p:spPr>
            <a:xfrm>
              <a:off x="508000" y="1587500"/>
              <a:ext cx="3048000" cy="228600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2676A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FA028449-C84E-4C1B-9017-AF23C4F6A054}"/>
                </a:ext>
              </a:extLst>
            </p:cNvPr>
            <p:cNvSpPr/>
            <p:nvPr/>
          </p:nvSpPr>
          <p:spPr>
            <a:xfrm>
              <a:off x="765281" y="1805183"/>
              <a:ext cx="558800" cy="558800"/>
            </a:xfrm>
            <a:prstGeom prst="ellipse">
              <a:avLst/>
            </a:prstGeom>
            <a:solidFill>
              <a:srgbClr val="2676A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ctr"/>
              <a:r>
                <a:rPr lang="en-US" altLang="ko-KR" b="1">
                  <a:solidFill>
                    <a:srgbClr val="FFFFFF"/>
                  </a:solidFill>
                </a:rPr>
                <a:t>1</a:t>
              </a:r>
              <a:endParaRPr lang="ko-KR" altLang="en-US" b="1">
                <a:solidFill>
                  <a:srgbClr val="FFFFFF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BE1EC74-9750-4E51-BE3F-E3C049FCAC73}"/>
                </a:ext>
              </a:extLst>
            </p:cNvPr>
            <p:cNvSpPr txBox="1"/>
            <p:nvPr/>
          </p:nvSpPr>
          <p:spPr>
            <a:xfrm>
              <a:off x="765281" y="2524158"/>
              <a:ext cx="3048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500" b="1">
                  <a:solidFill>
                    <a:srgbClr val="2676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Decision-level Fusion</a:t>
              </a:r>
              <a:endParaRPr lang="ko-KR" altLang="en-US" sz="15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07B4BBF-534C-43CD-9A4D-BDE0E4D82B9F}"/>
                </a:ext>
              </a:extLst>
            </p:cNvPr>
            <p:cNvSpPr txBox="1"/>
            <p:nvPr/>
          </p:nvSpPr>
          <p:spPr>
            <a:xfrm>
              <a:off x="765281" y="2943258"/>
              <a:ext cx="3048000" cy="952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시계열과 이미지를 결합하는
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Decision-level Fusion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모델
제안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F50AED4-79D2-4514-B234-E3195E11449D}"/>
                </a:ext>
              </a:extLst>
            </p:cNvPr>
            <p:cNvSpPr/>
            <p:nvPr/>
          </p:nvSpPr>
          <p:spPr>
            <a:xfrm>
              <a:off x="4381500" y="1587500"/>
              <a:ext cx="3048000" cy="228600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16A295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C2FA366-2311-42DF-9390-21A4FC725CCF}"/>
                </a:ext>
              </a:extLst>
            </p:cNvPr>
            <p:cNvSpPr/>
            <p:nvPr/>
          </p:nvSpPr>
          <p:spPr>
            <a:xfrm>
              <a:off x="4638781" y="1805183"/>
              <a:ext cx="558800" cy="558800"/>
            </a:xfrm>
            <a:prstGeom prst="ellipse">
              <a:avLst/>
            </a:prstGeom>
            <a:solidFill>
              <a:srgbClr val="16A295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ctr"/>
              <a:r>
                <a:rPr lang="en-US" altLang="ko-KR" b="1">
                  <a:solidFill>
                    <a:srgbClr val="FFFFFF"/>
                  </a:solidFill>
                </a:rPr>
                <a:t>2</a:t>
              </a:r>
              <a:endParaRPr lang="ko-KR" altLang="en-US" b="1">
                <a:solidFill>
                  <a:srgbClr val="FFFFFF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C19206D-A76F-4BB5-BD39-0F868D2F5FA7}"/>
                </a:ext>
              </a:extLst>
            </p:cNvPr>
            <p:cNvSpPr txBox="1"/>
            <p:nvPr/>
          </p:nvSpPr>
          <p:spPr>
            <a:xfrm>
              <a:off x="4638781" y="2524158"/>
              <a:ext cx="3048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500" b="1">
                  <a:solidFill>
                    <a:srgbClr val="16A29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Transfer Learning</a:t>
              </a:r>
              <a:endParaRPr lang="ko-KR" altLang="en-US" sz="1500" b="1">
                <a:solidFill>
                  <a:srgbClr val="16A29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158363-372F-41F1-BC04-59E175D89C52}"/>
                </a:ext>
              </a:extLst>
            </p:cNvPr>
            <p:cNvSpPr txBox="1"/>
            <p:nvPr/>
          </p:nvSpPr>
          <p:spPr>
            <a:xfrm>
              <a:off x="4638781" y="2943258"/>
              <a:ext cx="3048000" cy="952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데이터 부족 상황의 과적합을
방지하기 위한
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Transfer Learning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적용</a:t>
              </a: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BD2E5B76-71D6-4872-BB9C-ABB15EAFAA0A}"/>
                </a:ext>
              </a:extLst>
            </p:cNvPr>
            <p:cNvSpPr/>
            <p:nvPr/>
          </p:nvSpPr>
          <p:spPr>
            <a:xfrm>
              <a:off x="8255000" y="1587500"/>
              <a:ext cx="3048000" cy="228600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93B64E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91B52DC5-B94F-4010-BCFA-DC5FFEE86617}"/>
                </a:ext>
              </a:extLst>
            </p:cNvPr>
            <p:cNvSpPr/>
            <p:nvPr/>
          </p:nvSpPr>
          <p:spPr>
            <a:xfrm>
              <a:off x="8512281" y="1805183"/>
              <a:ext cx="558800" cy="558800"/>
            </a:xfrm>
            <a:prstGeom prst="ellipse">
              <a:avLst/>
            </a:prstGeom>
            <a:solidFill>
              <a:srgbClr val="93B64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ctr"/>
              <a:r>
                <a:rPr lang="en-US" altLang="ko-KR" b="1">
                  <a:solidFill>
                    <a:srgbClr val="FFFFFF"/>
                  </a:solidFill>
                </a:rPr>
                <a:t>3</a:t>
              </a:r>
              <a:endParaRPr lang="ko-KR" altLang="en-US" b="1">
                <a:solidFill>
                  <a:srgbClr val="FFFFFF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A0EC6B-2D35-4AD0-B4A4-3966345D54C8}"/>
                </a:ext>
              </a:extLst>
            </p:cNvPr>
            <p:cNvSpPr txBox="1"/>
            <p:nvPr/>
          </p:nvSpPr>
          <p:spPr>
            <a:xfrm>
              <a:off x="8512281" y="2524158"/>
              <a:ext cx="2602502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500" b="1">
                  <a:solidFill>
                    <a:srgbClr val="93B64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Knowledge Infusion</a:t>
              </a:r>
              <a:endParaRPr lang="ko-KR" altLang="en-US" sz="1500" b="1">
                <a:solidFill>
                  <a:srgbClr val="93B64E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9B8E14A-D287-4F92-AA49-AADA410682D2}"/>
                </a:ext>
              </a:extLst>
            </p:cNvPr>
            <p:cNvSpPr txBox="1"/>
            <p:nvPr/>
          </p:nvSpPr>
          <p:spPr>
            <a:xfrm>
              <a:off x="8512281" y="2943258"/>
              <a:ext cx="2602502" cy="952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공정 도메인 지식을
온톨로지로 구조화하여
모델 학습에 직접 반영</a:t>
              </a: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D8CE290-11EE-4720-B950-D0F4FDB322F3}"/>
                </a:ext>
              </a:extLst>
            </p:cNvPr>
            <p:cNvSpPr/>
            <p:nvPr/>
          </p:nvSpPr>
          <p:spPr>
            <a:xfrm>
              <a:off x="508000" y="4127500"/>
              <a:ext cx="10795000" cy="609600"/>
            </a:xfrm>
            <a:prstGeom prst="roundRect">
              <a:avLst/>
            </a:prstGeom>
            <a:solidFill>
              <a:srgbClr val="F5F9FD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6641A26-DEA1-4E71-8F56-F64745B9F16C}"/>
                </a:ext>
              </a:extLst>
            </p:cNvPr>
            <p:cNvSpPr txBox="1"/>
            <p:nvPr/>
          </p:nvSpPr>
          <p:spPr>
            <a:xfrm>
              <a:off x="762000" y="4216400"/>
              <a:ext cx="10352783" cy="444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4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이 세 가지 방법론적 접근에 더해 멀티모달·아날로그 두 종류의 파생 데이터셋을 함께 공개하여 후속 연구 기반 마련</a:t>
              </a:r>
            </a:p>
          </p:txBody>
        </p:sp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3450B821-5DF0-46D3-8A36-B63AA5080FCB}"/>
                </a:ext>
              </a:extLst>
            </p:cNvPr>
            <p:cNvSpPr/>
            <p:nvPr/>
          </p:nvSpPr>
          <p:spPr>
            <a:xfrm>
              <a:off x="3619500" y="2578100"/>
              <a:ext cx="698500" cy="381000"/>
            </a:xfrm>
            <a:prstGeom prst="rightArrow">
              <a:avLst/>
            </a:prstGeom>
            <a:solidFill>
              <a:srgbClr val="CCCC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69633D6C-C335-4D3A-94F8-788705375CCC}"/>
                </a:ext>
              </a:extLst>
            </p:cNvPr>
            <p:cNvSpPr/>
            <p:nvPr/>
          </p:nvSpPr>
          <p:spPr>
            <a:xfrm>
              <a:off x="7493000" y="2514600"/>
              <a:ext cx="698500" cy="381000"/>
            </a:xfrm>
            <a:prstGeom prst="rightArrow">
              <a:avLst/>
            </a:prstGeom>
            <a:solidFill>
              <a:srgbClr val="CCCC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2032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94D440F-2CDE-4A22-95E0-BC24D298F7E8}"/>
              </a:ext>
            </a:extLst>
          </p:cNvPr>
          <p:cNvSpPr/>
          <p:nvPr/>
        </p:nvSpPr>
        <p:spPr>
          <a:xfrm>
            <a:off x="0" y="-46234"/>
            <a:ext cx="12192000" cy="8890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3BC0469-B0DB-42C8-AF7F-884DFE2A8C1E}"/>
              </a:ext>
            </a:extLst>
          </p:cNvPr>
          <p:cNvSpPr/>
          <p:nvPr/>
        </p:nvSpPr>
        <p:spPr>
          <a:xfrm>
            <a:off x="381000" y="190500"/>
            <a:ext cx="508000" cy="508000"/>
          </a:xfrm>
          <a:prstGeom prst="ellipse">
            <a:avLst/>
          </a:prstGeom>
          <a:solidFill>
            <a:srgbClr val="16A29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2993F-6372-46DC-A47F-FD97393BD727}"/>
              </a:ext>
            </a:extLst>
          </p:cNvPr>
          <p:cNvSpPr txBox="1"/>
          <p:nvPr/>
        </p:nvSpPr>
        <p:spPr>
          <a:xfrm>
            <a:off x="1079500" y="1905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관련 연구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5127842-14A5-42F0-B28E-3ACFB2C79F05}"/>
              </a:ext>
            </a:extLst>
          </p:cNvPr>
          <p:cNvSpPr/>
          <p:nvPr/>
        </p:nvSpPr>
        <p:spPr>
          <a:xfrm>
            <a:off x="381000" y="1598342"/>
            <a:ext cx="3683000" cy="482600"/>
          </a:xfrm>
          <a:prstGeom prst="roundRect">
            <a:avLst/>
          </a:prstGeom>
          <a:solidFill>
            <a:srgbClr val="2676A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시계열</a:t>
            </a:r>
            <a:r>
              <a:rPr lang="en-US" altLang="ko-KR" sz="1400" b="1">
                <a:solidFill>
                  <a:srgbClr val="FFFFFF"/>
                </a:solidFill>
              </a:rPr>
              <a:t>-</a:t>
            </a:r>
            <a:r>
              <a:rPr lang="ko-KR" altLang="en-US" sz="1400" b="1">
                <a:solidFill>
                  <a:srgbClr val="FFFFFF"/>
                </a:solidFill>
              </a:rPr>
              <a:t>이미지 </a:t>
            </a:r>
            <a:r>
              <a:rPr lang="en-US" altLang="ko-KR" sz="1400" b="1">
                <a:solidFill>
                  <a:srgbClr val="FFFFFF"/>
                </a:solidFill>
              </a:rPr>
              <a:t>Fusion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10A4AF8-297D-4FDA-B735-7155BB78FF46}"/>
              </a:ext>
            </a:extLst>
          </p:cNvPr>
          <p:cNvSpPr/>
          <p:nvPr/>
        </p:nvSpPr>
        <p:spPr>
          <a:xfrm>
            <a:off x="381000" y="2144442"/>
            <a:ext cx="3683000" cy="1841500"/>
          </a:xfrm>
          <a:prstGeom prst="roundRect">
            <a:avLst>
              <a:gd name="adj" fmla="val 4184"/>
            </a:avLst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717B7-CFC2-4421-86C6-850E8CA586B0}"/>
              </a:ext>
            </a:extLst>
          </p:cNvPr>
          <p:cNvSpPr txBox="1"/>
          <p:nvPr/>
        </p:nvSpPr>
        <p:spPr>
          <a:xfrm>
            <a:off x="533400" y="2233342"/>
            <a:ext cx="3378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• ES-TARFM (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원격 탐사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)
• SRCNN+LSTM (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공간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/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시간 패턴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)
• EHR + X-ray (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의료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)
• MFGAN (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제조 이상 탐지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)</a:t>
            </a:r>
            <a:endParaRPr lang="ko-KR" altLang="en-US" sz="1100">
              <a:solidFill>
                <a:srgbClr val="444444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3137C35-247D-4CAF-B0E7-3F74A27D7ACC}"/>
              </a:ext>
            </a:extLst>
          </p:cNvPr>
          <p:cNvSpPr/>
          <p:nvPr/>
        </p:nvSpPr>
        <p:spPr>
          <a:xfrm>
            <a:off x="381000" y="4049442"/>
            <a:ext cx="3683000" cy="698500"/>
          </a:xfrm>
          <a:prstGeom prst="roundRect">
            <a:avLst>
              <a:gd name="adj" fmla="val 13725"/>
            </a:avLst>
          </a:prstGeom>
          <a:solidFill>
            <a:srgbClr val="FFF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3E428B-44F8-4E37-BC47-8D2F449591A3}"/>
              </a:ext>
            </a:extLst>
          </p:cNvPr>
          <p:cNvSpPr txBox="1"/>
          <p:nvPr/>
        </p:nvSpPr>
        <p:spPr>
          <a:xfrm>
            <a:off x="533400" y="4200271"/>
            <a:ext cx="3378200" cy="42823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E8584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한계</a:t>
            </a:r>
            <a:r>
              <a:rPr lang="en-US" altLang="ko-KR" sz="1100" b="1">
                <a:solidFill>
                  <a:srgbClr val="E8584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100" b="1">
                <a:solidFill>
                  <a:srgbClr val="E8584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데이터 동기화 어려움</a:t>
            </a:r>
            <a:r>
              <a:rPr lang="en-US" altLang="ko-KR" sz="1100" b="1">
                <a:solidFill>
                  <a:srgbClr val="E8584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
</a:t>
            </a:r>
            <a:r>
              <a:rPr lang="ko-KR" altLang="en-US" sz="1100" b="1">
                <a:solidFill>
                  <a:srgbClr val="E8584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해석 불가능성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E223DCD-5241-4F1B-A6BE-CC72A0E0AF43}"/>
              </a:ext>
            </a:extLst>
          </p:cNvPr>
          <p:cNvSpPr/>
          <p:nvPr/>
        </p:nvSpPr>
        <p:spPr>
          <a:xfrm>
            <a:off x="4191000" y="1598342"/>
            <a:ext cx="3683000" cy="482600"/>
          </a:xfrm>
          <a:prstGeom prst="roundRect">
            <a:avLst/>
          </a:prstGeom>
          <a:solidFill>
            <a:srgbClr val="16A29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Transfer Learning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B26570A-179F-4888-A971-49AED315E673}"/>
              </a:ext>
            </a:extLst>
          </p:cNvPr>
          <p:cNvSpPr/>
          <p:nvPr/>
        </p:nvSpPr>
        <p:spPr>
          <a:xfrm>
            <a:off x="4191000" y="2144442"/>
            <a:ext cx="3683000" cy="1841500"/>
          </a:xfrm>
          <a:prstGeom prst="roundRect">
            <a:avLst>
              <a:gd name="adj" fmla="val 4393"/>
            </a:avLst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8AB003-6FDA-47A0-AE37-49397A164B5C}"/>
              </a:ext>
            </a:extLst>
          </p:cNvPr>
          <p:cNvSpPr txBox="1"/>
          <p:nvPr/>
        </p:nvSpPr>
        <p:spPr>
          <a:xfrm>
            <a:off x="4343400" y="2233342"/>
            <a:ext cx="3378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• 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산업 공정 이상 탐지
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• 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영상 감시 이상 분류
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• 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웹 서비스 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KPI 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이상 탐지
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• VAE, GAT, Fuzzy 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분류기 활용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A05D5A7-5FFE-4205-A2EB-F052149016EB}"/>
              </a:ext>
            </a:extLst>
          </p:cNvPr>
          <p:cNvSpPr/>
          <p:nvPr/>
        </p:nvSpPr>
        <p:spPr>
          <a:xfrm>
            <a:off x="4191000" y="4049442"/>
            <a:ext cx="3683000" cy="698500"/>
          </a:xfrm>
          <a:prstGeom prst="roundRect">
            <a:avLst>
              <a:gd name="adj" fmla="val 13725"/>
            </a:avLst>
          </a:prstGeom>
          <a:solidFill>
            <a:srgbClr val="FFF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6E16D0-C435-4DC5-B5BF-A0E3B602E14C}"/>
              </a:ext>
            </a:extLst>
          </p:cNvPr>
          <p:cNvSpPr txBox="1"/>
          <p:nvPr/>
        </p:nvSpPr>
        <p:spPr>
          <a:xfrm>
            <a:off x="4343400" y="4200271"/>
            <a:ext cx="3378200" cy="42823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E8584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한계</a:t>
            </a:r>
            <a:r>
              <a:rPr lang="en-US" altLang="ko-KR" sz="1100" b="1">
                <a:solidFill>
                  <a:srgbClr val="E8584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100" b="1">
                <a:solidFill>
                  <a:srgbClr val="E8584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도메인 불일치 시
성능 저하 문제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16A9196-9330-494A-834F-2B0C2CBA3D66}"/>
              </a:ext>
            </a:extLst>
          </p:cNvPr>
          <p:cNvSpPr/>
          <p:nvPr/>
        </p:nvSpPr>
        <p:spPr>
          <a:xfrm>
            <a:off x="8001000" y="1598342"/>
            <a:ext cx="3683000" cy="482600"/>
          </a:xfrm>
          <a:prstGeom prst="roundRect">
            <a:avLst/>
          </a:prstGeom>
          <a:solidFill>
            <a:srgbClr val="93B64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</a:rPr>
              <a:t>Neurosymbolic AI</a:t>
            </a:r>
            <a:endParaRPr lang="ko-KR" altLang="en-US" sz="1400" b="1">
              <a:solidFill>
                <a:srgbClr val="FFFFFF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E029E81-9A6F-4464-951C-CC79A9F835F7}"/>
              </a:ext>
            </a:extLst>
          </p:cNvPr>
          <p:cNvSpPr/>
          <p:nvPr/>
        </p:nvSpPr>
        <p:spPr>
          <a:xfrm>
            <a:off x="8001000" y="2144442"/>
            <a:ext cx="3683000" cy="1841500"/>
          </a:xfrm>
          <a:prstGeom prst="roundRect">
            <a:avLst>
              <a:gd name="adj" fmla="val 3835"/>
            </a:avLst>
          </a:prstGeom>
          <a:solidFill>
            <a:srgbClr val="F8F9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4F73FC-4C57-4C87-9023-B72CE7DC9922}"/>
              </a:ext>
            </a:extLst>
          </p:cNvPr>
          <p:cNvSpPr txBox="1"/>
          <p:nvPr/>
        </p:nvSpPr>
        <p:spPr>
          <a:xfrm>
            <a:off x="8153400" y="2233342"/>
            <a:ext cx="33782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• 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지식 그래프 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+ GNN
  (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사이버 보안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전력망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)
• 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산업 온톨로지 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+ 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확산 모델
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• 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데이터 </a:t>
            </a:r>
            <a:r>
              <a:rPr lang="en-US" altLang="ko-KR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+ </a:t>
            </a:r>
            <a:r>
              <a:rPr lang="ko-KR" altLang="en-US" sz="11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지식 그래프 결합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0DFF70D-1BD4-4535-828C-4CBF9985661E}"/>
              </a:ext>
            </a:extLst>
          </p:cNvPr>
          <p:cNvSpPr/>
          <p:nvPr/>
        </p:nvSpPr>
        <p:spPr>
          <a:xfrm>
            <a:off x="8001000" y="4049442"/>
            <a:ext cx="3683000" cy="698500"/>
          </a:xfrm>
          <a:prstGeom prst="roundRect">
            <a:avLst>
              <a:gd name="adj" fmla="val 11519"/>
            </a:avLst>
          </a:prstGeom>
          <a:solidFill>
            <a:srgbClr val="FFF3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200ACC-F9B7-453E-8D25-84864C768E0D}"/>
              </a:ext>
            </a:extLst>
          </p:cNvPr>
          <p:cNvSpPr txBox="1"/>
          <p:nvPr/>
        </p:nvSpPr>
        <p:spPr>
          <a:xfrm>
            <a:off x="8153400" y="4200271"/>
            <a:ext cx="3378200" cy="42823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E8584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한계</a:t>
            </a:r>
            <a:r>
              <a:rPr lang="en-US" altLang="ko-KR" sz="1100" b="1">
                <a:solidFill>
                  <a:srgbClr val="E8584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100" b="1">
                <a:solidFill>
                  <a:srgbClr val="E8584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제조 멀티모달에
적용 사례 전무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22FFDF2-E4C6-4A0A-808D-AD162E1B89C7}"/>
              </a:ext>
            </a:extLst>
          </p:cNvPr>
          <p:cNvSpPr/>
          <p:nvPr/>
        </p:nvSpPr>
        <p:spPr>
          <a:xfrm>
            <a:off x="381000" y="4900342"/>
            <a:ext cx="11341813" cy="508000"/>
          </a:xfrm>
          <a:prstGeom prst="roundRect">
            <a:avLst/>
          </a:prstGeom>
          <a:solidFill>
            <a:srgbClr val="EBF5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801983-7CEE-40A2-8D51-4C50978BAF1C}"/>
              </a:ext>
            </a:extLst>
          </p:cNvPr>
          <p:cNvSpPr txBox="1"/>
          <p:nvPr/>
        </p:nvSpPr>
        <p:spPr>
          <a:xfrm>
            <a:off x="635000" y="4989242"/>
            <a:ext cx="1092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→  제조 멀티모달 데이터에 </a:t>
            </a:r>
            <a:r>
              <a:rPr lang="en-US" altLang="ko-KR" sz="14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Neurosymbolic AI</a:t>
            </a:r>
            <a:r>
              <a:rPr lang="ko-KR" altLang="en-US" sz="14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를 동시 적용한 연구는 이 논문이 최초</a:t>
            </a:r>
          </a:p>
        </p:txBody>
      </p:sp>
    </p:spTree>
    <p:extLst>
      <p:ext uri="{BB962C8B-B14F-4D97-AF65-F5344CB8AC3E}">
        <p14:creationId xmlns:p14="http://schemas.microsoft.com/office/powerpoint/2010/main" val="3683239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4F69472-44A6-4369-B22F-F106D9569905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9EBD975-E638-41F2-ADA6-952D8B13AACA}"/>
              </a:ext>
            </a:extLst>
          </p:cNvPr>
          <p:cNvSpPr/>
          <p:nvPr/>
        </p:nvSpPr>
        <p:spPr>
          <a:xfrm>
            <a:off x="381000" y="190500"/>
            <a:ext cx="508000" cy="508000"/>
          </a:xfrm>
          <a:prstGeom prst="ellipse">
            <a:avLst/>
          </a:prstGeom>
          <a:solidFill>
            <a:srgbClr val="16A29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04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D395D-7CB5-4918-BCDF-218B4B5BC332}"/>
              </a:ext>
            </a:extLst>
          </p:cNvPr>
          <p:cNvSpPr txBox="1"/>
          <p:nvPr/>
        </p:nvSpPr>
        <p:spPr>
          <a:xfrm>
            <a:off x="1079500" y="1905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방법</a:t>
            </a:r>
            <a:r>
              <a:rPr lang="en-US" altLang="ko-KR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데이터셋 소개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C210FD-6C21-435B-9045-5ED8170F5EAF}"/>
              </a:ext>
            </a:extLst>
          </p:cNvPr>
          <p:cNvSpPr txBox="1"/>
          <p:nvPr/>
        </p:nvSpPr>
        <p:spPr>
          <a:xfrm>
            <a:off x="508000" y="1611615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Future Factories Lab Dataset (USC)</a:t>
            </a:r>
            <a:endParaRPr lang="ko-KR" altLang="en-US" sz="1600" b="1">
              <a:solidFill>
                <a:srgbClr val="2676AC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41B44AC-E48C-4514-BD49-9D6B33BFEB01}"/>
              </a:ext>
            </a:extLst>
          </p:cNvPr>
          <p:cNvSpPr/>
          <p:nvPr/>
        </p:nvSpPr>
        <p:spPr>
          <a:xfrm>
            <a:off x="508000" y="2094215"/>
            <a:ext cx="5588000" cy="381000"/>
          </a:xfrm>
          <a:prstGeom prst="round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9D75D6-073B-4DE6-B2AA-F29C7C8D9F68}"/>
              </a:ext>
            </a:extLst>
          </p:cNvPr>
          <p:cNvSpPr txBox="1"/>
          <p:nvPr/>
        </p:nvSpPr>
        <p:spPr>
          <a:xfrm>
            <a:off x="698500" y="2132315"/>
            <a:ext cx="5270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조립 라인</a:t>
            </a:r>
            <a:r>
              <a:rPr lang="en-US" altLang="ko-KR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 </a:t>
            </a:r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로봇 </a:t>
            </a:r>
            <a:r>
              <a:rPr lang="en-US" altLang="ko-KR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4</a:t>
            </a:r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대 </a:t>
            </a:r>
            <a:r>
              <a:rPr lang="en-US" altLang="ko-KR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+ </a:t>
            </a:r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컨베이어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FE7DB88-1722-48F8-B696-334F217387B1}"/>
              </a:ext>
            </a:extLst>
          </p:cNvPr>
          <p:cNvSpPr/>
          <p:nvPr/>
        </p:nvSpPr>
        <p:spPr>
          <a:xfrm>
            <a:off x="508000" y="2538715"/>
            <a:ext cx="5588000" cy="381000"/>
          </a:xfrm>
          <a:prstGeom prst="round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F1F657-AD2B-494F-A655-424D39DC48B5}"/>
              </a:ext>
            </a:extLst>
          </p:cNvPr>
          <p:cNvSpPr txBox="1"/>
          <p:nvPr/>
        </p:nvSpPr>
        <p:spPr>
          <a:xfrm>
            <a:off x="698500" y="2576815"/>
            <a:ext cx="5270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조립 대상</a:t>
            </a:r>
            <a:r>
              <a:rPr lang="en-US" altLang="ko-KR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 4</a:t>
            </a:r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개 부품 로켓 모형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76E0808-C1DE-4798-9D3C-93369AA53683}"/>
              </a:ext>
            </a:extLst>
          </p:cNvPr>
          <p:cNvSpPr/>
          <p:nvPr/>
        </p:nvSpPr>
        <p:spPr>
          <a:xfrm>
            <a:off x="508000" y="2983215"/>
            <a:ext cx="5588000" cy="381000"/>
          </a:xfrm>
          <a:prstGeom prst="round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7220DD-14E3-49DA-A899-FB6C57395553}"/>
              </a:ext>
            </a:extLst>
          </p:cNvPr>
          <p:cNvSpPr txBox="1"/>
          <p:nvPr/>
        </p:nvSpPr>
        <p:spPr>
          <a:xfrm>
            <a:off x="698500" y="3021315"/>
            <a:ext cx="5270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수집 시간</a:t>
            </a:r>
            <a:r>
              <a:rPr lang="en-US" altLang="ko-KR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 30</a:t>
            </a:r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시간</a:t>
            </a:r>
            <a:r>
              <a:rPr lang="en-US" altLang="ko-KR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166,000 </a:t>
            </a:r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레코드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DEC831B-D5BD-4095-85D4-D5521CA4AA25}"/>
              </a:ext>
            </a:extLst>
          </p:cNvPr>
          <p:cNvSpPr/>
          <p:nvPr/>
        </p:nvSpPr>
        <p:spPr>
          <a:xfrm>
            <a:off x="508000" y="3427715"/>
            <a:ext cx="5588000" cy="381000"/>
          </a:xfrm>
          <a:prstGeom prst="round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6B8F36-EED6-472F-A736-8B51F7BA4E79}"/>
              </a:ext>
            </a:extLst>
          </p:cNvPr>
          <p:cNvSpPr txBox="1"/>
          <p:nvPr/>
        </p:nvSpPr>
        <p:spPr>
          <a:xfrm>
            <a:off x="698500" y="3465815"/>
            <a:ext cx="5270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센서 데이터</a:t>
            </a:r>
            <a:r>
              <a:rPr lang="en-US" altLang="ko-KR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 </a:t>
            </a:r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포텐셔미터</a:t>
            </a:r>
            <a:r>
              <a:rPr lang="en-US" altLang="ko-KR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로드셀</a:t>
            </a:r>
            <a:r>
              <a:rPr lang="en-US" altLang="ko-KR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관절 각도, 컨베이어 온도 등 </a:t>
            </a:r>
            <a:r>
              <a:rPr lang="en-US" altLang="ko-KR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다중</a:t>
            </a:r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센서 채널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193E774-E4A3-47FD-871B-12E28412B0E6}"/>
              </a:ext>
            </a:extLst>
          </p:cNvPr>
          <p:cNvSpPr/>
          <p:nvPr/>
        </p:nvSpPr>
        <p:spPr>
          <a:xfrm>
            <a:off x="508000" y="3872215"/>
            <a:ext cx="5588000" cy="381000"/>
          </a:xfrm>
          <a:prstGeom prst="round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1068F9-F28A-487F-91EF-57F506834EEC}"/>
              </a:ext>
            </a:extLst>
          </p:cNvPr>
          <p:cNvSpPr txBox="1"/>
          <p:nvPr/>
        </p:nvSpPr>
        <p:spPr>
          <a:xfrm>
            <a:off x="698500" y="3910315"/>
            <a:ext cx="5270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이미지 데이터</a:t>
            </a:r>
            <a:r>
              <a:rPr lang="en-US" altLang="ko-KR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 </a:t>
            </a:r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카메라 </a:t>
            </a:r>
            <a:r>
              <a:rPr lang="en-US" altLang="ko-KR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2</a:t>
            </a:r>
            <a:r>
              <a:rPr lang="ko-KR" altLang="en-US" sz="1200">
                <a:solidFill>
                  <a:srgbClr val="33333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대 동기화 촬영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1BA10-3E6D-40E9-9DE0-CC15ADE521DB}"/>
              </a:ext>
            </a:extLst>
          </p:cNvPr>
          <p:cNvSpPr txBox="1"/>
          <p:nvPr/>
        </p:nvSpPr>
        <p:spPr>
          <a:xfrm>
            <a:off x="6604002" y="1713215"/>
            <a:ext cx="508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B2A4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이상 유형 분류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CB84146B-07C4-4062-A314-23E8D7C31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984825"/>
              </p:ext>
            </p:extLst>
          </p:nvPr>
        </p:nvGraphicFramePr>
        <p:xfrm>
          <a:off x="6604002" y="2094215"/>
          <a:ext cx="5080000" cy="2158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64226449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844567270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</a:rPr>
                        <a:t>이상 유형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87153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1100" err="1">
                          <a:solidFill>
                            <a:srgbClr val="333333"/>
                          </a:solidFill>
                        </a:rPr>
                        <a:t>No</a:t>
                      </a:r>
                      <a:r>
                        <a:rPr lang="ko-KR" altLang="en-US" sz="110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lang="ko-KR" altLang="en-US" sz="1100" err="1">
                          <a:solidFill>
                            <a:srgbClr val="333333"/>
                          </a:solidFill>
                        </a:rPr>
                        <a:t>Anomaly</a:t>
                      </a:r>
                      <a:r>
                        <a:rPr lang="ko-KR" altLang="en-US" sz="1100">
                          <a:solidFill>
                            <a:srgbClr val="333333"/>
                          </a:solidFill>
                        </a:rPr>
                        <a:t> (정상)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>
                          <a:solidFill>
                            <a:srgbClr val="333333"/>
                          </a:solidFill>
                        </a:rPr>
                        <a:t>54.72%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658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1100" err="1">
                          <a:solidFill>
                            <a:srgbClr val="333333"/>
                          </a:solidFill>
                        </a:rPr>
                        <a:t>NoNose</a:t>
                      </a:r>
                      <a:endParaRPr lang="ko-KR" altLang="en-US" sz="1100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>
                          <a:solidFill>
                            <a:srgbClr val="333333"/>
                          </a:solidFill>
                        </a:rPr>
                        <a:t>11.63%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24269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1100" err="1">
                          <a:solidFill>
                            <a:srgbClr val="333333"/>
                          </a:solidFill>
                        </a:rPr>
                        <a:t>NoNose</a:t>
                      </a:r>
                      <a:r>
                        <a:rPr lang="ko-KR" altLang="en-US" sz="1100">
                          <a:solidFill>
                            <a:srgbClr val="333333"/>
                          </a:solidFill>
                        </a:rPr>
                        <a:t>, NoBody2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>
                          <a:solidFill>
                            <a:srgbClr val="333333"/>
                          </a:solidFill>
                        </a:rPr>
                        <a:t>15.18%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734928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1100">
                          <a:solidFill>
                            <a:srgbClr val="333333"/>
                          </a:solidFill>
                        </a:rPr>
                        <a:t>NoNose, NoBody2, NoBody1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>
                          <a:solidFill>
                            <a:srgbClr val="333333"/>
                          </a:solidFill>
                        </a:rPr>
                        <a:t>16.04%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165976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1100">
                          <a:solidFill>
                            <a:srgbClr val="333333"/>
                          </a:solidFill>
                        </a:rPr>
                        <a:t>NoBody1, NoBody2 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o-KR" altLang="en-US" sz="1100">
                          <a:solidFill>
                            <a:srgbClr val="333333"/>
                          </a:solidFill>
                        </a:rPr>
                        <a:t>합계 ~2.4%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743961"/>
                  </a:ext>
                </a:extLst>
              </a:tr>
            </a:tbl>
          </a:graphicData>
        </a:graphic>
      </p:graphicFrame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27A8F6E-5198-422A-8B6E-5F618B643376}"/>
              </a:ext>
            </a:extLst>
          </p:cNvPr>
          <p:cNvSpPr/>
          <p:nvPr/>
        </p:nvSpPr>
        <p:spPr>
          <a:xfrm>
            <a:off x="508000" y="4634215"/>
            <a:ext cx="11176000" cy="825500"/>
          </a:xfrm>
          <a:prstGeom prst="roundRect">
            <a:avLst/>
          </a:prstGeom>
          <a:solidFill>
            <a:srgbClr val="FFF8E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BCE0F1-738A-43FE-B6CA-3BA4F3DD9CBB}"/>
              </a:ext>
            </a:extLst>
          </p:cNvPr>
          <p:cNvSpPr txBox="1"/>
          <p:nvPr/>
        </p:nvSpPr>
        <p:spPr>
          <a:xfrm>
            <a:off x="698500" y="4697715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F29E1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이미지 필터링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BD75B3-898E-40CF-8468-BCF0BF5705CF}"/>
              </a:ext>
            </a:extLst>
          </p:cNvPr>
          <p:cNvSpPr txBox="1"/>
          <p:nvPr/>
        </p:nvSpPr>
        <p:spPr>
          <a:xfrm>
            <a:off x="698500" y="4989815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21</a:t>
            </a:r>
            <a:r>
              <a:rPr lang="ko-KR" altLang="en-US" sz="12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개 사이클 상태 중 로켓 부품이 명확히 보이는 구간은 </a:t>
            </a:r>
            <a:r>
              <a:rPr lang="en-US" altLang="ko-KR" sz="12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Cycle 4</a:t>
            </a:r>
            <a:r>
              <a:rPr lang="ko-KR" altLang="en-US" sz="12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전체와 </a:t>
            </a:r>
            <a:r>
              <a:rPr lang="en-US" altLang="ko-KR" sz="12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Cycle 9</a:t>
            </a:r>
            <a:r>
              <a:rPr lang="ko-KR" altLang="en-US" sz="12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의 일부 구간
→ 해당 구간만 필터링 후 </a:t>
            </a:r>
            <a:r>
              <a:rPr lang="en-US" altLang="ko-KR" sz="12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ROI </a:t>
            </a:r>
            <a:r>
              <a:rPr lang="ko-KR" altLang="en-US" sz="12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크롭하여 이미지 데이터 사용</a:t>
            </a:r>
          </a:p>
        </p:txBody>
      </p:sp>
    </p:spTree>
    <p:extLst>
      <p:ext uri="{BB962C8B-B14F-4D97-AF65-F5344CB8AC3E}">
        <p14:creationId xmlns:p14="http://schemas.microsoft.com/office/powerpoint/2010/main" val="3927354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BE1E22D-06CF-4359-9924-19C9B34A5E61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D25A201-B6C3-4649-8DB9-EF4302B01CD1}"/>
              </a:ext>
            </a:extLst>
          </p:cNvPr>
          <p:cNvSpPr/>
          <p:nvPr/>
        </p:nvSpPr>
        <p:spPr>
          <a:xfrm>
            <a:off x="381000" y="190500"/>
            <a:ext cx="508000" cy="508000"/>
          </a:xfrm>
          <a:prstGeom prst="ellipse">
            <a:avLst/>
          </a:prstGeom>
          <a:solidFill>
            <a:srgbClr val="16A29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05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24D9D-2C94-4564-B459-7DF5AD17E2EF}"/>
              </a:ext>
            </a:extLst>
          </p:cNvPr>
          <p:cNvSpPr txBox="1"/>
          <p:nvPr/>
        </p:nvSpPr>
        <p:spPr>
          <a:xfrm>
            <a:off x="1079500" y="1905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방법</a:t>
            </a:r>
            <a:r>
              <a:rPr lang="en-US" altLang="ko-KR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전체 아키텍처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EA34650-0C38-F7E2-4F58-538998269DDB}"/>
              </a:ext>
            </a:extLst>
          </p:cNvPr>
          <p:cNvGrpSpPr/>
          <p:nvPr/>
        </p:nvGrpSpPr>
        <p:grpSpPr>
          <a:xfrm>
            <a:off x="444500" y="1778000"/>
            <a:ext cx="11303000" cy="3302000"/>
            <a:chOff x="508000" y="1143000"/>
            <a:chExt cx="11303000" cy="330200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33121B5B-AC7E-4EB0-8007-DB0275201BA6}"/>
                </a:ext>
              </a:extLst>
            </p:cNvPr>
            <p:cNvSpPr/>
            <p:nvPr/>
          </p:nvSpPr>
          <p:spPr>
            <a:xfrm>
              <a:off x="508000" y="1143000"/>
              <a:ext cx="2286000" cy="698500"/>
            </a:xfrm>
            <a:prstGeom prst="roundRect">
              <a:avLst/>
            </a:prstGeom>
            <a:solidFill>
              <a:srgbClr val="2676A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l"/>
              <a:r>
                <a:rPr lang="en-US" altLang="ko-KR" sz="1200" b="1">
                  <a:solidFill>
                    <a:srgbClr val="FFFFFF"/>
                  </a:solidFill>
                </a:rPr>
                <a:t>Image Data
(Cycle 4, 9)</a:t>
              </a:r>
              <a:endParaRPr lang="ko-KR" altLang="en-US" sz="1200" b="1">
                <a:solidFill>
                  <a:srgbClr val="FFFFFF"/>
                </a:solidFill>
              </a:endParaRPr>
            </a:p>
          </p:txBody>
        </p:sp>
        <p:sp>
          <p:nvSpPr>
            <p:cNvPr id="7" name="화살표: 오른쪽 6">
              <a:extLst>
                <a:ext uri="{FF2B5EF4-FFF2-40B4-BE49-F238E27FC236}">
                  <a16:creationId xmlns:a16="http://schemas.microsoft.com/office/drawing/2014/main" id="{D7F909FE-EA72-4430-84E5-711DDED494E4}"/>
                </a:ext>
              </a:extLst>
            </p:cNvPr>
            <p:cNvSpPr/>
            <p:nvPr/>
          </p:nvSpPr>
          <p:spPr>
            <a:xfrm>
              <a:off x="2895600" y="1333500"/>
              <a:ext cx="444500" cy="279400"/>
            </a:xfrm>
            <a:prstGeom prst="rightArrow">
              <a:avLst/>
            </a:prstGeom>
            <a:solidFill>
              <a:srgbClr val="2676A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C325942-ABD3-4032-9824-5E8B98A01446}"/>
                </a:ext>
              </a:extLst>
            </p:cNvPr>
            <p:cNvSpPr/>
            <p:nvPr/>
          </p:nvSpPr>
          <p:spPr>
            <a:xfrm>
              <a:off x="3429000" y="1143000"/>
              <a:ext cx="2286000" cy="698500"/>
            </a:xfrm>
            <a:prstGeom prst="roundRect">
              <a:avLst/>
            </a:prstGeom>
            <a:solidFill>
              <a:srgbClr val="EBF5FB"/>
            </a:solidFill>
            <a:ln w="25400" cap="flat" cmpd="sng" algn="ctr">
              <a:solidFill>
                <a:srgbClr val="2676A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l"/>
              <a:r>
                <a:rPr lang="en-US" altLang="ko-KR" sz="1200" b="1">
                  <a:solidFill>
                    <a:srgbClr val="2676AC"/>
                  </a:solidFill>
                </a:rPr>
                <a:t>EfficientNet-B0
(Pretrained)</a:t>
              </a:r>
              <a:endParaRPr lang="ko-KR" altLang="en-US" sz="1200" b="1">
                <a:solidFill>
                  <a:srgbClr val="2676AC"/>
                </a:solidFill>
              </a:endParaRPr>
            </a:p>
          </p:txBody>
        </p:sp>
        <p:sp>
          <p:nvSpPr>
            <p:cNvPr id="9" name="화살표: 오른쪽 8">
              <a:extLst>
                <a:ext uri="{FF2B5EF4-FFF2-40B4-BE49-F238E27FC236}">
                  <a16:creationId xmlns:a16="http://schemas.microsoft.com/office/drawing/2014/main" id="{505D91E8-F199-4B9F-93A0-3A3C6FB4450D}"/>
                </a:ext>
              </a:extLst>
            </p:cNvPr>
            <p:cNvSpPr/>
            <p:nvPr/>
          </p:nvSpPr>
          <p:spPr>
            <a:xfrm>
              <a:off x="5816600" y="1333500"/>
              <a:ext cx="444500" cy="279400"/>
            </a:xfrm>
            <a:prstGeom prst="rightArrow">
              <a:avLst/>
            </a:prstGeom>
            <a:solidFill>
              <a:srgbClr val="2676A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911A605E-621C-477D-BAAC-1865812E62F7}"/>
                </a:ext>
              </a:extLst>
            </p:cNvPr>
            <p:cNvSpPr/>
            <p:nvPr/>
          </p:nvSpPr>
          <p:spPr>
            <a:xfrm>
              <a:off x="6350000" y="1143000"/>
              <a:ext cx="1651000" cy="698500"/>
            </a:xfrm>
            <a:prstGeom prst="roundRect">
              <a:avLst/>
            </a:prstGeom>
            <a:solidFill>
              <a:srgbClr val="D6EAF8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l"/>
              <a:r>
                <a:rPr lang="en-US" altLang="ko-KR" sz="1100">
                  <a:solidFill>
                    <a:srgbClr val="2676AC"/>
                  </a:solidFill>
                </a:rPr>
                <a:t>Image
Features (fV)</a:t>
              </a:r>
              <a:endParaRPr lang="ko-KR" altLang="en-US" sz="1100">
                <a:solidFill>
                  <a:srgbClr val="2676AC"/>
                </a:solidFill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0172FC1D-D90A-4E57-8018-A4D693A1840F}"/>
                </a:ext>
              </a:extLst>
            </p:cNvPr>
            <p:cNvSpPr/>
            <p:nvPr/>
          </p:nvSpPr>
          <p:spPr>
            <a:xfrm>
              <a:off x="508000" y="2159000"/>
              <a:ext cx="2286000" cy="698500"/>
            </a:xfrm>
            <a:prstGeom prst="roundRect">
              <a:avLst/>
            </a:prstGeom>
            <a:solidFill>
              <a:srgbClr val="16A295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l"/>
              <a:r>
                <a:rPr lang="en-US" altLang="ko-KR" sz="1200" b="1">
                  <a:solidFill>
                    <a:srgbClr val="FFFFFF"/>
                  </a:solidFill>
                </a:rPr>
                <a:t>Time Series Data
(All Cycles)</a:t>
              </a:r>
              <a:endParaRPr lang="ko-KR" altLang="en-US" sz="1200" b="1">
                <a:solidFill>
                  <a:srgbClr val="FFFFFF"/>
                </a:solidFill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B4D160E4-B85C-4F6B-992E-79BD9580D8BF}"/>
                </a:ext>
              </a:extLst>
            </p:cNvPr>
            <p:cNvSpPr/>
            <p:nvPr/>
          </p:nvSpPr>
          <p:spPr>
            <a:xfrm>
              <a:off x="2895600" y="2349500"/>
              <a:ext cx="444500" cy="279400"/>
            </a:xfrm>
            <a:prstGeom prst="rightArrow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56365EAE-1EC0-4680-B1C3-B8BAF769F0F0}"/>
                </a:ext>
              </a:extLst>
            </p:cNvPr>
            <p:cNvSpPr/>
            <p:nvPr/>
          </p:nvSpPr>
          <p:spPr>
            <a:xfrm>
              <a:off x="3429000" y="2159000"/>
              <a:ext cx="1143000" cy="698500"/>
            </a:xfrm>
            <a:prstGeom prst="roundRect">
              <a:avLst/>
            </a:prstGeom>
            <a:solidFill>
              <a:srgbClr val="E8F8F5"/>
            </a:solidFill>
            <a:ln w="25400" cap="flat" cmpd="sng" algn="ctr">
              <a:solidFill>
                <a:srgbClr val="16A295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l"/>
              <a:r>
                <a:rPr lang="en-US" altLang="ko-KR" sz="1200" b="1">
                  <a:solidFill>
                    <a:srgbClr val="16A295"/>
                  </a:solidFill>
                </a:rPr>
                <a:t>Encoder</a:t>
              </a:r>
              <a:endParaRPr lang="ko-KR" altLang="en-US" sz="1200" b="1">
                <a:solidFill>
                  <a:srgbClr val="16A295"/>
                </a:solidFill>
              </a:endParaRPr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F3B4D038-5F48-47D0-B924-6182A661C3D2}"/>
                </a:ext>
              </a:extLst>
            </p:cNvPr>
            <p:cNvSpPr/>
            <p:nvPr/>
          </p:nvSpPr>
          <p:spPr>
            <a:xfrm>
              <a:off x="4635500" y="2349500"/>
              <a:ext cx="317500" cy="279400"/>
            </a:xfrm>
            <a:prstGeom prst="rightArrow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32C01469-2A96-4041-8DEA-70BA92E31C2F}"/>
                </a:ext>
              </a:extLst>
            </p:cNvPr>
            <p:cNvSpPr/>
            <p:nvPr/>
          </p:nvSpPr>
          <p:spPr>
            <a:xfrm>
              <a:off x="5016500" y="2159000"/>
              <a:ext cx="1143000" cy="698500"/>
            </a:xfrm>
            <a:prstGeom prst="roundRect">
              <a:avLst/>
            </a:prstGeom>
            <a:solidFill>
              <a:srgbClr val="E8F8F5"/>
            </a:solidFill>
            <a:ln w="25400" cap="flat" cmpd="sng" algn="ctr">
              <a:solidFill>
                <a:srgbClr val="16A295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l"/>
              <a:r>
                <a:rPr lang="en-US" altLang="ko-KR" sz="1200" b="1">
                  <a:solidFill>
                    <a:srgbClr val="16A295"/>
                  </a:solidFill>
                </a:rPr>
                <a:t>Decoder</a:t>
              </a:r>
              <a:endParaRPr lang="ko-KR" altLang="en-US" sz="1200" b="1">
                <a:solidFill>
                  <a:srgbClr val="16A295"/>
                </a:solidFill>
              </a:endParaRPr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A52EA78F-89A1-4DCB-9025-CA3124B9C5C0}"/>
                </a:ext>
              </a:extLst>
            </p:cNvPr>
            <p:cNvSpPr/>
            <p:nvPr/>
          </p:nvSpPr>
          <p:spPr>
            <a:xfrm>
              <a:off x="6223000" y="2349500"/>
              <a:ext cx="317500" cy="279400"/>
            </a:xfrm>
            <a:prstGeom prst="rightArrow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D4E11F3-CAAA-4E58-AC71-A87E456D5970}"/>
                </a:ext>
              </a:extLst>
            </p:cNvPr>
            <p:cNvSpPr/>
            <p:nvPr/>
          </p:nvSpPr>
          <p:spPr>
            <a:xfrm>
              <a:off x="6604000" y="2159000"/>
              <a:ext cx="1397000" cy="698500"/>
            </a:xfrm>
            <a:prstGeom prst="roundRect">
              <a:avLst/>
            </a:prstGeom>
            <a:solidFill>
              <a:srgbClr val="D5F5E3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l"/>
              <a:r>
                <a:rPr lang="en-US" altLang="ko-KR" sz="1100">
                  <a:solidFill>
                    <a:srgbClr val="16A295"/>
                  </a:solidFill>
                </a:rPr>
                <a:t>TS Features
(hT)</a:t>
              </a:r>
              <a:endParaRPr lang="ko-KR" altLang="en-US" sz="1100">
                <a:solidFill>
                  <a:srgbClr val="16A295"/>
                </a:solidFill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A803B99-8160-4851-B53B-38D8ECFFDEF0}"/>
                </a:ext>
              </a:extLst>
            </p:cNvPr>
            <p:cNvSpPr/>
            <p:nvPr/>
          </p:nvSpPr>
          <p:spPr>
            <a:xfrm>
              <a:off x="8382000" y="1333500"/>
              <a:ext cx="1270000" cy="1270000"/>
            </a:xfrm>
            <a:prstGeom prst="roundRect">
              <a:avLst/>
            </a:prstGeom>
            <a:solidFill>
              <a:srgbClr val="F29E1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l"/>
              <a:r>
                <a:rPr lang="en-US" altLang="ko-KR" sz="1200" b="1">
                  <a:solidFill>
                    <a:srgbClr val="FFFFFF"/>
                  </a:solidFill>
                </a:rPr>
                <a:t>Decision
Fusion
[fV ; hT]</a:t>
              </a:r>
              <a:endParaRPr lang="ko-KR" altLang="en-US" sz="1200" b="1">
                <a:solidFill>
                  <a:srgbClr val="FFFFFF"/>
                </a:solidFill>
              </a:endParaRPr>
            </a:p>
          </p:txBody>
        </p:sp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id="{30E731E0-7D1D-4D66-82D2-7CE3BF61D67E}"/>
                </a:ext>
              </a:extLst>
            </p:cNvPr>
            <p:cNvSpPr/>
            <p:nvPr/>
          </p:nvSpPr>
          <p:spPr>
            <a:xfrm>
              <a:off x="9753600" y="1778000"/>
              <a:ext cx="444500" cy="279400"/>
            </a:xfrm>
            <a:prstGeom prst="rightArrow">
              <a:avLst/>
            </a:prstGeom>
            <a:solidFill>
              <a:srgbClr val="CCCC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F6DAF1C8-FEA6-41A1-9071-9BE3E90DF4E6}"/>
                </a:ext>
              </a:extLst>
            </p:cNvPr>
            <p:cNvSpPr/>
            <p:nvPr/>
          </p:nvSpPr>
          <p:spPr>
            <a:xfrm>
              <a:off x="10287000" y="1206500"/>
              <a:ext cx="1524000" cy="698500"/>
            </a:xfrm>
            <a:prstGeom prst="roundRect">
              <a:avLst/>
            </a:prstGeom>
            <a:solidFill>
              <a:srgbClr val="93B64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l"/>
              <a:r>
                <a:rPr lang="en-US" altLang="ko-KR" sz="1200" b="1">
                  <a:solidFill>
                    <a:srgbClr val="FFFFFF"/>
                  </a:solidFill>
                </a:rPr>
                <a:t>FC Layer
+ Classifier</a:t>
              </a:r>
              <a:endParaRPr lang="ko-KR" altLang="en-US" sz="1200" b="1">
                <a:solidFill>
                  <a:srgbClr val="FFFFFF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CAC944CE-4FD8-4E22-97DB-B478F1517300}"/>
                </a:ext>
              </a:extLst>
            </p:cNvPr>
            <p:cNvSpPr/>
            <p:nvPr/>
          </p:nvSpPr>
          <p:spPr>
            <a:xfrm>
              <a:off x="10287000" y="2095500"/>
              <a:ext cx="1524000" cy="635000"/>
            </a:xfrm>
            <a:prstGeom prst="roundRect">
              <a:avLst/>
            </a:prstGeom>
            <a:solidFill>
              <a:srgbClr val="E8584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l"/>
              <a:r>
                <a:rPr lang="en-US" altLang="ko-KR" sz="1200" b="1">
                  <a:solidFill>
                    <a:srgbClr val="FFFFFF"/>
                  </a:solidFill>
                </a:rPr>
                <a:t>Anomaly
Prediction</a:t>
              </a:r>
              <a:endParaRPr lang="ko-KR" altLang="en-US" sz="1200" b="1">
                <a:solidFill>
                  <a:srgbClr val="FFFFFF"/>
                </a:solidFill>
              </a:endParaRPr>
            </a:p>
          </p:txBody>
        </p:sp>
        <p:sp>
          <p:nvSpPr>
            <p:cNvPr id="22" name="화살표: 오른쪽 21">
              <a:extLst>
                <a:ext uri="{FF2B5EF4-FFF2-40B4-BE49-F238E27FC236}">
                  <a16:creationId xmlns:a16="http://schemas.microsoft.com/office/drawing/2014/main" id="{643DCCE1-B3BE-4827-A6A7-12FF1B638CA9}"/>
                </a:ext>
              </a:extLst>
            </p:cNvPr>
            <p:cNvSpPr/>
            <p:nvPr/>
          </p:nvSpPr>
          <p:spPr>
            <a:xfrm>
              <a:off x="8064500" y="1371600"/>
              <a:ext cx="279400" cy="228600"/>
            </a:xfrm>
            <a:prstGeom prst="rightArrow">
              <a:avLst/>
            </a:prstGeom>
            <a:solidFill>
              <a:srgbClr val="2676A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3" name="화살표: 오른쪽 22">
              <a:extLst>
                <a:ext uri="{FF2B5EF4-FFF2-40B4-BE49-F238E27FC236}">
                  <a16:creationId xmlns:a16="http://schemas.microsoft.com/office/drawing/2014/main" id="{9DCE0817-C196-47F5-A78E-415878D487AF}"/>
                </a:ext>
              </a:extLst>
            </p:cNvPr>
            <p:cNvSpPr/>
            <p:nvPr/>
          </p:nvSpPr>
          <p:spPr>
            <a:xfrm>
              <a:off x="8064500" y="2349500"/>
              <a:ext cx="279400" cy="228600"/>
            </a:xfrm>
            <a:prstGeom prst="rightArrow">
              <a:avLst/>
            </a:prstGeom>
            <a:solidFill>
              <a:srgbClr val="16A295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12FE88E6-971A-4EAD-991D-C734DF8BE0F7}"/>
                </a:ext>
              </a:extLst>
            </p:cNvPr>
            <p:cNvSpPr/>
            <p:nvPr/>
          </p:nvSpPr>
          <p:spPr>
            <a:xfrm>
              <a:off x="508000" y="3175000"/>
              <a:ext cx="5588000" cy="1270000"/>
            </a:xfrm>
            <a:prstGeom prst="roundRect">
              <a:avLst/>
            </a:prstGeom>
            <a:solidFill>
              <a:srgbClr val="F5F7F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18F0ED5-23D1-456C-B55A-210A18A19C31}"/>
                </a:ext>
              </a:extLst>
            </p:cNvPr>
            <p:cNvSpPr txBox="1"/>
            <p:nvPr/>
          </p:nvSpPr>
          <p:spPr>
            <a:xfrm>
              <a:off x="698500" y="3276600"/>
              <a:ext cx="5207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300" b="1">
                  <a:solidFill>
                    <a:srgbClr val="2676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Cycle State 4 &amp; 9 (</a:t>
              </a:r>
              <a:r>
                <a:rPr lang="ko-KR" altLang="en-US" sz="1300" b="1">
                  <a:solidFill>
                    <a:srgbClr val="2676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이미지 존재</a:t>
              </a:r>
              <a:r>
                <a:rPr lang="en-US" altLang="ko-KR" sz="1300" b="1">
                  <a:solidFill>
                    <a:srgbClr val="2676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)</a:t>
              </a:r>
              <a:endParaRPr lang="ko-KR" altLang="en-US" sz="13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E1646C-A8D7-4E7F-99D1-8CD75AD0A484}"/>
                </a:ext>
              </a:extLst>
            </p:cNvPr>
            <p:cNvSpPr txBox="1"/>
            <p:nvPr/>
          </p:nvSpPr>
          <p:spPr>
            <a:xfrm>
              <a:off x="698500" y="3594100"/>
              <a:ext cx="5207000" cy="698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이미지 특징</a:t>
              </a:r>
              <a:r>
                <a:rPr lang="en-US" altLang="ko-KR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(fV)</a:t>
              </a:r>
              <a:r>
                <a:rPr lang="ko-KR" altLang="en-US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과 시계열 특징</a:t>
              </a:r>
              <a:r>
                <a:rPr lang="en-US" altLang="ko-KR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(hT)</a:t>
              </a:r>
              <a:r>
                <a:rPr lang="ko-KR" altLang="en-US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을 </a:t>
              </a:r>
              <a:r>
                <a:rPr lang="en-US" altLang="ko-KR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Concatenate</a:t>
              </a:r>
              <a:r>
                <a:rPr lang="ko-KR" altLang="en-US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하여
</a:t>
              </a:r>
              <a:r>
                <a:rPr lang="en-US" altLang="ko-KR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Fully Connected </a:t>
              </a:r>
              <a:r>
                <a:rPr lang="ko-KR" altLang="en-US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레이어에 통과 → </a:t>
              </a:r>
              <a:r>
                <a:rPr lang="en-US" altLang="ko-KR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Decision-level Fusion</a:t>
              </a:r>
              <a:endParaRPr lang="ko-KR" altLang="en-US" sz="12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CE3F9BFF-3C3C-4EFD-B579-64D26021D1AF}"/>
                </a:ext>
              </a:extLst>
            </p:cNvPr>
            <p:cNvSpPr/>
            <p:nvPr/>
          </p:nvSpPr>
          <p:spPr>
            <a:xfrm>
              <a:off x="6350000" y="3175000"/>
              <a:ext cx="5461000" cy="1270000"/>
            </a:xfrm>
            <a:prstGeom prst="roundRect">
              <a:avLst/>
            </a:prstGeom>
            <a:solidFill>
              <a:srgbClr val="F5F7F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3F29EAC-BBB8-47FE-9F29-225371A168BE}"/>
                </a:ext>
              </a:extLst>
            </p:cNvPr>
            <p:cNvSpPr txBox="1"/>
            <p:nvPr/>
          </p:nvSpPr>
          <p:spPr>
            <a:xfrm>
              <a:off x="6540500" y="3276600"/>
              <a:ext cx="5080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300" b="1">
                  <a:solidFill>
                    <a:srgbClr val="16A29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나머지 </a:t>
              </a:r>
              <a:r>
                <a:rPr lang="en-US" altLang="ko-KR" sz="1300" b="1">
                  <a:solidFill>
                    <a:srgbClr val="16A29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Cycle States (</a:t>
              </a:r>
              <a:r>
                <a:rPr lang="ko-KR" altLang="en-US" sz="1300" b="1">
                  <a:solidFill>
                    <a:srgbClr val="16A29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이미지 없음</a:t>
              </a:r>
              <a:r>
                <a:rPr lang="en-US" altLang="ko-KR" sz="1300" b="1">
                  <a:solidFill>
                    <a:srgbClr val="16A29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)</a:t>
              </a:r>
              <a:endParaRPr lang="ko-KR" altLang="en-US" sz="1300" b="1">
                <a:solidFill>
                  <a:srgbClr val="16A29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DAAD64D-E611-4E4E-9F5B-4F5CBD923DF1}"/>
                </a:ext>
              </a:extLst>
            </p:cNvPr>
            <p:cNvSpPr txBox="1"/>
            <p:nvPr/>
          </p:nvSpPr>
          <p:spPr>
            <a:xfrm>
              <a:off x="6540500" y="3594100"/>
              <a:ext cx="5080000" cy="698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시계열 브랜치의 출력</a:t>
              </a:r>
              <a:r>
                <a:rPr lang="en-US" altLang="ko-KR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(hT)</a:t>
              </a:r>
              <a:r>
                <a:rPr lang="ko-KR" altLang="en-US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만 사용하여
분류 레이어를 거쳐 이상 유형 예측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7869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B455E5B-71F4-48C2-ADEC-0559BD1D01E6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40322B8-1E27-411D-81DF-682938F5447B}"/>
              </a:ext>
            </a:extLst>
          </p:cNvPr>
          <p:cNvSpPr/>
          <p:nvPr/>
        </p:nvSpPr>
        <p:spPr>
          <a:xfrm>
            <a:off x="381000" y="190500"/>
            <a:ext cx="508000" cy="508000"/>
          </a:xfrm>
          <a:prstGeom prst="ellipse">
            <a:avLst/>
          </a:prstGeom>
          <a:solidFill>
            <a:srgbClr val="16A29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06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609288-408F-4951-A1ED-CA79BB61EE2A}"/>
              </a:ext>
            </a:extLst>
          </p:cNvPr>
          <p:cNvSpPr txBox="1"/>
          <p:nvPr/>
        </p:nvSpPr>
        <p:spPr>
          <a:xfrm>
            <a:off x="1079500" y="190500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방법</a:t>
            </a:r>
            <a:r>
              <a:rPr lang="en-US" altLang="ko-KR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P1 → P2 → P3 </a:t>
            </a: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단계적 발전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9498BBE-8CE1-A7FC-A774-EB4097957748}"/>
              </a:ext>
            </a:extLst>
          </p:cNvPr>
          <p:cNvGrpSpPr/>
          <p:nvPr/>
        </p:nvGrpSpPr>
        <p:grpSpPr>
          <a:xfrm>
            <a:off x="503575" y="1524000"/>
            <a:ext cx="11184849" cy="3810000"/>
            <a:chOff x="381000" y="1659990"/>
            <a:chExt cx="11184849" cy="381000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DF1A7D5F-B943-4628-9636-D8DE9C93451E}"/>
                </a:ext>
              </a:extLst>
            </p:cNvPr>
            <p:cNvSpPr/>
            <p:nvPr/>
          </p:nvSpPr>
          <p:spPr>
            <a:xfrm>
              <a:off x="381000" y="1659990"/>
              <a:ext cx="3310849" cy="330200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2676AC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6A418355-CAB5-469D-AFF7-BC515BABDFA2}"/>
                </a:ext>
              </a:extLst>
            </p:cNvPr>
            <p:cNvSpPr/>
            <p:nvPr/>
          </p:nvSpPr>
          <p:spPr>
            <a:xfrm>
              <a:off x="626151" y="2223925"/>
              <a:ext cx="698500" cy="381000"/>
            </a:xfrm>
            <a:prstGeom prst="roundRect">
              <a:avLst/>
            </a:prstGeom>
            <a:solidFill>
              <a:srgbClr val="2676A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altLang="ko-KR" sz="1600" b="1">
                  <a:solidFill>
                    <a:srgbClr val="FFFFFF"/>
                  </a:solidFill>
                </a:rPr>
                <a:t>P1</a:t>
              </a:r>
              <a:endParaRPr lang="ko-KR" alt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549BBF-5C2E-4922-B887-279ECD17C89B}"/>
                </a:ext>
              </a:extLst>
            </p:cNvPr>
            <p:cNvSpPr txBox="1"/>
            <p:nvPr/>
          </p:nvSpPr>
          <p:spPr>
            <a:xfrm>
              <a:off x="1388151" y="2193103"/>
              <a:ext cx="2540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ko-KR" sz="1400" b="1">
                  <a:solidFill>
                    <a:srgbClr val="2676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Decision-level Fusion</a:t>
              </a:r>
              <a:endParaRPr lang="ko-KR" altLang="en-US" sz="14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0E1C0E4-4333-4531-864D-1F506BE0C0B8}"/>
                </a:ext>
              </a:extLst>
            </p:cNvPr>
            <p:cNvSpPr txBox="1"/>
            <p:nvPr/>
          </p:nvSpPr>
          <p:spPr>
            <a:xfrm>
              <a:off x="689651" y="2693825"/>
              <a:ext cx="3175000" cy="1524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•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기본 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Fusion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구조
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• EfficientNet + Autoencoder
•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특징 벡터 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Concatenate
• Cycle 4, 9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에서만 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Fusion</a:t>
              </a:r>
              <a:endParaRPr lang="ko-KR" altLang="en-US" sz="12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0308E19-A520-4674-B22A-B47A7B8CCCD9}"/>
                </a:ext>
              </a:extLst>
            </p:cNvPr>
            <p:cNvSpPr/>
            <p:nvPr/>
          </p:nvSpPr>
          <p:spPr>
            <a:xfrm>
              <a:off x="1020424" y="3902394"/>
              <a:ext cx="2032000" cy="571500"/>
            </a:xfrm>
            <a:prstGeom prst="roundRect">
              <a:avLst/>
            </a:prstGeom>
            <a:solidFill>
              <a:srgbClr val="2676A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ctr"/>
              <a:r>
                <a:rPr lang="en-US" altLang="ko-KR" b="1">
                  <a:solidFill>
                    <a:srgbClr val="FFFFFF"/>
                  </a:solidFill>
                </a:rPr>
                <a:t>Accuracy: 72%</a:t>
              </a:r>
              <a:endParaRPr lang="ko-KR" altLang="en-US" b="1">
                <a:solidFill>
                  <a:srgbClr val="FFFFFF"/>
                </a:solidFill>
              </a:endParaRPr>
            </a:p>
          </p:txBody>
        </p:sp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03057C49-52E1-4DD5-95D1-DDEEC5107A29}"/>
                </a:ext>
              </a:extLst>
            </p:cNvPr>
            <p:cNvSpPr/>
            <p:nvPr/>
          </p:nvSpPr>
          <p:spPr>
            <a:xfrm>
              <a:off x="3740723" y="3133190"/>
              <a:ext cx="524551" cy="355600"/>
            </a:xfrm>
            <a:prstGeom prst="rightArrow">
              <a:avLst/>
            </a:prstGeom>
            <a:solidFill>
              <a:srgbClr val="CCCC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CED74E29-D39C-468B-8973-55EC14697EA1}"/>
                </a:ext>
              </a:extLst>
            </p:cNvPr>
            <p:cNvSpPr/>
            <p:nvPr/>
          </p:nvSpPr>
          <p:spPr>
            <a:xfrm>
              <a:off x="4318000" y="1659990"/>
              <a:ext cx="3310849" cy="330200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16A295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FF0676C5-F529-4152-A615-C56C63BE7777}"/>
                </a:ext>
              </a:extLst>
            </p:cNvPr>
            <p:cNvSpPr/>
            <p:nvPr/>
          </p:nvSpPr>
          <p:spPr>
            <a:xfrm>
              <a:off x="4563151" y="2223925"/>
              <a:ext cx="698500" cy="381000"/>
            </a:xfrm>
            <a:prstGeom prst="roundRect">
              <a:avLst/>
            </a:prstGeom>
            <a:solidFill>
              <a:srgbClr val="16A295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altLang="ko-KR" sz="1600" b="1">
                  <a:solidFill>
                    <a:srgbClr val="FFFFFF"/>
                  </a:solidFill>
                </a:rPr>
                <a:t>P2</a:t>
              </a:r>
              <a:endParaRPr lang="ko-KR" alt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87287F-C248-4F40-88BF-DA0FF5E0841F}"/>
                </a:ext>
              </a:extLst>
            </p:cNvPr>
            <p:cNvSpPr txBox="1"/>
            <p:nvPr/>
          </p:nvSpPr>
          <p:spPr>
            <a:xfrm>
              <a:off x="5325151" y="2193103"/>
              <a:ext cx="2540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ko-KR" sz="1400" b="1">
                  <a:solidFill>
                    <a:srgbClr val="16A29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+ Transfer Learning</a:t>
              </a:r>
              <a:endParaRPr lang="ko-KR" altLang="en-US" sz="1400" b="1">
                <a:solidFill>
                  <a:srgbClr val="16A29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C431E95-0350-4195-A8E4-F2743031A5C6}"/>
                </a:ext>
              </a:extLst>
            </p:cNvPr>
            <p:cNvSpPr txBox="1"/>
            <p:nvPr/>
          </p:nvSpPr>
          <p:spPr>
            <a:xfrm>
              <a:off x="4626651" y="2693825"/>
              <a:ext cx="3175000" cy="1524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• Encoder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사전 학습 후 가중치 동결
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• Decoder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만 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Fine-tuning
•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안정적 특징 추출기 역할
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•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과적합 방지</a:t>
              </a: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D1955C62-F397-4D24-ADDA-7CACDEAA0004}"/>
                </a:ext>
              </a:extLst>
            </p:cNvPr>
            <p:cNvSpPr/>
            <p:nvPr/>
          </p:nvSpPr>
          <p:spPr>
            <a:xfrm>
              <a:off x="4955568" y="3932075"/>
              <a:ext cx="2032000" cy="571500"/>
            </a:xfrm>
            <a:prstGeom prst="roundRect">
              <a:avLst/>
            </a:prstGeom>
            <a:solidFill>
              <a:srgbClr val="16A295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ctr"/>
              <a:r>
                <a:rPr lang="en-US" altLang="ko-KR" b="1">
                  <a:solidFill>
                    <a:srgbClr val="FFFFFF"/>
                  </a:solidFill>
                </a:rPr>
                <a:t>Accuracy: 88%</a:t>
              </a:r>
              <a:endParaRPr lang="ko-KR" altLang="en-US" b="1">
                <a:solidFill>
                  <a:srgbClr val="FFFFFF"/>
                </a:solidFill>
              </a:endParaRPr>
            </a:p>
          </p:txBody>
        </p:sp>
        <p:sp>
          <p:nvSpPr>
            <p:cNvPr id="17" name="화살표: 오른쪽 16">
              <a:extLst>
                <a:ext uri="{FF2B5EF4-FFF2-40B4-BE49-F238E27FC236}">
                  <a16:creationId xmlns:a16="http://schemas.microsoft.com/office/drawing/2014/main" id="{9655BF96-6805-47BC-8A01-845DE1108082}"/>
                </a:ext>
              </a:extLst>
            </p:cNvPr>
            <p:cNvSpPr/>
            <p:nvPr/>
          </p:nvSpPr>
          <p:spPr>
            <a:xfrm>
              <a:off x="7677723" y="3133190"/>
              <a:ext cx="524551" cy="355600"/>
            </a:xfrm>
            <a:prstGeom prst="rightArrow">
              <a:avLst/>
            </a:prstGeom>
            <a:solidFill>
              <a:srgbClr val="CCCC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AE7DE93B-3BF3-4A49-A860-6729294D3E5C}"/>
                </a:ext>
              </a:extLst>
            </p:cNvPr>
            <p:cNvSpPr/>
            <p:nvPr/>
          </p:nvSpPr>
          <p:spPr>
            <a:xfrm>
              <a:off x="8255000" y="1659990"/>
              <a:ext cx="3310849" cy="3302000"/>
            </a:xfrm>
            <a:prstGeom prst="roundRect">
              <a:avLst/>
            </a:prstGeom>
            <a:solidFill>
              <a:srgbClr val="FFFFFF"/>
            </a:solidFill>
            <a:ln w="25400" cap="flat" cmpd="sng" algn="ctr">
              <a:solidFill>
                <a:srgbClr val="93B64E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11182C5-A439-4A08-AA51-3F1FE76207A7}"/>
                </a:ext>
              </a:extLst>
            </p:cNvPr>
            <p:cNvSpPr/>
            <p:nvPr/>
          </p:nvSpPr>
          <p:spPr>
            <a:xfrm>
              <a:off x="8500151" y="2223925"/>
              <a:ext cx="698500" cy="381000"/>
            </a:xfrm>
            <a:prstGeom prst="roundRect">
              <a:avLst/>
            </a:prstGeom>
            <a:solidFill>
              <a:srgbClr val="93B64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altLang="ko-KR" sz="1600" b="1">
                  <a:solidFill>
                    <a:srgbClr val="FFFFFF"/>
                  </a:solidFill>
                </a:rPr>
                <a:t>P3</a:t>
              </a:r>
              <a:endParaRPr lang="ko-KR" alt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818C40-2E64-4A75-BE99-F1CC4B68EE31}"/>
                </a:ext>
              </a:extLst>
            </p:cNvPr>
            <p:cNvSpPr txBox="1"/>
            <p:nvPr/>
          </p:nvSpPr>
          <p:spPr>
            <a:xfrm>
              <a:off x="9262151" y="2193103"/>
              <a:ext cx="2540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ko-KR" sz="1400" b="1">
                  <a:solidFill>
                    <a:srgbClr val="93B64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+ Knowledge Infusion</a:t>
              </a:r>
              <a:endParaRPr lang="ko-KR" altLang="en-US" sz="1400" b="1">
                <a:solidFill>
                  <a:srgbClr val="93B64E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2581A4C-15F4-440B-9A60-89BC6CF12157}"/>
                </a:ext>
              </a:extLst>
            </p:cNvPr>
            <p:cNvSpPr txBox="1"/>
            <p:nvPr/>
          </p:nvSpPr>
          <p:spPr>
            <a:xfrm>
              <a:off x="8563651" y="2693825"/>
              <a:ext cx="2799566" cy="1524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• Process Ontology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기반 패널티
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•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센서 허용 범위 위반 시 손실 추가
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•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도메인 지식이 학습 가이드
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•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해석 가능성 확보</a:t>
              </a: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A5330073-35A6-4AF8-B370-30CAFB0E3327}"/>
                </a:ext>
              </a:extLst>
            </p:cNvPr>
            <p:cNvSpPr/>
            <p:nvPr/>
          </p:nvSpPr>
          <p:spPr>
            <a:xfrm>
              <a:off x="8894424" y="3932075"/>
              <a:ext cx="2032000" cy="571500"/>
            </a:xfrm>
            <a:prstGeom prst="roundRect">
              <a:avLst/>
            </a:prstGeom>
            <a:solidFill>
              <a:srgbClr val="93B64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ctr"/>
              <a:r>
                <a:rPr lang="en-US" altLang="ko-KR" b="1">
                  <a:solidFill>
                    <a:srgbClr val="FFFFFF"/>
                  </a:solidFill>
                </a:rPr>
                <a:t>Accuracy: 93%</a:t>
              </a:r>
              <a:endParaRPr lang="ko-KR" altLang="en-US" b="1">
                <a:solidFill>
                  <a:srgbClr val="FFFFFF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11C63E8-AECB-4CBE-8842-50E6E2957B8F}"/>
                </a:ext>
              </a:extLst>
            </p:cNvPr>
            <p:cNvSpPr txBox="1"/>
            <p:nvPr/>
          </p:nvSpPr>
          <p:spPr>
            <a:xfrm>
              <a:off x="508001" y="5152490"/>
              <a:ext cx="10531582" cy="317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400" b="1">
                  <a:solidFill>
                    <a:srgbClr val="777777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각 단계를 분리하여 기법별 기여도를 명확하게 검증하는 </a:t>
              </a:r>
              <a:r>
                <a:rPr lang="en-US" altLang="ko-KR" sz="1400" b="1">
                  <a:solidFill>
                    <a:srgbClr val="777777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Ablation Study </a:t>
              </a:r>
              <a:r>
                <a:rPr lang="ko-KR" altLang="en-US" sz="1400" b="1">
                  <a:solidFill>
                    <a:srgbClr val="777777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설계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3201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F1601DD-21D7-4974-8C6C-652A366892A7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68C4A86-D0B0-4958-86A4-44DD0958394F}"/>
              </a:ext>
            </a:extLst>
          </p:cNvPr>
          <p:cNvSpPr/>
          <p:nvPr/>
        </p:nvSpPr>
        <p:spPr>
          <a:xfrm>
            <a:off x="381000" y="190500"/>
            <a:ext cx="508000" cy="508000"/>
          </a:xfrm>
          <a:prstGeom prst="ellipse">
            <a:avLst/>
          </a:prstGeom>
          <a:solidFill>
            <a:srgbClr val="16A29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07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4114A6-2525-472A-9CED-A485D64831EB}"/>
              </a:ext>
            </a:extLst>
          </p:cNvPr>
          <p:cNvSpPr txBox="1"/>
          <p:nvPr/>
        </p:nvSpPr>
        <p:spPr>
          <a:xfrm>
            <a:off x="1079500" y="190500"/>
            <a:ext cx="508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방법</a:t>
            </a:r>
            <a:r>
              <a:rPr lang="en-US" altLang="ko-KR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: Process Ontology</a:t>
            </a:r>
            <a:endParaRPr lang="ko-KR" altLang="en-US" sz="2200" b="1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6062067-0299-03B1-9B9A-F4B4916DDB3C}"/>
              </a:ext>
            </a:extLst>
          </p:cNvPr>
          <p:cNvGrpSpPr/>
          <p:nvPr/>
        </p:nvGrpSpPr>
        <p:grpSpPr>
          <a:xfrm>
            <a:off x="508000" y="1492250"/>
            <a:ext cx="11303000" cy="3873500"/>
            <a:chOff x="508000" y="1079500"/>
            <a:chExt cx="11303000" cy="38735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FF04FC5-E6DE-4314-B88E-8B62C54BD745}"/>
                </a:ext>
              </a:extLst>
            </p:cNvPr>
            <p:cNvSpPr txBox="1"/>
            <p:nvPr/>
          </p:nvSpPr>
          <p:spPr>
            <a:xfrm>
              <a:off x="508000" y="1079500"/>
              <a:ext cx="5461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6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Dynamic Process Ontology </a:t>
              </a:r>
              <a:r>
                <a:rPr lang="ko-KR" altLang="en-US" sz="16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구조</a:t>
              </a: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2B36EF0-DA64-427D-A2F0-C7F8526CA2B7}"/>
                </a:ext>
              </a:extLst>
            </p:cNvPr>
            <p:cNvSpPr/>
            <p:nvPr/>
          </p:nvSpPr>
          <p:spPr>
            <a:xfrm>
              <a:off x="635000" y="1562100"/>
              <a:ext cx="177800" cy="177800"/>
            </a:xfrm>
            <a:prstGeom prst="ellipse">
              <a:avLst/>
            </a:prstGeom>
            <a:solidFill>
              <a:srgbClr val="2676A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980A7A-C995-4F59-89AB-50786DD5E054}"/>
                </a:ext>
              </a:extLst>
            </p:cNvPr>
            <p:cNvSpPr txBox="1"/>
            <p:nvPr/>
          </p:nvSpPr>
          <p:spPr>
            <a:xfrm>
              <a:off x="914400" y="1524000"/>
              <a:ext cx="4953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3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센서</a:t>
              </a:r>
              <a:r>
                <a:rPr lang="en-US" altLang="ko-KR" sz="13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/</a:t>
              </a:r>
              <a:r>
                <a:rPr lang="ko-KR" altLang="en-US" sz="13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장비 정의 및 사양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13877009-AE40-41BC-8BCF-DBC901922A04}"/>
                </a:ext>
              </a:extLst>
            </p:cNvPr>
            <p:cNvSpPr/>
            <p:nvPr/>
          </p:nvSpPr>
          <p:spPr>
            <a:xfrm>
              <a:off x="635000" y="1917700"/>
              <a:ext cx="177800" cy="177800"/>
            </a:xfrm>
            <a:prstGeom prst="ellipse">
              <a:avLst/>
            </a:prstGeom>
            <a:solidFill>
              <a:srgbClr val="16A295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0865AE-20EE-47E3-B7A6-6BCF88F8F7DE}"/>
                </a:ext>
              </a:extLst>
            </p:cNvPr>
            <p:cNvSpPr txBox="1"/>
            <p:nvPr/>
          </p:nvSpPr>
          <p:spPr>
            <a:xfrm>
              <a:off x="914400" y="1879600"/>
              <a:ext cx="4953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3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센서</a:t>
              </a:r>
              <a:r>
                <a:rPr lang="en-US" altLang="ko-KR" sz="13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-</a:t>
              </a:r>
              <a:r>
                <a:rPr lang="ko-KR" altLang="en-US" sz="13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장비 간 관계 매핑</a:t>
              </a: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2ACD15C-4D6D-4424-8FAD-322E61D3E584}"/>
                </a:ext>
              </a:extLst>
            </p:cNvPr>
            <p:cNvSpPr/>
            <p:nvPr/>
          </p:nvSpPr>
          <p:spPr>
            <a:xfrm>
              <a:off x="635000" y="2273300"/>
              <a:ext cx="177800" cy="177800"/>
            </a:xfrm>
            <a:prstGeom prst="ellipse">
              <a:avLst/>
            </a:prstGeom>
            <a:solidFill>
              <a:srgbClr val="93B64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7683A-1F6E-4216-B737-C1E0FC92DFDB}"/>
                </a:ext>
              </a:extLst>
            </p:cNvPr>
            <p:cNvSpPr txBox="1"/>
            <p:nvPr/>
          </p:nvSpPr>
          <p:spPr>
            <a:xfrm>
              <a:off x="914400" y="2235200"/>
              <a:ext cx="4953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3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사이클 상태별 센서 정상 범위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4D8057C-8383-48FB-8013-7BA4A5E82D5C}"/>
                </a:ext>
              </a:extLst>
            </p:cNvPr>
            <p:cNvSpPr/>
            <p:nvPr/>
          </p:nvSpPr>
          <p:spPr>
            <a:xfrm>
              <a:off x="635000" y="2628900"/>
              <a:ext cx="177800" cy="177800"/>
            </a:xfrm>
            <a:prstGeom prst="ellipse">
              <a:avLst/>
            </a:prstGeom>
            <a:solidFill>
              <a:srgbClr val="F29E1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6E123C-39CD-418C-96EB-69EEC52E28B8}"/>
                </a:ext>
              </a:extLst>
            </p:cNvPr>
            <p:cNvSpPr txBox="1"/>
            <p:nvPr/>
          </p:nvSpPr>
          <p:spPr>
            <a:xfrm>
              <a:off x="914400" y="2590800"/>
              <a:ext cx="4953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3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상태별 이상 유형 연결</a:t>
              </a: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FD95A3E-0709-418F-813F-825156F58966}"/>
                </a:ext>
              </a:extLst>
            </p:cNvPr>
            <p:cNvSpPr/>
            <p:nvPr/>
          </p:nvSpPr>
          <p:spPr>
            <a:xfrm>
              <a:off x="635000" y="2984500"/>
              <a:ext cx="177800" cy="177800"/>
            </a:xfrm>
            <a:prstGeom prst="ellipse">
              <a:avLst/>
            </a:prstGeom>
            <a:solidFill>
              <a:srgbClr val="AE729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D91B3C-D6D0-4CF6-87DF-56A191C4B1E7}"/>
                </a:ext>
              </a:extLst>
            </p:cNvPr>
            <p:cNvSpPr txBox="1"/>
            <p:nvPr/>
          </p:nvSpPr>
          <p:spPr>
            <a:xfrm>
              <a:off x="914400" y="2946400"/>
              <a:ext cx="4953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3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실험 환경 변경 시 동적 업데이트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9FE051-F9E7-49DD-A792-F2C519C58A8A}"/>
                </a:ext>
              </a:extLst>
            </p:cNvPr>
            <p:cNvSpPr txBox="1"/>
            <p:nvPr/>
          </p:nvSpPr>
          <p:spPr>
            <a:xfrm>
              <a:off x="6477000" y="1079500"/>
              <a:ext cx="5334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6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온톨로지의 </a:t>
              </a:r>
              <a:r>
                <a:rPr lang="en-US" altLang="ko-KR" sz="16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3</a:t>
              </a:r>
              <a:r>
                <a:rPr lang="ko-KR" altLang="en-US" sz="16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가지 역할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8E7A2C6-9C7E-4BBC-AB6E-F152EF2354D0}"/>
                </a:ext>
              </a:extLst>
            </p:cNvPr>
            <p:cNvSpPr/>
            <p:nvPr/>
          </p:nvSpPr>
          <p:spPr>
            <a:xfrm>
              <a:off x="6477000" y="1460500"/>
              <a:ext cx="5334000" cy="1079500"/>
            </a:xfrm>
            <a:prstGeom prst="roundRect">
              <a:avLst/>
            </a:prstGeom>
            <a:solidFill>
              <a:srgbClr val="F8F9F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14183ABD-2781-4379-938C-E9C2D33F632C}"/>
                </a:ext>
              </a:extLst>
            </p:cNvPr>
            <p:cNvSpPr/>
            <p:nvPr/>
          </p:nvSpPr>
          <p:spPr>
            <a:xfrm>
              <a:off x="6604000" y="1562100"/>
              <a:ext cx="381000" cy="381000"/>
            </a:xfrm>
            <a:prstGeom prst="ellipse">
              <a:avLst/>
            </a:prstGeom>
            <a:solidFill>
              <a:srgbClr val="2676A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altLang="ko-KR" sz="1400" b="1">
                  <a:solidFill>
                    <a:srgbClr val="FFFFFF"/>
                  </a:solidFill>
                </a:rPr>
                <a:t>1</a:t>
              </a:r>
              <a:endParaRPr lang="ko-KR" altLang="en-US" sz="1400" b="1">
                <a:solidFill>
                  <a:srgbClr val="FFFFFF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C57ABAA-2C0E-4FCC-AF64-4F8C3ECE728B}"/>
                </a:ext>
              </a:extLst>
            </p:cNvPr>
            <p:cNvSpPr txBox="1"/>
            <p:nvPr/>
          </p:nvSpPr>
          <p:spPr>
            <a:xfrm>
              <a:off x="7086600" y="1562100"/>
              <a:ext cx="4572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300" b="1">
                  <a:solidFill>
                    <a:srgbClr val="2676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학습 가이드 </a:t>
              </a:r>
              <a:r>
                <a:rPr lang="en-US" altLang="ko-KR" sz="1300" b="1">
                  <a:solidFill>
                    <a:srgbClr val="2676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(Knowledge Infusion)</a:t>
              </a:r>
              <a:endParaRPr lang="ko-KR" altLang="en-US" sz="13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108F68-81CA-41DC-B1E0-CB50D7AD2DE5}"/>
                </a:ext>
              </a:extLst>
            </p:cNvPr>
            <p:cNvSpPr txBox="1"/>
            <p:nvPr/>
          </p:nvSpPr>
          <p:spPr>
            <a:xfrm>
              <a:off x="7086600" y="1866900"/>
              <a:ext cx="4572000" cy="635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센서값이 정상 범위 안인데 이상 예측 → 패널티
범위 밖인데 정상 예측 → 패널티
→ 손실 함수에 직접 반영</a:t>
              </a: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4B861E64-26CF-4F6F-BA25-C6F5ECEF4B29}"/>
                </a:ext>
              </a:extLst>
            </p:cNvPr>
            <p:cNvSpPr/>
            <p:nvPr/>
          </p:nvSpPr>
          <p:spPr>
            <a:xfrm>
              <a:off x="6477000" y="2667000"/>
              <a:ext cx="5334000" cy="1079500"/>
            </a:xfrm>
            <a:prstGeom prst="roundRect">
              <a:avLst/>
            </a:prstGeom>
            <a:solidFill>
              <a:srgbClr val="F8F9F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DCCB24D6-56C1-4157-91C1-CCAB2A911E4C}"/>
                </a:ext>
              </a:extLst>
            </p:cNvPr>
            <p:cNvSpPr/>
            <p:nvPr/>
          </p:nvSpPr>
          <p:spPr>
            <a:xfrm>
              <a:off x="6604000" y="2768600"/>
              <a:ext cx="381000" cy="381000"/>
            </a:xfrm>
            <a:prstGeom prst="ellipse">
              <a:avLst/>
            </a:prstGeom>
            <a:solidFill>
              <a:srgbClr val="16A295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altLang="ko-KR" sz="1400" b="1">
                  <a:solidFill>
                    <a:srgbClr val="FFFFFF"/>
                  </a:solidFill>
                </a:rPr>
                <a:t>2</a:t>
              </a:r>
              <a:endParaRPr lang="ko-KR" altLang="en-US" sz="1400" b="1">
                <a:solidFill>
                  <a:srgbClr val="FFFFFF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BE37B07-C6E9-4B38-A4DF-81AEB9D64885}"/>
                </a:ext>
              </a:extLst>
            </p:cNvPr>
            <p:cNvSpPr txBox="1"/>
            <p:nvPr/>
          </p:nvSpPr>
          <p:spPr>
            <a:xfrm>
              <a:off x="7086600" y="2768600"/>
              <a:ext cx="4572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300" b="1">
                  <a:solidFill>
                    <a:srgbClr val="16A29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오분류 감지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A22B5BF-B797-4597-A5BF-0899C35B4DE3}"/>
                </a:ext>
              </a:extLst>
            </p:cNvPr>
            <p:cNvSpPr txBox="1"/>
            <p:nvPr/>
          </p:nvSpPr>
          <p:spPr>
            <a:xfrm>
              <a:off x="7086600" y="3073400"/>
              <a:ext cx="4572000" cy="635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예</a:t>
              </a:r>
              <a:r>
                <a:rPr lang="en-US" altLang="ko-KR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: Cycle 4</a:t>
              </a:r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에서 </a:t>
              </a:r>
              <a:r>
                <a:rPr lang="en-US" altLang="ko-KR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"NoNose" </a:t>
              </a:r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예측 시
→ 온톨로지 확인</a:t>
              </a:r>
              <a:r>
                <a:rPr lang="en-US" altLang="ko-KR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: NoNose</a:t>
              </a:r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는 </a:t>
              </a:r>
              <a:r>
                <a:rPr lang="en-US" altLang="ko-KR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Cycle 8</a:t>
              </a:r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부터 발생
→ 오분류 자동 감지</a:t>
              </a: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58443DDA-DCCC-4B68-A8AB-66CEF068B8AD}"/>
                </a:ext>
              </a:extLst>
            </p:cNvPr>
            <p:cNvSpPr/>
            <p:nvPr/>
          </p:nvSpPr>
          <p:spPr>
            <a:xfrm>
              <a:off x="6477000" y="3873500"/>
              <a:ext cx="5334000" cy="1079500"/>
            </a:xfrm>
            <a:prstGeom prst="roundRect">
              <a:avLst/>
            </a:prstGeom>
            <a:solidFill>
              <a:srgbClr val="F8F9F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BD67F333-15CB-47ED-B4FD-BB816CD4E440}"/>
                </a:ext>
              </a:extLst>
            </p:cNvPr>
            <p:cNvSpPr/>
            <p:nvPr/>
          </p:nvSpPr>
          <p:spPr>
            <a:xfrm>
              <a:off x="6604000" y="3975100"/>
              <a:ext cx="381000" cy="381000"/>
            </a:xfrm>
            <a:prstGeom prst="ellipse">
              <a:avLst/>
            </a:prstGeom>
            <a:solidFill>
              <a:srgbClr val="93B64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altLang="ko-KR" sz="1400" b="1">
                  <a:solidFill>
                    <a:srgbClr val="FFFFFF"/>
                  </a:solidFill>
                </a:rPr>
                <a:t>3</a:t>
              </a:r>
              <a:endParaRPr lang="ko-KR" altLang="en-US" sz="1400" b="1">
                <a:solidFill>
                  <a:srgbClr val="FFFFFF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F1F88AA-314E-45D4-BBD1-CEDE2D9E18F4}"/>
                </a:ext>
              </a:extLst>
            </p:cNvPr>
            <p:cNvSpPr txBox="1"/>
            <p:nvPr/>
          </p:nvSpPr>
          <p:spPr>
            <a:xfrm>
              <a:off x="7086600" y="3975100"/>
              <a:ext cx="4572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300" b="1">
                  <a:solidFill>
                    <a:srgbClr val="93B64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설명 가능성 </a:t>
              </a:r>
              <a:r>
                <a:rPr lang="en-US" altLang="ko-KR" sz="1300" b="1">
                  <a:solidFill>
                    <a:srgbClr val="93B64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(Explainability)</a:t>
              </a:r>
              <a:endParaRPr lang="ko-KR" altLang="en-US" sz="1300" b="1">
                <a:solidFill>
                  <a:srgbClr val="93B64E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8CDB7D6-9896-46CB-8921-39E541D8C0C3}"/>
                </a:ext>
              </a:extLst>
            </p:cNvPr>
            <p:cNvSpPr txBox="1"/>
            <p:nvPr/>
          </p:nvSpPr>
          <p:spPr>
            <a:xfrm>
              <a:off x="7086600" y="4279900"/>
              <a:ext cx="4572000" cy="635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어떤 센서가 이상의 원인인지</a:t>
              </a:r>
              <a:r>
                <a:rPr lang="en-US" altLang="ko-KR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?
</a:t>
              </a:r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해당 상태에서 어떤 동작 수행 중이었는지</a:t>
              </a:r>
              <a:r>
                <a:rPr lang="en-US" altLang="ko-KR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?
→ </a:t>
              </a:r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사용자 수준 설명 제공</a:t>
              </a: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06B11A08-3EC1-4DED-A834-0F394ED0BA6F}"/>
                </a:ext>
              </a:extLst>
            </p:cNvPr>
            <p:cNvSpPr/>
            <p:nvPr/>
          </p:nvSpPr>
          <p:spPr>
            <a:xfrm>
              <a:off x="508000" y="3683000"/>
              <a:ext cx="5588000" cy="1206500"/>
            </a:xfrm>
            <a:prstGeom prst="roundRect">
              <a:avLst/>
            </a:prstGeom>
            <a:solidFill>
              <a:srgbClr val="FFF8E7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48C463E-6173-4725-98D5-30DEDD2E7025}"/>
                </a:ext>
              </a:extLst>
            </p:cNvPr>
            <p:cNvSpPr txBox="1"/>
            <p:nvPr/>
          </p:nvSpPr>
          <p:spPr>
            <a:xfrm>
              <a:off x="698500" y="3746500"/>
              <a:ext cx="3810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300" b="1">
                  <a:solidFill>
                    <a:srgbClr val="F29E1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예시</a:t>
              </a:r>
              <a:r>
                <a:rPr lang="en-US" altLang="ko-KR" sz="1300" b="1">
                  <a:solidFill>
                    <a:srgbClr val="F29E1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: Cycle State 4</a:t>
              </a:r>
              <a:endParaRPr lang="ko-KR" altLang="en-US" sz="1300" b="1">
                <a:solidFill>
                  <a:srgbClr val="F29E16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835B27B-E7A6-47F4-AF18-266658A57C88}"/>
                </a:ext>
              </a:extLst>
            </p:cNvPr>
            <p:cNvSpPr txBox="1"/>
            <p:nvPr/>
          </p:nvSpPr>
          <p:spPr>
            <a:xfrm>
              <a:off x="698500" y="4064000"/>
              <a:ext cx="5270500" cy="762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R01 </a:t>
              </a:r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포텐셔미터 정상 범위</a:t>
              </a:r>
              <a:r>
                <a:rPr lang="en-US" altLang="ko-KR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: 6,000 ~ 8,000
</a:t>
              </a:r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예측값 </a:t>
              </a:r>
              <a:r>
                <a:rPr lang="en-US" altLang="ko-KR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3,000 → </a:t>
              </a:r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범위 이탈 → 이상 감지 및 원인 설명 가능
</a:t>
              </a:r>
              <a:r>
                <a:rPr lang="en-US" altLang="ko-KR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"</a:t>
              </a:r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로봇 </a:t>
              </a:r>
              <a:r>
                <a:rPr lang="en-US" altLang="ko-KR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1</a:t>
              </a:r>
              <a:r>
                <a:rPr lang="ko-KR" altLang="en-US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의 그리퍼 센서가 비정상적으로 낮은 값을 보임</a:t>
              </a:r>
              <a:r>
                <a:rPr lang="en-US" altLang="ko-KR" sz="11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"</a:t>
              </a:r>
              <a:endParaRPr lang="ko-KR" altLang="en-US" sz="11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008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403ABE3-BC7D-425A-9A7F-CE02809199C3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2BB5AF4-79F0-4388-B37F-B704422F97D3}"/>
              </a:ext>
            </a:extLst>
          </p:cNvPr>
          <p:cNvSpPr/>
          <p:nvPr/>
        </p:nvSpPr>
        <p:spPr>
          <a:xfrm>
            <a:off x="381000" y="190500"/>
            <a:ext cx="508000" cy="508000"/>
          </a:xfrm>
          <a:prstGeom prst="ellipse">
            <a:avLst/>
          </a:prstGeom>
          <a:solidFill>
            <a:srgbClr val="16A29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08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1DE32-F741-47BD-9CFF-3ABE4251BCD9}"/>
              </a:ext>
            </a:extLst>
          </p:cNvPr>
          <p:cNvSpPr txBox="1"/>
          <p:nvPr/>
        </p:nvSpPr>
        <p:spPr>
          <a:xfrm>
            <a:off x="1079500" y="1905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실험 결과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18F694E-716B-4696-A34E-83CEC9BAE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964730"/>
              </p:ext>
            </p:extLst>
          </p:nvPr>
        </p:nvGraphicFramePr>
        <p:xfrm>
          <a:off x="508000" y="1396140"/>
          <a:ext cx="111760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422534790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575237147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646733083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122173024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18332487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94264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333333"/>
                          </a:solidFill>
                        </a:rPr>
                        <a:t>B1 (Time Series)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74%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63%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61%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63%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07881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333333"/>
                          </a:solidFill>
                        </a:rPr>
                        <a:t>B2 (Image)*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97%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97%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97%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97%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50144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333333"/>
                          </a:solidFill>
                        </a:rPr>
                        <a:t>P1 (DLF)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76%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72%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72%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72%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8765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333333"/>
                          </a:solidFill>
                        </a:rPr>
                        <a:t>P2 (DLF+TL)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91%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88%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89%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333333"/>
                          </a:solidFill>
                        </a:rPr>
                        <a:t>88%</a:t>
                      </a:r>
                    </a:p>
                  </a:txBody>
                  <a:tcPr anchor="ctr"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49095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6A295"/>
                          </a:solidFill>
                        </a:rPr>
                        <a:t>P3 (DLF+TL+KIL)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16A295"/>
                          </a:solidFill>
                        </a:rPr>
                        <a:t>94%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16A295"/>
                          </a:solidFill>
                        </a:rPr>
                        <a:t>93%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16A295"/>
                          </a:solidFill>
                        </a:rPr>
                        <a:t>93%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16A295"/>
                          </a:solidFill>
                        </a:rPr>
                        <a:t>93%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5815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132C6376-60DA-06FB-5621-7D794195FECC}"/>
              </a:ext>
            </a:extLst>
          </p:cNvPr>
          <p:cNvGrpSpPr/>
          <p:nvPr/>
        </p:nvGrpSpPr>
        <p:grpSpPr>
          <a:xfrm>
            <a:off x="508000" y="3999640"/>
            <a:ext cx="11176000" cy="1270000"/>
            <a:chOff x="508000" y="3619500"/>
            <a:chExt cx="11176000" cy="12700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2291FB6-175C-4232-B810-1893CE5399EE}"/>
                </a:ext>
              </a:extLst>
            </p:cNvPr>
            <p:cNvSpPr txBox="1"/>
            <p:nvPr/>
          </p:nvSpPr>
          <p:spPr>
            <a:xfrm>
              <a:off x="508000" y="3619500"/>
              <a:ext cx="7620000" cy="254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100" i="1">
                  <a:solidFill>
                    <a:srgbClr val="99999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* </a:t>
              </a:r>
              <a:r>
                <a:rPr lang="en-US" altLang="ko-KR" sz="1100" i="1">
                  <a:solidFill>
                    <a:srgbClr val="99999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B2</a:t>
              </a:r>
              <a:r>
                <a:rPr lang="ko-KR" altLang="en-US" sz="1100" i="1">
                  <a:solidFill>
                    <a:srgbClr val="99999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는 이미지가 있는 </a:t>
              </a:r>
              <a:r>
                <a:rPr lang="en-US" altLang="ko-KR" sz="1100" i="1">
                  <a:solidFill>
                    <a:srgbClr val="99999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Cycle 4, 9 </a:t>
              </a:r>
              <a:r>
                <a:rPr lang="ko-KR" altLang="en-US" sz="1100" i="1">
                  <a:solidFill>
                    <a:srgbClr val="99999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구간만 평가 </a:t>
              </a:r>
              <a:r>
                <a:rPr lang="en-US" altLang="ko-KR" sz="1100" i="1">
                  <a:solidFill>
                    <a:srgbClr val="99999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100" i="1">
                  <a:solidFill>
                    <a:srgbClr val="99999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전체 공정 사용 불가</a:t>
              </a:r>
              <a:r>
                <a:rPr lang="en-US" altLang="ko-KR" sz="1100" i="1">
                  <a:solidFill>
                    <a:srgbClr val="99999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)</a:t>
              </a:r>
              <a:endParaRPr lang="ko-KR" altLang="en-US" sz="1100" i="1">
                <a:solidFill>
                  <a:srgbClr val="999999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E8E507-FE92-4780-9CA3-5845182C65A9}"/>
                </a:ext>
              </a:extLst>
            </p:cNvPr>
            <p:cNvSpPr txBox="1"/>
            <p:nvPr/>
          </p:nvSpPr>
          <p:spPr>
            <a:xfrm>
              <a:off x="8890000" y="3619500"/>
              <a:ext cx="2794000" cy="254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100">
                  <a:solidFill>
                    <a:srgbClr val="99999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80% / 20% Split </a:t>
              </a:r>
              <a:r>
                <a:rPr lang="ko-KR" altLang="en-US" sz="1100">
                  <a:solidFill>
                    <a:srgbClr val="999999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기준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E0243154-8018-48C3-AC3A-FDB8C85FBD88}"/>
                </a:ext>
              </a:extLst>
            </p:cNvPr>
            <p:cNvSpPr/>
            <p:nvPr/>
          </p:nvSpPr>
          <p:spPr>
            <a:xfrm>
              <a:off x="508000" y="4000500"/>
              <a:ext cx="11176000" cy="889000"/>
            </a:xfrm>
            <a:prstGeom prst="roundRect">
              <a:avLst/>
            </a:prstGeom>
            <a:solidFill>
              <a:srgbClr val="F5F7F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614FF2-4778-45A7-9D22-2E496F5C737D}"/>
                </a:ext>
              </a:extLst>
            </p:cNvPr>
            <p:cNvSpPr txBox="1"/>
            <p:nvPr/>
          </p:nvSpPr>
          <p:spPr>
            <a:xfrm>
              <a:off x="698500" y="4064000"/>
              <a:ext cx="3810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4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60% / 40% Split </a:t>
              </a:r>
              <a:r>
                <a:rPr lang="ko-KR" altLang="en-US" sz="14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결과 비교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B23DD9-935F-4C27-9F34-D679B33A7B7A}"/>
                </a:ext>
              </a:extLst>
            </p:cNvPr>
            <p:cNvSpPr txBox="1"/>
            <p:nvPr/>
          </p:nvSpPr>
          <p:spPr>
            <a:xfrm>
              <a:off x="698500" y="4419600"/>
              <a:ext cx="10795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4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B1: 53%  →  P1: 64%  →  P2: 78%  →  P3: 83%    (</a:t>
              </a:r>
              <a:r>
                <a:rPr lang="ko-KR" altLang="en-US" sz="14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동일한 성능 향상 추세 확인</a:t>
              </a:r>
              <a:r>
                <a:rPr lang="en-US" altLang="ko-KR" sz="14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)</a:t>
              </a:r>
              <a:endParaRPr lang="ko-KR" altLang="en-US" sz="14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505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A5DF926-B695-41BD-8FFF-2E98E0FED5D2}"/>
              </a:ext>
            </a:extLst>
          </p:cNvPr>
          <p:cNvSpPr/>
          <p:nvPr/>
        </p:nvSpPr>
        <p:spPr>
          <a:xfrm>
            <a:off x="0" y="0"/>
            <a:ext cx="12192000" cy="8890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AFD8D2D-4A8D-4741-AF8C-B51B2CEAECDC}"/>
              </a:ext>
            </a:extLst>
          </p:cNvPr>
          <p:cNvSpPr/>
          <p:nvPr/>
        </p:nvSpPr>
        <p:spPr>
          <a:xfrm>
            <a:off x="381000" y="190500"/>
            <a:ext cx="508000" cy="508000"/>
          </a:xfrm>
          <a:prstGeom prst="ellipse">
            <a:avLst/>
          </a:prstGeom>
          <a:solidFill>
            <a:srgbClr val="16A29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09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FEE3B8-B4B5-4FEB-BC0B-63E7D1069C0C}"/>
              </a:ext>
            </a:extLst>
          </p:cNvPr>
          <p:cNvSpPr txBox="1"/>
          <p:nvPr/>
        </p:nvSpPr>
        <p:spPr>
          <a:xfrm>
            <a:off x="1079500" y="1905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핵심 수치 해석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4564ADF-94F5-EE98-A393-39DFF699A945}"/>
              </a:ext>
            </a:extLst>
          </p:cNvPr>
          <p:cNvGrpSpPr/>
          <p:nvPr/>
        </p:nvGrpSpPr>
        <p:grpSpPr>
          <a:xfrm>
            <a:off x="508000" y="1526853"/>
            <a:ext cx="11176000" cy="3556000"/>
            <a:chOff x="508000" y="1270000"/>
            <a:chExt cx="11176000" cy="35560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1150F3E-5F90-4E49-9942-3D0B37F45E3B}"/>
                </a:ext>
              </a:extLst>
            </p:cNvPr>
            <p:cNvSpPr txBox="1"/>
            <p:nvPr/>
          </p:nvSpPr>
          <p:spPr>
            <a:xfrm>
              <a:off x="508000" y="1270000"/>
              <a:ext cx="3302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4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B1 (Time Series)</a:t>
              </a:r>
              <a:endParaRPr lang="ko-KR" altLang="en-US" sz="1400" b="1">
                <a:solidFill>
                  <a:srgbClr val="1B2A4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835BE2CC-9754-44C4-9140-5859983B76F6}"/>
                </a:ext>
              </a:extLst>
            </p:cNvPr>
            <p:cNvSpPr/>
            <p:nvPr/>
          </p:nvSpPr>
          <p:spPr>
            <a:xfrm>
              <a:off x="3937000" y="1270000"/>
              <a:ext cx="6350000" cy="381000"/>
            </a:xfrm>
            <a:prstGeom prst="roundRect">
              <a:avLst/>
            </a:prstGeom>
            <a:solidFill>
              <a:srgbClr val="EEEEE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24364FE4-A942-4631-B6FE-590BA1C1B3A0}"/>
                </a:ext>
              </a:extLst>
            </p:cNvPr>
            <p:cNvSpPr/>
            <p:nvPr/>
          </p:nvSpPr>
          <p:spPr>
            <a:xfrm>
              <a:off x="3937000" y="1270000"/>
              <a:ext cx="4000500" cy="381000"/>
            </a:xfrm>
            <a:prstGeom prst="roundRect">
              <a:avLst/>
            </a:prstGeom>
            <a:solidFill>
              <a:srgbClr val="AAAAA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6D07E9-290B-4025-BBAA-5505C2DA5E7A}"/>
                </a:ext>
              </a:extLst>
            </p:cNvPr>
            <p:cNvSpPr txBox="1"/>
            <p:nvPr/>
          </p:nvSpPr>
          <p:spPr>
            <a:xfrm>
              <a:off x="8064500" y="1270000"/>
              <a:ext cx="762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600" b="1">
                  <a:solidFill>
                    <a:srgbClr val="AAAAA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63%</a:t>
              </a:r>
              <a:endParaRPr lang="ko-KR" altLang="en-US" sz="1600" b="1">
                <a:solidFill>
                  <a:srgbClr val="AAAAA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34F82AF-68FE-4ED8-B658-685F0EC3102B}"/>
                </a:ext>
              </a:extLst>
            </p:cNvPr>
            <p:cNvSpPr txBox="1"/>
            <p:nvPr/>
          </p:nvSpPr>
          <p:spPr>
            <a:xfrm>
              <a:off x="508000" y="1905000"/>
              <a:ext cx="3302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4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P1 (Fusion)</a:t>
              </a:r>
              <a:endParaRPr lang="ko-KR" altLang="en-US" sz="1400" b="1">
                <a:solidFill>
                  <a:srgbClr val="1B2A4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48111D2-4E27-45C4-A151-9FC8597D4A48}"/>
                </a:ext>
              </a:extLst>
            </p:cNvPr>
            <p:cNvSpPr/>
            <p:nvPr/>
          </p:nvSpPr>
          <p:spPr>
            <a:xfrm>
              <a:off x="3937000" y="1905000"/>
              <a:ext cx="6350000" cy="381000"/>
            </a:xfrm>
            <a:prstGeom prst="roundRect">
              <a:avLst/>
            </a:prstGeom>
            <a:solidFill>
              <a:srgbClr val="EEEEE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68D3AAB0-B839-4481-B873-3703BA7D03E1}"/>
                </a:ext>
              </a:extLst>
            </p:cNvPr>
            <p:cNvSpPr/>
            <p:nvPr/>
          </p:nvSpPr>
          <p:spPr>
            <a:xfrm>
              <a:off x="3937000" y="1905000"/>
              <a:ext cx="4572000" cy="381000"/>
            </a:xfrm>
            <a:prstGeom prst="roundRect">
              <a:avLst/>
            </a:prstGeom>
            <a:solidFill>
              <a:srgbClr val="2676A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ED3BFE0-2F15-48A0-80C1-35F2D6B834DE}"/>
                </a:ext>
              </a:extLst>
            </p:cNvPr>
            <p:cNvSpPr txBox="1"/>
            <p:nvPr/>
          </p:nvSpPr>
          <p:spPr>
            <a:xfrm>
              <a:off x="8636000" y="1905000"/>
              <a:ext cx="762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600" b="1">
                  <a:solidFill>
                    <a:srgbClr val="2676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72%</a:t>
              </a:r>
              <a:endParaRPr lang="ko-KR" altLang="en-US" sz="16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992551-27FA-414E-9D52-FF6EE13AAD2E}"/>
                </a:ext>
              </a:extLst>
            </p:cNvPr>
            <p:cNvSpPr txBox="1"/>
            <p:nvPr/>
          </p:nvSpPr>
          <p:spPr>
            <a:xfrm>
              <a:off x="508000" y="2540000"/>
              <a:ext cx="3302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4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P2 (+Transfer Learning)</a:t>
              </a:r>
              <a:endParaRPr lang="ko-KR" altLang="en-US" sz="1400" b="1">
                <a:solidFill>
                  <a:srgbClr val="1B2A4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10BA4157-BBF8-4522-ACF5-F5C61CF151D5}"/>
                </a:ext>
              </a:extLst>
            </p:cNvPr>
            <p:cNvSpPr/>
            <p:nvPr/>
          </p:nvSpPr>
          <p:spPr>
            <a:xfrm>
              <a:off x="3937000" y="2540000"/>
              <a:ext cx="6350000" cy="381000"/>
            </a:xfrm>
            <a:prstGeom prst="roundRect">
              <a:avLst/>
            </a:prstGeom>
            <a:solidFill>
              <a:srgbClr val="EEEEE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1847248-222F-4E9E-865A-DAEA354137C0}"/>
                </a:ext>
              </a:extLst>
            </p:cNvPr>
            <p:cNvSpPr/>
            <p:nvPr/>
          </p:nvSpPr>
          <p:spPr>
            <a:xfrm>
              <a:off x="3937000" y="2540000"/>
              <a:ext cx="5588000" cy="381000"/>
            </a:xfrm>
            <a:prstGeom prst="roundRect">
              <a:avLst/>
            </a:prstGeom>
            <a:solidFill>
              <a:srgbClr val="16A295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C0B295-34F2-4C33-933E-BE1B7FF1301B}"/>
                </a:ext>
              </a:extLst>
            </p:cNvPr>
            <p:cNvSpPr txBox="1"/>
            <p:nvPr/>
          </p:nvSpPr>
          <p:spPr>
            <a:xfrm>
              <a:off x="9652000" y="2540000"/>
              <a:ext cx="762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600" b="1">
                  <a:solidFill>
                    <a:srgbClr val="16A29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88%</a:t>
              </a:r>
              <a:endParaRPr lang="ko-KR" altLang="en-US" sz="1600" b="1">
                <a:solidFill>
                  <a:srgbClr val="16A29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3A716D-8B26-4812-824E-A3AF03E1ED5C}"/>
                </a:ext>
              </a:extLst>
            </p:cNvPr>
            <p:cNvSpPr txBox="1"/>
            <p:nvPr/>
          </p:nvSpPr>
          <p:spPr>
            <a:xfrm>
              <a:off x="508000" y="3175000"/>
              <a:ext cx="3302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4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P3 (+Knowledge Infusion)</a:t>
              </a:r>
              <a:endParaRPr lang="ko-KR" altLang="en-US" sz="1400" b="1">
                <a:solidFill>
                  <a:srgbClr val="1B2A4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B321C06-F1AB-4080-86C0-981E4BA98DC8}"/>
                </a:ext>
              </a:extLst>
            </p:cNvPr>
            <p:cNvSpPr/>
            <p:nvPr/>
          </p:nvSpPr>
          <p:spPr>
            <a:xfrm>
              <a:off x="3937000" y="3175000"/>
              <a:ext cx="6350000" cy="381000"/>
            </a:xfrm>
            <a:prstGeom prst="roundRect">
              <a:avLst/>
            </a:prstGeom>
            <a:solidFill>
              <a:srgbClr val="EEEEE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D5C7B0E-8FE3-403D-918F-C3601C2F1EB5}"/>
                </a:ext>
              </a:extLst>
            </p:cNvPr>
            <p:cNvSpPr/>
            <p:nvPr/>
          </p:nvSpPr>
          <p:spPr>
            <a:xfrm>
              <a:off x="3937000" y="3175000"/>
              <a:ext cx="5905500" cy="381000"/>
            </a:xfrm>
            <a:prstGeom prst="roundRect">
              <a:avLst/>
            </a:prstGeom>
            <a:solidFill>
              <a:srgbClr val="93B64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0866DB8-2CBC-46D3-8135-4E3AD64A6EB4}"/>
                </a:ext>
              </a:extLst>
            </p:cNvPr>
            <p:cNvSpPr txBox="1"/>
            <p:nvPr/>
          </p:nvSpPr>
          <p:spPr>
            <a:xfrm>
              <a:off x="9969500" y="3175000"/>
              <a:ext cx="762000" cy="381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600" b="1">
                  <a:solidFill>
                    <a:srgbClr val="93B64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93%</a:t>
              </a:r>
              <a:endParaRPr lang="ko-KR" altLang="en-US" sz="1600" b="1">
                <a:solidFill>
                  <a:srgbClr val="93B64E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A02C3EF-4F91-4269-BF96-2B320BA56BE7}"/>
                </a:ext>
              </a:extLst>
            </p:cNvPr>
            <p:cNvSpPr txBox="1"/>
            <p:nvPr/>
          </p:nvSpPr>
          <p:spPr>
            <a:xfrm>
              <a:off x="10731500" y="1651000"/>
              <a:ext cx="889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400" b="1">
                  <a:solidFill>
                    <a:srgbClr val="2676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+9%p</a:t>
              </a:r>
              <a:endParaRPr lang="ko-KR" altLang="en-US" sz="1400" b="1">
                <a:solidFill>
                  <a:srgbClr val="2676AC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F67CBBD-4EF5-4F78-97F4-68E8D2BFBECE}"/>
                </a:ext>
              </a:extLst>
            </p:cNvPr>
            <p:cNvSpPr txBox="1"/>
            <p:nvPr/>
          </p:nvSpPr>
          <p:spPr>
            <a:xfrm>
              <a:off x="10731500" y="2286000"/>
              <a:ext cx="889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400" b="1">
                  <a:solidFill>
                    <a:srgbClr val="16A29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+16%p</a:t>
              </a:r>
              <a:endParaRPr lang="ko-KR" altLang="en-US" sz="1400" b="1">
                <a:solidFill>
                  <a:srgbClr val="16A29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0F3E5F-400D-4229-AC7E-CB25DDFB7C89}"/>
                </a:ext>
              </a:extLst>
            </p:cNvPr>
            <p:cNvSpPr txBox="1"/>
            <p:nvPr/>
          </p:nvSpPr>
          <p:spPr>
            <a:xfrm>
              <a:off x="10731500" y="2921000"/>
              <a:ext cx="889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400" b="1">
                  <a:solidFill>
                    <a:srgbClr val="93B64E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+5%p</a:t>
              </a:r>
              <a:endParaRPr lang="ko-KR" altLang="en-US" sz="1400" b="1">
                <a:solidFill>
                  <a:srgbClr val="93B64E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35BCA233-6E53-410B-A911-F0485BF0ECBE}"/>
                </a:ext>
              </a:extLst>
            </p:cNvPr>
            <p:cNvSpPr/>
            <p:nvPr/>
          </p:nvSpPr>
          <p:spPr>
            <a:xfrm>
              <a:off x="508000" y="3810000"/>
              <a:ext cx="5588000" cy="1016000"/>
            </a:xfrm>
            <a:prstGeom prst="roundRect">
              <a:avLst/>
            </a:prstGeom>
            <a:solidFill>
              <a:srgbClr val="EBF5FB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CF15BC0-AFE5-4E76-83FB-2F2DDAB91347}"/>
                </a:ext>
              </a:extLst>
            </p:cNvPr>
            <p:cNvSpPr txBox="1"/>
            <p:nvPr/>
          </p:nvSpPr>
          <p:spPr>
            <a:xfrm>
              <a:off x="698500" y="3873500"/>
              <a:ext cx="2540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300" b="1">
                  <a:solidFill>
                    <a:srgbClr val="2676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핵심 발견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DB7A581-7F8A-4792-AB67-5D9DBA8A623E}"/>
                </a:ext>
              </a:extLst>
            </p:cNvPr>
            <p:cNvSpPr txBox="1"/>
            <p:nvPr/>
          </p:nvSpPr>
          <p:spPr>
            <a:xfrm>
              <a:off x="698500" y="4165600"/>
              <a:ext cx="5207000" cy="571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Transfer Learning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이 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Encoder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를 안정화시키면서
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Fusion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의 효과가 비로소 발휘됨 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(P1→P2: +16%p)</a:t>
              </a:r>
              <a:endParaRPr lang="ko-KR" altLang="en-US" sz="1200">
                <a:solidFill>
                  <a:srgbClr val="444444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B9C001FA-D3FF-4FC7-86B4-69B08C695B3D}"/>
                </a:ext>
              </a:extLst>
            </p:cNvPr>
            <p:cNvSpPr/>
            <p:nvPr/>
          </p:nvSpPr>
          <p:spPr>
            <a:xfrm>
              <a:off x="6350000" y="3810000"/>
              <a:ext cx="5334000" cy="1016000"/>
            </a:xfrm>
            <a:prstGeom prst="roundRect">
              <a:avLst/>
            </a:prstGeom>
            <a:solidFill>
              <a:srgbClr val="FFF8E7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4F94A97-8200-413C-B2FA-DC34A90C5BFE}"/>
                </a:ext>
              </a:extLst>
            </p:cNvPr>
            <p:cNvSpPr txBox="1"/>
            <p:nvPr/>
          </p:nvSpPr>
          <p:spPr>
            <a:xfrm>
              <a:off x="6540500" y="3873500"/>
              <a:ext cx="3810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300" b="1">
                  <a:solidFill>
                    <a:srgbClr val="F29E1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B2 (</a:t>
              </a:r>
              <a:r>
                <a:rPr lang="ko-KR" altLang="en-US" sz="1300" b="1">
                  <a:solidFill>
                    <a:srgbClr val="F29E1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이미지 단독</a:t>
              </a:r>
              <a:r>
                <a:rPr lang="en-US" altLang="ko-KR" sz="1300" b="1">
                  <a:solidFill>
                    <a:srgbClr val="F29E1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) </a:t>
              </a:r>
              <a:r>
                <a:rPr lang="ko-KR" altLang="en-US" sz="1300" b="1">
                  <a:solidFill>
                    <a:srgbClr val="F29E16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참고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6ABA0D8-80A3-4974-9DAC-EB52A0275A6B}"/>
                </a:ext>
              </a:extLst>
            </p:cNvPr>
            <p:cNvSpPr txBox="1"/>
            <p:nvPr/>
          </p:nvSpPr>
          <p:spPr>
            <a:xfrm>
              <a:off x="6540500" y="4165600"/>
              <a:ext cx="4953000" cy="5715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B2 = 97% (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매우 높음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),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그러나 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Cycle 4, 9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구간에서만
평가 → 전체 공정에서는 사용 불가한 구조적 한계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739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B589446-007F-4E3B-A7FE-92D910E0E2E2}"/>
              </a:ext>
            </a:extLst>
          </p:cNvPr>
          <p:cNvSpPr/>
          <p:nvPr/>
        </p:nvSpPr>
        <p:spPr>
          <a:xfrm>
            <a:off x="0" y="-9989"/>
            <a:ext cx="12192000" cy="889000"/>
          </a:xfrm>
          <a:prstGeom prst="rect">
            <a:avLst/>
          </a:prstGeom>
          <a:solidFill>
            <a:srgbClr val="1B2A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1E87C97-72F7-424B-B4A5-2568480F102A}"/>
              </a:ext>
            </a:extLst>
          </p:cNvPr>
          <p:cNvSpPr/>
          <p:nvPr/>
        </p:nvSpPr>
        <p:spPr>
          <a:xfrm>
            <a:off x="381000" y="190500"/>
            <a:ext cx="508000" cy="508000"/>
          </a:xfrm>
          <a:prstGeom prst="ellipse">
            <a:avLst/>
          </a:prstGeom>
          <a:solidFill>
            <a:srgbClr val="16A29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10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1B2A0C-7324-4F06-A534-90FAF346333E}"/>
              </a:ext>
            </a:extLst>
          </p:cNvPr>
          <p:cNvSpPr txBox="1"/>
          <p:nvPr/>
        </p:nvSpPr>
        <p:spPr>
          <a:xfrm>
            <a:off x="1079500" y="1905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2200"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의의와 한계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298CF3B-A84D-ADF6-3948-50F9EA3D9900}"/>
              </a:ext>
            </a:extLst>
          </p:cNvPr>
          <p:cNvGrpSpPr/>
          <p:nvPr/>
        </p:nvGrpSpPr>
        <p:grpSpPr>
          <a:xfrm>
            <a:off x="503464" y="1526426"/>
            <a:ext cx="11185071" cy="3944565"/>
            <a:chOff x="508000" y="1079500"/>
            <a:chExt cx="11185071" cy="39445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38A69D-BEEF-4273-B308-C9A310256D24}"/>
                </a:ext>
              </a:extLst>
            </p:cNvPr>
            <p:cNvSpPr txBox="1"/>
            <p:nvPr/>
          </p:nvSpPr>
          <p:spPr>
            <a:xfrm>
              <a:off x="508000" y="1079500"/>
              <a:ext cx="5461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600" b="1">
                  <a:solidFill>
                    <a:srgbClr val="2676AC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학술적 의의</a:t>
              </a: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89276FD-987D-488F-90C0-C082EF97739C}"/>
                </a:ext>
              </a:extLst>
            </p:cNvPr>
            <p:cNvSpPr/>
            <p:nvPr/>
          </p:nvSpPr>
          <p:spPr>
            <a:xfrm>
              <a:off x="635000" y="1549400"/>
              <a:ext cx="152400" cy="152400"/>
            </a:xfrm>
            <a:prstGeom prst="ellipse">
              <a:avLst/>
            </a:prstGeom>
            <a:solidFill>
              <a:srgbClr val="2676A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E512BB-9A60-4A9B-BE4B-95B577BC6DA6}"/>
                </a:ext>
              </a:extLst>
            </p:cNvPr>
            <p:cNvSpPr txBox="1"/>
            <p:nvPr/>
          </p:nvSpPr>
          <p:spPr>
            <a:xfrm>
              <a:off x="889000" y="1498600"/>
              <a:ext cx="50800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200" err="1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멀티모달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 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Fusion + </a:t>
              </a:r>
              <a:r>
                <a:rPr lang="en-US" altLang="ko-KR" sz="1200" err="1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Neurosymbolic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 AI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의 조합이 제조 분야에서 효과적임을 실증적으로 입증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AB5E685-F963-4BBF-A984-6D2AB36D3A0C}"/>
                </a:ext>
              </a:extLst>
            </p:cNvPr>
            <p:cNvSpPr/>
            <p:nvPr/>
          </p:nvSpPr>
          <p:spPr>
            <a:xfrm>
              <a:off x="635000" y="2082800"/>
              <a:ext cx="152400" cy="152400"/>
            </a:xfrm>
            <a:prstGeom prst="ellipse">
              <a:avLst/>
            </a:prstGeom>
            <a:solidFill>
              <a:srgbClr val="16A295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175F7E2-9C3F-42FE-B2FB-4312B40B2628}"/>
                </a:ext>
              </a:extLst>
            </p:cNvPr>
            <p:cNvSpPr txBox="1"/>
            <p:nvPr/>
          </p:nvSpPr>
          <p:spPr>
            <a:xfrm>
              <a:off x="889000" y="2032000"/>
              <a:ext cx="50800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Transfer Learning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이 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Fusion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모델의 과적합 문제를 해결하는 핵심 매개 역할</a:t>
              </a: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2333871-9B83-422F-868D-B7CEFFB08A02}"/>
                </a:ext>
              </a:extLst>
            </p:cNvPr>
            <p:cNvSpPr/>
            <p:nvPr/>
          </p:nvSpPr>
          <p:spPr>
            <a:xfrm>
              <a:off x="635000" y="2616200"/>
              <a:ext cx="152400" cy="152400"/>
            </a:xfrm>
            <a:prstGeom prst="ellipse">
              <a:avLst/>
            </a:prstGeom>
            <a:solidFill>
              <a:srgbClr val="93B64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B69CE7B-D609-419A-8569-338A91169E4F}"/>
                </a:ext>
              </a:extLst>
            </p:cNvPr>
            <p:cNvSpPr txBox="1"/>
            <p:nvPr/>
          </p:nvSpPr>
          <p:spPr>
            <a:xfrm>
              <a:off x="889000" y="2565400"/>
              <a:ext cx="50800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Process Ontology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를 통한 해석 가능한 이상 예측 → 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Black-box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탈피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DB01A3C4-731A-4425-9DA1-2243602803F0}"/>
                </a:ext>
              </a:extLst>
            </p:cNvPr>
            <p:cNvSpPr/>
            <p:nvPr/>
          </p:nvSpPr>
          <p:spPr>
            <a:xfrm>
              <a:off x="635000" y="3149600"/>
              <a:ext cx="152400" cy="152400"/>
            </a:xfrm>
            <a:prstGeom prst="ellipse">
              <a:avLst/>
            </a:prstGeom>
            <a:solidFill>
              <a:srgbClr val="F29E1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EB5D305-AD62-4FB8-B5E9-75A3F59C0578}"/>
                </a:ext>
              </a:extLst>
            </p:cNvPr>
            <p:cNvSpPr txBox="1"/>
            <p:nvPr/>
          </p:nvSpPr>
          <p:spPr>
            <a:xfrm>
              <a:off x="889000" y="3098800"/>
              <a:ext cx="5080000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실제 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FF Lab 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테스트베드에 배포하여 현장 검증 수행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363533-564F-4D1A-8877-EB3DF6A0B60C}"/>
                </a:ext>
              </a:extLst>
            </p:cNvPr>
            <p:cNvSpPr txBox="1"/>
            <p:nvPr/>
          </p:nvSpPr>
          <p:spPr>
            <a:xfrm>
              <a:off x="6477000" y="1079500"/>
              <a:ext cx="5207000" cy="355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600" b="1">
                  <a:solidFill>
                    <a:srgbClr val="E8584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한계점</a:t>
              </a: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6DE1520-C052-4F1D-91E9-24FE270FBAB8}"/>
                </a:ext>
              </a:extLst>
            </p:cNvPr>
            <p:cNvSpPr/>
            <p:nvPr/>
          </p:nvSpPr>
          <p:spPr>
            <a:xfrm>
              <a:off x="6604000" y="1549400"/>
              <a:ext cx="152400" cy="152400"/>
            </a:xfrm>
            <a:prstGeom prst="ellipse">
              <a:avLst/>
            </a:prstGeom>
            <a:solidFill>
              <a:srgbClr val="E8584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DE8309-9F4D-4C4C-ABB0-911C89EA4E19}"/>
                </a:ext>
              </a:extLst>
            </p:cNvPr>
            <p:cNvSpPr txBox="1"/>
            <p:nvPr/>
          </p:nvSpPr>
          <p:spPr>
            <a:xfrm>
              <a:off x="6858000" y="1488611"/>
              <a:ext cx="4835071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단일 데이터셋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(FF Lab)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에서만 검증 → 일반화 검증 필요</a:t>
              </a: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5F5A69E-92A2-4659-84BF-4DA043AE353C}"/>
                </a:ext>
              </a:extLst>
            </p:cNvPr>
            <p:cNvSpPr/>
            <p:nvPr/>
          </p:nvSpPr>
          <p:spPr>
            <a:xfrm>
              <a:off x="6604000" y="2082800"/>
              <a:ext cx="152400" cy="152400"/>
            </a:xfrm>
            <a:prstGeom prst="ellipse">
              <a:avLst/>
            </a:prstGeom>
            <a:solidFill>
              <a:srgbClr val="E8584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B1CB5B-7772-4248-8681-713DAD99DA86}"/>
                </a:ext>
              </a:extLst>
            </p:cNvPr>
            <p:cNvSpPr txBox="1"/>
            <p:nvPr/>
          </p:nvSpPr>
          <p:spPr>
            <a:xfrm>
              <a:off x="6858000" y="2022011"/>
              <a:ext cx="4835071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이미지 사용 구간이 </a:t>
              </a:r>
              <a:r>
                <a:rPr lang="en-US" altLang="ko-KR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Cycle 4, 9</a:t>
              </a:r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로 제한 → 전체 사이클 커버리지 부족</a:t>
              </a: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233A48B4-1A56-4258-ADD7-CAC382C67A28}"/>
                </a:ext>
              </a:extLst>
            </p:cNvPr>
            <p:cNvSpPr/>
            <p:nvPr/>
          </p:nvSpPr>
          <p:spPr>
            <a:xfrm>
              <a:off x="6604000" y="2616200"/>
              <a:ext cx="152400" cy="152400"/>
            </a:xfrm>
            <a:prstGeom prst="ellipse">
              <a:avLst/>
            </a:prstGeom>
            <a:solidFill>
              <a:srgbClr val="E8584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D0AC1FF-B7C0-4083-8C7E-23F829AF0948}"/>
                </a:ext>
              </a:extLst>
            </p:cNvPr>
            <p:cNvSpPr txBox="1"/>
            <p:nvPr/>
          </p:nvSpPr>
          <p:spPr>
            <a:xfrm>
              <a:off x="6858000" y="2555411"/>
              <a:ext cx="4835071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센서 범위 기반 패널티가 정적 → 동적 업데이트 전략 필요</a:t>
              </a: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3716658D-D286-4D58-98B5-5FC0DDA6750C}"/>
                </a:ext>
              </a:extLst>
            </p:cNvPr>
            <p:cNvSpPr/>
            <p:nvPr/>
          </p:nvSpPr>
          <p:spPr>
            <a:xfrm>
              <a:off x="6604000" y="3149600"/>
              <a:ext cx="152400" cy="152400"/>
            </a:xfrm>
            <a:prstGeom prst="ellipse">
              <a:avLst/>
            </a:prstGeom>
            <a:solidFill>
              <a:srgbClr val="E8584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34C0496-91C1-4F88-AA19-195D1A6CA473}"/>
                </a:ext>
              </a:extLst>
            </p:cNvPr>
            <p:cNvSpPr txBox="1"/>
            <p:nvPr/>
          </p:nvSpPr>
          <p:spPr>
            <a:xfrm>
              <a:off x="6858000" y="3088811"/>
              <a:ext cx="4835071" cy="5080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200">
                  <a:solidFill>
                    <a:srgbClr val="444444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실시간 배포 시 샘플링 속도 불일치 등 엔지니어링 과제 존재</a:t>
              </a: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B1D319AA-6843-4098-9661-E3B04AF5CBFA}"/>
                </a:ext>
              </a:extLst>
            </p:cNvPr>
            <p:cNvSpPr/>
            <p:nvPr/>
          </p:nvSpPr>
          <p:spPr>
            <a:xfrm>
              <a:off x="508000" y="3829123"/>
              <a:ext cx="11176000" cy="1194942"/>
            </a:xfrm>
            <a:prstGeom prst="roundRect">
              <a:avLst/>
            </a:prstGeom>
            <a:solidFill>
              <a:srgbClr val="F5F7F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7381BE4-6ED7-4569-ACF7-D88DA64329BD}"/>
                </a:ext>
              </a:extLst>
            </p:cNvPr>
            <p:cNvSpPr txBox="1"/>
            <p:nvPr/>
          </p:nvSpPr>
          <p:spPr>
            <a:xfrm>
              <a:off x="698500" y="4000500"/>
              <a:ext cx="3810000" cy="279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ko-KR" altLang="en-US" sz="14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 향후 연구 방향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D8AFD0B-A337-40C3-BA3B-BF2C7795271F}"/>
                </a:ext>
              </a:extLst>
            </p:cNvPr>
            <p:cNvSpPr txBox="1"/>
            <p:nvPr/>
          </p:nvSpPr>
          <p:spPr>
            <a:xfrm>
              <a:off x="698500" y="4343400"/>
              <a:ext cx="10795000" cy="5334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en-US" altLang="ko-KR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• </a:t>
              </a:r>
              <a:r>
                <a:rPr lang="ko-KR" altLang="en-US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텍스트</a:t>
              </a:r>
              <a:r>
                <a:rPr lang="en-US" altLang="ko-KR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/</a:t>
              </a:r>
              <a:r>
                <a:rPr lang="ko-KR" altLang="en-US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비디오 등 추가 모달리티 통합    </a:t>
              </a:r>
              <a:r>
                <a:rPr lang="en-US" altLang="ko-KR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• </a:t>
              </a:r>
              <a:r>
                <a:rPr lang="ko-KR" altLang="en-US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이미지를 온톨로지에 직접 통합    </a:t>
              </a:r>
              <a:r>
                <a:rPr lang="en-US" altLang="ko-KR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• </a:t>
              </a:r>
              <a:r>
                <a:rPr lang="ko-KR" altLang="en-US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다른 제조 환경에 일반화 검증
</a:t>
              </a:r>
              <a:r>
                <a:rPr lang="en-US" altLang="ko-KR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• Dynamic Time Warping, Change-point detection </a:t>
              </a:r>
              <a:r>
                <a:rPr lang="ko-KR" altLang="en-US" sz="12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등 활용한 핵심 타임스탬프 포착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677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64DE33E0-C7C1-4A9C-3B83-F44A86D4831E}"/>
              </a:ext>
            </a:extLst>
          </p:cNvPr>
          <p:cNvGrpSpPr/>
          <p:nvPr/>
        </p:nvGrpSpPr>
        <p:grpSpPr>
          <a:xfrm>
            <a:off x="2390454" y="2719087"/>
            <a:ext cx="7411092" cy="1306812"/>
            <a:chOff x="1250023" y="1493750"/>
            <a:chExt cx="7411092" cy="130681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590DF89-2A84-E6AC-5F5A-106DD6628239}"/>
                </a:ext>
              </a:extLst>
            </p:cNvPr>
            <p:cNvSpPr txBox="1"/>
            <p:nvPr/>
          </p:nvSpPr>
          <p:spPr>
            <a:xfrm>
              <a:off x="1250023" y="1493750"/>
              <a:ext cx="7411092" cy="9189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/>
              <a:r>
                <a:rPr lang="en-US" altLang="ko-KR" sz="6000" b="1">
                  <a:solidFill>
                    <a:srgbClr val="1B2A4A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Thank you</a:t>
              </a:r>
              <a:endParaRPr lang="ko-KR" altLang="en-US" sz="6000" b="1">
                <a:solidFill>
                  <a:srgbClr val="1B2A4A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2B5A417-0130-FBC3-C785-24284DFF8E7E}"/>
                </a:ext>
              </a:extLst>
            </p:cNvPr>
            <p:cNvSpPr txBox="1"/>
            <p:nvPr/>
          </p:nvSpPr>
          <p:spPr>
            <a:xfrm>
              <a:off x="1470061" y="2427338"/>
              <a:ext cx="6971016" cy="373224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/>
              <a:r>
                <a:rPr lang="en-US" altLang="ko-KR" sz="1500">
                  <a:solidFill>
                    <a:srgbClr val="55555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Thank you for your attention</a:t>
              </a:r>
              <a:endParaRPr lang="ko-KR" altLang="en-US" sz="1500">
                <a:solidFill>
                  <a:srgbClr val="555555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6479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 [1777720222177]">
  <a:themeElements>
    <a:clrScheme name="Office 2013 - 2022 테마">
      <a:dk1>
        <a:srgbClr val="1B2A4A"/>
      </a:dk1>
      <a:lt1>
        <a:srgbClr val="FFFFFF"/>
      </a:lt1>
      <a:dk2>
        <a:srgbClr val="2C3E5D"/>
      </a:dk2>
      <a:lt2>
        <a:srgbClr val="F0F2F5"/>
      </a:lt2>
      <a:accent1>
        <a:srgbClr val="2676AC"/>
      </a:accent1>
      <a:accent2>
        <a:srgbClr val="16A295"/>
      </a:accent2>
      <a:accent3>
        <a:srgbClr val="E8584F"/>
      </a:accent3>
      <a:accent4>
        <a:srgbClr val="F29E16"/>
      </a:accent4>
      <a:accent5>
        <a:srgbClr val="93B64E"/>
      </a:accent5>
      <a:accent6>
        <a:srgbClr val="AE729E"/>
      </a:accent6>
      <a:hlink>
        <a:srgbClr val="0563C1"/>
      </a:hlink>
      <a:folHlink>
        <a:srgbClr val="954F72"/>
      </a:folHlink>
    </a:clrScheme>
    <a:fontScheme name="사용자 지정 4">
      <a:majorFont>
        <a:latin typeface="Pretendard"/>
        <a:ea typeface=""/>
        <a:cs typeface=""/>
      </a:majorFont>
      <a:minorFont>
        <a:latin typeface="Pretendard"/>
        <a:ea typeface=""/>
        <a:cs typeface="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200" dirty="0" smtClean="0">
            <a:solidFill>
              <a:schemeClr val="tx1">
                <a:lumMod val="65000"/>
                <a:lumOff val="35000"/>
              </a:schemeClr>
            </a:solidFill>
            <a:latin typeface="나눔고딕" panose="020D0604000000000000" pitchFamily="50" charset="-127"/>
            <a:ea typeface="나눔고딕" panose="020D0604000000000000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2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98D53C4-EB30-4D06-B415-8CAF9BDD614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072c8d9-7136-4530-9268-0bffd5bfecc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97F093C87EF87408D5C5F04BCF3A1CB" ma:contentTypeVersion="9" ma:contentTypeDescription="새 문서를 만듭니다." ma:contentTypeScope="" ma:versionID="cd7cd375469c6d4b522ce2b3e8029dd3">
  <xsd:schema xmlns:xsd="http://www.w3.org/2001/XMLSchema" xmlns:xs="http://www.w3.org/2001/XMLSchema" xmlns:p="http://schemas.microsoft.com/office/2006/metadata/properties" xmlns:ns3="1f7d68b1-f69b-49f8-80cd-f995854cf296" xmlns:ns4="362945be-0545-4d77-ba0f-90fd258c610d" targetNamespace="http://schemas.microsoft.com/office/2006/metadata/properties" ma:root="true" ma:fieldsID="3709e7358902c5645f0e406a38b57213" ns3:_="" ns4:_="">
    <xsd:import namespace="1f7d68b1-f69b-49f8-80cd-f995854cf296"/>
    <xsd:import namespace="362945be-0545-4d77-ba0f-90fd258c61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d68b1-f69b-49f8-80cd-f995854cf2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2945be-0545-4d77-ba0f-90fd258c610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f7d68b1-f69b-49f8-80cd-f995854cf296" xsi:nil="true"/>
  </documentManagement>
</p:properties>
</file>

<file path=customXml/itemProps1.xml><?xml version="1.0" encoding="utf-8"?>
<ds:datastoreItem xmlns:ds="http://schemas.openxmlformats.org/officeDocument/2006/customXml" ds:itemID="{27312C13-A2B3-4A01-B220-75D5986F7D62}">
  <ds:schemaRefs>
    <ds:schemaRef ds:uri="1f7d68b1-f69b-49f8-80cd-f995854cf296"/>
    <ds:schemaRef ds:uri="362945be-0545-4d77-ba0f-90fd258c610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221C8D9-4205-4504-9844-72894E2B91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D5EEEF-55DE-415E-A824-415CEA62A4FB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1f7d68b1-f69b-49f8-80cd-f995854cf296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362945be-0545-4d77-ba0f-90fd258c610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2293</Words>
  <Application>Microsoft Office PowerPoint</Application>
  <PresentationFormat>와이드스크린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Pretendard</vt:lpstr>
      <vt:lpstr>나눔고딕</vt:lpstr>
      <vt:lpstr>맑은 고딕</vt:lpstr>
      <vt:lpstr>Arial</vt:lpstr>
      <vt:lpstr>Office 2013 - 2022 테마 [1777720222177]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현성 하</dc:creator>
  <cp:lastModifiedBy>하 현성</cp:lastModifiedBy>
  <cp:revision>1</cp:revision>
  <dcterms:created xsi:type="dcterms:W3CDTF">2024-04-02T11:49:31Z</dcterms:created>
  <dcterms:modified xsi:type="dcterms:W3CDTF">2026-05-08T13:22:00Z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0x010100597F093C87EF87408D5C5F04BCF3A1CB</vt:lpwstr>
  </property>
</Properties>
</file>