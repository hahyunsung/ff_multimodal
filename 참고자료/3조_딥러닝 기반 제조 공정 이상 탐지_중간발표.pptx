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4"/>
  </p:sldMasterIdLst>
  <p:notesMasterIdLst>
    <p:notesMasterId r:id="rId17"/>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547B"/>
    <a:srgbClr val="2676AC"/>
    <a:srgbClr val="555555"/>
    <a:srgbClr val="CCCCCC"/>
    <a:srgbClr val="EBECF1"/>
    <a:srgbClr val="3B3535"/>
    <a:srgbClr val="F1F2F5"/>
    <a:srgbClr val="EDEEF3"/>
    <a:srgbClr val="A3A3A3"/>
    <a:srgbClr val="9D9D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82C3E0-EFE3-4D6B-A4EB-282364353C02}" v="5" dt="2026-05-08T03:41:44.70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157" autoAdjust="0"/>
  </p:normalViewPr>
  <p:slideViewPr>
    <p:cSldViewPr snapToGrid="0">
      <p:cViewPr varScale="1">
        <p:scale>
          <a:sx n="135" d="100"/>
          <a:sy n="135" d="100"/>
        </p:scale>
        <p:origin x="1244" y="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하 현성" userId="545a4ab8-e4ee-4590-b348-fc04c608cfe8" providerId="ADAL" clId="{D7EE3CC3-84C1-417B-9413-2A5A64C9CA42}"/>
    <pc:docChg chg="modSld">
      <pc:chgData name="하 현성" userId="545a4ab8-e4ee-4590-b348-fc04c608cfe8" providerId="ADAL" clId="{D7EE3CC3-84C1-417B-9413-2A5A64C9CA42}" dt="2026-05-08T03:41:44.707" v="4" actId="207"/>
      <pc:docMkLst>
        <pc:docMk/>
      </pc:docMkLst>
      <pc:sldChg chg="modSp mod">
        <pc:chgData name="하 현성" userId="545a4ab8-e4ee-4590-b348-fc04c608cfe8" providerId="ADAL" clId="{D7EE3CC3-84C1-417B-9413-2A5A64C9CA42}" dt="2026-05-08T03:41:39.524" v="3" actId="207"/>
        <pc:sldMkLst>
          <pc:docMk/>
          <pc:sldMk cId="797869273" sldId="261"/>
        </pc:sldMkLst>
        <pc:spChg chg="mod">
          <ac:chgData name="하 현성" userId="545a4ab8-e4ee-4590-b348-fc04c608cfe8" providerId="ADAL" clId="{D7EE3CC3-84C1-417B-9413-2A5A64C9CA42}" dt="2026-05-08T03:41:24.471" v="2" actId="207"/>
          <ac:spMkLst>
            <pc:docMk/>
            <pc:sldMk cId="797869273" sldId="261"/>
            <ac:spMk id="7" creationId="{D7F909FE-EA72-4430-84E5-711DDED494E4}"/>
          </ac:spMkLst>
        </pc:spChg>
        <pc:spChg chg="mod">
          <ac:chgData name="하 현성" userId="545a4ab8-e4ee-4590-b348-fc04c608cfe8" providerId="ADAL" clId="{D7EE3CC3-84C1-417B-9413-2A5A64C9CA42}" dt="2026-05-08T03:41:24.471" v="2" actId="207"/>
          <ac:spMkLst>
            <pc:docMk/>
            <pc:sldMk cId="797869273" sldId="261"/>
            <ac:spMk id="9" creationId="{505D91E8-F199-4B9F-93A0-3A3C6FB4450D}"/>
          </ac:spMkLst>
        </pc:spChg>
        <pc:spChg chg="mod">
          <ac:chgData name="하 현성" userId="545a4ab8-e4ee-4590-b348-fc04c608cfe8" providerId="ADAL" clId="{D7EE3CC3-84C1-417B-9413-2A5A64C9CA42}" dt="2026-05-08T03:41:15.507" v="0" actId="207"/>
          <ac:spMkLst>
            <pc:docMk/>
            <pc:sldMk cId="797869273" sldId="261"/>
            <ac:spMk id="12" creationId="{B4D160E4-B85C-4F6B-992E-79BD9580D8BF}"/>
          </ac:spMkLst>
        </pc:spChg>
        <pc:spChg chg="mod">
          <ac:chgData name="하 현성" userId="545a4ab8-e4ee-4590-b348-fc04c608cfe8" providerId="ADAL" clId="{D7EE3CC3-84C1-417B-9413-2A5A64C9CA42}" dt="2026-05-08T03:41:15.507" v="0" actId="207"/>
          <ac:spMkLst>
            <pc:docMk/>
            <pc:sldMk cId="797869273" sldId="261"/>
            <ac:spMk id="14" creationId="{F3B4D038-5F48-47D0-B924-6182A661C3D2}"/>
          </ac:spMkLst>
        </pc:spChg>
        <pc:spChg chg="mod">
          <ac:chgData name="하 현성" userId="545a4ab8-e4ee-4590-b348-fc04c608cfe8" providerId="ADAL" clId="{D7EE3CC3-84C1-417B-9413-2A5A64C9CA42}" dt="2026-05-08T03:41:15.507" v="0" actId="207"/>
          <ac:spMkLst>
            <pc:docMk/>
            <pc:sldMk cId="797869273" sldId="261"/>
            <ac:spMk id="16" creationId="{A52EA78F-89A1-4DCB-9025-CA3124B9C5C0}"/>
          </ac:spMkLst>
        </pc:spChg>
        <pc:spChg chg="mod">
          <ac:chgData name="하 현성" userId="545a4ab8-e4ee-4590-b348-fc04c608cfe8" providerId="ADAL" clId="{D7EE3CC3-84C1-417B-9413-2A5A64C9CA42}" dt="2026-05-08T03:41:39.524" v="3" actId="207"/>
          <ac:spMkLst>
            <pc:docMk/>
            <pc:sldMk cId="797869273" sldId="261"/>
            <ac:spMk id="19" creationId="{30E731E0-7D1D-4D66-82D2-7CE3BF61D67E}"/>
          </ac:spMkLst>
        </pc:spChg>
        <pc:spChg chg="mod">
          <ac:chgData name="하 현성" userId="545a4ab8-e4ee-4590-b348-fc04c608cfe8" providerId="ADAL" clId="{D7EE3CC3-84C1-417B-9413-2A5A64C9CA42}" dt="2026-05-08T03:41:24.471" v="2" actId="207"/>
          <ac:spMkLst>
            <pc:docMk/>
            <pc:sldMk cId="797869273" sldId="261"/>
            <ac:spMk id="22" creationId="{643DCCE1-B3BE-4827-A6A7-12FF1B638CA9}"/>
          </ac:spMkLst>
        </pc:spChg>
      </pc:sldChg>
      <pc:sldChg chg="modSp mod">
        <pc:chgData name="하 현성" userId="545a4ab8-e4ee-4590-b348-fc04c608cfe8" providerId="ADAL" clId="{D7EE3CC3-84C1-417B-9413-2A5A64C9CA42}" dt="2026-05-08T03:41:44.707" v="4" actId="207"/>
        <pc:sldMkLst>
          <pc:docMk/>
          <pc:sldMk cId="1763201014" sldId="262"/>
        </pc:sldMkLst>
        <pc:spChg chg="mod">
          <ac:chgData name="하 현성" userId="545a4ab8-e4ee-4590-b348-fc04c608cfe8" providerId="ADAL" clId="{D7EE3CC3-84C1-417B-9413-2A5A64C9CA42}" dt="2026-05-08T03:41:44.707" v="4" actId="207"/>
          <ac:spMkLst>
            <pc:docMk/>
            <pc:sldMk cId="1763201014" sldId="262"/>
            <ac:spMk id="11" creationId="{03057C49-52E1-4DD5-95D1-DDEEC5107A29}"/>
          </ac:spMkLst>
        </pc:spChg>
        <pc:spChg chg="mod">
          <ac:chgData name="하 현성" userId="545a4ab8-e4ee-4590-b348-fc04c608cfe8" providerId="ADAL" clId="{D7EE3CC3-84C1-417B-9413-2A5A64C9CA42}" dt="2026-05-08T03:41:44.707" v="4" actId="207"/>
          <ac:spMkLst>
            <pc:docMk/>
            <pc:sldMk cId="1763201014" sldId="262"/>
            <ac:spMk id="17" creationId="{9655BF96-6805-47BC-8A01-845DE1108082}"/>
          </ac:spMkLst>
        </pc:spChg>
      </pc:sldChg>
    </pc:docChg>
  </pc:docChgLst>
  <pc:docChgLst>
    <pc:chgData name="하 현성" userId="545a4ab8-e4ee-4590-b348-fc04c608cfe8" providerId="ADAL" clId="{19A5CB6E-E37B-4EDD-80DF-4815AA54A118}"/>
    <pc:docChg chg="undo custSel modSld">
      <pc:chgData name="하 현성" userId="545a4ab8-e4ee-4590-b348-fc04c608cfe8" providerId="ADAL" clId="{19A5CB6E-E37B-4EDD-80DF-4815AA54A118}" dt="2026-05-08T12:41:53.690" v="108" actId="1076"/>
      <pc:docMkLst>
        <pc:docMk/>
      </pc:docMkLst>
      <pc:sldChg chg="modSp mod">
        <pc:chgData name="하 현성" userId="545a4ab8-e4ee-4590-b348-fc04c608cfe8" providerId="ADAL" clId="{19A5CB6E-E37B-4EDD-80DF-4815AA54A118}" dt="2026-05-08T12:41:53.690" v="108" actId="1076"/>
        <pc:sldMkLst>
          <pc:docMk/>
          <pc:sldMk cId="1423671779" sldId="256"/>
        </pc:sldMkLst>
        <pc:grpChg chg="mod">
          <ac:chgData name="하 현성" userId="545a4ab8-e4ee-4590-b348-fc04c608cfe8" providerId="ADAL" clId="{19A5CB6E-E37B-4EDD-80DF-4815AA54A118}" dt="2026-05-08T12:41:53.690" v="108" actId="1076"/>
          <ac:grpSpMkLst>
            <pc:docMk/>
            <pc:sldMk cId="1423671779" sldId="256"/>
            <ac:grpSpMk id="21" creationId="{EBE95E33-541A-7ECA-DBE6-55DDF3E50930}"/>
          </ac:grpSpMkLst>
        </pc:grpChg>
      </pc:sldChg>
      <pc:sldChg chg="modNotesTx">
        <pc:chgData name="하 현성" userId="545a4ab8-e4ee-4590-b348-fc04c608cfe8" providerId="ADAL" clId="{19A5CB6E-E37B-4EDD-80DF-4815AA54A118}" dt="2026-05-08T11:18:38.379" v="71" actId="20577"/>
        <pc:sldMkLst>
          <pc:docMk/>
          <pc:sldMk cId="1651085585" sldId="257"/>
        </pc:sldMkLst>
      </pc:sldChg>
      <pc:sldChg chg="modNotesTx">
        <pc:chgData name="하 현성" userId="545a4ab8-e4ee-4590-b348-fc04c608cfe8" providerId="ADAL" clId="{19A5CB6E-E37B-4EDD-80DF-4815AA54A118}" dt="2026-05-08T11:28:35.603" v="106" actId="20577"/>
        <pc:sldMkLst>
          <pc:docMk/>
          <pc:sldMk cId="797869273" sldId="26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B455BE-1399-48B6-9FDD-6D8F9FE4BCA3}" type="datetimeFigureOut">
              <a:rPr lang="ko-KR" altLang="en-US" smtClean="0"/>
              <a:t>2026-05-26</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8DF1B-83BF-4DB2-ADDA-54159C83935C}" type="slidenum">
              <a:rPr lang="ko-KR" altLang="en-US" smtClean="0"/>
              <a:t>‹#›</a:t>
            </a:fld>
            <a:endParaRPr lang="ko-KR" altLang="en-US"/>
          </a:p>
        </p:txBody>
      </p:sp>
    </p:spTree>
    <p:extLst>
      <p:ext uri="{BB962C8B-B14F-4D97-AF65-F5344CB8AC3E}">
        <p14:creationId xmlns:p14="http://schemas.microsoft.com/office/powerpoint/2010/main" val="1992069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안녕하세요. 3조 김주헌, 하현성입니다. 저희가 진행 중인 멀티모달 딥러닝 기반 제조 공정 이상 탐지 프로젝트의 중간 진행 상황을 발표드리겠습니다.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a:t>
            </a:fld>
            <a:endParaRPr lang="ko-KR" altLang="en-US"/>
          </a:p>
        </p:txBody>
      </p:sp>
    </p:spTree>
    <p:extLst>
      <p:ext uri="{BB962C8B-B14F-4D97-AF65-F5344CB8AC3E}">
        <p14:creationId xmlns:p14="http://schemas.microsoft.com/office/powerpoint/2010/main" val="69292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프로젝트의 출발점은 저희 팀의 현장 경험입니다. 팀원 전원이 자동화 장비 업계에서 근무하면서 제조 공정에서 딥러닝이 어떻게 활용되는지 직접 접하고 있습니다.</a:t>
            </a:r>
            <a:endParaRPr lang="ko-KR" altLang="en-US" dirty="0"/>
          </a:p>
          <a:p>
            <a:r>
              <a:t>현재 산업 현장의 불량 판정은 대부분 비전 카메라 단독 방식입니다. 그러나 실제로는 조명, 각도, 가려짐 때문에 비전만으로 판단이 어려운 경우가 자주 발생합니다. 반대로 센서 데이터도 노이즈나 고장 때문에 단독으로는 신뢰하기 어려운 경우가 존재합니다.</a:t>
            </a:r>
          </a:p>
          <a:p>
            <a:r>
              <a:t>두 모달리티의 약점이 서로 보완 가능하다는 점에 주목해서, 이미지와 센서를 함께 활용하는 멀티모달 접근이 실제로 어떤 성능 차이를 만드는지 정량적으로 확인하는 것이 본 프로젝트의 핵심 동기입니다.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2</a:t>
            </a:fld>
            <a:endParaRPr lang="ko-KR" altLang="en-US"/>
          </a:p>
        </p:txBody>
      </p:sp>
    </p:spTree>
    <p:extLst>
      <p:ext uri="{BB962C8B-B14F-4D97-AF65-F5344CB8AC3E}">
        <p14:creationId xmlns:p14="http://schemas.microsoft.com/office/powerpoint/2010/main" val="23009327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구체적인 목표는 세 가지 모델을 동일한 데이터와 평가 지표로 비교하는 것입니다.</a:t>
            </a:r>
            <a:endParaRPr lang="ko-KR" altLang="en-US" dirty="0"/>
          </a:p>
          <a:p>
            <a:r>
              <a:t>첫 번째는 BiLSTM(바이 엘에스티엠) 기반 센서 단독 모델로, 22채널 시계열 센서를 입력으로 사용하며 전체 사이클에 적용 가능합니다.</a:t>
            </a:r>
          </a:p>
          <a:p>
            <a:r>
              <a:t>두 번째는 ResNet18(레즈넷 에이틴) 기반 이미지 단독 모델로, Transfer Learning을 적용하며 카메라에 부품이 보이는 Cycle 4·9 구간만 학습합니다.</a:t>
            </a:r>
          </a:p>
          <a:p>
            <a:r>
              <a:t>세 번째는 앞의 두 브랜치를 Decision-Level Fusion으로 결합한 멀티모달 모델입니다.</a:t>
            </a:r>
          </a:p>
          <a:p>
            <a:r>
              <a:t>단일 모달리티 대비 융합 모델이 어떤 보완 효과를 보이는지가 가장 중요한 관찰 포인트입니다.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3</a:t>
            </a:fld>
            <a:endParaRPr lang="ko-KR" altLang="en-US"/>
          </a:p>
        </p:txBody>
      </p:sp>
    </p:spTree>
    <p:extLst>
      <p:ext uri="{BB962C8B-B14F-4D97-AF65-F5344CB8AC3E}">
        <p14:creationId xmlns:p14="http://schemas.microsoft.com/office/powerpoint/2010/main" val="1733243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주요 참고 논문은 IJCAI 2025의 NSF-MAP입니다. 동일한 Future Factories 데이터셋을 사용했고, 단계적 발전 방식이 핵심입니다.</a:t>
            </a:r>
            <a:endParaRPr lang="ko-KR" altLang="en-US" dirty="0"/>
          </a:p>
          <a:p>
            <a:r>
              <a:t>P1 기본 Decision-Level Fusion이 72%, P2에서 Transfer Learning을 더해 88%, P3에서 Process Ontology 기반 Knowledge Infusion으로 93%를 달성합니다.</a:t>
            </a:r>
          </a:p>
          <a:p>
            <a:r>
              <a:t>본 프로젝트는 강의에서 학습한 LSTM·ResNet으로 모델을 재구성하고, 모달리티별 효과 비교 자체에 집중합니다. Knowledge Infusion은 향후 확장 과제로 둡니다.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4</a:t>
            </a:fld>
            <a:endParaRPr lang="ko-KR" altLang="en-US"/>
          </a:p>
        </p:txBody>
      </p:sp>
    </p:spTree>
    <p:extLst>
      <p:ext uri="{BB962C8B-B14F-4D97-AF65-F5344CB8AC3E}">
        <p14:creationId xmlns:p14="http://schemas.microsoft.com/office/powerpoint/2010/main" val="4243134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데이터셋은 사우스캐롤라이나 대학교에서 공개한 Future Factories Lab Dataset입니다. 로봇 4대와 컨베이어로 구성된 실제 조립 라인을 30시간 가동하면서 수집한 데이터로, 16만 개 레코드와 285 사이클이 있습니다.</a:t>
            </a:r>
          </a:p>
          <a:p>
            <a:r>
              <a:t>센서는 40채널 이상이고, 카메라 2대가 동기화 촬영합니다.</a:t>
            </a:r>
          </a:p>
          <a:p>
            <a:r>
              <a:t>라벨 분포를 보시면 Normal이 약 55%로 다수를 차지하고, 소수 클래스가 여러 개 있어서 클래스 불균형이 큰 문제입니다. 저희는 소수 클래스 일부를 병합해 5클래스로 단순화하고, Cycle-wise 분할로 데이터 누출을 방지했습니다.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5</a:t>
            </a:fld>
            <a:endParaRPr lang="ko-KR" altLang="en-US"/>
          </a:p>
        </p:txBody>
      </p:sp>
    </p:spTree>
    <p:extLst>
      <p:ext uri="{BB962C8B-B14F-4D97-AF65-F5344CB8AC3E}">
        <p14:creationId xmlns:p14="http://schemas.microsoft.com/office/powerpoint/2010/main" val="1063792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전체 아키텍처를 흐름도로 정리하면 이렇습니다.</a:t>
            </a:r>
          </a:p>
          <a:p>
            <a:r>
              <a:t>센서 데이터는 22채널 50 스텝 시퀀스로 만들어 BiLSTM에 입력하고, 양방향 hidden state를 합쳐 256차원의 센서 특징 벡터를 얻습니다.</a:t>
            </a:r>
          </a:p>
          <a:p>
            <a:r>
              <a:t>이미지 데이터는 224×224 RGB 이미지로 변환해서 ImageNet 사전학습 ResNet18에 통과시키고 512차원 특징 벡터를 추출합니다. 이때 ResNet18은 사전학습 가중치를 그대로 사용하기 위해 backbone을 동결했습니다.</a:t>
            </a:r>
          </a:p>
          <a:p>
            <a:r>
              <a:t>마지막으로 두 특징을 Concatenate해서 768차원으로 만든 뒤 FC와 Dropout 레이어를 거쳐 5클래스 분류를 수행합니다. 이미지가 없는 시점에는 센서 정보만 활용하도록 마스킹 처리도 적용했습니다.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6</a:t>
            </a:fld>
            <a:endParaRPr lang="ko-KR" altLang="en-US"/>
          </a:p>
        </p:txBody>
      </p:sp>
    </p:spTree>
    <p:extLst>
      <p:ext uri="{BB962C8B-B14F-4D97-AF65-F5344CB8AC3E}">
        <p14:creationId xmlns:p14="http://schemas.microsoft.com/office/powerpoint/2010/main" val="286610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각 모델의 학습 전략은 슬라이드의 카드에 정리했습니다. 세 모델 모두 동일한 5클래스, Cycle-wise 80대 20 분할, 동일한 평가 지표를 사용해서 오로지 모달리티 차이만 비교할 수 있도록 통제했습니다.</a:t>
            </a:r>
          </a:p>
          <a:p>
            <a:r>
              <a:t>이미지와 Fusion 모델은 데이터가 Cycle 4와 9 구간으로 한정되어 더 작은 학습셋을 가진다는 점이 한계입니다.</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7</a:t>
            </a:fld>
            <a:endParaRPr lang="ko-KR" altLang="en-US"/>
          </a:p>
        </p:txBody>
      </p:sp>
    </p:spTree>
    <p:extLst>
      <p:ext uri="{BB962C8B-B14F-4D97-AF65-F5344CB8AC3E}">
        <p14:creationId xmlns:p14="http://schemas.microsoft.com/office/powerpoint/2010/main" val="146341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실행</a:t>
            </a:r>
            <a:r>
              <a:rPr dirty="0"/>
              <a:t> </a:t>
            </a:r>
            <a:r>
              <a:rPr dirty="0" err="1"/>
              <a:t>환경에서</a:t>
            </a:r>
            <a:r>
              <a:rPr dirty="0"/>
              <a:t> </a:t>
            </a:r>
            <a:r>
              <a:rPr dirty="0" err="1"/>
              <a:t>가장</a:t>
            </a:r>
            <a:r>
              <a:rPr dirty="0"/>
              <a:t> 큰 </a:t>
            </a:r>
            <a:r>
              <a:rPr dirty="0" err="1"/>
              <a:t>제약은</a:t>
            </a:r>
            <a:r>
              <a:rPr dirty="0"/>
              <a:t> </a:t>
            </a:r>
            <a:r>
              <a:rPr dirty="0" err="1"/>
              <a:t>데이터</a:t>
            </a:r>
            <a:r>
              <a:rPr dirty="0"/>
              <a:t> </a:t>
            </a:r>
            <a:r>
              <a:rPr dirty="0" err="1"/>
              <a:t>용량이었습니다</a:t>
            </a:r>
            <a:r>
              <a:rPr dirty="0"/>
              <a:t>. </a:t>
            </a:r>
            <a:r>
              <a:rPr dirty="0" err="1"/>
              <a:t>이미지</a:t>
            </a:r>
            <a:r>
              <a:rPr dirty="0"/>
              <a:t> </a:t>
            </a:r>
            <a:r>
              <a:rPr dirty="0" err="1"/>
              <a:t>원본이</a:t>
            </a:r>
            <a:r>
              <a:rPr dirty="0"/>
              <a:t> 6 </a:t>
            </a:r>
            <a:r>
              <a:rPr dirty="0" err="1"/>
              <a:t>파트</a:t>
            </a:r>
            <a:r>
              <a:rPr dirty="0"/>
              <a:t> 580GB로 </a:t>
            </a:r>
            <a:r>
              <a:rPr dirty="0" err="1"/>
              <a:t>로컬</a:t>
            </a:r>
            <a:r>
              <a:rPr dirty="0"/>
              <a:t> PC </a:t>
            </a:r>
            <a:r>
              <a:rPr dirty="0" err="1"/>
              <a:t>다운로드가</a:t>
            </a:r>
            <a:r>
              <a:rPr dirty="0"/>
              <a:t> </a:t>
            </a:r>
            <a:r>
              <a:rPr dirty="0" err="1"/>
              <a:t>사실상</a:t>
            </a:r>
            <a:r>
              <a:rPr dirty="0"/>
              <a:t> </a:t>
            </a:r>
            <a:r>
              <a:rPr dirty="0" err="1"/>
              <a:t>불가능했습니다</a:t>
            </a:r>
            <a:r>
              <a:rPr dirty="0"/>
              <a:t>.</a:t>
            </a:r>
            <a:endParaRPr lang="ko-KR" altLang="en-US" dirty="0"/>
          </a:p>
          <a:p>
            <a:r>
              <a:rPr dirty="0" err="1"/>
              <a:t>또한</a:t>
            </a:r>
            <a:r>
              <a:rPr dirty="0"/>
              <a:t> 3개 </a:t>
            </a:r>
            <a:r>
              <a:rPr dirty="0" err="1"/>
              <a:t>모델을</a:t>
            </a:r>
            <a:r>
              <a:rPr dirty="0"/>
              <a:t> </a:t>
            </a:r>
            <a:r>
              <a:rPr dirty="0" err="1"/>
              <a:t>반복적으로</a:t>
            </a:r>
            <a:r>
              <a:rPr dirty="0"/>
              <a:t> </a:t>
            </a:r>
            <a:r>
              <a:rPr dirty="0" err="1"/>
              <a:t>학습·실험해야</a:t>
            </a:r>
            <a:r>
              <a:rPr dirty="0"/>
              <a:t> </a:t>
            </a:r>
            <a:r>
              <a:rPr dirty="0" err="1"/>
              <a:t>하는</a:t>
            </a:r>
            <a:r>
              <a:rPr dirty="0"/>
              <a:t> </a:t>
            </a:r>
            <a:r>
              <a:rPr dirty="0" err="1"/>
              <a:t>상황에서</a:t>
            </a:r>
            <a:r>
              <a:rPr dirty="0"/>
              <a:t> </a:t>
            </a:r>
            <a:r>
              <a:rPr dirty="0" err="1"/>
              <a:t>로컬</a:t>
            </a:r>
            <a:r>
              <a:rPr dirty="0"/>
              <a:t> </a:t>
            </a:r>
            <a:r>
              <a:rPr dirty="0" err="1"/>
              <a:t>자원을</a:t>
            </a:r>
            <a:r>
              <a:rPr dirty="0"/>
              <a:t> </a:t>
            </a:r>
            <a:r>
              <a:rPr dirty="0" err="1"/>
              <a:t>장시간</a:t>
            </a:r>
            <a:r>
              <a:rPr dirty="0"/>
              <a:t> </a:t>
            </a:r>
            <a:r>
              <a:rPr dirty="0" err="1"/>
              <a:t>점유하는</a:t>
            </a:r>
            <a:r>
              <a:rPr dirty="0"/>
              <a:t> </a:t>
            </a:r>
            <a:r>
              <a:rPr dirty="0" err="1"/>
              <a:t>부담이</a:t>
            </a:r>
            <a:r>
              <a:rPr dirty="0"/>
              <a:t> </a:t>
            </a:r>
            <a:r>
              <a:rPr dirty="0" err="1"/>
              <a:t>컸기</a:t>
            </a:r>
            <a:r>
              <a:rPr dirty="0"/>
              <a:t> </a:t>
            </a:r>
            <a:r>
              <a:rPr dirty="0" err="1"/>
              <a:t>때문에</a:t>
            </a:r>
            <a:r>
              <a:rPr dirty="0"/>
              <a:t>, </a:t>
            </a:r>
            <a:r>
              <a:rPr dirty="0" err="1"/>
              <a:t>빠른</a:t>
            </a:r>
            <a:r>
              <a:rPr dirty="0"/>
              <a:t> </a:t>
            </a:r>
            <a:r>
              <a:rPr dirty="0" err="1"/>
              <a:t>프로토타이핑이</a:t>
            </a:r>
            <a:r>
              <a:rPr dirty="0"/>
              <a:t> </a:t>
            </a:r>
            <a:r>
              <a:rPr dirty="0" err="1"/>
              <a:t>필요했습니다</a:t>
            </a:r>
            <a:r>
              <a:rPr dirty="0"/>
              <a:t>.</a:t>
            </a:r>
          </a:p>
          <a:p>
            <a:r>
              <a:rPr dirty="0"/>
              <a:t>이 </a:t>
            </a:r>
            <a:r>
              <a:rPr dirty="0" err="1"/>
              <a:t>문제를</a:t>
            </a:r>
            <a:r>
              <a:rPr dirty="0"/>
              <a:t> Kaggle </a:t>
            </a:r>
            <a:r>
              <a:rPr dirty="0" err="1"/>
              <a:t>Notebook으로</a:t>
            </a:r>
            <a:r>
              <a:rPr dirty="0"/>
              <a:t> </a:t>
            </a:r>
            <a:r>
              <a:rPr dirty="0" err="1"/>
              <a:t>해결했습니다</a:t>
            </a:r>
            <a:r>
              <a:rPr dirty="0"/>
              <a:t>. Kaggle </a:t>
            </a:r>
            <a:r>
              <a:rPr dirty="0" err="1"/>
              <a:t>서버에</a:t>
            </a:r>
            <a:r>
              <a:rPr dirty="0"/>
              <a:t> </a:t>
            </a:r>
            <a:r>
              <a:rPr dirty="0" err="1"/>
              <a:t>마운트된</a:t>
            </a:r>
            <a:r>
              <a:rPr dirty="0"/>
              <a:t> </a:t>
            </a:r>
            <a:r>
              <a:rPr dirty="0" err="1"/>
              <a:t>원본</a:t>
            </a:r>
            <a:r>
              <a:rPr dirty="0"/>
              <a:t> </a:t>
            </a:r>
            <a:r>
              <a:rPr dirty="0" err="1"/>
              <a:t>데이터를</a:t>
            </a:r>
            <a:r>
              <a:rPr dirty="0"/>
              <a:t> </a:t>
            </a:r>
            <a:r>
              <a:rPr dirty="0" err="1"/>
              <a:t>다운로드</a:t>
            </a:r>
            <a:r>
              <a:rPr dirty="0"/>
              <a:t> </a:t>
            </a:r>
            <a:r>
              <a:rPr dirty="0" err="1"/>
              <a:t>없이</a:t>
            </a:r>
            <a:r>
              <a:rPr dirty="0"/>
              <a:t> </a:t>
            </a:r>
            <a:r>
              <a:rPr dirty="0" err="1"/>
              <a:t>직접</a:t>
            </a:r>
            <a:r>
              <a:rPr dirty="0"/>
              <a:t> </a:t>
            </a:r>
            <a:r>
              <a:rPr dirty="0" err="1"/>
              <a:t>읽고</a:t>
            </a:r>
            <a:r>
              <a:rPr dirty="0"/>
              <a:t>, </a:t>
            </a:r>
            <a:r>
              <a:rPr dirty="0" err="1"/>
              <a:t>무료로</a:t>
            </a:r>
            <a:r>
              <a:rPr dirty="0"/>
              <a:t> </a:t>
            </a:r>
            <a:r>
              <a:rPr dirty="0" err="1"/>
              <a:t>제공되는</a:t>
            </a:r>
            <a:r>
              <a:rPr dirty="0"/>
              <a:t> Tesla T4 </a:t>
            </a:r>
            <a:r>
              <a:rPr dirty="0" err="1"/>
              <a:t>GPU로</a:t>
            </a:r>
            <a:r>
              <a:rPr dirty="0"/>
              <a:t> </a:t>
            </a:r>
            <a:r>
              <a:rPr dirty="0" err="1"/>
              <a:t>실험</a:t>
            </a:r>
            <a:r>
              <a:rPr dirty="0"/>
              <a:t> </a:t>
            </a:r>
            <a:r>
              <a:rPr dirty="0" err="1"/>
              <a:t>사이클을</a:t>
            </a:r>
            <a:r>
              <a:rPr dirty="0"/>
              <a:t> </a:t>
            </a:r>
            <a:r>
              <a:rPr dirty="0" err="1"/>
              <a:t>단축했습니다</a:t>
            </a:r>
            <a:r>
              <a:rPr dirty="0"/>
              <a:t>. </a:t>
            </a:r>
            <a:r>
              <a:rPr dirty="0" err="1"/>
              <a:t>검증된</a:t>
            </a:r>
            <a:r>
              <a:rPr dirty="0"/>
              <a:t> </a:t>
            </a:r>
            <a:r>
              <a:rPr dirty="0" err="1"/>
              <a:t>모델은</a:t>
            </a:r>
            <a:r>
              <a:rPr dirty="0"/>
              <a:t> </a:t>
            </a:r>
            <a:r>
              <a:rPr dirty="0" err="1"/>
              <a:t>추후</a:t>
            </a:r>
            <a:r>
              <a:rPr dirty="0"/>
              <a:t> </a:t>
            </a:r>
            <a:r>
              <a:rPr dirty="0" err="1"/>
              <a:t>로컬에서도</a:t>
            </a:r>
            <a:r>
              <a:rPr dirty="0"/>
              <a:t> 재</a:t>
            </a:r>
            <a:r>
              <a:rPr lang="ko-KR" altLang="en-US" dirty="0"/>
              <a:t>현도 고려 중입니다</a:t>
            </a:r>
            <a:r>
              <a:rPr lang="en-US" altLang="ko-KR" dirty="0"/>
              <a:t>.</a:t>
            </a:r>
            <a:endParaRPr dirty="0"/>
          </a:p>
          <a:p>
            <a:r>
              <a:rPr dirty="0" err="1"/>
              <a:t>다만</a:t>
            </a:r>
            <a:r>
              <a:rPr dirty="0"/>
              <a:t> </a:t>
            </a:r>
            <a:r>
              <a:rPr dirty="0" err="1"/>
              <a:t>이미지는</a:t>
            </a:r>
            <a:r>
              <a:rPr dirty="0"/>
              <a:t> 6 </a:t>
            </a:r>
            <a:r>
              <a:rPr dirty="0" err="1"/>
              <a:t>파트</a:t>
            </a:r>
            <a:r>
              <a:rPr dirty="0"/>
              <a:t> 중 1 </a:t>
            </a:r>
            <a:r>
              <a:rPr dirty="0" err="1"/>
              <a:t>파트만</a:t>
            </a:r>
            <a:r>
              <a:rPr dirty="0"/>
              <a:t> </a:t>
            </a:r>
            <a:r>
              <a:rPr dirty="0" err="1"/>
              <a:t>사용해서</a:t>
            </a:r>
            <a:r>
              <a:rPr dirty="0"/>
              <a:t> 약 9,500장이 </a:t>
            </a:r>
            <a:r>
              <a:rPr dirty="0" err="1"/>
              <a:t>매칭됐는데</a:t>
            </a:r>
            <a:r>
              <a:rPr dirty="0"/>
              <a:t>, </a:t>
            </a:r>
            <a:r>
              <a:rPr dirty="0" err="1"/>
              <a:t>이는</a:t>
            </a:r>
            <a:r>
              <a:rPr dirty="0"/>
              <a:t> NSF-</a:t>
            </a:r>
            <a:r>
              <a:rPr dirty="0" err="1"/>
              <a:t>MAP에서</a:t>
            </a:r>
            <a:r>
              <a:rPr dirty="0"/>
              <a:t> </a:t>
            </a:r>
            <a:r>
              <a:rPr dirty="0" err="1"/>
              <a:t>사용한</a:t>
            </a:r>
            <a:r>
              <a:rPr dirty="0"/>
              <a:t> 약 1.5만 </a:t>
            </a:r>
            <a:r>
              <a:rPr dirty="0" err="1"/>
              <a:t>장과</a:t>
            </a:r>
            <a:r>
              <a:rPr dirty="0"/>
              <a:t> </a:t>
            </a:r>
            <a:r>
              <a:rPr dirty="0" err="1"/>
              <a:t>비교해도</a:t>
            </a:r>
            <a:r>
              <a:rPr dirty="0"/>
              <a:t> </a:t>
            </a:r>
            <a:r>
              <a:rPr dirty="0" err="1"/>
              <a:t>학술적으로</a:t>
            </a:r>
            <a:r>
              <a:rPr dirty="0"/>
              <a:t> </a:t>
            </a:r>
            <a:r>
              <a:rPr dirty="0" err="1"/>
              <a:t>유의미한</a:t>
            </a:r>
            <a:r>
              <a:rPr dirty="0"/>
              <a:t> </a:t>
            </a:r>
            <a:r>
              <a:rPr dirty="0" err="1"/>
              <a:t>규모입니다</a:t>
            </a:r>
            <a:r>
              <a:rPr dirty="0"/>
              <a:t>.</a:t>
            </a:r>
          </a:p>
          <a:p>
            <a:r>
              <a:rPr dirty="0" err="1"/>
              <a:t>추가로</a:t>
            </a:r>
            <a:r>
              <a:rPr dirty="0"/>
              <a:t> Kaggle </a:t>
            </a:r>
            <a:r>
              <a:rPr dirty="0" err="1"/>
              <a:t>세션이</a:t>
            </a:r>
            <a:r>
              <a:rPr dirty="0"/>
              <a:t> idle 시 </a:t>
            </a:r>
            <a:r>
              <a:rPr dirty="0" err="1"/>
              <a:t>자동</a:t>
            </a:r>
            <a:r>
              <a:rPr dirty="0"/>
              <a:t> </a:t>
            </a:r>
            <a:r>
              <a:rPr dirty="0" err="1"/>
              <a:t>종료되는</a:t>
            </a:r>
            <a:r>
              <a:rPr dirty="0"/>
              <a:t> </a:t>
            </a:r>
            <a:r>
              <a:rPr dirty="0" err="1"/>
              <a:t>점을</a:t>
            </a:r>
            <a:r>
              <a:rPr dirty="0"/>
              <a:t> </a:t>
            </a:r>
            <a:r>
              <a:rPr dirty="0" err="1"/>
              <a:t>고려해서</a:t>
            </a:r>
            <a:r>
              <a:rPr dirty="0"/>
              <a:t> Random </a:t>
            </a:r>
            <a:r>
              <a:rPr dirty="0" err="1"/>
              <a:t>Seed를</a:t>
            </a:r>
            <a:r>
              <a:rPr dirty="0"/>
              <a:t> 42로 </a:t>
            </a:r>
            <a:r>
              <a:rPr dirty="0" err="1"/>
              <a:t>고정하고</a:t>
            </a:r>
            <a:r>
              <a:rPr dirty="0"/>
              <a:t>, </a:t>
            </a:r>
            <a:r>
              <a:rPr dirty="0" err="1"/>
              <a:t>학습된</a:t>
            </a:r>
            <a:r>
              <a:rPr dirty="0"/>
              <a:t> </a:t>
            </a:r>
            <a:r>
              <a:rPr dirty="0" err="1"/>
              <a:t>가중치와</a:t>
            </a:r>
            <a:r>
              <a:rPr dirty="0"/>
              <a:t> </a:t>
            </a:r>
            <a:r>
              <a:rPr dirty="0" err="1"/>
              <a:t>결과를</a:t>
            </a:r>
            <a:r>
              <a:rPr dirty="0"/>
              <a:t> Kaggle </a:t>
            </a:r>
            <a:r>
              <a:rPr dirty="0" err="1"/>
              <a:t>Output에</a:t>
            </a:r>
            <a:r>
              <a:rPr dirty="0"/>
              <a:t> </a:t>
            </a:r>
            <a:r>
              <a:rPr dirty="0" err="1"/>
              <a:t>별도</a:t>
            </a:r>
            <a:r>
              <a:rPr dirty="0"/>
              <a:t> </a:t>
            </a:r>
            <a:r>
              <a:rPr dirty="0" err="1"/>
              <a:t>저장해</a:t>
            </a:r>
            <a:r>
              <a:rPr dirty="0"/>
              <a:t> </a:t>
            </a:r>
            <a:r>
              <a:rPr dirty="0" err="1"/>
              <a:t>재현성을</a:t>
            </a:r>
            <a:r>
              <a:rPr dirty="0"/>
              <a:t> </a:t>
            </a:r>
            <a:r>
              <a:rPr dirty="0" err="1"/>
              <a:t>확보했습니다</a:t>
            </a:r>
            <a:r>
              <a:rPr dirty="0"/>
              <a:t>.</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8</a:t>
            </a:fld>
            <a:endParaRPr lang="ko-KR" altLang="en-US"/>
          </a:p>
        </p:txBody>
      </p:sp>
    </p:spTree>
    <p:extLst>
      <p:ext uri="{BB962C8B-B14F-4D97-AF65-F5344CB8AC3E}">
        <p14:creationId xmlns:p14="http://schemas.microsoft.com/office/powerpoint/2010/main" val="1818185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a:t>3개 </a:t>
            </a:r>
            <a:r>
              <a:rPr dirty="0" err="1"/>
              <a:t>모델</a:t>
            </a:r>
            <a:r>
              <a:rPr dirty="0"/>
              <a:t> </a:t>
            </a:r>
            <a:r>
              <a:rPr dirty="0" err="1"/>
              <a:t>학습이</a:t>
            </a:r>
            <a:r>
              <a:rPr dirty="0"/>
              <a:t> </a:t>
            </a:r>
            <a:r>
              <a:rPr dirty="0" err="1"/>
              <a:t>모두</a:t>
            </a:r>
            <a:r>
              <a:rPr dirty="0"/>
              <a:t> </a:t>
            </a:r>
            <a:r>
              <a:rPr dirty="0" err="1"/>
              <a:t>완료되었습니다</a:t>
            </a:r>
            <a:r>
              <a:rPr dirty="0"/>
              <a:t>. </a:t>
            </a:r>
            <a:r>
              <a:rPr dirty="0" err="1"/>
              <a:t>결과를</a:t>
            </a:r>
            <a:r>
              <a:rPr dirty="0"/>
              <a:t> </a:t>
            </a:r>
            <a:r>
              <a:rPr dirty="0" err="1"/>
              <a:t>보시면</a:t>
            </a:r>
            <a:r>
              <a:rPr dirty="0"/>
              <a:t> </a:t>
            </a:r>
            <a:r>
              <a:rPr dirty="0" err="1"/>
              <a:t>센서</a:t>
            </a:r>
            <a:r>
              <a:rPr dirty="0"/>
              <a:t> </a:t>
            </a:r>
            <a:r>
              <a:rPr dirty="0" err="1"/>
              <a:t>단독</a:t>
            </a:r>
            <a:r>
              <a:rPr dirty="0"/>
              <a:t> </a:t>
            </a:r>
            <a:r>
              <a:rPr dirty="0" err="1"/>
              <a:t>BiLSTM</a:t>
            </a:r>
            <a:r>
              <a:rPr dirty="0"/>
              <a:t>(</a:t>
            </a:r>
            <a:r>
              <a:rPr dirty="0" err="1"/>
              <a:t>바이</a:t>
            </a:r>
            <a:r>
              <a:rPr dirty="0"/>
              <a:t> </a:t>
            </a:r>
            <a:r>
              <a:rPr dirty="0" err="1"/>
              <a:t>엘에스티엠</a:t>
            </a:r>
            <a:r>
              <a:rPr dirty="0"/>
              <a:t>)이 Weighted F1 0.927로 </a:t>
            </a:r>
            <a:r>
              <a:rPr dirty="0" err="1"/>
              <a:t>가장</a:t>
            </a:r>
            <a:r>
              <a:rPr dirty="0"/>
              <a:t> </a:t>
            </a:r>
            <a:r>
              <a:rPr dirty="0" err="1"/>
              <a:t>높은</a:t>
            </a:r>
            <a:r>
              <a:rPr dirty="0"/>
              <a:t> </a:t>
            </a:r>
            <a:r>
              <a:rPr dirty="0" err="1"/>
              <a:t>성능을</a:t>
            </a:r>
            <a:r>
              <a:rPr dirty="0"/>
              <a:t> </a:t>
            </a:r>
            <a:r>
              <a:rPr dirty="0" err="1"/>
              <a:t>기록했습니다</a:t>
            </a:r>
            <a:r>
              <a:rPr dirty="0"/>
              <a:t>.</a:t>
            </a:r>
            <a:endParaRPr lang="ko-KR" altLang="en-US" dirty="0"/>
          </a:p>
          <a:p>
            <a:r>
              <a:rPr dirty="0" err="1"/>
              <a:t>이미지</a:t>
            </a:r>
            <a:r>
              <a:rPr dirty="0"/>
              <a:t> </a:t>
            </a:r>
            <a:r>
              <a:rPr dirty="0" err="1"/>
              <a:t>단독</a:t>
            </a:r>
            <a:r>
              <a:rPr dirty="0"/>
              <a:t> ResNet18(</a:t>
            </a:r>
            <a:r>
              <a:rPr dirty="0" err="1"/>
              <a:t>레즈넷</a:t>
            </a:r>
            <a:r>
              <a:rPr dirty="0"/>
              <a:t> </a:t>
            </a:r>
            <a:r>
              <a:rPr dirty="0" err="1"/>
              <a:t>에이틴</a:t>
            </a:r>
            <a:r>
              <a:rPr dirty="0"/>
              <a:t>)은 F1 0.611로 </a:t>
            </a:r>
            <a:r>
              <a:rPr dirty="0" err="1"/>
              <a:t>가장</a:t>
            </a:r>
            <a:r>
              <a:rPr dirty="0"/>
              <a:t> </a:t>
            </a:r>
            <a:r>
              <a:rPr dirty="0" err="1"/>
              <a:t>낮고</a:t>
            </a:r>
            <a:r>
              <a:rPr dirty="0"/>
              <a:t>, </a:t>
            </a:r>
            <a:r>
              <a:rPr dirty="0" err="1"/>
              <a:t>Fusion은</a:t>
            </a:r>
            <a:r>
              <a:rPr dirty="0"/>
              <a:t> F1 0.882로 </a:t>
            </a:r>
            <a:r>
              <a:rPr dirty="0" err="1"/>
              <a:t>중간에</a:t>
            </a:r>
            <a:r>
              <a:rPr dirty="0"/>
              <a:t> </a:t>
            </a:r>
            <a:r>
              <a:rPr dirty="0" err="1"/>
              <a:t>위치합니다</a:t>
            </a:r>
            <a:r>
              <a:rPr dirty="0"/>
              <a:t>. </a:t>
            </a:r>
            <a:r>
              <a:rPr dirty="0" err="1"/>
              <a:t>직관적으로는</a:t>
            </a:r>
            <a:r>
              <a:rPr dirty="0"/>
              <a:t> </a:t>
            </a:r>
            <a:r>
              <a:rPr dirty="0" err="1"/>
              <a:t>Fusion이</a:t>
            </a:r>
            <a:r>
              <a:rPr dirty="0"/>
              <a:t> </a:t>
            </a:r>
            <a:r>
              <a:rPr dirty="0" err="1"/>
              <a:t>가장</a:t>
            </a:r>
            <a:r>
              <a:rPr dirty="0"/>
              <a:t> </a:t>
            </a:r>
            <a:r>
              <a:rPr dirty="0" err="1"/>
              <a:t>좋아야</a:t>
            </a:r>
            <a:r>
              <a:rPr dirty="0"/>
              <a:t> </a:t>
            </a:r>
            <a:r>
              <a:rPr dirty="0" err="1"/>
              <a:t>하는데</a:t>
            </a:r>
            <a:r>
              <a:rPr dirty="0"/>
              <a:t>, </a:t>
            </a:r>
            <a:r>
              <a:rPr dirty="0" err="1"/>
              <a:t>결과가</a:t>
            </a:r>
            <a:r>
              <a:rPr dirty="0"/>
              <a:t> </a:t>
            </a:r>
            <a:r>
              <a:rPr dirty="0" err="1"/>
              <a:t>반대로</a:t>
            </a:r>
            <a:r>
              <a:rPr dirty="0"/>
              <a:t> </a:t>
            </a:r>
            <a:r>
              <a:rPr dirty="0" err="1"/>
              <a:t>나온</a:t>
            </a:r>
            <a:r>
              <a:rPr dirty="0"/>
              <a:t> </a:t>
            </a:r>
            <a:r>
              <a:rPr dirty="0" err="1"/>
              <a:t>이유가</a:t>
            </a:r>
            <a:r>
              <a:rPr dirty="0"/>
              <a:t> </a:t>
            </a:r>
            <a:r>
              <a:rPr dirty="0" err="1"/>
              <a:t>있습니다</a:t>
            </a:r>
            <a:r>
              <a:rPr dirty="0"/>
              <a:t>.</a:t>
            </a:r>
          </a:p>
          <a:p>
            <a:r>
              <a:rPr dirty="0" err="1"/>
              <a:t>이미지</a:t>
            </a:r>
            <a:r>
              <a:rPr dirty="0"/>
              <a:t> </a:t>
            </a:r>
            <a:r>
              <a:rPr dirty="0" err="1"/>
              <a:t>데이터는</a:t>
            </a:r>
            <a:r>
              <a:rPr dirty="0"/>
              <a:t> Cycle 4와 9 </a:t>
            </a:r>
            <a:r>
              <a:rPr dirty="0" err="1"/>
              <a:t>구간</a:t>
            </a:r>
            <a:r>
              <a:rPr dirty="0"/>
              <a:t>, </a:t>
            </a:r>
            <a:r>
              <a:rPr dirty="0" err="1"/>
              <a:t>파트</a:t>
            </a:r>
            <a:r>
              <a:rPr dirty="0"/>
              <a:t> 1만 </a:t>
            </a:r>
            <a:r>
              <a:rPr dirty="0" err="1"/>
              <a:t>사용해서</a:t>
            </a:r>
            <a:r>
              <a:rPr dirty="0"/>
              <a:t> 약 9,500장에 </a:t>
            </a:r>
            <a:r>
              <a:rPr dirty="0" err="1"/>
              <a:t>불과합니다</a:t>
            </a:r>
            <a:r>
              <a:rPr dirty="0"/>
              <a:t>. </a:t>
            </a:r>
            <a:r>
              <a:rPr dirty="0" err="1"/>
              <a:t>반면</a:t>
            </a:r>
            <a:r>
              <a:rPr dirty="0"/>
              <a:t> </a:t>
            </a:r>
            <a:r>
              <a:rPr dirty="0" err="1"/>
              <a:t>센서</a:t>
            </a:r>
            <a:r>
              <a:rPr dirty="0"/>
              <a:t> </a:t>
            </a:r>
            <a:r>
              <a:rPr dirty="0" err="1"/>
              <a:t>데이터는</a:t>
            </a:r>
            <a:r>
              <a:rPr dirty="0"/>
              <a:t> </a:t>
            </a:r>
            <a:r>
              <a:rPr dirty="0" err="1"/>
              <a:t>전체</a:t>
            </a:r>
            <a:r>
              <a:rPr dirty="0"/>
              <a:t> </a:t>
            </a:r>
            <a:r>
              <a:rPr dirty="0" err="1"/>
              <a:t>사이클</a:t>
            </a:r>
            <a:r>
              <a:rPr dirty="0"/>
              <a:t> 12만여 </a:t>
            </a:r>
            <a:r>
              <a:rPr dirty="0" err="1"/>
              <a:t>시퀀스로</a:t>
            </a:r>
            <a:r>
              <a:rPr dirty="0"/>
              <a:t> </a:t>
            </a:r>
            <a:r>
              <a:rPr dirty="0" err="1"/>
              <a:t>훨씬</a:t>
            </a:r>
            <a:r>
              <a:rPr dirty="0"/>
              <a:t> </a:t>
            </a:r>
            <a:r>
              <a:rPr dirty="0" err="1"/>
              <a:t>풍부합니다</a:t>
            </a:r>
            <a:r>
              <a:rPr dirty="0"/>
              <a:t>. 이 </a:t>
            </a:r>
            <a:r>
              <a:rPr dirty="0" err="1"/>
              <a:t>불균형</a:t>
            </a:r>
            <a:r>
              <a:rPr dirty="0"/>
              <a:t> </a:t>
            </a:r>
            <a:r>
              <a:rPr dirty="0" err="1"/>
              <a:t>때문에</a:t>
            </a:r>
            <a:r>
              <a:rPr dirty="0"/>
              <a:t> </a:t>
            </a:r>
            <a:r>
              <a:rPr dirty="0" err="1"/>
              <a:t>Fusion에서</a:t>
            </a:r>
            <a:r>
              <a:rPr dirty="0"/>
              <a:t> </a:t>
            </a:r>
            <a:r>
              <a:rPr dirty="0" err="1"/>
              <a:t>이미지</a:t>
            </a:r>
            <a:r>
              <a:rPr dirty="0"/>
              <a:t> </a:t>
            </a:r>
            <a:r>
              <a:rPr dirty="0" err="1"/>
              <a:t>브랜치가</a:t>
            </a:r>
            <a:r>
              <a:rPr dirty="0"/>
              <a:t> </a:t>
            </a:r>
            <a:r>
              <a:rPr dirty="0" err="1"/>
              <a:t>정보를</a:t>
            </a:r>
            <a:r>
              <a:rPr dirty="0"/>
              <a:t> </a:t>
            </a:r>
            <a:r>
              <a:rPr dirty="0" err="1"/>
              <a:t>더하기보다</a:t>
            </a:r>
            <a:r>
              <a:rPr dirty="0"/>
              <a:t> </a:t>
            </a:r>
            <a:r>
              <a:rPr dirty="0" err="1"/>
              <a:t>노이즈로</a:t>
            </a:r>
            <a:r>
              <a:rPr dirty="0"/>
              <a:t> </a:t>
            </a:r>
            <a:r>
              <a:rPr dirty="0" err="1"/>
              <a:t>작용한</a:t>
            </a:r>
            <a:r>
              <a:rPr dirty="0"/>
              <a:t> </a:t>
            </a:r>
            <a:r>
              <a:rPr dirty="0" err="1"/>
              <a:t>것으로</a:t>
            </a:r>
            <a:r>
              <a:rPr dirty="0"/>
              <a:t> </a:t>
            </a:r>
            <a:r>
              <a:rPr dirty="0" err="1"/>
              <a:t>분석됩니다</a:t>
            </a:r>
            <a:r>
              <a:rPr dirty="0"/>
              <a:t>.</a:t>
            </a:r>
          </a:p>
          <a:p>
            <a:r>
              <a:rPr dirty="0"/>
              <a:t>NSF-MAP </a:t>
            </a:r>
            <a:r>
              <a:rPr dirty="0" err="1"/>
              <a:t>논문도</a:t>
            </a:r>
            <a:r>
              <a:rPr dirty="0"/>
              <a:t> P1 </a:t>
            </a:r>
            <a:r>
              <a:rPr dirty="0" err="1"/>
              <a:t>기본</a:t>
            </a:r>
            <a:r>
              <a:rPr dirty="0"/>
              <a:t> </a:t>
            </a:r>
            <a:r>
              <a:rPr dirty="0" err="1"/>
              <a:t>Fusion이</a:t>
            </a:r>
            <a:r>
              <a:rPr dirty="0"/>
              <a:t> 72%로 </a:t>
            </a:r>
            <a:r>
              <a:rPr dirty="0" err="1"/>
              <a:t>가장</a:t>
            </a:r>
            <a:r>
              <a:rPr dirty="0"/>
              <a:t> </a:t>
            </a:r>
            <a:r>
              <a:rPr dirty="0" err="1"/>
              <a:t>낮았다가</a:t>
            </a:r>
            <a:r>
              <a:rPr dirty="0"/>
              <a:t> Transfer </a:t>
            </a:r>
            <a:r>
              <a:rPr dirty="0" err="1"/>
              <a:t>Learning과</a:t>
            </a:r>
            <a:r>
              <a:rPr dirty="0"/>
              <a:t> Knowledge </a:t>
            </a:r>
            <a:r>
              <a:rPr dirty="0" err="1"/>
              <a:t>Infusion을</a:t>
            </a:r>
            <a:r>
              <a:rPr dirty="0"/>
              <a:t> </a:t>
            </a:r>
            <a:r>
              <a:rPr dirty="0" err="1"/>
              <a:t>추가하면서</a:t>
            </a:r>
            <a:r>
              <a:rPr dirty="0"/>
              <a:t> 93%까지 </a:t>
            </a:r>
            <a:r>
              <a:rPr dirty="0" err="1"/>
              <a:t>올라간</a:t>
            </a:r>
            <a:r>
              <a:rPr dirty="0"/>
              <a:t> </a:t>
            </a:r>
            <a:r>
              <a:rPr dirty="0" err="1"/>
              <a:t>것과</a:t>
            </a:r>
            <a:r>
              <a:rPr dirty="0"/>
              <a:t> </a:t>
            </a:r>
            <a:r>
              <a:rPr dirty="0" err="1"/>
              <a:t>같은</a:t>
            </a:r>
            <a:r>
              <a:rPr dirty="0"/>
              <a:t> </a:t>
            </a:r>
            <a:r>
              <a:rPr dirty="0" err="1"/>
              <a:t>맥락입니다</a:t>
            </a:r>
            <a:r>
              <a:rPr dirty="0"/>
              <a:t>. 즉, </a:t>
            </a:r>
            <a:r>
              <a:rPr dirty="0" err="1"/>
              <a:t>이번</a:t>
            </a:r>
            <a:r>
              <a:rPr dirty="0"/>
              <a:t> </a:t>
            </a:r>
            <a:r>
              <a:rPr dirty="0" err="1"/>
              <a:t>결과</a:t>
            </a:r>
            <a:r>
              <a:rPr dirty="0"/>
              <a:t> </a:t>
            </a:r>
            <a:r>
              <a:rPr dirty="0" err="1"/>
              <a:t>자체가</a:t>
            </a:r>
            <a:r>
              <a:rPr dirty="0"/>
              <a:t> </a:t>
            </a:r>
            <a:r>
              <a:rPr dirty="0" err="1"/>
              <a:t>멀티모달</a:t>
            </a:r>
            <a:r>
              <a:rPr dirty="0"/>
              <a:t> </a:t>
            </a:r>
            <a:r>
              <a:rPr dirty="0" err="1"/>
              <a:t>융합에서</a:t>
            </a:r>
            <a:r>
              <a:rPr dirty="0"/>
              <a:t> </a:t>
            </a:r>
            <a:r>
              <a:rPr dirty="0" err="1"/>
              <a:t>데이터</a:t>
            </a:r>
            <a:r>
              <a:rPr dirty="0"/>
              <a:t> </a:t>
            </a:r>
            <a:r>
              <a:rPr dirty="0" err="1"/>
              <a:t>균형이</a:t>
            </a:r>
            <a:r>
              <a:rPr dirty="0"/>
              <a:t> </a:t>
            </a:r>
            <a:r>
              <a:rPr dirty="0" err="1"/>
              <a:t>얼마나</a:t>
            </a:r>
            <a:r>
              <a:rPr dirty="0"/>
              <a:t> </a:t>
            </a:r>
            <a:r>
              <a:rPr dirty="0" err="1"/>
              <a:t>중요한지를</a:t>
            </a:r>
            <a:r>
              <a:rPr dirty="0"/>
              <a:t> 잘 </a:t>
            </a:r>
            <a:r>
              <a:rPr dirty="0" err="1"/>
              <a:t>보여주는</a:t>
            </a:r>
            <a:r>
              <a:rPr dirty="0"/>
              <a:t> </a:t>
            </a:r>
            <a:r>
              <a:rPr dirty="0" err="1"/>
              <a:t>사례입니다</a:t>
            </a:r>
            <a:r>
              <a:rPr dirty="0"/>
              <a:t>.</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9</a:t>
            </a:fld>
            <a:endParaRPr lang="ko-KR" altLang="en-US"/>
          </a:p>
        </p:txBody>
      </p:sp>
    </p:spTree>
    <p:extLst>
      <p:ext uri="{BB962C8B-B14F-4D97-AF65-F5344CB8AC3E}">
        <p14:creationId xmlns:p14="http://schemas.microsoft.com/office/powerpoint/2010/main" val="3255979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한계의</a:t>
            </a:r>
            <a:r>
              <a:rPr dirty="0"/>
              <a:t> </a:t>
            </a:r>
            <a:r>
              <a:rPr dirty="0" err="1"/>
              <a:t>핵심은</a:t>
            </a:r>
            <a:r>
              <a:rPr dirty="0"/>
              <a:t> </a:t>
            </a:r>
            <a:r>
              <a:rPr dirty="0" err="1"/>
              <a:t>데이터</a:t>
            </a:r>
            <a:r>
              <a:rPr dirty="0"/>
              <a:t> </a:t>
            </a:r>
            <a:r>
              <a:rPr dirty="0" err="1"/>
              <a:t>불균형입니다</a:t>
            </a:r>
            <a:r>
              <a:rPr dirty="0"/>
              <a:t>. </a:t>
            </a:r>
            <a:r>
              <a:rPr dirty="0" err="1"/>
              <a:t>이미지</a:t>
            </a:r>
            <a:r>
              <a:rPr dirty="0"/>
              <a:t> 9,500장 </a:t>
            </a:r>
            <a:r>
              <a:rPr dirty="0" err="1"/>
              <a:t>대비</a:t>
            </a:r>
            <a:r>
              <a:rPr dirty="0"/>
              <a:t> </a:t>
            </a:r>
            <a:r>
              <a:rPr dirty="0" err="1"/>
              <a:t>센서</a:t>
            </a:r>
            <a:r>
              <a:rPr dirty="0"/>
              <a:t> 12만 </a:t>
            </a:r>
            <a:r>
              <a:rPr dirty="0" err="1"/>
              <a:t>시퀀스로</a:t>
            </a:r>
            <a:r>
              <a:rPr dirty="0"/>
              <a:t> </a:t>
            </a:r>
            <a:r>
              <a:rPr dirty="0" err="1"/>
              <a:t>Fusion에서</a:t>
            </a:r>
            <a:r>
              <a:rPr dirty="0"/>
              <a:t> </a:t>
            </a:r>
            <a:r>
              <a:rPr dirty="0" err="1"/>
              <a:t>이미지</a:t>
            </a:r>
            <a:r>
              <a:rPr dirty="0"/>
              <a:t> </a:t>
            </a:r>
            <a:r>
              <a:rPr dirty="0" err="1"/>
              <a:t>브랜치가</a:t>
            </a:r>
            <a:r>
              <a:rPr dirty="0"/>
              <a:t> </a:t>
            </a:r>
            <a:r>
              <a:rPr dirty="0" err="1"/>
              <a:t>노이즈로</a:t>
            </a:r>
            <a:r>
              <a:rPr dirty="0"/>
              <a:t> </a:t>
            </a:r>
            <a:r>
              <a:rPr dirty="0" err="1"/>
              <a:t>작용했</a:t>
            </a:r>
            <a:r>
              <a:rPr lang="ko-KR" altLang="en-US" dirty="0"/>
              <a:t>을</a:t>
            </a:r>
            <a:r>
              <a:rPr lang="en-US" altLang="ko-KR" dirty="0"/>
              <a:t> </a:t>
            </a:r>
            <a:r>
              <a:rPr lang="ko-KR" altLang="en-US" dirty="0"/>
              <a:t>것으로 추측됩니다</a:t>
            </a:r>
            <a:r>
              <a:rPr lang="en-US" altLang="ko-KR" dirty="0"/>
              <a:t>.</a:t>
            </a:r>
            <a:endParaRPr dirty="0"/>
          </a:p>
          <a:p>
            <a:r>
              <a:rPr dirty="0" err="1"/>
              <a:t>개선은</a:t>
            </a:r>
            <a:r>
              <a:rPr dirty="0"/>
              <a:t> 두 </a:t>
            </a:r>
            <a:r>
              <a:rPr dirty="0" err="1"/>
              <a:t>축입니다</a:t>
            </a:r>
            <a:r>
              <a:rPr dirty="0"/>
              <a:t>. </a:t>
            </a:r>
            <a:r>
              <a:rPr dirty="0" err="1"/>
              <a:t>데이터</a:t>
            </a:r>
            <a:r>
              <a:rPr dirty="0"/>
              <a:t> </a:t>
            </a:r>
            <a:r>
              <a:rPr dirty="0" err="1"/>
              <a:t>측면에서는</a:t>
            </a:r>
            <a:r>
              <a:rPr dirty="0"/>
              <a:t> </a:t>
            </a:r>
            <a:r>
              <a:rPr dirty="0" err="1"/>
              <a:t>이미지</a:t>
            </a:r>
            <a:r>
              <a:rPr dirty="0"/>
              <a:t> </a:t>
            </a:r>
            <a:r>
              <a:rPr dirty="0" err="1"/>
              <a:t>파트를</a:t>
            </a:r>
            <a:r>
              <a:rPr dirty="0"/>
              <a:t> 1개에서 2~6개까지 </a:t>
            </a:r>
            <a:r>
              <a:rPr dirty="0" err="1"/>
              <a:t>확장하고</a:t>
            </a:r>
            <a:r>
              <a:rPr dirty="0"/>
              <a:t>, </a:t>
            </a:r>
            <a:r>
              <a:rPr dirty="0" err="1"/>
              <a:t>MixUp</a:t>
            </a:r>
            <a:r>
              <a:rPr dirty="0"/>
              <a:t>(</a:t>
            </a:r>
            <a:r>
              <a:rPr dirty="0" err="1"/>
              <a:t>믹스업</a:t>
            </a:r>
            <a:r>
              <a:rPr dirty="0"/>
              <a:t>)·</a:t>
            </a:r>
            <a:r>
              <a:rPr dirty="0" err="1"/>
              <a:t>CutMix</a:t>
            </a:r>
            <a:r>
              <a:rPr dirty="0"/>
              <a:t>(</a:t>
            </a:r>
            <a:r>
              <a:rPr dirty="0" err="1"/>
              <a:t>컷믹스</a:t>
            </a:r>
            <a:r>
              <a:rPr dirty="0"/>
              <a:t>) 등 </a:t>
            </a:r>
            <a:r>
              <a:rPr dirty="0" err="1"/>
              <a:t>강한</a:t>
            </a:r>
            <a:r>
              <a:rPr dirty="0"/>
              <a:t> Augmentation, </a:t>
            </a:r>
            <a:r>
              <a:rPr dirty="0" err="1"/>
              <a:t>그리고</a:t>
            </a:r>
            <a:r>
              <a:rPr dirty="0"/>
              <a:t> Fusion </a:t>
            </a:r>
            <a:r>
              <a:rPr dirty="0" err="1"/>
              <a:t>학습</a:t>
            </a:r>
            <a:r>
              <a:rPr dirty="0"/>
              <a:t> 시 두 </a:t>
            </a:r>
            <a:r>
              <a:rPr dirty="0" err="1"/>
              <a:t>모달리티</a:t>
            </a:r>
            <a:r>
              <a:rPr dirty="0"/>
              <a:t> </a:t>
            </a:r>
            <a:r>
              <a:rPr dirty="0" err="1"/>
              <a:t>샘플링</a:t>
            </a:r>
            <a:r>
              <a:rPr dirty="0"/>
              <a:t> </a:t>
            </a:r>
            <a:r>
              <a:rPr dirty="0" err="1"/>
              <a:t>비율을</a:t>
            </a:r>
            <a:r>
              <a:rPr dirty="0"/>
              <a:t> </a:t>
            </a:r>
            <a:r>
              <a:rPr dirty="0" err="1"/>
              <a:t>맞추는</a:t>
            </a:r>
            <a:r>
              <a:rPr dirty="0"/>
              <a:t> </a:t>
            </a:r>
            <a:r>
              <a:rPr dirty="0" err="1"/>
              <a:t>전략을</a:t>
            </a:r>
            <a:r>
              <a:rPr dirty="0"/>
              <a:t> </a:t>
            </a:r>
            <a:r>
              <a:rPr dirty="0" err="1"/>
              <a:t>적용할</a:t>
            </a:r>
            <a:r>
              <a:rPr dirty="0"/>
              <a:t> </a:t>
            </a:r>
            <a:r>
              <a:rPr dirty="0" err="1"/>
              <a:t>계획입니다</a:t>
            </a:r>
            <a:r>
              <a:rPr dirty="0"/>
              <a:t>.</a:t>
            </a:r>
          </a:p>
          <a:p>
            <a:r>
              <a:rPr dirty="0" err="1"/>
              <a:t>모델</a:t>
            </a:r>
            <a:r>
              <a:rPr dirty="0"/>
              <a:t> </a:t>
            </a:r>
            <a:r>
              <a:rPr dirty="0" err="1"/>
              <a:t>측면에서</a:t>
            </a:r>
            <a:r>
              <a:rPr dirty="0"/>
              <a:t> </a:t>
            </a:r>
            <a:r>
              <a:rPr dirty="0" err="1"/>
              <a:t>가장</a:t>
            </a:r>
            <a:r>
              <a:rPr dirty="0"/>
              <a:t> </a:t>
            </a:r>
            <a:r>
              <a:rPr dirty="0" err="1"/>
              <a:t>우선순위가</a:t>
            </a:r>
            <a:r>
              <a:rPr dirty="0"/>
              <a:t> </a:t>
            </a:r>
            <a:r>
              <a:rPr dirty="0" err="1"/>
              <a:t>높은</a:t>
            </a:r>
            <a:r>
              <a:rPr dirty="0"/>
              <a:t> 건 </a:t>
            </a:r>
            <a:r>
              <a:rPr dirty="0" err="1"/>
              <a:t>단순</a:t>
            </a:r>
            <a:r>
              <a:rPr dirty="0"/>
              <a:t> </a:t>
            </a:r>
            <a:r>
              <a:rPr dirty="0" err="1"/>
              <a:t>Concat을</a:t>
            </a:r>
            <a:r>
              <a:rPr dirty="0"/>
              <a:t> Cross-</a:t>
            </a:r>
            <a:r>
              <a:rPr dirty="0" err="1"/>
              <a:t>Attention으로</a:t>
            </a:r>
            <a:r>
              <a:rPr dirty="0"/>
              <a:t> </a:t>
            </a:r>
            <a:r>
              <a:rPr dirty="0" err="1"/>
              <a:t>바꾸는</a:t>
            </a:r>
            <a:r>
              <a:rPr dirty="0"/>
              <a:t> </a:t>
            </a:r>
            <a:r>
              <a:rPr dirty="0" err="1"/>
              <a:t>것입니다</a:t>
            </a:r>
            <a:r>
              <a:rPr dirty="0"/>
              <a:t>. </a:t>
            </a:r>
            <a:r>
              <a:rPr dirty="0" err="1"/>
              <a:t>이미지</a:t>
            </a:r>
            <a:r>
              <a:rPr dirty="0"/>
              <a:t> </a:t>
            </a:r>
            <a:r>
              <a:rPr dirty="0" err="1"/>
              <a:t>신뢰도가</a:t>
            </a:r>
            <a:r>
              <a:rPr dirty="0"/>
              <a:t> </a:t>
            </a:r>
            <a:r>
              <a:rPr dirty="0" err="1"/>
              <a:t>낮을</a:t>
            </a:r>
            <a:r>
              <a:rPr dirty="0"/>
              <a:t> 때 </a:t>
            </a:r>
            <a:r>
              <a:rPr dirty="0" err="1"/>
              <a:t>센서에</a:t>
            </a:r>
            <a:r>
              <a:rPr dirty="0"/>
              <a:t> </a:t>
            </a:r>
            <a:r>
              <a:rPr dirty="0" err="1"/>
              <a:t>자동으로</a:t>
            </a:r>
            <a:r>
              <a:rPr dirty="0"/>
              <a:t> </a:t>
            </a:r>
            <a:r>
              <a:rPr dirty="0" err="1"/>
              <a:t>가중치가</a:t>
            </a:r>
            <a:r>
              <a:rPr dirty="0"/>
              <a:t> </a:t>
            </a:r>
            <a:r>
              <a:rPr dirty="0" err="1"/>
              <a:t>실립니다</a:t>
            </a:r>
            <a:r>
              <a:rPr dirty="0"/>
              <a:t>. </a:t>
            </a:r>
            <a:r>
              <a:rPr dirty="0" err="1"/>
              <a:t>추가로</a:t>
            </a:r>
            <a:r>
              <a:rPr dirty="0"/>
              <a:t> ResNet18 </a:t>
            </a:r>
            <a:r>
              <a:rPr dirty="0" err="1"/>
              <a:t>일부</a:t>
            </a:r>
            <a:r>
              <a:rPr dirty="0"/>
              <a:t> </a:t>
            </a:r>
            <a:r>
              <a:rPr dirty="0" err="1"/>
              <a:t>unfreeze는</a:t>
            </a:r>
            <a:r>
              <a:rPr dirty="0"/>
              <a:t> NSF-MAP P2가 72%를 88%로 </a:t>
            </a:r>
            <a:r>
              <a:rPr dirty="0" err="1"/>
              <a:t>끌어올린</a:t>
            </a:r>
            <a:r>
              <a:rPr dirty="0"/>
              <a:t> </a:t>
            </a:r>
            <a:r>
              <a:rPr dirty="0" err="1"/>
              <a:t>방식이고</a:t>
            </a:r>
            <a:r>
              <a:rPr dirty="0"/>
              <a:t>, Knowledge </a:t>
            </a:r>
            <a:r>
              <a:rPr dirty="0" err="1"/>
              <a:t>Infusion은</a:t>
            </a:r>
            <a:r>
              <a:rPr dirty="0"/>
              <a:t> P3가 93% </a:t>
            </a:r>
            <a:r>
              <a:rPr dirty="0" err="1"/>
              <a:t>달성한</a:t>
            </a:r>
            <a:r>
              <a:rPr dirty="0"/>
              <a:t> </a:t>
            </a:r>
            <a:r>
              <a:rPr dirty="0" err="1"/>
              <a:t>핵심</a:t>
            </a:r>
            <a:r>
              <a:rPr dirty="0"/>
              <a:t> </a:t>
            </a:r>
            <a:r>
              <a:rPr dirty="0" err="1"/>
              <a:t>기법입니다</a:t>
            </a:r>
            <a:r>
              <a:rPr dirty="0"/>
              <a:t>.</a:t>
            </a:r>
          </a:p>
          <a:p>
            <a:r>
              <a:rPr dirty="0"/>
              <a:t>이 </a:t>
            </a:r>
            <a:r>
              <a:rPr dirty="0" err="1"/>
              <a:t>개선들을</a:t>
            </a:r>
            <a:r>
              <a:rPr dirty="0"/>
              <a:t> </a:t>
            </a:r>
            <a:r>
              <a:rPr dirty="0" err="1"/>
              <a:t>적용하면</a:t>
            </a:r>
            <a:r>
              <a:rPr dirty="0"/>
              <a:t> </a:t>
            </a:r>
            <a:r>
              <a:rPr dirty="0" err="1"/>
              <a:t>Fusion이</a:t>
            </a:r>
            <a:r>
              <a:rPr dirty="0"/>
              <a:t> </a:t>
            </a:r>
            <a:r>
              <a:rPr dirty="0" err="1"/>
              <a:t>센서</a:t>
            </a:r>
            <a:r>
              <a:rPr dirty="0"/>
              <a:t> </a:t>
            </a:r>
            <a:r>
              <a:rPr dirty="0" err="1"/>
              <a:t>단독을</a:t>
            </a:r>
            <a:r>
              <a:rPr dirty="0"/>
              <a:t> </a:t>
            </a:r>
            <a:r>
              <a:rPr dirty="0" err="1"/>
              <a:t>상회할</a:t>
            </a:r>
            <a:r>
              <a:rPr dirty="0"/>
              <a:t> </a:t>
            </a:r>
            <a:r>
              <a:rPr dirty="0" err="1"/>
              <a:t>것으로</a:t>
            </a:r>
            <a:r>
              <a:rPr dirty="0"/>
              <a:t> </a:t>
            </a:r>
            <a:r>
              <a:rPr dirty="0" err="1"/>
              <a:t>기대합니다</a:t>
            </a:r>
            <a:r>
              <a:rPr dirty="0"/>
              <a:t>.</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10</a:t>
            </a:fld>
            <a:endParaRPr lang="ko-KR" altLang="en-US"/>
          </a:p>
        </p:txBody>
      </p:sp>
    </p:spTree>
    <p:extLst>
      <p:ext uri="{BB962C8B-B14F-4D97-AF65-F5344CB8AC3E}">
        <p14:creationId xmlns:p14="http://schemas.microsoft.com/office/powerpoint/2010/main" val="8637029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dirty="0" err="1"/>
              <a:t>스케줄은</a:t>
            </a:r>
            <a:r>
              <a:rPr dirty="0"/>
              <a:t> 1-</a:t>
            </a:r>
            <a:r>
              <a:rPr lang="en-US" dirty="0"/>
              <a:t>2</a:t>
            </a:r>
            <a:r>
              <a:rPr dirty="0"/>
              <a:t>주차 </a:t>
            </a:r>
            <a:r>
              <a:rPr dirty="0" err="1"/>
              <a:t>데이터</a:t>
            </a:r>
            <a:r>
              <a:rPr dirty="0"/>
              <a:t> </a:t>
            </a:r>
            <a:r>
              <a:rPr dirty="0" err="1"/>
              <a:t>확보와</a:t>
            </a:r>
            <a:r>
              <a:rPr dirty="0"/>
              <a:t> </a:t>
            </a:r>
            <a:r>
              <a:rPr dirty="0" err="1"/>
              <a:t>모델</a:t>
            </a:r>
            <a:r>
              <a:rPr dirty="0"/>
              <a:t> </a:t>
            </a:r>
            <a:r>
              <a:rPr dirty="0" err="1"/>
              <a:t>구현</a:t>
            </a:r>
            <a:r>
              <a:rPr dirty="0"/>
              <a:t>, </a:t>
            </a:r>
            <a:r>
              <a:rPr lang="en-US" dirty="0"/>
              <a:t>3</a:t>
            </a:r>
            <a:r>
              <a:rPr dirty="0"/>
              <a:t>-</a:t>
            </a:r>
            <a:r>
              <a:rPr lang="en-US" dirty="0"/>
              <a:t>4</a:t>
            </a:r>
            <a:r>
              <a:rPr dirty="0"/>
              <a:t>주차에 3개 </a:t>
            </a:r>
            <a:r>
              <a:rPr dirty="0" err="1"/>
              <a:t>모델</a:t>
            </a:r>
            <a:r>
              <a:rPr dirty="0"/>
              <a:t> </a:t>
            </a:r>
            <a:r>
              <a:rPr dirty="0" err="1"/>
              <a:t>학습과</a:t>
            </a:r>
            <a:r>
              <a:rPr dirty="0"/>
              <a:t> </a:t>
            </a:r>
            <a:r>
              <a:rPr dirty="0" err="1"/>
              <a:t>비교</a:t>
            </a:r>
            <a:r>
              <a:rPr dirty="0"/>
              <a:t> </a:t>
            </a:r>
            <a:r>
              <a:rPr dirty="0" err="1"/>
              <a:t>분석까지</a:t>
            </a:r>
            <a:r>
              <a:rPr dirty="0"/>
              <a:t> </a:t>
            </a:r>
            <a:r>
              <a:rPr lang="ko-KR" altLang="en-US" dirty="0"/>
              <a:t>진행</a:t>
            </a:r>
            <a:r>
              <a:rPr dirty="0" err="1"/>
              <a:t>했습니다</a:t>
            </a:r>
            <a:r>
              <a:rPr dirty="0"/>
              <a:t>. </a:t>
            </a:r>
            <a:r>
              <a:rPr dirty="0" err="1"/>
              <a:t>남은</a:t>
            </a:r>
            <a:r>
              <a:rPr dirty="0"/>
              <a:t> </a:t>
            </a:r>
            <a:r>
              <a:rPr lang="en-US" dirty="0"/>
              <a:t>5-6</a:t>
            </a:r>
            <a:r>
              <a:rPr dirty="0"/>
              <a:t>주차는 </a:t>
            </a:r>
            <a:r>
              <a:rPr dirty="0" err="1"/>
              <a:t>추가</a:t>
            </a:r>
            <a:r>
              <a:rPr dirty="0"/>
              <a:t> </a:t>
            </a:r>
            <a:r>
              <a:rPr dirty="0" err="1"/>
              <a:t>개선</a:t>
            </a:r>
            <a:r>
              <a:rPr dirty="0"/>
              <a:t> </a:t>
            </a:r>
            <a:r>
              <a:rPr dirty="0" err="1"/>
              <a:t>실험과</a:t>
            </a:r>
            <a:r>
              <a:rPr dirty="0"/>
              <a:t> </a:t>
            </a:r>
            <a:r>
              <a:rPr dirty="0" err="1"/>
              <a:t>최종</a:t>
            </a:r>
            <a:r>
              <a:rPr dirty="0"/>
              <a:t> </a:t>
            </a:r>
            <a:r>
              <a:rPr dirty="0" err="1"/>
              <a:t>보고서</a:t>
            </a:r>
            <a:r>
              <a:rPr dirty="0"/>
              <a:t> </a:t>
            </a:r>
            <a:r>
              <a:rPr dirty="0" err="1"/>
              <a:t>작성입니다</a:t>
            </a:r>
            <a:r>
              <a:rPr dirty="0"/>
              <a:t>.</a:t>
            </a:r>
          </a:p>
          <a:p>
            <a:r>
              <a:rPr dirty="0" err="1"/>
              <a:t>역할은 하현성이 멀티모달 융합 아키텍처와 센서 브랜치, Kaggle 환경 구축을, 김주헌이 이미지 브랜치와 데이터 탐색 및 라벨 정리, 평가 시각화를 담당했습니다. Fusion 통합과 비교 분석, 보고서 작성은 공동 수행입니다.</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lang="en-US" dirty="0" err="1"/>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r>
              <a:rPr dirty="0" err="1"/>
              <a:t/>
            </a:r>
            <a:r>
              <a:rPr dirty="0"/>
              <a:t/>
            </a:r>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11</a:t>
            </a:fld>
            <a:endParaRPr lang="ko-KR" altLang="en-US"/>
          </a:p>
        </p:txBody>
      </p:sp>
    </p:spTree>
    <p:extLst>
      <p:ext uri="{BB962C8B-B14F-4D97-AF65-F5344CB8AC3E}">
        <p14:creationId xmlns:p14="http://schemas.microsoft.com/office/powerpoint/2010/main" val="9509602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이상입니다. 질문 받겠습니다. 감사합니다.</a:t>
            </a:r>
            <a:endParaRPr lang="ko-KR" altLang="en-US" dirty="0"/>
          </a:p>
        </p:txBody>
      </p:sp>
      <p:sp>
        <p:nvSpPr>
          <p:cNvPr id="4" name="슬라이드 번호 개체 틀 3"/>
          <p:cNvSpPr>
            <a:spLocks noGrp="1"/>
          </p:cNvSpPr>
          <p:nvPr>
            <p:ph type="sldNum" sz="quarter" idx="5"/>
          </p:nvPr>
        </p:nvSpPr>
        <p:spPr/>
        <p:txBody>
          <a:bodyPr/>
          <a:lstStyle/>
          <a:p>
            <a:fld id="{F498DF1B-83BF-4DB2-ADDA-54159C83935C}" type="slidenum">
              <a:rPr lang="ko-KR" altLang="en-US" smtClean="0"/>
              <a:t>12</a:t>
            </a:fld>
            <a:endParaRPr lang="ko-KR" altLang="en-US"/>
          </a:p>
        </p:txBody>
      </p:sp>
    </p:spTree>
    <p:extLst>
      <p:ext uri="{BB962C8B-B14F-4D97-AF65-F5344CB8AC3E}">
        <p14:creationId xmlns:p14="http://schemas.microsoft.com/office/powerpoint/2010/main" val="694539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08931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09169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4270793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ko-KR" altLang="en-US"/>
              <a:t>마스터 제목 스타일 편집</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7" name="Date Placeholder 6"/>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877284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889147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828576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3195828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2637784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ko-KR" altLang="en-US"/>
              <a:t>마스터 제목 스타일 편집</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10"/>
          </p:nvPr>
        </p:nvSpPr>
        <p:spPr/>
        <p:txBody>
          <a:bodyPr/>
          <a:lstStyle/>
          <a:p>
            <a:fld id="{3E3DD42A-90C7-487F-8239-3BC9C7AE3FA4}" type="datetimeFigureOut">
              <a:rPr lang="ko-KR" altLang="en-US" smtClean="0"/>
              <a:t>2026-05-26</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D469D645-73ED-4348-97C8-7DB3ADE2B2C4}" type="slidenum">
              <a:rPr lang="ko-KR" altLang="en-US" smtClean="0"/>
              <a:t>‹#›</a:t>
            </a:fld>
            <a:endParaRPr lang="ko-KR" altLang="en-US"/>
          </a:p>
        </p:txBody>
      </p:sp>
    </p:spTree>
    <p:extLst>
      <p:ext uri="{BB962C8B-B14F-4D97-AF65-F5344CB8AC3E}">
        <p14:creationId xmlns:p14="http://schemas.microsoft.com/office/powerpoint/2010/main" val="14430127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3DD42A-90C7-487F-8239-3BC9C7AE3FA4}" type="datetimeFigureOut">
              <a:rPr lang="ko-KR" altLang="en-US" smtClean="0"/>
              <a:t>2026-05-26</a:t>
            </a:fld>
            <a:endParaRPr lang="ko-KR"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69D645-73ED-4348-97C8-7DB3ADE2B2C4}" type="slidenum">
              <a:rPr lang="ko-KR" altLang="en-US" smtClean="0"/>
              <a:t>‹#›</a:t>
            </a:fld>
            <a:endParaRPr lang="ko-KR" altLang="en-US"/>
          </a:p>
        </p:txBody>
      </p:sp>
      <p:sp>
        <p:nvSpPr>
          <p:cNvPr id="200" name="BottomBar"/>
          <p:cNvSpPr/>
          <p:nvPr/>
        </p:nvSpPr>
        <p:spPr>
          <a:xfrm>
            <a:off x="0" y="6705600"/>
            <a:ext cx="12192000" cy="152400"/>
          </a:xfrm>
          <a:prstGeom prst="rect">
            <a:avLst/>
          </a:prstGeom>
          <a:gradFill>
            <a:gsLst>
              <a:gs pos="0">
                <a:srgbClr val="2676AC"/>
              </a:gs>
              <a:gs pos="35000">
                <a:srgbClr val="16A295"/>
              </a:gs>
              <a:gs pos="65000">
                <a:srgbClr val="93B64E"/>
              </a:gs>
              <a:gs pos="100000">
                <a:srgbClr val="AE729E"/>
              </a:gs>
            </a:gsLst>
            <a:lin ang="0" scaled="1"/>
          </a:gradFill>
          <a:ln>
            <a:noFill/>
          </a:ln>
        </p:spPr>
        <p:txBody>
          <a:bodyPr/>
          <a:lstStyle/>
          <a:p>
            <a:endParaRPr lang="ko-KR"/>
          </a:p>
        </p:txBody>
      </p:sp>
    </p:spTree>
    <p:extLst>
      <p:ext uri="{BB962C8B-B14F-4D97-AF65-F5344CB8AC3E}">
        <p14:creationId xmlns:p14="http://schemas.microsoft.com/office/powerpoint/2010/main" val="15577208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9" r:id="rId6"/>
    <p:sldLayoutId id="2147483770" r:id="rId7"/>
    <p:sldLayoutId id="2147483771" r:id="rId8"/>
    <p:sldLayoutId id="2147483772" r:id="rId9"/>
  </p:sldLayoutIdLst>
  <p:txStyles>
    <p:titleStyle>
      <a:lvl1pPr algn="l" defTabSz="914400" rtl="0" eaLnBrk="1" latinLnBrk="1" hangingPunct="1">
        <a:lnSpc>
          <a:spcPct val="90000"/>
        </a:lnSpc>
        <a:spcBef>
          <a:spcPct val="0"/>
        </a:spcBef>
        <a:buNone/>
        <a:defRPr sz="4400" kern="1200">
          <a:solidFill>
            <a:srgbClr val="1B2A4A"/>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rgbClr val="333333"/>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rgbClr val="333333"/>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rgbClr val="333333"/>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rgbClr val="333333"/>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2C759EB-AE6E-48F6-AB6F-B6041826839F}"/>
              </a:ext>
            </a:extLst>
          </p:cNvPr>
          <p:cNvSpPr/>
          <p:nvPr/>
        </p:nvSpPr>
        <p:spPr>
          <a:xfrm>
            <a:off x="0" y="0"/>
            <a:ext cx="12192000" cy="101600"/>
          </a:xfrm>
          <a:prstGeom prst="rect">
            <a:avLst/>
          </a:prstGeom>
          <a:solidFill>
            <a:srgbClr val="267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grpSp>
        <p:nvGrpSpPr>
          <p:cNvPr id="21" name="그룹 20">
            <a:extLst>
              <a:ext uri="{FF2B5EF4-FFF2-40B4-BE49-F238E27FC236}">
                <a16:creationId xmlns:a16="http://schemas.microsoft.com/office/drawing/2014/main" id="{EBE95E33-541A-7ECA-DBE6-55DDF3E50930}"/>
              </a:ext>
            </a:extLst>
          </p:cNvPr>
          <p:cNvGrpSpPr/>
          <p:nvPr/>
        </p:nvGrpSpPr>
        <p:grpSpPr>
          <a:xfrm>
            <a:off x="2390454" y="2485334"/>
            <a:ext cx="7411092" cy="1887331"/>
            <a:chOff x="1250023" y="1632449"/>
            <a:chExt cx="7411092" cy="1887331"/>
          </a:xfrm>
        </p:grpSpPr>
        <p:sp>
          <p:nvSpPr>
            <p:cNvPr id="4" name="TextBox 3">
              <a:extLst>
                <a:ext uri="{FF2B5EF4-FFF2-40B4-BE49-F238E27FC236}">
                  <a16:creationId xmlns:a16="http://schemas.microsoft.com/office/drawing/2014/main" id="{3C0DAF61-DDE0-4C67-A740-1F6B1CD7178B}"/>
                </a:ext>
              </a:extLst>
            </p:cNvPr>
            <p:cNvSpPr txBox="1"/>
            <p:nvPr/>
          </p:nvSpPr>
          <p:spPr>
            <a:xfrm>
              <a:off x="1250023" y="1632449"/>
              <a:ext cx="7411092" cy="542507"/>
            </a:xfrm>
            <a:prstGeom prst="rect">
              <a:avLst/>
            </a:prstGeom>
            <a:noFill/>
          </p:spPr>
          <p:txBody>
            <a:bodyPr vertOverflow="overflow" vert="horz" wrap="square" rtlCol="0" anchor="ctr">
              <a:noAutofit/>
            </a:bodyPr>
            <a:lstStyle/>
            <a:p>
              <a:pPr algn="l"/>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멀티모달</a:t>
              </a:r>
              <a:r>
                <a:rPr lang="en-US" altLang="ko-KR"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딥러닝</a:t>
              </a:r>
              <a:r>
                <a:rPr lang="en-US" altLang="ko-KR"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2700" b="1" dirty="0" err="1">
                  <a:solidFill>
                    <a:srgbClr val="1B2A4A"/>
                  </a:solidFill>
                  <a:latin typeface="나눔고딕" panose="020D0604000000000000" pitchFamily="50" charset="-127"/>
                  <a:ea typeface="나눔고딕" panose="020D0604000000000000" pitchFamily="50" charset="-127"/>
                  <a:cs typeface="Arial" panose="020B0604020202020204" pitchFamily="34" charset="0"/>
                </a:rPr>
                <a:t>기반</a:t>
              </a:r>
              <a:r>
                <a:rPr lang="ko-KR" altLang="en-US" sz="2700" b="1" dirty="0">
                  <a:solidFill>
                    <a:srgbClr val="1B2A4A"/>
                  </a:solidFill>
                  <a:latin typeface="나눔고딕" panose="020D0604000000000000" pitchFamily="50" charset="-127"/>
                  <a:ea typeface="나눔고딕" panose="020D0604000000000000" pitchFamily="50" charset="-127"/>
                  <a:cs typeface="Arial" panose="020B0604020202020204" pitchFamily="34" charset="0"/>
                </a:rPr>
                <a:t> </a:t>
              </a:r>
              <a:r>
                <a:rPr sz="2700" b="1" dirty="0" err="1"/>
                <a:t>제조</a:t>
              </a:r>
              <a:r>
                <a:rPr sz="2700" b="1" dirty="0"/>
                <a:t> </a:t>
              </a:r>
              <a:r>
                <a:rPr sz="2700" b="1" dirty="0" err="1"/>
                <a:t>공정</a:t>
              </a:r>
              <a:r>
                <a:rPr sz="2700" b="1" dirty="0"/>
                <a:t> </a:t>
              </a:r>
              <a:r>
                <a:rPr sz="2700" b="1" dirty="0" err="1"/>
                <a:t>이상</a:t>
              </a:r>
              <a:r>
                <a:rPr sz="2700" b="1" dirty="0"/>
                <a:t> </a:t>
              </a:r>
              <a:r>
                <a:rPr sz="2700" b="1" dirty="0" err="1"/>
                <a:t>탐지</a:t>
              </a:r>
              <a:endParaRPr sz="2700" b="1" dirty="0"/>
            </a:p>
          </p:txBody>
        </p:sp>
        <p:sp>
          <p:nvSpPr>
            <p:cNvPr id="6" name="TextBox 5">
              <a:extLst>
                <a:ext uri="{FF2B5EF4-FFF2-40B4-BE49-F238E27FC236}">
                  <a16:creationId xmlns:a16="http://schemas.microsoft.com/office/drawing/2014/main" id="{FF4E0AD3-7E47-44C0-A762-E4DB795E0B7E}"/>
                </a:ext>
              </a:extLst>
            </p:cNvPr>
            <p:cNvSpPr txBox="1"/>
            <p:nvPr/>
          </p:nvSpPr>
          <p:spPr>
            <a:xfrm>
              <a:off x="1250023" y="2150106"/>
              <a:ext cx="6971016" cy="324674"/>
            </a:xfrm>
            <a:prstGeom prst="rect">
              <a:avLst/>
            </a:prstGeom>
            <a:noFill/>
          </p:spPr>
          <p:txBody>
            <a:bodyPr vertOverflow="overflow" vert="horz" wrap="square" rtlCol="0" anchor="ctr">
              <a:noAutofit/>
            </a:bodyPr>
            <a:lstStyle/>
            <a:p>
              <a:pPr algn="l"/>
              <a:r>
                <a:rPr lang="en-US" altLang="ko-KR" sz="1400" dirty="0" err="1">
                  <a:solidFill>
                    <a:srgbClr val="555555"/>
                  </a:solidFill>
                  <a:latin typeface="나눔고딕" pitchFamily="2" charset="-127"/>
                  <a:ea typeface="나눔고딕" pitchFamily="2" charset="-127"/>
                  <a:cs typeface="Arial" panose="020B0604020202020204" pitchFamily="34" charset="0"/>
                </a:rPr>
                <a:t>이미지와</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시계열</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센서</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데이터를</a:t>
              </a:r>
              <a:r>
                <a:rPr lang="en-US" altLang="ko-KR" sz="1400" dirty="0">
                  <a:solidFill>
                    <a:srgbClr val="555555"/>
                  </a:solidFill>
                  <a:latin typeface="나눔고딕" pitchFamily="2" charset="-127"/>
                  <a:ea typeface="나눔고딕" pitchFamily="2" charset="-127"/>
                  <a:cs typeface="Arial" panose="020B0604020202020204" pitchFamily="34" charset="0"/>
                </a:rPr>
                <a:t> </a:t>
              </a:r>
              <a:r>
                <a:rPr lang="en-US" altLang="ko-KR" sz="1400" dirty="0" err="1">
                  <a:solidFill>
                    <a:srgbClr val="555555"/>
                  </a:solidFill>
                  <a:latin typeface="나눔고딕" pitchFamily="2" charset="-127"/>
                  <a:ea typeface="나눔고딕" pitchFamily="2" charset="-127"/>
                  <a:cs typeface="Arial" panose="020B0604020202020204" pitchFamily="34" charset="0"/>
                </a:rPr>
                <a:t>활용한</a:t>
              </a:r>
              <a:r>
                <a:rPr lang="ko-KR" altLang="en-US" sz="1400" dirty="0">
                  <a:solidFill>
                    <a:srgbClr val="555555"/>
                  </a:solidFill>
                  <a:latin typeface="나눔고딕" pitchFamily="2" charset="-127"/>
                  <a:ea typeface="나눔고딕" pitchFamily="2" charset="-127"/>
                  <a:cs typeface="Arial" panose="020B0604020202020204" pitchFamily="34" charset="0"/>
                </a:rPr>
                <a:t> </a:t>
              </a:r>
              <a:r>
                <a:rPr sz="1400" dirty="0" err="1">
                  <a:solidFill>
                    <a:srgbClr val="555555"/>
                  </a:solidFill>
                  <a:latin typeface="나눔고딕" pitchFamily="2" charset="-127"/>
                  <a:ea typeface="나눔고딕" pitchFamily="2" charset="-127"/>
                </a:rPr>
                <a:t>단일</a:t>
              </a:r>
              <a:r>
                <a:rPr sz="1400" dirty="0">
                  <a:solidFill>
                    <a:srgbClr val="555555"/>
                  </a:solidFill>
                  <a:latin typeface="나눔고딕" pitchFamily="2" charset="-127"/>
                  <a:ea typeface="나눔고딕" pitchFamily="2" charset="-127"/>
                </a:rPr>
                <a:t> vs </a:t>
              </a:r>
              <a:r>
                <a:rPr sz="1400" dirty="0" err="1">
                  <a:solidFill>
                    <a:srgbClr val="555555"/>
                  </a:solidFill>
                  <a:latin typeface="나눔고딕" pitchFamily="2" charset="-127"/>
                  <a:ea typeface="나눔고딕" pitchFamily="2" charset="-127"/>
                </a:rPr>
                <a:t>멀티모달</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모델</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비교</a:t>
              </a:r>
              <a:r>
                <a:rPr sz="1400" dirty="0">
                  <a:solidFill>
                    <a:srgbClr val="555555"/>
                  </a:solidFill>
                  <a:latin typeface="나눔고딕" pitchFamily="2" charset="-127"/>
                  <a:ea typeface="나눔고딕" pitchFamily="2" charset="-127"/>
                </a:rPr>
                <a:t> </a:t>
              </a:r>
              <a:r>
                <a:rPr sz="1400" dirty="0" err="1">
                  <a:solidFill>
                    <a:srgbClr val="555555"/>
                  </a:solidFill>
                  <a:latin typeface="나눔고딕" pitchFamily="2" charset="-127"/>
                  <a:ea typeface="나눔고딕" pitchFamily="2" charset="-127"/>
                </a:rPr>
                <a:t>실험</a:t>
              </a:r>
              <a:endParaRPr sz="1400" dirty="0">
                <a:solidFill>
                  <a:srgbClr val="555555"/>
                </a:solidFill>
                <a:latin typeface="나눔고딕" pitchFamily="2" charset="-127"/>
                <a:ea typeface="나눔고딕" pitchFamily="2" charset="-127"/>
              </a:endParaRPr>
            </a:p>
          </p:txBody>
        </p:sp>
        <p:sp>
          <p:nvSpPr>
            <p:cNvPr id="7" name="TextBox 6">
              <a:extLst>
                <a:ext uri="{FF2B5EF4-FFF2-40B4-BE49-F238E27FC236}">
                  <a16:creationId xmlns:a16="http://schemas.microsoft.com/office/drawing/2014/main" id="{2E156A38-9E34-40E2-BAAB-0D515E2FAD93}"/>
                </a:ext>
              </a:extLst>
            </p:cNvPr>
            <p:cNvSpPr txBox="1"/>
            <p:nvPr/>
          </p:nvSpPr>
          <p:spPr>
            <a:xfrm>
              <a:off x="1250023" y="2782630"/>
              <a:ext cx="7298076" cy="381000"/>
            </a:xfrm>
            <a:prstGeom prst="rect">
              <a:avLst/>
            </a:prstGeom>
            <a:noFill/>
          </p:spPr>
          <p:txBody>
            <a:bodyPr vertOverflow="overflow" vert="horz" wrap="square" rtlCol="0" anchor="ctr">
              <a:noAutofit/>
            </a:bodyPr>
            <a:lstStyle/>
            <a:p>
              <a:pPr algn="l"/>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아주대학교</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딥러닝응용</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기말</a:t>
              </a:r>
              <a:r>
                <a:rPr lang="en-US" altLang="ko-KR"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1400" dirty="0" err="1">
                  <a:solidFill>
                    <a:srgbClr val="2676AC"/>
                  </a:solidFill>
                  <a:latin typeface="나눔고딕" panose="020D0604000000000000" pitchFamily="50" charset="-127"/>
                  <a:ea typeface="나눔고딕" panose="020D0604000000000000" pitchFamily="50" charset="-127"/>
                  <a:cs typeface="Arial" panose="020B0604020202020204" pitchFamily="34" charset="0"/>
                </a:rPr>
                <a:t>프로젝트</a:t>
              </a:r>
              <a:endParaRPr lang="ko-KR" altLang="en-US" sz="1400" dirty="0">
                <a:solidFill>
                  <a:srgbClr val="2676AC"/>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9" name="TextBox 8">
              <a:extLst>
                <a:ext uri="{FF2B5EF4-FFF2-40B4-BE49-F238E27FC236}">
                  <a16:creationId xmlns:a16="http://schemas.microsoft.com/office/drawing/2014/main" id="{23E903E7-1FBD-4E21-BB75-28CCF49C4405}"/>
                </a:ext>
              </a:extLst>
            </p:cNvPr>
            <p:cNvSpPr txBox="1"/>
            <p:nvPr/>
          </p:nvSpPr>
          <p:spPr>
            <a:xfrm>
              <a:off x="1250023" y="3138780"/>
              <a:ext cx="2099353" cy="381000"/>
            </a:xfrm>
            <a:prstGeom prst="rect">
              <a:avLst/>
            </a:prstGeom>
            <a:noFill/>
          </p:spPr>
          <p:txBody>
            <a:bodyPr vertOverflow="overflow" vert="horz" wrap="square" rtlCol="0" anchor="ctr">
              <a:noAutofit/>
            </a:bodyPr>
            <a:lstStyle/>
            <a:p>
              <a:r>
                <a:rPr lang="en-US" altLang="ko-KR" sz="1400" dirty="0">
                  <a:solidFill>
                    <a:srgbClr val="777777"/>
                  </a:solidFill>
                  <a:latin typeface="나눔고딕" panose="020D0604000000000000" pitchFamily="50" charset="-127"/>
                  <a:ea typeface="나눔고딕" panose="020D0604000000000000" pitchFamily="50" charset="-127"/>
                  <a:cs typeface="Arial" panose="020B0604020202020204" pitchFamily="34" charset="0"/>
                </a:rPr>
                <a:t>[3조] </a:t>
              </a:r>
              <a:r>
                <a:rPr lang="en-US" altLang="ko-KR" sz="1400" dirty="0" err="1">
                  <a:solidFill>
                    <a:srgbClr val="777777"/>
                  </a:solidFill>
                  <a:latin typeface="나눔고딕" panose="020D0604000000000000" pitchFamily="50" charset="-127"/>
                  <a:ea typeface="나눔고딕" panose="020D0604000000000000" pitchFamily="50" charset="-127"/>
                  <a:cs typeface="Arial" panose="020B0604020202020204" pitchFamily="34" charset="0"/>
                </a:rPr>
                <a:t>김주헌</a:t>
              </a:r>
              <a:r>
                <a:rPr lang="en-US" altLang="ko-KR" sz="1400" dirty="0">
                  <a:solidFill>
                    <a:srgbClr val="777777"/>
                  </a:solidFill>
                  <a:latin typeface="나눔고딕" panose="020D0604000000000000" pitchFamily="50" charset="-127"/>
                  <a:ea typeface="나눔고딕" panose="020D0604000000000000" pitchFamily="50" charset="-127"/>
                  <a:cs typeface="Arial" panose="020B0604020202020204" pitchFamily="34" charset="0"/>
                </a:rPr>
                <a:t> · 하현성</a:t>
              </a:r>
            </a:p>
          </p:txBody>
        </p:sp>
      </p:grpSp>
    </p:spTree>
    <p:extLst>
      <p:ext uri="{BB962C8B-B14F-4D97-AF65-F5344CB8AC3E}">
        <p14:creationId xmlns:p14="http://schemas.microsoft.com/office/powerpoint/2010/main" val="14236717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0C173FE-BDB9-44F4-9507-2BDC13B0A1C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48E27B50-23DB-4868-9BF9-20C20352E44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ctr"/>
            <a:r>
              <a:rPr lang="en-US" altLang="ko-KR" sz="1600" b="1">
                <a:solidFill>
                  <a:srgbClr val="FFFFFF"/>
                </a:solidFill>
              </a:rPr>
              <a:t>01</a:t>
            </a:r>
            <a:endParaRPr lang="ko-KR" altLang="en-US" sz="1600" b="1">
              <a:solidFill>
                <a:srgbClr val="FFFFFF"/>
              </a:solidFill>
            </a:endParaRPr>
          </a:p>
        </p:txBody>
      </p:sp>
      <p:sp>
        <p:nvSpPr>
          <p:cNvPr id="5" name="TextBox 4">
            <a:extLst>
              <a:ext uri="{FF2B5EF4-FFF2-40B4-BE49-F238E27FC236}">
                <a16:creationId xmlns:a16="http://schemas.microsoft.com/office/drawing/2014/main" id="{C43E53DA-9CC3-4755-ADC0-C9AC56C8FBBD}"/>
              </a:ext>
            </a:extLst>
          </p:cNvPr>
          <p:cNvSpPr txBox="1"/>
          <p:nvPr/>
        </p:nvSpPr>
        <p:spPr>
          <a:xfrm>
            <a:off x="1079500" y="190500"/>
            <a:ext cx="508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프로젝트 동기</a:t>
            </a:r>
          </a:p>
        </p:txBody>
      </p:sp>
      <p:sp>
        <p:nvSpPr>
          <p:cNvPr id="6" name="Rounded Rectangle 5"/>
          <p:cNvSpPr/>
          <p:nvPr/>
        </p:nvSpPr>
        <p:spPr>
          <a:xfrm>
            <a:off x="384048" y="1280160"/>
            <a:ext cx="11430000" cy="822960"/>
          </a:xfrm>
          <a:prstGeom prst="roundRect">
            <a:avLst>
              <a:gd name="adj" fmla="val 5000"/>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1408328"/>
            <a:ext cx="11155680" cy="554635"/>
          </a:xfrm>
          <a:prstGeom prst="rect">
            <a:avLst/>
          </a:prstGeom>
          <a:noFill/>
        </p:spPr>
        <p:txBody>
          <a:bodyPr wrap="square" lIns="36000" tIns="18000" rIns="36000" bIns="18000" anchor="ctr">
            <a:spAutoFit/>
          </a:bodyPr>
          <a:lstStyle/>
          <a:p>
            <a:pPr algn="l">
              <a:lnSpc>
                <a:spcPct val="150000"/>
              </a:lnSpc>
            </a:pPr>
            <a:r>
              <a:rPr sz="1200" dirty="0" err="1">
                <a:solidFill>
                  <a:srgbClr val="1B2A4A"/>
                </a:solidFill>
                <a:latin typeface="맑은 고딕"/>
              </a:rPr>
              <a:t>현장에서</a:t>
            </a:r>
            <a:r>
              <a:rPr sz="1200" dirty="0">
                <a:solidFill>
                  <a:srgbClr val="1B2A4A"/>
                </a:solidFill>
                <a:latin typeface="맑은 고딕"/>
              </a:rPr>
              <a:t> </a:t>
            </a:r>
            <a:r>
              <a:rPr sz="1200" dirty="0" err="1">
                <a:solidFill>
                  <a:srgbClr val="1B2A4A"/>
                </a:solidFill>
                <a:latin typeface="맑은 고딕"/>
              </a:rPr>
              <a:t>비전</a:t>
            </a:r>
            <a:r>
              <a:rPr sz="1200" dirty="0">
                <a:solidFill>
                  <a:srgbClr val="1B2A4A"/>
                </a:solidFill>
                <a:latin typeface="맑은 고딕"/>
              </a:rPr>
              <a:t> </a:t>
            </a:r>
            <a:r>
              <a:rPr sz="1200" dirty="0" err="1">
                <a:solidFill>
                  <a:srgbClr val="1B2A4A"/>
                </a:solidFill>
                <a:latin typeface="맑은 고딕"/>
              </a:rPr>
              <a:t>단독</a:t>
            </a:r>
            <a:r>
              <a:rPr sz="1200" dirty="0">
                <a:solidFill>
                  <a:srgbClr val="1B2A4A"/>
                </a:solidFill>
                <a:latin typeface="맑은 고딕"/>
              </a:rPr>
              <a:t> 양/불 </a:t>
            </a:r>
            <a:r>
              <a:rPr sz="1200" dirty="0" err="1">
                <a:solidFill>
                  <a:srgbClr val="1B2A4A"/>
                </a:solidFill>
                <a:latin typeface="맑은 고딕"/>
              </a:rPr>
              <a:t>판정은</a:t>
            </a:r>
            <a:r>
              <a:rPr sz="1200" dirty="0">
                <a:solidFill>
                  <a:srgbClr val="1B2A4A"/>
                </a:solidFill>
                <a:latin typeface="맑은 고딕"/>
              </a:rPr>
              <a:t> </a:t>
            </a:r>
            <a:r>
              <a:rPr sz="1200" dirty="0" err="1">
                <a:solidFill>
                  <a:srgbClr val="1B2A4A"/>
                </a:solidFill>
                <a:latin typeface="맑은 고딕"/>
              </a:rPr>
              <a:t>조명·각도·가려짐으로</a:t>
            </a:r>
            <a:r>
              <a:rPr sz="1200" dirty="0">
                <a:solidFill>
                  <a:srgbClr val="1B2A4A"/>
                </a:solidFill>
                <a:latin typeface="맑은 고딕"/>
              </a:rPr>
              <a:t> </a:t>
            </a:r>
            <a:r>
              <a:rPr sz="1200" dirty="0" err="1">
                <a:solidFill>
                  <a:srgbClr val="1B2A4A"/>
                </a:solidFill>
                <a:latin typeface="맑은 고딕"/>
              </a:rPr>
              <a:t>한계가</a:t>
            </a:r>
            <a:r>
              <a:rPr sz="1200" dirty="0">
                <a:solidFill>
                  <a:srgbClr val="1B2A4A"/>
                </a:solidFill>
                <a:latin typeface="맑은 고딕"/>
              </a:rPr>
              <a:t> </a:t>
            </a:r>
            <a:r>
              <a:rPr sz="1200" dirty="0" err="1">
                <a:solidFill>
                  <a:srgbClr val="1B2A4A"/>
                </a:solidFill>
                <a:latin typeface="맑은 고딕"/>
              </a:rPr>
              <a:t>명확하고</a:t>
            </a:r>
            <a:r>
              <a:rPr sz="1200" dirty="0">
                <a:solidFill>
                  <a:srgbClr val="1B2A4A"/>
                </a:solidFill>
                <a:latin typeface="맑은 고딕"/>
              </a:rPr>
              <a:t>,</a:t>
            </a:r>
          </a:p>
          <a:p>
            <a:pPr algn="l">
              <a:lnSpc>
                <a:spcPct val="150000"/>
              </a:lnSpc>
            </a:pPr>
            <a:r>
              <a:rPr sz="1200" dirty="0" err="1">
                <a:solidFill>
                  <a:srgbClr val="1B2A4A"/>
                </a:solidFill>
                <a:latin typeface="맑은 고딕"/>
              </a:rPr>
              <a:t>센서</a:t>
            </a:r>
            <a:r>
              <a:rPr sz="1200" dirty="0">
                <a:solidFill>
                  <a:srgbClr val="1B2A4A"/>
                </a:solidFill>
                <a:latin typeface="맑은 고딕"/>
              </a:rPr>
              <a:t> </a:t>
            </a:r>
            <a:r>
              <a:rPr sz="1200" dirty="0" err="1">
                <a:solidFill>
                  <a:srgbClr val="1B2A4A"/>
                </a:solidFill>
                <a:latin typeface="맑은 고딕"/>
              </a:rPr>
              <a:t>단독</a:t>
            </a:r>
            <a:r>
              <a:rPr sz="1200" dirty="0">
                <a:solidFill>
                  <a:srgbClr val="1B2A4A"/>
                </a:solidFill>
                <a:latin typeface="맑은 고딕"/>
              </a:rPr>
              <a:t> </a:t>
            </a:r>
            <a:r>
              <a:rPr sz="1200" dirty="0" err="1">
                <a:solidFill>
                  <a:srgbClr val="1B2A4A"/>
                </a:solidFill>
                <a:latin typeface="맑은 고딕"/>
              </a:rPr>
              <a:t>판정도</a:t>
            </a:r>
            <a:r>
              <a:rPr sz="1200" dirty="0">
                <a:solidFill>
                  <a:srgbClr val="1B2A4A"/>
                </a:solidFill>
                <a:latin typeface="맑은 고딕"/>
              </a:rPr>
              <a:t> </a:t>
            </a:r>
            <a:r>
              <a:rPr sz="1200" dirty="0" err="1">
                <a:solidFill>
                  <a:srgbClr val="1B2A4A"/>
                </a:solidFill>
                <a:latin typeface="맑은 고딕"/>
              </a:rPr>
              <a:t>노이즈·고장으로</a:t>
            </a:r>
            <a:r>
              <a:rPr sz="1200" dirty="0">
                <a:solidFill>
                  <a:srgbClr val="1B2A4A"/>
                </a:solidFill>
                <a:latin typeface="맑은 고딕"/>
              </a:rPr>
              <a:t> </a:t>
            </a:r>
            <a:r>
              <a:rPr sz="1200" dirty="0" err="1">
                <a:solidFill>
                  <a:srgbClr val="1B2A4A"/>
                </a:solidFill>
                <a:latin typeface="맑은 고딕"/>
              </a:rPr>
              <a:t>신뢰하기</a:t>
            </a:r>
            <a:r>
              <a:rPr sz="1200" dirty="0">
                <a:solidFill>
                  <a:srgbClr val="1B2A4A"/>
                </a:solidFill>
                <a:latin typeface="맑은 고딕"/>
              </a:rPr>
              <a:t> </a:t>
            </a:r>
            <a:r>
              <a:rPr sz="1200" dirty="0" err="1">
                <a:solidFill>
                  <a:srgbClr val="1B2A4A"/>
                </a:solidFill>
                <a:latin typeface="맑은 고딕"/>
              </a:rPr>
              <a:t>어려운</a:t>
            </a:r>
            <a:r>
              <a:rPr sz="1200" dirty="0">
                <a:solidFill>
                  <a:srgbClr val="1B2A4A"/>
                </a:solidFill>
                <a:latin typeface="맑은 고딕"/>
              </a:rPr>
              <a:t> </a:t>
            </a:r>
            <a:r>
              <a:rPr sz="1200" dirty="0" err="1">
                <a:solidFill>
                  <a:srgbClr val="1B2A4A"/>
                </a:solidFill>
                <a:latin typeface="맑은 고딕"/>
              </a:rPr>
              <a:t>상황이</a:t>
            </a:r>
            <a:r>
              <a:rPr sz="1200" dirty="0">
                <a:solidFill>
                  <a:srgbClr val="1B2A4A"/>
                </a:solidFill>
                <a:latin typeface="맑은 고딕"/>
              </a:rPr>
              <a:t> </a:t>
            </a:r>
            <a:r>
              <a:rPr sz="1200" dirty="0" err="1">
                <a:solidFill>
                  <a:srgbClr val="1B2A4A"/>
                </a:solidFill>
                <a:latin typeface="맑은 고딕"/>
              </a:rPr>
              <a:t>자주</a:t>
            </a:r>
            <a:r>
              <a:rPr sz="1200" dirty="0">
                <a:solidFill>
                  <a:srgbClr val="1B2A4A"/>
                </a:solidFill>
                <a:latin typeface="맑은 고딕"/>
              </a:rPr>
              <a:t> </a:t>
            </a:r>
            <a:r>
              <a:rPr sz="1200" dirty="0" err="1">
                <a:solidFill>
                  <a:srgbClr val="1B2A4A"/>
                </a:solidFill>
                <a:latin typeface="맑은 고딕"/>
              </a:rPr>
              <a:t>발생한다</a:t>
            </a:r>
            <a:r>
              <a:rPr sz="1200" dirty="0">
                <a:solidFill>
                  <a:srgbClr val="1B2A4A"/>
                </a:solidFill>
                <a:latin typeface="맑은 고딕"/>
              </a:rPr>
              <a:t>.</a:t>
            </a:r>
          </a:p>
        </p:txBody>
      </p:sp>
      <p:sp>
        <p:nvSpPr>
          <p:cNvPr id="8" name="Rounded Rectangle 7"/>
          <p:cNvSpPr/>
          <p:nvPr/>
        </p:nvSpPr>
        <p:spPr>
          <a:xfrm>
            <a:off x="384048" y="2331720"/>
            <a:ext cx="3429000" cy="27432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566928" y="2496312"/>
            <a:ext cx="548640" cy="548640"/>
          </a:xfrm>
          <a:prstGeom prst="ellipse">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맑은 고딕"/>
              </a:rPr>
              <a:t>1</a:t>
            </a:r>
          </a:p>
        </p:txBody>
      </p:sp>
      <p:sp>
        <p:nvSpPr>
          <p:cNvPr id="10" name="TextBox 9"/>
          <p:cNvSpPr txBox="1"/>
          <p:nvPr/>
        </p:nvSpPr>
        <p:spPr>
          <a:xfrm>
            <a:off x="566928" y="3200400"/>
            <a:ext cx="3154680" cy="502920"/>
          </a:xfrm>
          <a:prstGeom prst="rect">
            <a:avLst/>
          </a:prstGeom>
          <a:noFill/>
        </p:spPr>
        <p:txBody>
          <a:bodyPr wrap="square" lIns="36000" tIns="18000" rIns="36000" bIns="18000" anchor="ctr">
            <a:spAutoFit/>
          </a:bodyPr>
          <a:lstStyle/>
          <a:p>
            <a:pPr algn="l"/>
            <a:r>
              <a:rPr sz="1400" b="1">
                <a:solidFill>
                  <a:srgbClr val="1B2A4A"/>
                </a:solidFill>
                <a:latin typeface="맑은 고딕"/>
              </a:rPr>
              <a:t>현장 경험 기반 문제 인식</a:t>
            </a:r>
          </a:p>
        </p:txBody>
      </p:sp>
      <p:sp>
        <p:nvSpPr>
          <p:cNvPr id="11" name="TextBox 10"/>
          <p:cNvSpPr txBox="1"/>
          <p:nvPr/>
        </p:nvSpPr>
        <p:spPr>
          <a:xfrm>
            <a:off x="557784" y="3853180"/>
            <a:ext cx="3154680" cy="651905"/>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팀원</a:t>
            </a:r>
            <a:r>
              <a:rPr sz="1000" b="0" dirty="0">
                <a:solidFill>
                  <a:srgbClr val="4A4A4A"/>
                </a:solidFill>
                <a:latin typeface="맑은 고딕"/>
              </a:rPr>
              <a:t> </a:t>
            </a:r>
            <a:r>
              <a:rPr sz="1000" b="0" dirty="0" err="1">
                <a:solidFill>
                  <a:srgbClr val="4A4A4A"/>
                </a:solidFill>
                <a:latin typeface="맑은 고딕"/>
              </a:rPr>
              <a:t>전원</a:t>
            </a:r>
            <a:r>
              <a:rPr sz="1000" b="0" dirty="0">
                <a:solidFill>
                  <a:srgbClr val="4A4A4A"/>
                </a:solidFill>
                <a:latin typeface="맑은 고딕"/>
              </a:rPr>
              <a:t> </a:t>
            </a:r>
            <a:r>
              <a:rPr sz="1000" b="0" dirty="0" err="1">
                <a:solidFill>
                  <a:srgbClr val="4A4A4A"/>
                </a:solidFill>
                <a:latin typeface="맑은 고딕"/>
              </a:rPr>
              <a:t>자동화</a:t>
            </a:r>
            <a:r>
              <a:rPr sz="1000" b="0" dirty="0">
                <a:solidFill>
                  <a:srgbClr val="4A4A4A"/>
                </a:solidFill>
                <a:latin typeface="맑은 고딕"/>
              </a:rPr>
              <a:t> </a:t>
            </a:r>
            <a:r>
              <a:rPr sz="1000" b="0" dirty="0" err="1">
                <a:solidFill>
                  <a:srgbClr val="4A4A4A"/>
                </a:solidFill>
                <a:latin typeface="맑은 고딕"/>
              </a:rPr>
              <a:t>장비</a:t>
            </a:r>
            <a:r>
              <a:rPr sz="1000" b="0" dirty="0">
                <a:solidFill>
                  <a:srgbClr val="4A4A4A"/>
                </a:solidFill>
                <a:latin typeface="맑은 고딕"/>
              </a:rPr>
              <a:t> </a:t>
            </a:r>
            <a:r>
              <a:rPr sz="1000" b="0" dirty="0" err="1">
                <a:solidFill>
                  <a:srgbClr val="4A4A4A"/>
                </a:solidFill>
                <a:latin typeface="맑은 고딕"/>
              </a:rPr>
              <a:t>업계</a:t>
            </a:r>
            <a:r>
              <a:rPr sz="1000" b="0" dirty="0">
                <a:solidFill>
                  <a:srgbClr val="4A4A4A"/>
                </a:solidFill>
                <a:latin typeface="맑은 고딕"/>
              </a:rPr>
              <a:t> </a:t>
            </a:r>
            <a:r>
              <a:rPr sz="1000" b="0" dirty="0" err="1">
                <a:solidFill>
                  <a:srgbClr val="4A4A4A"/>
                </a:solidFill>
                <a:latin typeface="맑은 고딕"/>
              </a:rPr>
              <a:t>종사</a:t>
            </a:r>
            <a:endParaRPr sz="1000" b="0" dirty="0">
              <a:solidFill>
                <a:srgbClr val="4A4A4A"/>
              </a:solidFill>
              <a:latin typeface="맑은 고딕"/>
            </a:endParaRPr>
          </a:p>
          <a:p>
            <a:pPr algn="l"/>
            <a:br>
              <a:rPr lang="en-US" sz="1000" b="0" dirty="0">
                <a:solidFill>
                  <a:srgbClr val="4A4A4A"/>
                </a:solidFill>
                <a:latin typeface="맑은 고딕"/>
              </a:rPr>
            </a:br>
            <a:r>
              <a:rPr sz="1000" b="0" dirty="0" err="1">
                <a:solidFill>
                  <a:srgbClr val="4A4A4A"/>
                </a:solidFill>
                <a:latin typeface="맑은 고딕"/>
              </a:rPr>
              <a:t>현업의</a:t>
            </a:r>
            <a:r>
              <a:rPr sz="1000" b="0" dirty="0">
                <a:solidFill>
                  <a:srgbClr val="4A4A4A"/>
                </a:solidFill>
                <a:latin typeface="맑은 고딕"/>
              </a:rPr>
              <a:t> </a:t>
            </a:r>
            <a:r>
              <a:rPr sz="1000" b="0" dirty="0" err="1">
                <a:solidFill>
                  <a:srgbClr val="4A4A4A"/>
                </a:solidFill>
                <a:latin typeface="맑은 고딕"/>
              </a:rPr>
              <a:t>딥러닝</a:t>
            </a:r>
            <a:r>
              <a:rPr sz="1000" b="0" dirty="0">
                <a:solidFill>
                  <a:srgbClr val="4A4A4A"/>
                </a:solidFill>
                <a:latin typeface="맑은 고딕"/>
              </a:rPr>
              <a:t> </a:t>
            </a:r>
            <a:r>
              <a:rPr sz="1000" b="0" dirty="0" err="1">
                <a:solidFill>
                  <a:srgbClr val="4A4A4A"/>
                </a:solidFill>
                <a:latin typeface="맑은 고딕"/>
              </a:rPr>
              <a:t>불량</a:t>
            </a:r>
            <a:r>
              <a:rPr sz="1000" b="0" dirty="0">
                <a:solidFill>
                  <a:srgbClr val="4A4A4A"/>
                </a:solidFill>
                <a:latin typeface="맑은 고딕"/>
              </a:rPr>
              <a:t> </a:t>
            </a:r>
            <a:r>
              <a:rPr sz="1000" b="0" dirty="0" err="1">
                <a:solidFill>
                  <a:srgbClr val="4A4A4A"/>
                </a:solidFill>
                <a:latin typeface="맑은 고딕"/>
              </a:rPr>
              <a:t>판정</a:t>
            </a:r>
            <a:r>
              <a:rPr sz="1000" b="0" dirty="0">
                <a:solidFill>
                  <a:srgbClr val="4A4A4A"/>
                </a:solidFill>
                <a:latin typeface="맑은 고딕"/>
              </a:rPr>
              <a:t> </a:t>
            </a:r>
            <a:r>
              <a:rPr sz="1000" b="0" dirty="0" err="1">
                <a:solidFill>
                  <a:srgbClr val="4A4A4A"/>
                </a:solidFill>
                <a:latin typeface="맑은 고딕"/>
              </a:rPr>
              <a:t>사례를</a:t>
            </a:r>
            <a:r>
              <a:rPr sz="1000" b="0" dirty="0">
                <a:solidFill>
                  <a:srgbClr val="4A4A4A"/>
                </a:solidFill>
                <a:latin typeface="맑은 고딕"/>
              </a:rPr>
              <a:t> </a:t>
            </a:r>
            <a:r>
              <a:rPr sz="1000" b="0" dirty="0" err="1">
                <a:solidFill>
                  <a:srgbClr val="4A4A4A"/>
                </a:solidFill>
                <a:latin typeface="맑은 고딕"/>
              </a:rPr>
              <a:t>직접</a:t>
            </a:r>
            <a:r>
              <a:rPr sz="1000" b="0" dirty="0">
                <a:solidFill>
                  <a:srgbClr val="4A4A4A"/>
                </a:solidFill>
                <a:latin typeface="맑은 고딕"/>
              </a:rPr>
              <a:t> </a:t>
            </a:r>
            <a:r>
              <a:rPr sz="1000" b="0" dirty="0" err="1">
                <a:solidFill>
                  <a:srgbClr val="4A4A4A"/>
                </a:solidFill>
                <a:latin typeface="맑은 고딕"/>
              </a:rPr>
              <a:t>접하며</a:t>
            </a:r>
            <a:r>
              <a:rPr sz="1000" b="0" dirty="0">
                <a:solidFill>
                  <a:srgbClr val="4A4A4A"/>
                </a:solidFill>
                <a:latin typeface="맑은 고딕"/>
              </a:rPr>
              <a:t> </a:t>
            </a:r>
            <a:br>
              <a:rPr lang="en-US" sz="1000" b="0" dirty="0">
                <a:solidFill>
                  <a:srgbClr val="4A4A4A"/>
                </a:solidFill>
                <a:latin typeface="맑은 고딕"/>
              </a:rPr>
            </a:br>
            <a:r>
              <a:rPr sz="1000" b="0" dirty="0" err="1">
                <a:solidFill>
                  <a:srgbClr val="4A4A4A"/>
                </a:solidFill>
                <a:latin typeface="맑은 고딕"/>
              </a:rPr>
              <a:t>비전</a:t>
            </a:r>
            <a:r>
              <a:rPr sz="1000" b="0" dirty="0">
                <a:solidFill>
                  <a:srgbClr val="4A4A4A"/>
                </a:solidFill>
                <a:latin typeface="맑은 고딕"/>
              </a:rPr>
              <a:t> </a:t>
            </a:r>
            <a:r>
              <a:rPr sz="1000" b="0" dirty="0" err="1">
                <a:solidFill>
                  <a:srgbClr val="4A4A4A"/>
                </a:solidFill>
                <a:latin typeface="맑은 고딕"/>
              </a:rPr>
              <a:t>단독</a:t>
            </a:r>
            <a:r>
              <a:rPr sz="1000" b="0" dirty="0">
                <a:solidFill>
                  <a:srgbClr val="4A4A4A"/>
                </a:solidFill>
                <a:latin typeface="맑은 고딕"/>
              </a:rPr>
              <a:t> </a:t>
            </a:r>
            <a:r>
              <a:rPr sz="1000" b="0" dirty="0" err="1">
                <a:solidFill>
                  <a:srgbClr val="4A4A4A"/>
                </a:solidFill>
                <a:latin typeface="맑은 고딕"/>
              </a:rPr>
              <a:t>방식의</a:t>
            </a:r>
            <a:r>
              <a:rPr sz="1000" b="0" dirty="0">
                <a:solidFill>
                  <a:srgbClr val="4A4A4A"/>
                </a:solidFill>
                <a:latin typeface="맑은 고딕"/>
              </a:rPr>
              <a:t> </a:t>
            </a:r>
            <a:r>
              <a:rPr sz="1000" b="0" dirty="0" err="1">
                <a:solidFill>
                  <a:srgbClr val="4A4A4A"/>
                </a:solidFill>
                <a:latin typeface="맑은 고딕"/>
              </a:rPr>
              <a:t>한계를</a:t>
            </a:r>
            <a:r>
              <a:rPr sz="1000" b="0" dirty="0">
                <a:solidFill>
                  <a:srgbClr val="4A4A4A"/>
                </a:solidFill>
                <a:latin typeface="맑은 고딕"/>
              </a:rPr>
              <a:t> </a:t>
            </a:r>
            <a:r>
              <a:rPr sz="1000" b="0" dirty="0" err="1">
                <a:solidFill>
                  <a:srgbClr val="4A4A4A"/>
                </a:solidFill>
                <a:latin typeface="맑은 고딕"/>
              </a:rPr>
              <a:t>체감</a:t>
            </a:r>
            <a:endParaRPr sz="1000" b="0" dirty="0">
              <a:solidFill>
                <a:srgbClr val="4A4A4A"/>
              </a:solidFill>
              <a:latin typeface="맑은 고딕"/>
            </a:endParaRPr>
          </a:p>
        </p:txBody>
      </p:sp>
      <p:sp>
        <p:nvSpPr>
          <p:cNvPr id="12" name="Rounded Rectangle 11"/>
          <p:cNvSpPr/>
          <p:nvPr/>
        </p:nvSpPr>
        <p:spPr>
          <a:xfrm>
            <a:off x="4379976" y="2331720"/>
            <a:ext cx="3429000" cy="27432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4562856" y="2496312"/>
            <a:ext cx="548640" cy="548640"/>
          </a:xfrm>
          <a:prstGeom prst="ellipse">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맑은 고딕"/>
              </a:rPr>
              <a:t>2</a:t>
            </a:r>
          </a:p>
        </p:txBody>
      </p:sp>
      <p:sp>
        <p:nvSpPr>
          <p:cNvPr id="14" name="TextBox 13"/>
          <p:cNvSpPr txBox="1"/>
          <p:nvPr/>
        </p:nvSpPr>
        <p:spPr>
          <a:xfrm>
            <a:off x="4562856" y="3200400"/>
            <a:ext cx="3154680" cy="502920"/>
          </a:xfrm>
          <a:prstGeom prst="rect">
            <a:avLst/>
          </a:prstGeom>
          <a:noFill/>
        </p:spPr>
        <p:txBody>
          <a:bodyPr wrap="square" lIns="36000" tIns="18000" rIns="36000" bIns="18000" anchor="ctr">
            <a:spAutoFit/>
          </a:bodyPr>
          <a:lstStyle/>
          <a:p>
            <a:pPr algn="l"/>
            <a:r>
              <a:rPr sz="1400" b="1">
                <a:solidFill>
                  <a:srgbClr val="1B2A4A"/>
                </a:solidFill>
                <a:latin typeface="맑은 고딕"/>
              </a:rPr>
              <a:t>두 모달리티의 상호 보완</a:t>
            </a:r>
          </a:p>
        </p:txBody>
      </p:sp>
      <p:sp>
        <p:nvSpPr>
          <p:cNvPr id="15" name="TextBox 14"/>
          <p:cNvSpPr txBox="1"/>
          <p:nvPr/>
        </p:nvSpPr>
        <p:spPr>
          <a:xfrm>
            <a:off x="4553712" y="3853180"/>
            <a:ext cx="3154680" cy="651905"/>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이미지</a:t>
            </a:r>
            <a:r>
              <a:rPr sz="1000" b="0" dirty="0">
                <a:solidFill>
                  <a:srgbClr val="4A4A4A"/>
                </a:solidFill>
                <a:latin typeface="맑은 고딕"/>
              </a:rPr>
              <a:t>: </a:t>
            </a:r>
            <a:r>
              <a:rPr sz="1000" b="0" dirty="0" err="1">
                <a:solidFill>
                  <a:srgbClr val="4A4A4A"/>
                </a:solidFill>
                <a:latin typeface="맑은 고딕"/>
              </a:rPr>
              <a:t>시각적</a:t>
            </a:r>
            <a:r>
              <a:rPr sz="1000" b="0" dirty="0">
                <a:solidFill>
                  <a:srgbClr val="4A4A4A"/>
                </a:solidFill>
                <a:latin typeface="맑은 고딕"/>
              </a:rPr>
              <a:t> </a:t>
            </a:r>
            <a:r>
              <a:rPr sz="1000" b="0" dirty="0" err="1">
                <a:solidFill>
                  <a:srgbClr val="4A4A4A"/>
                </a:solidFill>
                <a:latin typeface="맑은 고딕"/>
              </a:rPr>
              <a:t>결손은</a:t>
            </a:r>
            <a:r>
              <a:rPr sz="1000" b="0" dirty="0">
                <a:solidFill>
                  <a:srgbClr val="4A4A4A"/>
                </a:solidFill>
                <a:latin typeface="맑은 고딕"/>
              </a:rPr>
              <a:t> 잘 </a:t>
            </a:r>
            <a:r>
              <a:rPr sz="1000" b="0" dirty="0" err="1">
                <a:solidFill>
                  <a:srgbClr val="4A4A4A"/>
                </a:solidFill>
                <a:latin typeface="맑은 고딕"/>
              </a:rPr>
              <a:t>잡지만</a:t>
            </a:r>
            <a:r>
              <a:rPr sz="1000" b="0" dirty="0">
                <a:solidFill>
                  <a:srgbClr val="4A4A4A"/>
                </a:solidFill>
                <a:latin typeface="맑은 고딕"/>
              </a:rPr>
              <a:t> </a:t>
            </a:r>
            <a:r>
              <a:rPr sz="1000" b="0" dirty="0" err="1">
                <a:solidFill>
                  <a:srgbClr val="4A4A4A"/>
                </a:solidFill>
                <a:latin typeface="맑은 고딕"/>
              </a:rPr>
              <a:t>가려짐·조명에</a:t>
            </a:r>
            <a:r>
              <a:rPr sz="1000" b="0" dirty="0">
                <a:solidFill>
                  <a:srgbClr val="4A4A4A"/>
                </a:solidFill>
                <a:latin typeface="맑은 고딕"/>
              </a:rPr>
              <a:t> </a:t>
            </a:r>
            <a:r>
              <a:rPr sz="1000" b="0" dirty="0" err="1">
                <a:solidFill>
                  <a:srgbClr val="4A4A4A"/>
                </a:solidFill>
                <a:latin typeface="맑은 고딕"/>
              </a:rPr>
              <a:t>취약</a:t>
            </a:r>
            <a:endParaRPr sz="1000" b="0" dirty="0">
              <a:solidFill>
                <a:srgbClr val="4A4A4A"/>
              </a:solidFill>
              <a:latin typeface="맑은 고딕"/>
            </a:endParaRPr>
          </a:p>
          <a:p>
            <a:pPr algn="l"/>
            <a:br>
              <a:rPr lang="en-US" sz="1000" b="0" dirty="0">
                <a:solidFill>
                  <a:srgbClr val="4A4A4A"/>
                </a:solidFill>
                <a:latin typeface="맑은 고딕"/>
              </a:rPr>
            </a:br>
            <a:r>
              <a:rPr sz="1000" b="0" dirty="0" err="1">
                <a:solidFill>
                  <a:srgbClr val="4A4A4A"/>
                </a:solidFill>
                <a:latin typeface="맑은 고딕"/>
              </a:rPr>
              <a:t>센서</a:t>
            </a:r>
            <a:r>
              <a:rPr sz="1000" b="0" dirty="0">
                <a:solidFill>
                  <a:srgbClr val="4A4A4A"/>
                </a:solidFill>
                <a:latin typeface="맑은 고딕"/>
              </a:rPr>
              <a:t>: </a:t>
            </a:r>
            <a:r>
              <a:rPr sz="1000" b="0" dirty="0" err="1">
                <a:solidFill>
                  <a:srgbClr val="4A4A4A"/>
                </a:solidFill>
                <a:latin typeface="맑은 고딕"/>
              </a:rPr>
              <a:t>동작</a:t>
            </a:r>
            <a:r>
              <a:rPr sz="1000" b="0" dirty="0">
                <a:solidFill>
                  <a:srgbClr val="4A4A4A"/>
                </a:solidFill>
                <a:latin typeface="맑은 고딕"/>
              </a:rPr>
              <a:t> </a:t>
            </a:r>
            <a:r>
              <a:rPr sz="1000" b="0" dirty="0" err="1">
                <a:solidFill>
                  <a:srgbClr val="4A4A4A"/>
                </a:solidFill>
                <a:latin typeface="맑은 고딕"/>
              </a:rPr>
              <a:t>패턴은</a:t>
            </a:r>
            <a:r>
              <a:rPr sz="1000" b="0" dirty="0">
                <a:solidFill>
                  <a:srgbClr val="4A4A4A"/>
                </a:solidFill>
                <a:latin typeface="맑은 고딕"/>
              </a:rPr>
              <a:t> </a:t>
            </a:r>
            <a:r>
              <a:rPr sz="1000" b="0" dirty="0" err="1">
                <a:solidFill>
                  <a:srgbClr val="4A4A4A"/>
                </a:solidFill>
                <a:latin typeface="맑은 고딕"/>
              </a:rPr>
              <a:t>정확하나</a:t>
            </a:r>
            <a:r>
              <a:rPr sz="1000" b="0" dirty="0">
                <a:solidFill>
                  <a:srgbClr val="4A4A4A"/>
                </a:solidFill>
                <a:latin typeface="맑은 고딕"/>
              </a:rPr>
              <a:t> </a:t>
            </a:r>
            <a:r>
              <a:rPr sz="1000" b="0" dirty="0" err="1">
                <a:solidFill>
                  <a:srgbClr val="4A4A4A"/>
                </a:solidFill>
                <a:latin typeface="맑은 고딕"/>
              </a:rPr>
              <a:t>시각</a:t>
            </a:r>
            <a:r>
              <a:rPr sz="1000" b="0" dirty="0">
                <a:solidFill>
                  <a:srgbClr val="4A4A4A"/>
                </a:solidFill>
                <a:latin typeface="맑은 고딕"/>
              </a:rPr>
              <a:t> </a:t>
            </a:r>
            <a:r>
              <a:rPr sz="1000" b="0" dirty="0" err="1">
                <a:solidFill>
                  <a:srgbClr val="4A4A4A"/>
                </a:solidFill>
                <a:latin typeface="맑은 고딕"/>
              </a:rPr>
              <a:t>정보는</a:t>
            </a:r>
            <a:r>
              <a:rPr sz="1000" b="0" dirty="0">
                <a:solidFill>
                  <a:srgbClr val="4A4A4A"/>
                </a:solidFill>
                <a:latin typeface="맑은 고딕"/>
              </a:rPr>
              <a:t> </a:t>
            </a:r>
            <a:r>
              <a:rPr sz="1000" b="0" dirty="0" err="1">
                <a:solidFill>
                  <a:srgbClr val="4A4A4A"/>
                </a:solidFill>
                <a:latin typeface="맑은 고딕"/>
              </a:rPr>
              <a:t>부재</a:t>
            </a:r>
            <a:endParaRPr sz="1000" b="0" dirty="0">
              <a:solidFill>
                <a:srgbClr val="4A4A4A"/>
              </a:solidFill>
              <a:latin typeface="맑은 고딕"/>
            </a:endParaRPr>
          </a:p>
          <a:p>
            <a:pPr algn="l"/>
            <a:r>
              <a:rPr sz="1000" b="0" dirty="0">
                <a:solidFill>
                  <a:srgbClr val="4A4A4A"/>
                </a:solidFill>
                <a:latin typeface="맑은 고딕"/>
              </a:rPr>
              <a:t>→ </a:t>
            </a:r>
            <a:r>
              <a:rPr sz="1000" b="0" dirty="0" err="1">
                <a:solidFill>
                  <a:srgbClr val="4A4A4A"/>
                </a:solidFill>
                <a:latin typeface="맑은 고딕"/>
              </a:rPr>
              <a:t>융합</a:t>
            </a:r>
            <a:r>
              <a:rPr sz="1000" b="0" dirty="0">
                <a:solidFill>
                  <a:srgbClr val="4A4A4A"/>
                </a:solidFill>
                <a:latin typeface="맑은 고딕"/>
              </a:rPr>
              <a:t> 시 </a:t>
            </a:r>
            <a:r>
              <a:rPr sz="1000" b="0" dirty="0" err="1">
                <a:solidFill>
                  <a:srgbClr val="4A4A4A"/>
                </a:solidFill>
                <a:latin typeface="맑은 고딕"/>
              </a:rPr>
              <a:t>약점</a:t>
            </a:r>
            <a:r>
              <a:rPr sz="1000" b="0" dirty="0">
                <a:solidFill>
                  <a:srgbClr val="4A4A4A"/>
                </a:solidFill>
                <a:latin typeface="맑은 고딕"/>
              </a:rPr>
              <a:t> </a:t>
            </a:r>
            <a:r>
              <a:rPr sz="1000" b="0" dirty="0" err="1">
                <a:solidFill>
                  <a:srgbClr val="4A4A4A"/>
                </a:solidFill>
                <a:latin typeface="맑은 고딕"/>
              </a:rPr>
              <a:t>보완</a:t>
            </a:r>
            <a:r>
              <a:rPr sz="1000" b="0" dirty="0">
                <a:solidFill>
                  <a:srgbClr val="4A4A4A"/>
                </a:solidFill>
                <a:latin typeface="맑은 고딕"/>
              </a:rPr>
              <a:t> </a:t>
            </a:r>
            <a:r>
              <a:rPr sz="1000" b="0" dirty="0" err="1">
                <a:solidFill>
                  <a:srgbClr val="4A4A4A"/>
                </a:solidFill>
                <a:latin typeface="맑은 고딕"/>
              </a:rPr>
              <a:t>가능성</a:t>
            </a:r>
            <a:endParaRPr sz="1000" b="0" dirty="0">
              <a:solidFill>
                <a:srgbClr val="4A4A4A"/>
              </a:solidFill>
              <a:latin typeface="맑은 고딕"/>
            </a:endParaRPr>
          </a:p>
        </p:txBody>
      </p:sp>
      <p:sp>
        <p:nvSpPr>
          <p:cNvPr id="16" name="Rounded Rectangle 15"/>
          <p:cNvSpPr/>
          <p:nvPr/>
        </p:nvSpPr>
        <p:spPr>
          <a:xfrm>
            <a:off x="8375904" y="2331720"/>
            <a:ext cx="3429000" cy="27432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558784" y="2496312"/>
            <a:ext cx="548640" cy="548640"/>
          </a:xfrm>
          <a:prstGeom prst="ellipse">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맑은 고딕"/>
              </a:rPr>
              <a:t>3</a:t>
            </a:r>
          </a:p>
        </p:txBody>
      </p:sp>
      <p:sp>
        <p:nvSpPr>
          <p:cNvPr id="18" name="TextBox 17"/>
          <p:cNvSpPr txBox="1"/>
          <p:nvPr/>
        </p:nvSpPr>
        <p:spPr>
          <a:xfrm>
            <a:off x="8558784" y="3200400"/>
            <a:ext cx="3154680" cy="502920"/>
          </a:xfrm>
          <a:prstGeom prst="rect">
            <a:avLst/>
          </a:prstGeom>
          <a:noFill/>
        </p:spPr>
        <p:txBody>
          <a:bodyPr wrap="square" lIns="36000" tIns="18000" rIns="36000" bIns="18000" anchor="ctr">
            <a:spAutoFit/>
          </a:bodyPr>
          <a:lstStyle/>
          <a:p>
            <a:pPr algn="l"/>
            <a:r>
              <a:rPr sz="1400" b="1">
                <a:solidFill>
                  <a:srgbClr val="1B2A4A"/>
                </a:solidFill>
                <a:latin typeface="맑은 고딕"/>
              </a:rPr>
              <a:t>프로젝트의 명확한 목표</a:t>
            </a:r>
          </a:p>
        </p:txBody>
      </p:sp>
      <p:sp>
        <p:nvSpPr>
          <p:cNvPr id="19" name="TextBox 18"/>
          <p:cNvSpPr txBox="1"/>
          <p:nvPr/>
        </p:nvSpPr>
        <p:spPr>
          <a:xfrm>
            <a:off x="8549640" y="3853180"/>
            <a:ext cx="3154680" cy="651905"/>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이미지·센서·융합</a:t>
            </a:r>
            <a:r>
              <a:rPr sz="1000" b="0" dirty="0">
                <a:solidFill>
                  <a:srgbClr val="4A4A4A"/>
                </a:solidFill>
                <a:latin typeface="맑은 고딕"/>
              </a:rPr>
              <a:t> 3개 </a:t>
            </a:r>
            <a:r>
              <a:rPr sz="1000" b="0" dirty="0" err="1">
                <a:solidFill>
                  <a:srgbClr val="4A4A4A"/>
                </a:solidFill>
                <a:latin typeface="맑은 고딕"/>
              </a:rPr>
              <a:t>모델을</a:t>
            </a:r>
            <a:r>
              <a:rPr sz="1000" b="0" dirty="0">
                <a:solidFill>
                  <a:srgbClr val="4A4A4A"/>
                </a:solidFill>
                <a:latin typeface="맑은 고딕"/>
              </a:rPr>
              <a:t> </a:t>
            </a:r>
            <a:r>
              <a:rPr sz="1000" b="0" dirty="0" err="1">
                <a:solidFill>
                  <a:srgbClr val="4A4A4A"/>
                </a:solidFill>
                <a:latin typeface="맑은 고딕"/>
              </a:rPr>
              <a:t>동일</a:t>
            </a:r>
            <a:r>
              <a:rPr sz="1000" b="0" dirty="0">
                <a:solidFill>
                  <a:srgbClr val="4A4A4A"/>
                </a:solidFill>
                <a:latin typeface="맑은 고딕"/>
              </a:rPr>
              <a:t> </a:t>
            </a:r>
            <a:r>
              <a:rPr sz="1000" b="0" dirty="0" err="1">
                <a:solidFill>
                  <a:srgbClr val="4A4A4A"/>
                </a:solidFill>
                <a:latin typeface="맑은 고딕"/>
              </a:rPr>
              <a:t>조건에서</a:t>
            </a:r>
            <a:r>
              <a:rPr sz="1000" b="0" dirty="0">
                <a:solidFill>
                  <a:srgbClr val="4A4A4A"/>
                </a:solidFill>
                <a:latin typeface="맑은 고딕"/>
              </a:rPr>
              <a:t> </a:t>
            </a:r>
            <a:r>
              <a:rPr sz="1000" b="0" dirty="0" err="1">
                <a:solidFill>
                  <a:srgbClr val="4A4A4A"/>
                </a:solidFill>
                <a:latin typeface="맑은 고딕"/>
              </a:rPr>
              <a:t>학습·평가</a:t>
            </a:r>
            <a:endParaRPr sz="1000" b="0" dirty="0">
              <a:solidFill>
                <a:srgbClr val="4A4A4A"/>
              </a:solidFill>
              <a:latin typeface="맑은 고딕"/>
            </a:endParaRPr>
          </a:p>
          <a:p>
            <a:pPr algn="l"/>
            <a:br>
              <a:rPr lang="en-US" sz="1000" b="0" dirty="0">
                <a:solidFill>
                  <a:srgbClr val="4A4A4A"/>
                </a:solidFill>
                <a:latin typeface="맑은 고딕"/>
              </a:rPr>
            </a:br>
            <a:r>
              <a:rPr sz="1000" b="0" dirty="0">
                <a:solidFill>
                  <a:srgbClr val="4A4A4A"/>
                </a:solidFill>
                <a:latin typeface="맑은 고딕"/>
              </a:rPr>
              <a:t>→ </a:t>
            </a:r>
            <a:r>
              <a:rPr sz="1000" b="0" dirty="0" err="1">
                <a:solidFill>
                  <a:srgbClr val="4A4A4A"/>
                </a:solidFill>
                <a:latin typeface="맑은 고딕"/>
              </a:rPr>
              <a:t>멀티모달</a:t>
            </a:r>
            <a:r>
              <a:rPr sz="1000" b="0" dirty="0">
                <a:solidFill>
                  <a:srgbClr val="4A4A4A"/>
                </a:solidFill>
                <a:latin typeface="맑은 고딕"/>
              </a:rPr>
              <a:t> </a:t>
            </a:r>
            <a:r>
              <a:rPr sz="1000" b="0" dirty="0" err="1">
                <a:solidFill>
                  <a:srgbClr val="4A4A4A"/>
                </a:solidFill>
                <a:latin typeface="맑은 고딕"/>
              </a:rPr>
              <a:t>융합이</a:t>
            </a:r>
            <a:r>
              <a:rPr sz="1000" b="0" dirty="0">
                <a:solidFill>
                  <a:srgbClr val="4A4A4A"/>
                </a:solidFill>
                <a:latin typeface="맑은 고딕"/>
              </a:rPr>
              <a:t> </a:t>
            </a:r>
            <a:r>
              <a:rPr sz="1000" b="0" dirty="0" err="1">
                <a:solidFill>
                  <a:srgbClr val="4A4A4A"/>
                </a:solidFill>
                <a:latin typeface="맑은 고딕"/>
              </a:rPr>
              <a:t>실제로</a:t>
            </a:r>
            <a:r>
              <a:rPr sz="1000" b="0" dirty="0">
                <a:solidFill>
                  <a:srgbClr val="4A4A4A"/>
                </a:solidFill>
                <a:latin typeface="맑은 고딕"/>
              </a:rPr>
              <a:t> </a:t>
            </a:r>
            <a:r>
              <a:rPr sz="1000" b="0" dirty="0" err="1">
                <a:solidFill>
                  <a:srgbClr val="4A4A4A"/>
                </a:solidFill>
                <a:latin typeface="맑은 고딕"/>
              </a:rPr>
              <a:t>어떤</a:t>
            </a:r>
            <a:r>
              <a:rPr sz="1000" b="0" dirty="0">
                <a:solidFill>
                  <a:srgbClr val="4A4A4A"/>
                </a:solidFill>
                <a:latin typeface="맑은 고딕"/>
              </a:rPr>
              <a:t> </a:t>
            </a:r>
            <a:r>
              <a:rPr sz="1000" b="0" dirty="0" err="1">
                <a:solidFill>
                  <a:srgbClr val="4A4A4A"/>
                </a:solidFill>
                <a:latin typeface="맑은 고딕"/>
              </a:rPr>
              <a:t>이점을</a:t>
            </a:r>
            <a:r>
              <a:rPr sz="1000" b="0" dirty="0">
                <a:solidFill>
                  <a:srgbClr val="4A4A4A"/>
                </a:solidFill>
                <a:latin typeface="맑은 고딕"/>
              </a:rPr>
              <a:t> </a:t>
            </a:r>
            <a:r>
              <a:rPr sz="1000" b="0" dirty="0" err="1">
                <a:solidFill>
                  <a:srgbClr val="4A4A4A"/>
                </a:solidFill>
                <a:latin typeface="맑은 고딕"/>
              </a:rPr>
              <a:t>주는지</a:t>
            </a:r>
            <a:r>
              <a:rPr sz="1000" b="0" dirty="0">
                <a:solidFill>
                  <a:srgbClr val="4A4A4A"/>
                </a:solidFill>
                <a:latin typeface="맑은 고딕"/>
              </a:rPr>
              <a:t> </a:t>
            </a:r>
            <a:r>
              <a:rPr sz="1000" b="0" dirty="0" err="1">
                <a:solidFill>
                  <a:srgbClr val="4A4A4A"/>
                </a:solidFill>
                <a:latin typeface="맑은 고딕"/>
              </a:rPr>
              <a:t>정량</a:t>
            </a:r>
            <a:r>
              <a:rPr sz="1000" b="0" dirty="0">
                <a:solidFill>
                  <a:srgbClr val="4A4A4A"/>
                </a:solidFill>
                <a:latin typeface="맑은 고딕"/>
              </a:rPr>
              <a:t> </a:t>
            </a:r>
            <a:r>
              <a:rPr sz="1000" b="0" dirty="0" err="1">
                <a:solidFill>
                  <a:srgbClr val="4A4A4A"/>
                </a:solidFill>
                <a:latin typeface="맑은 고딕"/>
              </a:rPr>
              <a:t>검증</a:t>
            </a:r>
            <a:endParaRPr sz="1000" b="0" dirty="0">
              <a:solidFill>
                <a:srgbClr val="4A4A4A"/>
              </a:solidFill>
              <a:latin typeface="맑은 고딕"/>
            </a:endParaRPr>
          </a:p>
        </p:txBody>
      </p:sp>
      <p:sp>
        <p:nvSpPr>
          <p:cNvPr id="20" name="Rounded Rectangle 19"/>
          <p:cNvSpPr/>
          <p:nvPr/>
        </p:nvSpPr>
        <p:spPr>
          <a:xfrm>
            <a:off x="384048" y="5257800"/>
            <a:ext cx="11430000" cy="594360"/>
          </a:xfrm>
          <a:prstGeom prst="roundRect">
            <a:avLst>
              <a:gd name="adj" fmla="val 5000"/>
            </a:avLst>
          </a:prstGeom>
          <a:solidFill>
            <a:srgbClr val="1B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5285232"/>
            <a:ext cx="11155680" cy="548640"/>
          </a:xfrm>
          <a:prstGeom prst="rect">
            <a:avLst/>
          </a:prstGeom>
          <a:noFill/>
        </p:spPr>
        <p:txBody>
          <a:bodyPr wrap="square" lIns="36000" tIns="18000" rIns="36000" bIns="18000" anchor="ctr">
            <a:spAutoFit/>
          </a:bodyPr>
          <a:lstStyle/>
          <a:p>
            <a:pPr algn="l"/>
            <a:r>
              <a:rPr sz="1400" b="1">
                <a:solidFill>
                  <a:srgbClr val="FFFFFF"/>
                </a:solidFill>
                <a:latin typeface="맑은 고딕"/>
              </a:rPr>
              <a:t>→  멀티모달 융합이 단일 모달리티 대비 실제 어떤 성능 차이를 만드는지 직접 구현하고 비교한다</a:t>
            </a:r>
          </a:p>
        </p:txBody>
      </p:sp>
    </p:spTree>
    <p:extLst>
      <p:ext uri="{BB962C8B-B14F-4D97-AF65-F5344CB8AC3E}">
        <p14:creationId xmlns:p14="http://schemas.microsoft.com/office/powerpoint/2010/main" val="1651085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4F2F343-49D9-45BA-933C-349D18958A8C}"/>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F279297E-1192-4907-A5E6-BFAAC5E1F3C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02</a:t>
            </a:r>
            <a:endParaRPr lang="ko-KR" altLang="en-US" sz="1600" b="1">
              <a:solidFill>
                <a:srgbClr val="FFFFFF"/>
              </a:solidFill>
            </a:endParaRPr>
          </a:p>
        </p:txBody>
      </p:sp>
      <p:sp>
        <p:nvSpPr>
          <p:cNvPr id="5" name="TextBox 4">
            <a:extLst>
              <a:ext uri="{FF2B5EF4-FFF2-40B4-BE49-F238E27FC236}">
                <a16:creationId xmlns:a16="http://schemas.microsoft.com/office/drawing/2014/main" id="{72CF5864-6C9A-40FE-A90D-FD95FABB8883}"/>
              </a:ext>
            </a:extLst>
          </p:cNvPr>
          <p:cNvSpPr txBox="1"/>
          <p:nvPr/>
        </p:nvSpPr>
        <p:spPr>
          <a:xfrm>
            <a:off x="1079500" y="190500"/>
            <a:ext cx="508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프로젝트 목표 및 접근</a:t>
            </a:r>
          </a:p>
        </p:txBody>
      </p:sp>
      <p:sp>
        <p:nvSpPr>
          <p:cNvPr id="6" name="TextBox 5"/>
          <p:cNvSpPr txBox="1"/>
          <p:nvPr/>
        </p:nvSpPr>
        <p:spPr>
          <a:xfrm>
            <a:off x="384048" y="1188720"/>
            <a:ext cx="11430000" cy="457200"/>
          </a:xfrm>
          <a:prstGeom prst="rect">
            <a:avLst/>
          </a:prstGeom>
          <a:noFill/>
        </p:spPr>
        <p:txBody>
          <a:bodyPr wrap="square" lIns="36000" tIns="18000" rIns="36000" bIns="18000" anchor="ctr">
            <a:spAutoFit/>
          </a:bodyPr>
          <a:lstStyle/>
          <a:p>
            <a:pPr algn="l"/>
            <a:r>
              <a:rPr sz="1800" b="1">
                <a:solidFill>
                  <a:srgbClr val="1B2A4A"/>
                </a:solidFill>
                <a:latin typeface="맑은 고딕"/>
              </a:rPr>
              <a:t>Future Factories Dataset 기반 3-모델 비교 프레임워크</a:t>
            </a:r>
          </a:p>
        </p:txBody>
      </p:sp>
      <p:sp>
        <p:nvSpPr>
          <p:cNvPr id="7" name="Rounded Rectangle 6"/>
          <p:cNvSpPr/>
          <p:nvPr/>
        </p:nvSpPr>
        <p:spPr>
          <a:xfrm>
            <a:off x="384048" y="1828800"/>
            <a:ext cx="3429000" cy="31089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84048" y="1828800"/>
            <a:ext cx="3429000" cy="502920"/>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1901952"/>
            <a:ext cx="3154680" cy="365760"/>
          </a:xfrm>
          <a:prstGeom prst="rect">
            <a:avLst/>
          </a:prstGeom>
          <a:noFill/>
        </p:spPr>
        <p:txBody>
          <a:bodyPr wrap="square" lIns="36000" tIns="18000" rIns="36000" bIns="18000" anchor="ctr">
            <a:spAutoFit/>
          </a:bodyPr>
          <a:lstStyle/>
          <a:p>
            <a:pPr algn="l"/>
            <a:r>
              <a:rPr sz="1200" b="1">
                <a:solidFill>
                  <a:srgbClr val="FFFFFF"/>
                </a:solidFill>
                <a:latin typeface="맑은 고딕"/>
              </a:rPr>
              <a:t>Model 1</a:t>
            </a:r>
          </a:p>
        </p:txBody>
      </p:sp>
      <p:sp>
        <p:nvSpPr>
          <p:cNvPr id="10" name="TextBox 9"/>
          <p:cNvSpPr txBox="1"/>
          <p:nvPr/>
        </p:nvSpPr>
        <p:spPr>
          <a:xfrm>
            <a:off x="566928" y="2658720"/>
            <a:ext cx="3154680" cy="411480"/>
          </a:xfrm>
          <a:prstGeom prst="rect">
            <a:avLst/>
          </a:prstGeom>
          <a:noFill/>
        </p:spPr>
        <p:txBody>
          <a:bodyPr wrap="square" lIns="36000" tIns="18000" rIns="36000" bIns="18000" anchor="ctr">
            <a:spAutoFit/>
          </a:bodyPr>
          <a:lstStyle/>
          <a:p>
            <a:pPr algn="l"/>
            <a:r>
              <a:rPr sz="1800" b="1" dirty="0" err="1">
                <a:solidFill>
                  <a:srgbClr val="1B2A4A"/>
                </a:solidFill>
                <a:latin typeface="맑은 고딕"/>
              </a:rPr>
              <a:t>센서</a:t>
            </a:r>
            <a:r>
              <a:rPr sz="1800" b="1" dirty="0">
                <a:solidFill>
                  <a:srgbClr val="1B2A4A"/>
                </a:solidFill>
                <a:latin typeface="맑은 고딕"/>
              </a:rPr>
              <a:t> </a:t>
            </a:r>
            <a:r>
              <a:rPr sz="1800" b="1" dirty="0" err="1">
                <a:solidFill>
                  <a:srgbClr val="1B2A4A"/>
                </a:solidFill>
                <a:latin typeface="맑은 고딕"/>
              </a:rPr>
              <a:t>단독</a:t>
            </a:r>
            <a:endParaRPr sz="1800" b="1" dirty="0">
              <a:solidFill>
                <a:srgbClr val="1B2A4A"/>
              </a:solidFill>
              <a:latin typeface="맑은 고딕"/>
            </a:endParaRPr>
          </a:p>
        </p:txBody>
      </p:sp>
      <p:sp>
        <p:nvSpPr>
          <p:cNvPr id="11" name="TextBox 10"/>
          <p:cNvSpPr txBox="1"/>
          <p:nvPr/>
        </p:nvSpPr>
        <p:spPr>
          <a:xfrm>
            <a:off x="566928" y="3041374"/>
            <a:ext cx="3154680" cy="365760"/>
          </a:xfrm>
          <a:prstGeom prst="rect">
            <a:avLst/>
          </a:prstGeom>
          <a:noFill/>
        </p:spPr>
        <p:txBody>
          <a:bodyPr wrap="square" lIns="36000" tIns="18000" rIns="36000" bIns="18000" anchor="ctr">
            <a:spAutoFit/>
          </a:bodyPr>
          <a:lstStyle/>
          <a:p>
            <a:pPr algn="l"/>
            <a:r>
              <a:rPr sz="1200" b="1" dirty="0" err="1">
                <a:solidFill>
                  <a:srgbClr val="2676AC"/>
                </a:solidFill>
                <a:latin typeface="맑은 고딕"/>
              </a:rPr>
              <a:t>BiLSTM</a:t>
            </a:r>
            <a:endParaRPr sz="1200" b="1" dirty="0">
              <a:solidFill>
                <a:srgbClr val="2676AC"/>
              </a:solidFill>
              <a:latin typeface="맑은 고딕"/>
            </a:endParaRPr>
          </a:p>
        </p:txBody>
      </p:sp>
      <p:sp>
        <p:nvSpPr>
          <p:cNvPr id="12" name="TextBox 11"/>
          <p:cNvSpPr txBox="1"/>
          <p:nvPr/>
        </p:nvSpPr>
        <p:spPr>
          <a:xfrm>
            <a:off x="566928" y="3360418"/>
            <a:ext cx="3154680" cy="1463040"/>
          </a:xfrm>
          <a:prstGeom prst="rect">
            <a:avLst/>
          </a:prstGeom>
          <a:noFill/>
        </p:spPr>
        <p:txBody>
          <a:bodyPr wrap="square" lIns="36000" tIns="18000" rIns="36000" bIns="18000" anchor="ctr">
            <a:spAutoFit/>
          </a:bodyPr>
          <a:lstStyle/>
          <a:p>
            <a:pPr algn="l"/>
            <a:r>
              <a:rPr sz="1100" b="0">
                <a:solidFill>
                  <a:srgbClr val="4A4A4A"/>
                </a:solidFill>
                <a:latin typeface="맑은 고딕"/>
              </a:rPr>
              <a:t>•  입력: 22 channel × 50 step</a:t>
            </a:r>
          </a:p>
          <a:p>
            <a:pPr algn="l"/>
            <a:r>
              <a:rPr sz="1100" b="0">
                <a:solidFill>
                  <a:srgbClr val="4A4A4A"/>
                </a:solidFill>
                <a:latin typeface="맑은 고딕"/>
              </a:rPr>
              <a:t>•  전체 사이클 활용 가능</a:t>
            </a:r>
          </a:p>
          <a:p>
            <a:pPr algn="l"/>
            <a:r>
              <a:rPr sz="1100" b="0">
                <a:solidFill>
                  <a:srgbClr val="4A4A4A"/>
                </a:solidFill>
                <a:latin typeface="맑은 고딕"/>
              </a:rPr>
              <a:t>•  Sliding Window 시퀀스</a:t>
            </a:r>
          </a:p>
          <a:p>
            <a:pPr algn="l"/>
            <a:r>
              <a:rPr sz="1100" b="0">
                <a:solidFill>
                  <a:srgbClr val="4A4A4A"/>
                </a:solidFill>
                <a:latin typeface="맑은 고딕"/>
              </a:rPr>
              <a:t>•  Class Weight 불균형 처리</a:t>
            </a:r>
          </a:p>
        </p:txBody>
      </p:sp>
      <p:sp>
        <p:nvSpPr>
          <p:cNvPr id="13" name="Rounded Rectangle 12"/>
          <p:cNvSpPr/>
          <p:nvPr/>
        </p:nvSpPr>
        <p:spPr>
          <a:xfrm>
            <a:off x="4379976" y="1828800"/>
            <a:ext cx="3429000" cy="31089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379976" y="1828800"/>
            <a:ext cx="3429000" cy="50292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2856" y="1901952"/>
            <a:ext cx="3154680" cy="365760"/>
          </a:xfrm>
          <a:prstGeom prst="rect">
            <a:avLst/>
          </a:prstGeom>
          <a:noFill/>
        </p:spPr>
        <p:txBody>
          <a:bodyPr wrap="square" lIns="36000" tIns="18000" rIns="36000" bIns="18000" anchor="ctr">
            <a:spAutoFit/>
          </a:bodyPr>
          <a:lstStyle/>
          <a:p>
            <a:pPr algn="l"/>
            <a:r>
              <a:rPr sz="1200" b="1">
                <a:solidFill>
                  <a:srgbClr val="FFFFFF"/>
                </a:solidFill>
                <a:latin typeface="맑은 고딕"/>
              </a:rPr>
              <a:t>Model 2</a:t>
            </a:r>
          </a:p>
        </p:txBody>
      </p:sp>
      <p:sp>
        <p:nvSpPr>
          <p:cNvPr id="16" name="TextBox 15"/>
          <p:cNvSpPr txBox="1"/>
          <p:nvPr/>
        </p:nvSpPr>
        <p:spPr>
          <a:xfrm>
            <a:off x="4562856" y="2658720"/>
            <a:ext cx="3154680" cy="411480"/>
          </a:xfrm>
          <a:prstGeom prst="rect">
            <a:avLst/>
          </a:prstGeom>
          <a:noFill/>
        </p:spPr>
        <p:txBody>
          <a:bodyPr wrap="square" lIns="36000" tIns="18000" rIns="36000" bIns="18000" anchor="ctr">
            <a:spAutoFit/>
          </a:bodyPr>
          <a:lstStyle/>
          <a:p>
            <a:pPr algn="l"/>
            <a:r>
              <a:rPr sz="1800" b="1">
                <a:solidFill>
                  <a:srgbClr val="1B2A4A"/>
                </a:solidFill>
                <a:latin typeface="맑은 고딕"/>
              </a:rPr>
              <a:t>이미지 단독</a:t>
            </a:r>
          </a:p>
        </p:txBody>
      </p:sp>
      <p:sp>
        <p:nvSpPr>
          <p:cNvPr id="17" name="TextBox 16"/>
          <p:cNvSpPr txBox="1"/>
          <p:nvPr/>
        </p:nvSpPr>
        <p:spPr>
          <a:xfrm>
            <a:off x="4562856" y="3041374"/>
            <a:ext cx="3154680" cy="365760"/>
          </a:xfrm>
          <a:prstGeom prst="rect">
            <a:avLst/>
          </a:prstGeom>
          <a:noFill/>
        </p:spPr>
        <p:txBody>
          <a:bodyPr wrap="square" lIns="36000" tIns="18000" rIns="36000" bIns="18000" anchor="ctr">
            <a:spAutoFit/>
          </a:bodyPr>
          <a:lstStyle/>
          <a:p>
            <a:pPr algn="l"/>
            <a:r>
              <a:rPr sz="1200" b="1">
                <a:solidFill>
                  <a:srgbClr val="16A295"/>
                </a:solidFill>
                <a:latin typeface="맑은 고딕"/>
              </a:rPr>
              <a:t>ResNet18</a:t>
            </a:r>
          </a:p>
        </p:txBody>
      </p:sp>
      <p:sp>
        <p:nvSpPr>
          <p:cNvPr id="18" name="TextBox 17"/>
          <p:cNvSpPr txBox="1"/>
          <p:nvPr/>
        </p:nvSpPr>
        <p:spPr>
          <a:xfrm>
            <a:off x="4562856" y="3360418"/>
            <a:ext cx="3154680" cy="1463040"/>
          </a:xfrm>
          <a:prstGeom prst="rect">
            <a:avLst/>
          </a:prstGeom>
          <a:noFill/>
        </p:spPr>
        <p:txBody>
          <a:bodyPr wrap="square" lIns="36000" tIns="18000" rIns="36000" bIns="18000" anchor="ctr">
            <a:spAutoFit/>
          </a:bodyPr>
          <a:lstStyle/>
          <a:p>
            <a:pPr algn="l"/>
            <a:r>
              <a:rPr sz="1100" b="0">
                <a:solidFill>
                  <a:srgbClr val="4A4A4A"/>
                </a:solidFill>
                <a:latin typeface="맑은 고딕"/>
              </a:rPr>
              <a:t>•  ImageNet 사전학습 활용</a:t>
            </a:r>
          </a:p>
          <a:p>
            <a:pPr algn="l"/>
            <a:r>
              <a:rPr sz="1100" b="0">
                <a:solidFill>
                  <a:srgbClr val="4A4A4A"/>
                </a:solidFill>
                <a:latin typeface="맑은 고딕"/>
              </a:rPr>
              <a:t>•  Transfer Learning + Fine-tune</a:t>
            </a:r>
          </a:p>
          <a:p>
            <a:pPr algn="l"/>
            <a:r>
              <a:rPr sz="1100" b="0">
                <a:solidFill>
                  <a:srgbClr val="4A4A4A"/>
                </a:solidFill>
                <a:latin typeface="맑은 고딕"/>
              </a:rPr>
              <a:t>•  Data Augmentation 적용</a:t>
            </a:r>
          </a:p>
          <a:p>
            <a:pPr algn="l"/>
            <a:r>
              <a:rPr sz="1100" b="0">
                <a:solidFill>
                  <a:srgbClr val="4A4A4A"/>
                </a:solidFill>
                <a:latin typeface="맑은 고딕"/>
              </a:rPr>
              <a:t>•  Cycle 4·9 구간만 사용</a:t>
            </a:r>
          </a:p>
        </p:txBody>
      </p:sp>
      <p:sp>
        <p:nvSpPr>
          <p:cNvPr id="19" name="Rounded Rectangle 18"/>
          <p:cNvSpPr/>
          <p:nvPr/>
        </p:nvSpPr>
        <p:spPr>
          <a:xfrm>
            <a:off x="8375904" y="1828800"/>
            <a:ext cx="3429000" cy="31089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375904" y="1828800"/>
            <a:ext cx="3429000" cy="502920"/>
          </a:xfrm>
          <a:prstGeom prst="roundRect">
            <a:avLst>
              <a:gd name="adj" fmla="val 5000"/>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58784" y="1901952"/>
            <a:ext cx="3154680" cy="365760"/>
          </a:xfrm>
          <a:prstGeom prst="rect">
            <a:avLst/>
          </a:prstGeom>
          <a:noFill/>
        </p:spPr>
        <p:txBody>
          <a:bodyPr wrap="square" lIns="36000" tIns="18000" rIns="36000" bIns="18000" anchor="ctr">
            <a:spAutoFit/>
          </a:bodyPr>
          <a:lstStyle/>
          <a:p>
            <a:pPr algn="l"/>
            <a:r>
              <a:rPr sz="1200" b="1">
                <a:solidFill>
                  <a:srgbClr val="FFFFFF"/>
                </a:solidFill>
                <a:latin typeface="맑은 고딕"/>
              </a:rPr>
              <a:t>Model 3</a:t>
            </a:r>
          </a:p>
        </p:txBody>
      </p:sp>
      <p:sp>
        <p:nvSpPr>
          <p:cNvPr id="22" name="TextBox 21"/>
          <p:cNvSpPr txBox="1"/>
          <p:nvPr/>
        </p:nvSpPr>
        <p:spPr>
          <a:xfrm>
            <a:off x="8558784" y="2658720"/>
            <a:ext cx="3154680" cy="411480"/>
          </a:xfrm>
          <a:prstGeom prst="rect">
            <a:avLst/>
          </a:prstGeom>
          <a:noFill/>
        </p:spPr>
        <p:txBody>
          <a:bodyPr wrap="square" lIns="36000" tIns="18000" rIns="36000" bIns="18000" anchor="ctr">
            <a:spAutoFit/>
          </a:bodyPr>
          <a:lstStyle/>
          <a:p>
            <a:pPr algn="l"/>
            <a:r>
              <a:rPr sz="1800" b="1">
                <a:solidFill>
                  <a:srgbClr val="1B2A4A"/>
                </a:solidFill>
                <a:latin typeface="맑은 고딕"/>
              </a:rPr>
              <a:t>멀티모달 융합</a:t>
            </a:r>
          </a:p>
        </p:txBody>
      </p:sp>
      <p:sp>
        <p:nvSpPr>
          <p:cNvPr id="23" name="TextBox 22"/>
          <p:cNvSpPr txBox="1"/>
          <p:nvPr/>
        </p:nvSpPr>
        <p:spPr>
          <a:xfrm>
            <a:off x="8558784" y="3041374"/>
            <a:ext cx="3154680" cy="365760"/>
          </a:xfrm>
          <a:prstGeom prst="rect">
            <a:avLst/>
          </a:prstGeom>
          <a:noFill/>
        </p:spPr>
        <p:txBody>
          <a:bodyPr wrap="square" lIns="36000" tIns="18000" rIns="36000" bIns="18000" anchor="ctr">
            <a:spAutoFit/>
          </a:bodyPr>
          <a:lstStyle/>
          <a:p>
            <a:pPr algn="l"/>
            <a:r>
              <a:rPr sz="1200" b="1">
                <a:solidFill>
                  <a:srgbClr val="E8584F"/>
                </a:solidFill>
                <a:latin typeface="맑은 고딕"/>
              </a:rPr>
              <a:t>Decision-Level Fusion</a:t>
            </a:r>
          </a:p>
        </p:txBody>
      </p:sp>
      <p:sp>
        <p:nvSpPr>
          <p:cNvPr id="24" name="TextBox 23"/>
          <p:cNvSpPr txBox="1"/>
          <p:nvPr/>
        </p:nvSpPr>
        <p:spPr>
          <a:xfrm>
            <a:off x="8558784" y="3360418"/>
            <a:ext cx="3154680" cy="1463040"/>
          </a:xfrm>
          <a:prstGeom prst="rect">
            <a:avLst/>
          </a:prstGeom>
          <a:noFill/>
        </p:spPr>
        <p:txBody>
          <a:bodyPr wrap="square" lIns="36000" tIns="18000" rIns="36000" bIns="18000" anchor="ctr">
            <a:spAutoFit/>
          </a:bodyPr>
          <a:lstStyle/>
          <a:p>
            <a:pPr algn="l"/>
            <a:r>
              <a:rPr sz="1100" b="0">
                <a:solidFill>
                  <a:srgbClr val="4A4A4A"/>
                </a:solidFill>
                <a:latin typeface="맑은 고딕"/>
              </a:rPr>
              <a:t>•  BiLSTM 256 + ResNet18 512</a:t>
            </a:r>
          </a:p>
          <a:p>
            <a:pPr algn="l"/>
            <a:r>
              <a:rPr sz="1100" b="0">
                <a:solidFill>
                  <a:srgbClr val="4A4A4A"/>
                </a:solidFill>
                <a:latin typeface="맑은 고딕"/>
              </a:rPr>
              <a:t>•  Concat → FC Classifier</a:t>
            </a:r>
          </a:p>
          <a:p>
            <a:pPr algn="l"/>
            <a:r>
              <a:rPr sz="1100" b="0">
                <a:solidFill>
                  <a:srgbClr val="4A4A4A"/>
                </a:solidFill>
                <a:latin typeface="맑은 고딕"/>
              </a:rPr>
              <a:t>•  두 모달리티 상호 보완</a:t>
            </a:r>
          </a:p>
          <a:p>
            <a:pPr algn="l"/>
            <a:r>
              <a:rPr sz="1100" b="0">
                <a:solidFill>
                  <a:srgbClr val="4A4A4A"/>
                </a:solidFill>
                <a:latin typeface="맑은 고딕"/>
              </a:rPr>
              <a:t>•  이미지 없는 시점은 센서만</a:t>
            </a:r>
          </a:p>
        </p:txBody>
      </p:sp>
      <p:sp>
        <p:nvSpPr>
          <p:cNvPr id="25" name="Rounded Rectangle 24"/>
          <p:cNvSpPr/>
          <p:nvPr/>
        </p:nvSpPr>
        <p:spPr>
          <a:xfrm>
            <a:off x="384048" y="5166360"/>
            <a:ext cx="11430000" cy="640080"/>
          </a:xfrm>
          <a:prstGeom prst="roundRect">
            <a:avLst>
              <a:gd name="adj" fmla="val 5000"/>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8640" y="5212080"/>
            <a:ext cx="11155680" cy="594360"/>
          </a:xfrm>
          <a:prstGeom prst="rect">
            <a:avLst/>
          </a:prstGeom>
          <a:noFill/>
        </p:spPr>
        <p:txBody>
          <a:bodyPr wrap="square" lIns="36000" tIns="18000" rIns="36000" bIns="18000" anchor="ctr">
            <a:spAutoFit/>
          </a:bodyPr>
          <a:lstStyle/>
          <a:p>
            <a:pPr algn="l"/>
            <a:r>
              <a:rPr sz="1200" b="0">
                <a:solidFill>
                  <a:srgbClr val="1B2A4A"/>
                </a:solidFill>
                <a:latin typeface="맑은 고딕"/>
              </a:rPr>
              <a:t>동일 데이터 · 동일 평가 지표 (Accuracy, Precision, Recall, F1, Confusion Matrix) 로 세 모델을 비교하여 멀티모달의 효과를 정량 분석</a:t>
            </a:r>
          </a:p>
        </p:txBody>
      </p:sp>
    </p:spTree>
    <p:extLst>
      <p:ext uri="{BB962C8B-B14F-4D97-AF65-F5344CB8AC3E}">
        <p14:creationId xmlns:p14="http://schemas.microsoft.com/office/powerpoint/2010/main" val="275203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694D440F-2CDE-4A22-95E0-BC24D298F7E8}"/>
              </a:ext>
            </a:extLst>
          </p:cNvPr>
          <p:cNvSpPr/>
          <p:nvPr/>
        </p:nvSpPr>
        <p:spPr>
          <a:xfrm>
            <a:off x="0" y="-46234"/>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13BC0469-B0DB-42C8-AF7F-884DFE2A8C1E}"/>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03</a:t>
            </a:r>
            <a:endParaRPr lang="ko-KR" altLang="en-US" sz="1600" b="1">
              <a:solidFill>
                <a:srgbClr val="FFFFFF"/>
              </a:solidFill>
            </a:endParaRPr>
          </a:p>
        </p:txBody>
      </p:sp>
      <p:sp>
        <p:nvSpPr>
          <p:cNvPr id="5" name="TextBox 4">
            <a:extLst>
              <a:ext uri="{FF2B5EF4-FFF2-40B4-BE49-F238E27FC236}">
                <a16:creationId xmlns:a16="http://schemas.microsoft.com/office/drawing/2014/main" id="{0C12993F-6372-46DC-A47F-FD97393BD727}"/>
              </a:ext>
            </a:extLst>
          </p:cNvPr>
          <p:cNvSpPr txBox="1"/>
          <p:nvPr/>
        </p:nvSpPr>
        <p:spPr>
          <a:xfrm>
            <a:off x="1079499" y="190500"/>
            <a:ext cx="5241787" cy="508000"/>
          </a:xfrm>
          <a:prstGeom prst="rect">
            <a:avLst/>
          </a:prstGeom>
          <a:noFill/>
        </p:spPr>
        <p:txBody>
          <a:bodyPr vertOverflow="overflow" vert="horz" wrap="square" rtlCol="0" anchor="ctr">
            <a:noAutofit/>
          </a:bodyPr>
          <a:lstStyle/>
          <a:p>
            <a:pPr algn="l">
              <a:lnSpc>
                <a:spcPct val="130000"/>
              </a:lnSpc>
            </a:pPr>
            <a:r>
              <a:rPr lang="ko-KR" altLang="en-US" sz="2200" b="1" dirty="0">
                <a:solidFill>
                  <a:srgbClr val="FFFFFF"/>
                </a:solidFill>
                <a:latin typeface="나눔고딕" panose="020D0604000000000000" pitchFamily="50" charset="-127"/>
                <a:ea typeface="나눔고딕" panose="020D0604000000000000" pitchFamily="50" charset="-127"/>
                <a:cs typeface="Arial" panose="020B0604020202020204" pitchFamily="34" charset="0"/>
              </a:rPr>
              <a:t>관련 연구: NSF-MAP (IJCAI 2025)</a:t>
            </a:r>
          </a:p>
        </p:txBody>
      </p:sp>
      <p:sp>
        <p:nvSpPr>
          <p:cNvPr id="6" name="TextBox 5"/>
          <p:cNvSpPr txBox="1"/>
          <p:nvPr/>
        </p:nvSpPr>
        <p:spPr>
          <a:xfrm>
            <a:off x="384048" y="1507769"/>
            <a:ext cx="6400800" cy="365760"/>
          </a:xfrm>
          <a:prstGeom prst="rect">
            <a:avLst/>
          </a:prstGeom>
          <a:noFill/>
        </p:spPr>
        <p:txBody>
          <a:bodyPr wrap="square" lIns="36000" tIns="18000" rIns="36000" bIns="18000" anchor="ctr">
            <a:spAutoFit/>
          </a:bodyPr>
          <a:lstStyle/>
          <a:p>
            <a:pPr algn="l"/>
            <a:r>
              <a:rPr sz="1600" b="1">
                <a:solidFill>
                  <a:srgbClr val="1B2A4A"/>
                </a:solidFill>
                <a:latin typeface="맑은 고딕"/>
              </a:rPr>
              <a:t>NSF-MAP의 단계적 발전 전략</a:t>
            </a:r>
          </a:p>
        </p:txBody>
      </p:sp>
      <p:sp>
        <p:nvSpPr>
          <p:cNvPr id="7" name="Rounded Rectangle 6"/>
          <p:cNvSpPr/>
          <p:nvPr/>
        </p:nvSpPr>
        <p:spPr>
          <a:xfrm>
            <a:off x="384048" y="1964969"/>
            <a:ext cx="6400800" cy="9144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84048" y="1964969"/>
            <a:ext cx="640080" cy="914400"/>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84048" y="2257577"/>
            <a:ext cx="640080" cy="365760"/>
          </a:xfrm>
          <a:prstGeom prst="rect">
            <a:avLst/>
          </a:prstGeom>
          <a:noFill/>
        </p:spPr>
        <p:txBody>
          <a:bodyPr wrap="square" lIns="36000" tIns="18000" rIns="36000" bIns="18000" anchor="ctr">
            <a:spAutoFit/>
          </a:bodyPr>
          <a:lstStyle/>
          <a:p>
            <a:pPr algn="ctr"/>
            <a:r>
              <a:rPr sz="1800" b="1">
                <a:solidFill>
                  <a:srgbClr val="FFFFFF"/>
                </a:solidFill>
                <a:latin typeface="맑은 고딕"/>
              </a:rPr>
              <a:t>P1</a:t>
            </a:r>
          </a:p>
        </p:txBody>
      </p:sp>
      <p:sp>
        <p:nvSpPr>
          <p:cNvPr id="10" name="TextBox 9"/>
          <p:cNvSpPr txBox="1"/>
          <p:nvPr/>
        </p:nvSpPr>
        <p:spPr>
          <a:xfrm>
            <a:off x="1143000" y="2038121"/>
            <a:ext cx="4114800" cy="411480"/>
          </a:xfrm>
          <a:prstGeom prst="rect">
            <a:avLst/>
          </a:prstGeom>
          <a:noFill/>
        </p:spPr>
        <p:txBody>
          <a:bodyPr wrap="square" lIns="36000" tIns="18000" rIns="36000" bIns="18000" anchor="ctr">
            <a:spAutoFit/>
          </a:bodyPr>
          <a:lstStyle/>
          <a:p>
            <a:pPr algn="l"/>
            <a:r>
              <a:rPr sz="1300" b="1">
                <a:solidFill>
                  <a:srgbClr val="1B2A4A"/>
                </a:solidFill>
                <a:latin typeface="맑은 고딕"/>
              </a:rPr>
              <a:t>Decision-Level Fusion</a:t>
            </a:r>
          </a:p>
        </p:txBody>
      </p:sp>
      <p:sp>
        <p:nvSpPr>
          <p:cNvPr id="11" name="TextBox 10"/>
          <p:cNvSpPr txBox="1"/>
          <p:nvPr/>
        </p:nvSpPr>
        <p:spPr>
          <a:xfrm>
            <a:off x="1143000" y="2422169"/>
            <a:ext cx="5029200" cy="411480"/>
          </a:xfrm>
          <a:prstGeom prst="rect">
            <a:avLst/>
          </a:prstGeom>
          <a:noFill/>
        </p:spPr>
        <p:txBody>
          <a:bodyPr wrap="square" lIns="36000" tIns="18000" rIns="36000" bIns="18000" anchor="ctr">
            <a:spAutoFit/>
          </a:bodyPr>
          <a:lstStyle/>
          <a:p>
            <a:pPr algn="l"/>
            <a:r>
              <a:rPr sz="1000" b="0">
                <a:solidFill>
                  <a:srgbClr val="4A4A4A"/>
                </a:solidFill>
                <a:latin typeface="맑은 고딕"/>
              </a:rPr>
              <a:t>EfficientNet-B0 + Autoencoder의 특징을 Concat</a:t>
            </a:r>
          </a:p>
        </p:txBody>
      </p:sp>
      <p:sp>
        <p:nvSpPr>
          <p:cNvPr id="12" name="TextBox 11"/>
          <p:cNvSpPr txBox="1"/>
          <p:nvPr/>
        </p:nvSpPr>
        <p:spPr>
          <a:xfrm>
            <a:off x="5212080" y="2193569"/>
            <a:ext cx="1508760" cy="457200"/>
          </a:xfrm>
          <a:prstGeom prst="rect">
            <a:avLst/>
          </a:prstGeom>
          <a:noFill/>
        </p:spPr>
        <p:txBody>
          <a:bodyPr wrap="square" lIns="36000" tIns="18000" rIns="36000" bIns="18000" anchor="ctr">
            <a:spAutoFit/>
          </a:bodyPr>
          <a:lstStyle/>
          <a:p>
            <a:pPr algn="r"/>
            <a:r>
              <a:rPr sz="1400" b="1">
                <a:solidFill>
                  <a:srgbClr val="2676AC"/>
                </a:solidFill>
                <a:latin typeface="맑은 고딕"/>
              </a:rPr>
              <a:t>Accuracy 72%</a:t>
            </a:r>
          </a:p>
        </p:txBody>
      </p:sp>
      <p:sp>
        <p:nvSpPr>
          <p:cNvPr id="13" name="Rounded Rectangle 12"/>
          <p:cNvSpPr/>
          <p:nvPr/>
        </p:nvSpPr>
        <p:spPr>
          <a:xfrm>
            <a:off x="384048" y="3016529"/>
            <a:ext cx="6400800" cy="9144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84048" y="3016529"/>
            <a:ext cx="640080" cy="91440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4048" y="3309137"/>
            <a:ext cx="640080" cy="365760"/>
          </a:xfrm>
          <a:prstGeom prst="rect">
            <a:avLst/>
          </a:prstGeom>
          <a:noFill/>
        </p:spPr>
        <p:txBody>
          <a:bodyPr wrap="square" lIns="36000" tIns="18000" rIns="36000" bIns="18000" anchor="ctr">
            <a:spAutoFit/>
          </a:bodyPr>
          <a:lstStyle/>
          <a:p>
            <a:pPr algn="ctr"/>
            <a:r>
              <a:rPr sz="1800" b="1">
                <a:solidFill>
                  <a:srgbClr val="FFFFFF"/>
                </a:solidFill>
                <a:latin typeface="맑은 고딕"/>
              </a:rPr>
              <a:t>P2</a:t>
            </a:r>
          </a:p>
        </p:txBody>
      </p:sp>
      <p:sp>
        <p:nvSpPr>
          <p:cNvPr id="16" name="TextBox 15"/>
          <p:cNvSpPr txBox="1"/>
          <p:nvPr/>
        </p:nvSpPr>
        <p:spPr>
          <a:xfrm>
            <a:off x="1143000" y="3089681"/>
            <a:ext cx="4114800" cy="411480"/>
          </a:xfrm>
          <a:prstGeom prst="rect">
            <a:avLst/>
          </a:prstGeom>
          <a:noFill/>
        </p:spPr>
        <p:txBody>
          <a:bodyPr wrap="square" lIns="36000" tIns="18000" rIns="36000" bIns="18000" anchor="ctr">
            <a:spAutoFit/>
          </a:bodyPr>
          <a:lstStyle/>
          <a:p>
            <a:pPr algn="l"/>
            <a:r>
              <a:rPr sz="1300" b="1">
                <a:solidFill>
                  <a:srgbClr val="1B2A4A"/>
                </a:solidFill>
                <a:latin typeface="맑은 고딕"/>
              </a:rPr>
              <a:t>+ Transfer Learning</a:t>
            </a:r>
          </a:p>
        </p:txBody>
      </p:sp>
      <p:sp>
        <p:nvSpPr>
          <p:cNvPr id="17" name="TextBox 16"/>
          <p:cNvSpPr txBox="1"/>
          <p:nvPr/>
        </p:nvSpPr>
        <p:spPr>
          <a:xfrm>
            <a:off x="1143000" y="3473729"/>
            <a:ext cx="5029200" cy="411480"/>
          </a:xfrm>
          <a:prstGeom prst="rect">
            <a:avLst/>
          </a:prstGeom>
          <a:noFill/>
        </p:spPr>
        <p:txBody>
          <a:bodyPr wrap="square" lIns="36000" tIns="18000" rIns="36000" bIns="18000" anchor="ctr">
            <a:spAutoFit/>
          </a:bodyPr>
          <a:lstStyle/>
          <a:p>
            <a:pPr algn="l"/>
            <a:r>
              <a:rPr sz="1000" b="0">
                <a:solidFill>
                  <a:srgbClr val="4A4A4A"/>
                </a:solidFill>
                <a:latin typeface="맑은 고딕"/>
              </a:rPr>
              <a:t>Encoder 동결 → Decoder Fine-tune 으로 과적합 방지</a:t>
            </a:r>
          </a:p>
        </p:txBody>
      </p:sp>
      <p:sp>
        <p:nvSpPr>
          <p:cNvPr id="18" name="TextBox 17"/>
          <p:cNvSpPr txBox="1"/>
          <p:nvPr/>
        </p:nvSpPr>
        <p:spPr>
          <a:xfrm>
            <a:off x="5212080" y="3245129"/>
            <a:ext cx="1508760" cy="457200"/>
          </a:xfrm>
          <a:prstGeom prst="rect">
            <a:avLst/>
          </a:prstGeom>
          <a:noFill/>
        </p:spPr>
        <p:txBody>
          <a:bodyPr wrap="square" lIns="36000" tIns="18000" rIns="36000" bIns="18000" anchor="ctr">
            <a:spAutoFit/>
          </a:bodyPr>
          <a:lstStyle/>
          <a:p>
            <a:pPr algn="r"/>
            <a:r>
              <a:rPr sz="1400" b="1">
                <a:solidFill>
                  <a:srgbClr val="16A295"/>
                </a:solidFill>
                <a:latin typeface="맑은 고딕"/>
              </a:rPr>
              <a:t>Accuracy 88%</a:t>
            </a:r>
          </a:p>
        </p:txBody>
      </p:sp>
      <p:sp>
        <p:nvSpPr>
          <p:cNvPr id="19" name="Rounded Rectangle 18"/>
          <p:cNvSpPr/>
          <p:nvPr/>
        </p:nvSpPr>
        <p:spPr>
          <a:xfrm>
            <a:off x="384048" y="4068089"/>
            <a:ext cx="6400800" cy="9144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84048" y="4068089"/>
            <a:ext cx="640080" cy="914400"/>
          </a:xfrm>
          <a:prstGeom prst="roundRect">
            <a:avLst>
              <a:gd name="adj" fmla="val 5000"/>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84048" y="4360697"/>
            <a:ext cx="640080" cy="365760"/>
          </a:xfrm>
          <a:prstGeom prst="rect">
            <a:avLst/>
          </a:prstGeom>
          <a:noFill/>
        </p:spPr>
        <p:txBody>
          <a:bodyPr wrap="square" lIns="36000" tIns="18000" rIns="36000" bIns="18000" anchor="ctr">
            <a:spAutoFit/>
          </a:bodyPr>
          <a:lstStyle/>
          <a:p>
            <a:pPr algn="ctr"/>
            <a:r>
              <a:rPr sz="1800" b="1">
                <a:solidFill>
                  <a:srgbClr val="FFFFFF"/>
                </a:solidFill>
                <a:latin typeface="맑은 고딕"/>
              </a:rPr>
              <a:t>P3</a:t>
            </a:r>
          </a:p>
        </p:txBody>
      </p:sp>
      <p:sp>
        <p:nvSpPr>
          <p:cNvPr id="22" name="TextBox 21"/>
          <p:cNvSpPr txBox="1"/>
          <p:nvPr/>
        </p:nvSpPr>
        <p:spPr>
          <a:xfrm>
            <a:off x="1143000" y="4141241"/>
            <a:ext cx="4114800" cy="411480"/>
          </a:xfrm>
          <a:prstGeom prst="rect">
            <a:avLst/>
          </a:prstGeom>
          <a:noFill/>
        </p:spPr>
        <p:txBody>
          <a:bodyPr wrap="square" lIns="36000" tIns="18000" rIns="36000" bIns="18000" anchor="ctr">
            <a:spAutoFit/>
          </a:bodyPr>
          <a:lstStyle/>
          <a:p>
            <a:pPr algn="l"/>
            <a:r>
              <a:rPr sz="1300" b="1">
                <a:solidFill>
                  <a:srgbClr val="1B2A4A"/>
                </a:solidFill>
                <a:latin typeface="맑은 고딕"/>
              </a:rPr>
              <a:t>+ Knowledge Infusion</a:t>
            </a:r>
          </a:p>
        </p:txBody>
      </p:sp>
      <p:sp>
        <p:nvSpPr>
          <p:cNvPr id="23" name="TextBox 22"/>
          <p:cNvSpPr txBox="1"/>
          <p:nvPr/>
        </p:nvSpPr>
        <p:spPr>
          <a:xfrm>
            <a:off x="1143000" y="4525289"/>
            <a:ext cx="5029200" cy="411480"/>
          </a:xfrm>
          <a:prstGeom prst="rect">
            <a:avLst/>
          </a:prstGeom>
          <a:noFill/>
        </p:spPr>
        <p:txBody>
          <a:bodyPr wrap="square" lIns="36000" tIns="18000" rIns="36000" bIns="18000" anchor="ctr">
            <a:spAutoFit/>
          </a:bodyPr>
          <a:lstStyle/>
          <a:p>
            <a:pPr algn="l"/>
            <a:r>
              <a:rPr sz="1000" b="0">
                <a:solidFill>
                  <a:srgbClr val="4A4A4A"/>
                </a:solidFill>
                <a:latin typeface="맑은 고딕"/>
              </a:rPr>
              <a:t>Process Ontology의 센서 범위 위반에 패널티</a:t>
            </a:r>
          </a:p>
        </p:txBody>
      </p:sp>
      <p:sp>
        <p:nvSpPr>
          <p:cNvPr id="24" name="TextBox 23"/>
          <p:cNvSpPr txBox="1"/>
          <p:nvPr/>
        </p:nvSpPr>
        <p:spPr>
          <a:xfrm>
            <a:off x="5212080" y="4296689"/>
            <a:ext cx="1508760" cy="457200"/>
          </a:xfrm>
          <a:prstGeom prst="rect">
            <a:avLst/>
          </a:prstGeom>
          <a:noFill/>
        </p:spPr>
        <p:txBody>
          <a:bodyPr wrap="square" lIns="36000" tIns="18000" rIns="36000" bIns="18000" anchor="ctr">
            <a:spAutoFit/>
          </a:bodyPr>
          <a:lstStyle/>
          <a:p>
            <a:pPr algn="r"/>
            <a:r>
              <a:rPr sz="1400" b="1">
                <a:solidFill>
                  <a:srgbClr val="F29E16"/>
                </a:solidFill>
                <a:latin typeface="맑은 고딕"/>
              </a:rPr>
              <a:t>Accuracy 93%</a:t>
            </a:r>
          </a:p>
        </p:txBody>
      </p:sp>
      <p:sp>
        <p:nvSpPr>
          <p:cNvPr id="25" name="Rounded Rectangle 24"/>
          <p:cNvSpPr/>
          <p:nvPr/>
        </p:nvSpPr>
        <p:spPr>
          <a:xfrm>
            <a:off x="7040880" y="1964969"/>
            <a:ext cx="4754880" cy="3017520"/>
          </a:xfrm>
          <a:prstGeom prst="roundRect">
            <a:avLst>
              <a:gd name="adj" fmla="val 1212"/>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178040" y="2189756"/>
            <a:ext cx="4572000" cy="365760"/>
          </a:xfrm>
          <a:prstGeom prst="rect">
            <a:avLst/>
          </a:prstGeom>
          <a:noFill/>
        </p:spPr>
        <p:txBody>
          <a:bodyPr wrap="square" lIns="36000" tIns="18000" rIns="36000" bIns="18000" anchor="ctr">
            <a:spAutoFit/>
          </a:bodyPr>
          <a:lstStyle/>
          <a:p>
            <a:pPr algn="l"/>
            <a:r>
              <a:rPr sz="1400" b="1" dirty="0">
                <a:solidFill>
                  <a:srgbClr val="1B2A4A"/>
                </a:solidFill>
                <a:latin typeface="맑은 고딕"/>
              </a:rPr>
              <a:t>본 </a:t>
            </a:r>
            <a:r>
              <a:rPr sz="1400" b="1" dirty="0" err="1">
                <a:solidFill>
                  <a:srgbClr val="1B2A4A"/>
                </a:solidFill>
                <a:latin typeface="맑은 고딕"/>
              </a:rPr>
              <a:t>프로젝트와의</a:t>
            </a:r>
            <a:r>
              <a:rPr sz="1400" b="1" dirty="0">
                <a:solidFill>
                  <a:srgbClr val="1B2A4A"/>
                </a:solidFill>
                <a:latin typeface="맑은 고딕"/>
              </a:rPr>
              <a:t> </a:t>
            </a:r>
            <a:r>
              <a:rPr sz="1400" b="1" dirty="0" err="1">
                <a:solidFill>
                  <a:srgbClr val="1B2A4A"/>
                </a:solidFill>
                <a:latin typeface="맑은 고딕"/>
              </a:rPr>
              <a:t>차이</a:t>
            </a:r>
            <a:endParaRPr sz="1400" b="1" dirty="0">
              <a:solidFill>
                <a:srgbClr val="1B2A4A"/>
              </a:solidFill>
              <a:latin typeface="맑은 고딕"/>
            </a:endParaRPr>
          </a:p>
        </p:txBody>
      </p:sp>
      <p:sp>
        <p:nvSpPr>
          <p:cNvPr id="27" name="TextBox 26"/>
          <p:cNvSpPr txBox="1"/>
          <p:nvPr/>
        </p:nvSpPr>
        <p:spPr>
          <a:xfrm>
            <a:off x="7178040" y="2010689"/>
            <a:ext cx="4572000" cy="3200400"/>
          </a:xfrm>
          <a:prstGeom prst="rect">
            <a:avLst/>
          </a:prstGeom>
          <a:noFill/>
        </p:spPr>
        <p:txBody>
          <a:bodyPr wrap="square" lIns="36000" tIns="18000" rIns="36000" bIns="18000" anchor="ctr">
            <a:spAutoFit/>
          </a:bodyPr>
          <a:lstStyle/>
          <a:p>
            <a:pPr algn="l"/>
            <a:r>
              <a:rPr sz="1000" b="0">
                <a:solidFill>
                  <a:srgbClr val="4A4A4A"/>
                </a:solidFill>
                <a:latin typeface="맑은 고딕"/>
              </a:rPr>
              <a:t>·  시계열: Autoencoder → BiLSTM</a:t>
            </a:r>
          </a:p>
          <a:p>
            <a:pPr algn="l"/>
            <a:r>
              <a:rPr sz="1000" b="0">
                <a:solidFill>
                  <a:srgbClr val="4A4A4A"/>
                </a:solidFill>
                <a:latin typeface="맑은 고딕"/>
              </a:rPr>
              <a:t>    (강의 학습 내용 직접 적용)</a:t>
            </a:r>
          </a:p>
          <a:p>
            <a:pPr algn="l"/>
            <a:endParaRPr sz="1000" b="0">
              <a:solidFill>
                <a:srgbClr val="4A4A4A"/>
              </a:solidFill>
              <a:latin typeface="맑은 고딕"/>
            </a:endParaRPr>
          </a:p>
          <a:p>
            <a:pPr algn="l"/>
            <a:r>
              <a:rPr sz="1000" b="0">
                <a:solidFill>
                  <a:srgbClr val="4A4A4A"/>
                </a:solidFill>
                <a:latin typeface="맑은 고딕"/>
              </a:rPr>
              <a:t>·  이미지: EfficientNet-B0 → ResNet18</a:t>
            </a:r>
          </a:p>
          <a:p>
            <a:pPr algn="l"/>
            <a:r>
              <a:rPr sz="1000" b="0">
                <a:solidFill>
                  <a:srgbClr val="4A4A4A"/>
                </a:solidFill>
                <a:latin typeface="맑은 고딕"/>
              </a:rPr>
              <a:t>    (단순화 및 학습 시간 단축)</a:t>
            </a:r>
          </a:p>
          <a:p>
            <a:pPr algn="l"/>
            <a:endParaRPr sz="1000" b="0">
              <a:solidFill>
                <a:srgbClr val="4A4A4A"/>
              </a:solidFill>
              <a:latin typeface="맑은 고딕"/>
            </a:endParaRPr>
          </a:p>
          <a:p>
            <a:pPr algn="l"/>
            <a:r>
              <a:rPr sz="1000" b="0">
                <a:solidFill>
                  <a:srgbClr val="4A4A4A"/>
                </a:solidFill>
                <a:latin typeface="맑은 고딕"/>
              </a:rPr>
              <a:t>·  핵심 비교 대상</a:t>
            </a:r>
          </a:p>
          <a:p>
            <a:pPr algn="l"/>
            <a:r>
              <a:rPr sz="1000" b="0">
                <a:solidFill>
                  <a:srgbClr val="4A4A4A"/>
                </a:solidFill>
                <a:latin typeface="맑은 고딕"/>
              </a:rPr>
              <a:t>    NSF-MAP: P1 → P2 → P3 (방법론 비교)</a:t>
            </a:r>
          </a:p>
          <a:p>
            <a:pPr algn="l"/>
            <a:r>
              <a:rPr sz="1000" b="0">
                <a:solidFill>
                  <a:srgbClr val="4A4A4A"/>
                </a:solidFill>
                <a:latin typeface="맑은 고딕"/>
              </a:rPr>
              <a:t>    본 프로젝트: 센서 vs 이미지 vs 융합</a:t>
            </a:r>
          </a:p>
          <a:p>
            <a:pPr algn="l"/>
            <a:r>
              <a:rPr sz="1000" b="0">
                <a:solidFill>
                  <a:srgbClr val="4A4A4A"/>
                </a:solidFill>
                <a:latin typeface="맑은 고딕"/>
              </a:rPr>
              <a:t>    (모달리티 효과 비교)</a:t>
            </a:r>
          </a:p>
          <a:p>
            <a:pPr algn="l"/>
            <a:endParaRPr sz="1000" b="0">
              <a:solidFill>
                <a:srgbClr val="4A4A4A"/>
              </a:solidFill>
              <a:latin typeface="맑은 고딕"/>
            </a:endParaRPr>
          </a:p>
          <a:p>
            <a:pPr algn="l"/>
            <a:r>
              <a:rPr sz="1000" b="0">
                <a:solidFill>
                  <a:srgbClr val="4A4A4A"/>
                </a:solidFill>
                <a:latin typeface="맑은 고딕"/>
              </a:rPr>
              <a:t>·  Knowledge Infusion / Ontology는</a:t>
            </a:r>
          </a:p>
          <a:p>
            <a:pPr algn="l"/>
            <a:r>
              <a:rPr sz="1000" b="0">
                <a:solidFill>
                  <a:srgbClr val="4A4A4A"/>
                </a:solidFill>
                <a:latin typeface="맑은 고딕"/>
              </a:rPr>
              <a:t>    여건상 향후 확장 과제로 분류</a:t>
            </a:r>
          </a:p>
        </p:txBody>
      </p:sp>
      <p:sp>
        <p:nvSpPr>
          <p:cNvPr id="28" name="Rounded Rectangle 27"/>
          <p:cNvSpPr/>
          <p:nvPr/>
        </p:nvSpPr>
        <p:spPr>
          <a:xfrm>
            <a:off x="384048" y="5212080"/>
            <a:ext cx="11430000" cy="548640"/>
          </a:xfrm>
          <a:prstGeom prst="roundRect">
            <a:avLst>
              <a:gd name="adj" fmla="val 5000"/>
            </a:avLst>
          </a:prstGeom>
          <a:solidFill>
            <a:srgbClr val="1B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5230368"/>
            <a:ext cx="11155680" cy="502920"/>
          </a:xfrm>
          <a:prstGeom prst="rect">
            <a:avLst/>
          </a:prstGeom>
          <a:noFill/>
        </p:spPr>
        <p:txBody>
          <a:bodyPr wrap="square" lIns="36000" tIns="18000" rIns="36000" bIns="18000" anchor="ctr">
            <a:spAutoFit/>
          </a:bodyPr>
          <a:lstStyle/>
          <a:p>
            <a:pPr algn="l"/>
            <a:r>
              <a:rPr sz="1200" b="0">
                <a:solidFill>
                  <a:srgbClr val="FFFFFF"/>
                </a:solidFill>
                <a:latin typeface="맑은 고딕"/>
              </a:rPr>
              <a:t>→  본 프로젝트는 NSF-MAP을 참고하되, 강의 학습 내용 범위 안에서 멀티모달 융합의 효과 자체를 검증하는 데 집중</a:t>
            </a:r>
          </a:p>
        </p:txBody>
      </p:sp>
    </p:spTree>
    <p:extLst>
      <p:ext uri="{BB962C8B-B14F-4D97-AF65-F5344CB8AC3E}">
        <p14:creationId xmlns:p14="http://schemas.microsoft.com/office/powerpoint/2010/main" val="3683239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44F69472-44A6-4369-B22F-F106D9569905}"/>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19EBD975-E638-41F2-ADA6-952D8B13AAC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04</a:t>
            </a:r>
            <a:endParaRPr lang="ko-KR" altLang="en-US" sz="1600" b="1">
              <a:solidFill>
                <a:srgbClr val="FFFFFF"/>
              </a:solidFill>
            </a:endParaRPr>
          </a:p>
        </p:txBody>
      </p:sp>
      <p:sp>
        <p:nvSpPr>
          <p:cNvPr id="5" name="TextBox 4">
            <a:extLst>
              <a:ext uri="{FF2B5EF4-FFF2-40B4-BE49-F238E27FC236}">
                <a16:creationId xmlns:a16="http://schemas.microsoft.com/office/drawing/2014/main" id="{113D395D-7CB5-4918-BCDF-218B4B5BC332}"/>
              </a:ext>
            </a:extLst>
          </p:cNvPr>
          <p:cNvSpPr txBox="1"/>
          <p:nvPr/>
        </p:nvSpPr>
        <p:spPr>
          <a:xfrm>
            <a:off x="1079500" y="190500"/>
            <a:ext cx="508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데이터셋: Future Factories</a:t>
            </a:r>
          </a:p>
        </p:txBody>
      </p:sp>
      <p:sp>
        <p:nvSpPr>
          <p:cNvPr id="6" name="TextBox 5"/>
          <p:cNvSpPr txBox="1"/>
          <p:nvPr/>
        </p:nvSpPr>
        <p:spPr>
          <a:xfrm>
            <a:off x="384048" y="1532616"/>
            <a:ext cx="6400800" cy="411480"/>
          </a:xfrm>
          <a:prstGeom prst="rect">
            <a:avLst/>
          </a:prstGeom>
          <a:noFill/>
        </p:spPr>
        <p:txBody>
          <a:bodyPr wrap="square" lIns="36000" tIns="18000" rIns="36000" bIns="18000" anchor="ctr">
            <a:spAutoFit/>
          </a:bodyPr>
          <a:lstStyle/>
          <a:p>
            <a:pPr algn="l"/>
            <a:r>
              <a:rPr sz="1500" b="1">
                <a:solidFill>
                  <a:srgbClr val="1B2A4A"/>
                </a:solidFill>
                <a:latin typeface="맑은 고딕"/>
              </a:rPr>
              <a:t>Future Factories Lab Dataset (USC, 2024)</a:t>
            </a:r>
          </a:p>
        </p:txBody>
      </p:sp>
      <p:sp>
        <p:nvSpPr>
          <p:cNvPr id="7" name="Rounded Rectangle 6"/>
          <p:cNvSpPr/>
          <p:nvPr/>
        </p:nvSpPr>
        <p:spPr>
          <a:xfrm>
            <a:off x="384048" y="2081256"/>
            <a:ext cx="1645920" cy="4572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84048" y="2126976"/>
            <a:ext cx="1645920" cy="365760"/>
          </a:xfrm>
          <a:prstGeom prst="rect">
            <a:avLst/>
          </a:prstGeom>
          <a:noFill/>
        </p:spPr>
        <p:txBody>
          <a:bodyPr wrap="square" lIns="36000" tIns="18000" rIns="36000" bIns="18000" anchor="ctr">
            <a:spAutoFit/>
          </a:bodyPr>
          <a:lstStyle/>
          <a:p>
            <a:pPr algn="ctr"/>
            <a:r>
              <a:rPr sz="1000" b="1">
                <a:solidFill>
                  <a:srgbClr val="FFFFFF"/>
                </a:solidFill>
                <a:latin typeface="맑은 고딕"/>
              </a:rPr>
              <a:t>조립 라인</a:t>
            </a:r>
          </a:p>
        </p:txBody>
      </p:sp>
      <p:sp>
        <p:nvSpPr>
          <p:cNvPr id="9" name="TextBox 8"/>
          <p:cNvSpPr txBox="1"/>
          <p:nvPr/>
        </p:nvSpPr>
        <p:spPr>
          <a:xfrm>
            <a:off x="2148840" y="2062968"/>
            <a:ext cx="4572000" cy="548640"/>
          </a:xfrm>
          <a:prstGeom prst="rect">
            <a:avLst/>
          </a:prstGeom>
          <a:noFill/>
        </p:spPr>
        <p:txBody>
          <a:bodyPr wrap="square" lIns="36000" tIns="18000" rIns="36000" bIns="18000" anchor="ctr">
            <a:spAutoFit/>
          </a:bodyPr>
          <a:lstStyle/>
          <a:p>
            <a:pPr algn="l"/>
            <a:r>
              <a:rPr sz="1000" b="0">
                <a:solidFill>
                  <a:srgbClr val="4A4A4A"/>
                </a:solidFill>
                <a:latin typeface="맑은 고딕"/>
              </a:rPr>
              <a:t>산업용 로봇 4대 + 컨베이어 구성</a:t>
            </a:r>
          </a:p>
        </p:txBody>
      </p:sp>
      <p:sp>
        <p:nvSpPr>
          <p:cNvPr id="10" name="Rounded Rectangle 9"/>
          <p:cNvSpPr/>
          <p:nvPr/>
        </p:nvSpPr>
        <p:spPr>
          <a:xfrm>
            <a:off x="384048" y="2629896"/>
            <a:ext cx="1645920" cy="4572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4048" y="2675615"/>
            <a:ext cx="1645920" cy="365760"/>
          </a:xfrm>
          <a:prstGeom prst="rect">
            <a:avLst/>
          </a:prstGeom>
          <a:noFill/>
        </p:spPr>
        <p:txBody>
          <a:bodyPr wrap="square" lIns="36000" tIns="18000" rIns="36000" bIns="18000" anchor="ctr">
            <a:spAutoFit/>
          </a:bodyPr>
          <a:lstStyle/>
          <a:p>
            <a:pPr algn="ctr"/>
            <a:r>
              <a:rPr sz="1000" b="1">
                <a:solidFill>
                  <a:srgbClr val="FFFFFF"/>
                </a:solidFill>
                <a:latin typeface="맑은 고딕"/>
              </a:rPr>
              <a:t>조립 대상</a:t>
            </a:r>
          </a:p>
        </p:txBody>
      </p:sp>
      <p:sp>
        <p:nvSpPr>
          <p:cNvPr id="12" name="TextBox 11"/>
          <p:cNvSpPr txBox="1"/>
          <p:nvPr/>
        </p:nvSpPr>
        <p:spPr>
          <a:xfrm>
            <a:off x="2148840" y="2611608"/>
            <a:ext cx="4572000" cy="548640"/>
          </a:xfrm>
          <a:prstGeom prst="rect">
            <a:avLst/>
          </a:prstGeom>
          <a:noFill/>
        </p:spPr>
        <p:txBody>
          <a:bodyPr wrap="square" lIns="36000" tIns="18000" rIns="36000" bIns="18000" anchor="ctr">
            <a:spAutoFit/>
          </a:bodyPr>
          <a:lstStyle/>
          <a:p>
            <a:pPr algn="l"/>
            <a:r>
              <a:rPr sz="1000" b="0">
                <a:solidFill>
                  <a:srgbClr val="4A4A4A"/>
                </a:solidFill>
                <a:latin typeface="맑은 고딕"/>
              </a:rPr>
              <a:t>4개 부품 로켓 모형 (의도적 결함 주입)</a:t>
            </a:r>
          </a:p>
        </p:txBody>
      </p:sp>
      <p:sp>
        <p:nvSpPr>
          <p:cNvPr id="13" name="Rounded Rectangle 12"/>
          <p:cNvSpPr/>
          <p:nvPr/>
        </p:nvSpPr>
        <p:spPr>
          <a:xfrm>
            <a:off x="384048" y="3178536"/>
            <a:ext cx="1645920" cy="4572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4048" y="3224255"/>
            <a:ext cx="1645920" cy="365760"/>
          </a:xfrm>
          <a:prstGeom prst="rect">
            <a:avLst/>
          </a:prstGeom>
          <a:noFill/>
        </p:spPr>
        <p:txBody>
          <a:bodyPr wrap="square" lIns="36000" tIns="18000" rIns="36000" bIns="18000" anchor="ctr">
            <a:spAutoFit/>
          </a:bodyPr>
          <a:lstStyle/>
          <a:p>
            <a:pPr algn="ctr"/>
            <a:r>
              <a:rPr sz="1000" b="1">
                <a:solidFill>
                  <a:srgbClr val="FFFFFF"/>
                </a:solidFill>
                <a:latin typeface="맑은 고딕"/>
              </a:rPr>
              <a:t>수집 규모</a:t>
            </a:r>
          </a:p>
        </p:txBody>
      </p:sp>
      <p:sp>
        <p:nvSpPr>
          <p:cNvPr id="15" name="TextBox 14"/>
          <p:cNvSpPr txBox="1"/>
          <p:nvPr/>
        </p:nvSpPr>
        <p:spPr>
          <a:xfrm>
            <a:off x="2148840" y="3160248"/>
            <a:ext cx="4572000" cy="548640"/>
          </a:xfrm>
          <a:prstGeom prst="rect">
            <a:avLst/>
          </a:prstGeom>
          <a:noFill/>
        </p:spPr>
        <p:txBody>
          <a:bodyPr wrap="square" lIns="36000" tIns="18000" rIns="36000" bIns="18000" anchor="ctr">
            <a:spAutoFit/>
          </a:bodyPr>
          <a:lstStyle/>
          <a:p>
            <a:pPr algn="l"/>
            <a:r>
              <a:rPr sz="1000" b="0">
                <a:solidFill>
                  <a:srgbClr val="4A4A4A"/>
                </a:solidFill>
                <a:latin typeface="맑은 고딕"/>
              </a:rPr>
              <a:t>30시간 연속 · 166,001 레코드 · 285 사이클</a:t>
            </a:r>
          </a:p>
        </p:txBody>
      </p:sp>
      <p:sp>
        <p:nvSpPr>
          <p:cNvPr id="16" name="Rounded Rectangle 15"/>
          <p:cNvSpPr/>
          <p:nvPr/>
        </p:nvSpPr>
        <p:spPr>
          <a:xfrm>
            <a:off x="384048" y="3727176"/>
            <a:ext cx="1645920" cy="4572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4048" y="3772896"/>
            <a:ext cx="1645920" cy="365760"/>
          </a:xfrm>
          <a:prstGeom prst="rect">
            <a:avLst/>
          </a:prstGeom>
          <a:noFill/>
        </p:spPr>
        <p:txBody>
          <a:bodyPr wrap="square" lIns="36000" tIns="18000" rIns="36000" bIns="18000" anchor="ctr">
            <a:spAutoFit/>
          </a:bodyPr>
          <a:lstStyle/>
          <a:p>
            <a:pPr algn="ctr"/>
            <a:r>
              <a:rPr sz="1000" b="1">
                <a:solidFill>
                  <a:srgbClr val="FFFFFF"/>
                </a:solidFill>
                <a:latin typeface="맑은 고딕"/>
              </a:rPr>
              <a:t>센서 데이터</a:t>
            </a:r>
          </a:p>
        </p:txBody>
      </p:sp>
      <p:sp>
        <p:nvSpPr>
          <p:cNvPr id="18" name="TextBox 17"/>
          <p:cNvSpPr txBox="1"/>
          <p:nvPr/>
        </p:nvSpPr>
        <p:spPr>
          <a:xfrm>
            <a:off x="2148840" y="3708888"/>
            <a:ext cx="4572000" cy="548640"/>
          </a:xfrm>
          <a:prstGeom prst="rect">
            <a:avLst/>
          </a:prstGeom>
          <a:noFill/>
        </p:spPr>
        <p:txBody>
          <a:bodyPr wrap="square" lIns="36000" tIns="18000" rIns="36000" bIns="18000" anchor="ctr">
            <a:spAutoFit/>
          </a:bodyPr>
          <a:lstStyle/>
          <a:p>
            <a:pPr algn="l"/>
            <a:r>
              <a:rPr sz="1000" b="0">
                <a:solidFill>
                  <a:srgbClr val="4A4A4A"/>
                </a:solidFill>
                <a:latin typeface="맑은 고딕"/>
              </a:rPr>
              <a:t>그리퍼 로드셀·포텐셔미터, 로봇 관절각도,</a:t>
            </a:r>
          </a:p>
          <a:p>
            <a:pPr algn="l"/>
            <a:r>
              <a:rPr sz="1000" b="0">
                <a:solidFill>
                  <a:srgbClr val="4A4A4A"/>
                </a:solidFill>
                <a:latin typeface="맑은 고딕"/>
              </a:rPr>
              <a:t>컨베이어 속도·온도 등 40+ 채널</a:t>
            </a:r>
          </a:p>
        </p:txBody>
      </p:sp>
      <p:sp>
        <p:nvSpPr>
          <p:cNvPr id="19" name="Rounded Rectangle 18"/>
          <p:cNvSpPr/>
          <p:nvPr/>
        </p:nvSpPr>
        <p:spPr>
          <a:xfrm>
            <a:off x="384048" y="4275815"/>
            <a:ext cx="1645920" cy="4572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4048" y="4321535"/>
            <a:ext cx="1645920" cy="365760"/>
          </a:xfrm>
          <a:prstGeom prst="rect">
            <a:avLst/>
          </a:prstGeom>
          <a:noFill/>
        </p:spPr>
        <p:txBody>
          <a:bodyPr wrap="square" lIns="36000" tIns="18000" rIns="36000" bIns="18000" anchor="ctr">
            <a:spAutoFit/>
          </a:bodyPr>
          <a:lstStyle/>
          <a:p>
            <a:pPr algn="ctr"/>
            <a:r>
              <a:rPr sz="1000" b="1">
                <a:solidFill>
                  <a:srgbClr val="FFFFFF"/>
                </a:solidFill>
                <a:latin typeface="맑은 고딕"/>
              </a:rPr>
              <a:t>이미지 데이터</a:t>
            </a:r>
          </a:p>
        </p:txBody>
      </p:sp>
      <p:sp>
        <p:nvSpPr>
          <p:cNvPr id="21" name="TextBox 20"/>
          <p:cNvSpPr txBox="1"/>
          <p:nvPr/>
        </p:nvSpPr>
        <p:spPr>
          <a:xfrm>
            <a:off x="2148840" y="4257528"/>
            <a:ext cx="4572000" cy="548640"/>
          </a:xfrm>
          <a:prstGeom prst="rect">
            <a:avLst/>
          </a:prstGeom>
          <a:noFill/>
        </p:spPr>
        <p:txBody>
          <a:bodyPr wrap="square" lIns="36000" tIns="18000" rIns="36000" bIns="18000" anchor="ctr">
            <a:spAutoFit/>
          </a:bodyPr>
          <a:lstStyle/>
          <a:p>
            <a:pPr algn="l"/>
            <a:r>
              <a:rPr sz="1000" b="0">
                <a:solidFill>
                  <a:srgbClr val="4A4A4A"/>
                </a:solidFill>
                <a:latin typeface="맑은 고딕"/>
              </a:rPr>
              <a:t>카메라 2대 동기화 촬영 (총 ~166K 장)</a:t>
            </a:r>
          </a:p>
        </p:txBody>
      </p:sp>
      <p:sp>
        <p:nvSpPr>
          <p:cNvPr id="22" name="TextBox 21"/>
          <p:cNvSpPr txBox="1"/>
          <p:nvPr/>
        </p:nvSpPr>
        <p:spPr>
          <a:xfrm>
            <a:off x="7040880" y="1532616"/>
            <a:ext cx="4754880" cy="411480"/>
          </a:xfrm>
          <a:prstGeom prst="rect">
            <a:avLst/>
          </a:prstGeom>
          <a:noFill/>
        </p:spPr>
        <p:txBody>
          <a:bodyPr wrap="square" lIns="36000" tIns="18000" rIns="36000" bIns="18000" anchor="ctr">
            <a:spAutoFit/>
          </a:bodyPr>
          <a:lstStyle/>
          <a:p>
            <a:pPr algn="l"/>
            <a:r>
              <a:rPr sz="1500" b="1">
                <a:solidFill>
                  <a:srgbClr val="1B2A4A"/>
                </a:solidFill>
                <a:latin typeface="맑은 고딕"/>
              </a:rPr>
              <a:t>라벨 분포 (소수 클래스 병합 후)</a:t>
            </a:r>
          </a:p>
        </p:txBody>
      </p:sp>
      <p:sp>
        <p:nvSpPr>
          <p:cNvPr id="23" name="Rounded Rectangle 22"/>
          <p:cNvSpPr/>
          <p:nvPr/>
        </p:nvSpPr>
        <p:spPr>
          <a:xfrm>
            <a:off x="7040880" y="2081256"/>
            <a:ext cx="4754880" cy="36576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178040" y="2126976"/>
            <a:ext cx="2286000" cy="274320"/>
          </a:xfrm>
          <a:prstGeom prst="rect">
            <a:avLst/>
          </a:prstGeom>
          <a:noFill/>
        </p:spPr>
        <p:txBody>
          <a:bodyPr wrap="square" lIns="36000" tIns="18000" rIns="36000" bIns="18000" anchor="ctr">
            <a:spAutoFit/>
          </a:bodyPr>
          <a:lstStyle/>
          <a:p>
            <a:pPr algn="l"/>
            <a:r>
              <a:rPr sz="1000" b="1">
                <a:solidFill>
                  <a:srgbClr val="FFFFFF"/>
                </a:solidFill>
                <a:latin typeface="맑은 고딕"/>
              </a:rPr>
              <a:t>Class</a:t>
            </a:r>
          </a:p>
        </p:txBody>
      </p:sp>
      <p:sp>
        <p:nvSpPr>
          <p:cNvPr id="25" name="TextBox 24"/>
          <p:cNvSpPr txBox="1"/>
          <p:nvPr/>
        </p:nvSpPr>
        <p:spPr>
          <a:xfrm>
            <a:off x="9509760" y="2126976"/>
            <a:ext cx="1097280" cy="274320"/>
          </a:xfrm>
          <a:prstGeom prst="rect">
            <a:avLst/>
          </a:prstGeom>
          <a:noFill/>
        </p:spPr>
        <p:txBody>
          <a:bodyPr wrap="square" lIns="36000" tIns="18000" rIns="36000" bIns="18000" anchor="ctr">
            <a:spAutoFit/>
          </a:bodyPr>
          <a:lstStyle/>
          <a:p>
            <a:pPr algn="r"/>
            <a:r>
              <a:rPr sz="1000" b="1">
                <a:solidFill>
                  <a:srgbClr val="FFFFFF"/>
                </a:solidFill>
                <a:latin typeface="맑은 고딕"/>
              </a:rPr>
              <a:t>Count</a:t>
            </a:r>
          </a:p>
        </p:txBody>
      </p:sp>
      <p:sp>
        <p:nvSpPr>
          <p:cNvPr id="26" name="TextBox 25"/>
          <p:cNvSpPr txBox="1"/>
          <p:nvPr/>
        </p:nvSpPr>
        <p:spPr>
          <a:xfrm>
            <a:off x="10698480" y="2126976"/>
            <a:ext cx="1005840" cy="274320"/>
          </a:xfrm>
          <a:prstGeom prst="rect">
            <a:avLst/>
          </a:prstGeom>
          <a:noFill/>
        </p:spPr>
        <p:txBody>
          <a:bodyPr wrap="square" lIns="36000" tIns="18000" rIns="36000" bIns="18000" anchor="ctr">
            <a:spAutoFit/>
          </a:bodyPr>
          <a:lstStyle/>
          <a:p>
            <a:pPr algn="r"/>
            <a:r>
              <a:rPr sz="1000" b="1">
                <a:solidFill>
                  <a:srgbClr val="FFFFFF"/>
                </a:solidFill>
                <a:latin typeface="맑은 고딕"/>
              </a:rPr>
              <a:t>Ratio</a:t>
            </a:r>
          </a:p>
        </p:txBody>
      </p:sp>
      <p:sp>
        <p:nvSpPr>
          <p:cNvPr id="27" name="Rounded Rectangle 26"/>
          <p:cNvSpPr/>
          <p:nvPr/>
        </p:nvSpPr>
        <p:spPr>
          <a:xfrm>
            <a:off x="7040880" y="2447016"/>
            <a:ext cx="4754880" cy="3657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114032" y="2565888"/>
            <a:ext cx="118872" cy="118872"/>
          </a:xfrm>
          <a:prstGeom prst="ellipse">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2483592"/>
            <a:ext cx="2103120" cy="274320"/>
          </a:xfrm>
          <a:prstGeom prst="rect">
            <a:avLst/>
          </a:prstGeom>
          <a:noFill/>
        </p:spPr>
        <p:txBody>
          <a:bodyPr wrap="square" lIns="36000" tIns="18000" rIns="36000" bIns="18000" anchor="ctr">
            <a:spAutoFit/>
          </a:bodyPr>
          <a:lstStyle/>
          <a:p>
            <a:pPr algn="l"/>
            <a:r>
              <a:rPr sz="900" b="0">
                <a:solidFill>
                  <a:srgbClr val="4A4A4A"/>
                </a:solidFill>
                <a:latin typeface="맑은 고딕"/>
              </a:rPr>
              <a:t>Normal</a:t>
            </a:r>
          </a:p>
        </p:txBody>
      </p:sp>
      <p:sp>
        <p:nvSpPr>
          <p:cNvPr id="30" name="TextBox 29"/>
          <p:cNvSpPr txBox="1"/>
          <p:nvPr/>
        </p:nvSpPr>
        <p:spPr>
          <a:xfrm>
            <a:off x="9418320" y="2483592"/>
            <a:ext cx="1188720" cy="274320"/>
          </a:xfrm>
          <a:prstGeom prst="rect">
            <a:avLst/>
          </a:prstGeom>
          <a:noFill/>
        </p:spPr>
        <p:txBody>
          <a:bodyPr wrap="square" lIns="36000" tIns="18000" rIns="36000" bIns="18000" anchor="ctr">
            <a:spAutoFit/>
          </a:bodyPr>
          <a:lstStyle/>
          <a:p>
            <a:pPr algn="r"/>
            <a:r>
              <a:rPr sz="900" b="1">
                <a:solidFill>
                  <a:srgbClr val="1B2A4A"/>
                </a:solidFill>
                <a:latin typeface="맑은 고딕"/>
              </a:rPr>
              <a:t>90,775</a:t>
            </a:r>
          </a:p>
        </p:txBody>
      </p:sp>
      <p:sp>
        <p:nvSpPr>
          <p:cNvPr id="31" name="TextBox 30"/>
          <p:cNvSpPr txBox="1"/>
          <p:nvPr/>
        </p:nvSpPr>
        <p:spPr>
          <a:xfrm>
            <a:off x="10652760" y="2483592"/>
            <a:ext cx="1051560" cy="274320"/>
          </a:xfrm>
          <a:prstGeom prst="rect">
            <a:avLst/>
          </a:prstGeom>
          <a:noFill/>
        </p:spPr>
        <p:txBody>
          <a:bodyPr wrap="square" lIns="36000" tIns="18000" rIns="36000" bIns="18000" anchor="ctr">
            <a:spAutoFit/>
          </a:bodyPr>
          <a:lstStyle/>
          <a:p>
            <a:pPr algn="r"/>
            <a:r>
              <a:rPr sz="900" b="0">
                <a:solidFill>
                  <a:srgbClr val="4A4A4A"/>
                </a:solidFill>
                <a:latin typeface="맑은 고딕"/>
              </a:rPr>
              <a:t>54.7%</a:t>
            </a:r>
          </a:p>
        </p:txBody>
      </p:sp>
      <p:sp>
        <p:nvSpPr>
          <p:cNvPr id="32" name="Rounded Rectangle 31"/>
          <p:cNvSpPr/>
          <p:nvPr/>
        </p:nvSpPr>
        <p:spPr>
          <a:xfrm>
            <a:off x="7040880" y="2831064"/>
            <a:ext cx="4754880" cy="365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114032" y="2949936"/>
            <a:ext cx="118872" cy="118872"/>
          </a:xfrm>
          <a:prstGeom prst="ellipse">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0" y="2867640"/>
            <a:ext cx="2103120" cy="274320"/>
          </a:xfrm>
          <a:prstGeom prst="rect">
            <a:avLst/>
          </a:prstGeom>
          <a:noFill/>
        </p:spPr>
        <p:txBody>
          <a:bodyPr wrap="square" lIns="36000" tIns="18000" rIns="36000" bIns="18000" anchor="ctr">
            <a:spAutoFit/>
          </a:bodyPr>
          <a:lstStyle/>
          <a:p>
            <a:pPr algn="l"/>
            <a:r>
              <a:rPr sz="900" b="0">
                <a:solidFill>
                  <a:srgbClr val="4A4A4A"/>
                </a:solidFill>
                <a:latin typeface="맑은 고딕"/>
              </a:rPr>
              <a:t>NoNose, NoBody2, NoBody1</a:t>
            </a:r>
          </a:p>
        </p:txBody>
      </p:sp>
      <p:sp>
        <p:nvSpPr>
          <p:cNvPr id="35" name="TextBox 34"/>
          <p:cNvSpPr txBox="1"/>
          <p:nvPr/>
        </p:nvSpPr>
        <p:spPr>
          <a:xfrm>
            <a:off x="9418320" y="2867640"/>
            <a:ext cx="1188720" cy="274320"/>
          </a:xfrm>
          <a:prstGeom prst="rect">
            <a:avLst/>
          </a:prstGeom>
          <a:noFill/>
        </p:spPr>
        <p:txBody>
          <a:bodyPr wrap="square" lIns="36000" tIns="18000" rIns="36000" bIns="18000" anchor="ctr">
            <a:spAutoFit/>
          </a:bodyPr>
          <a:lstStyle/>
          <a:p>
            <a:pPr algn="r"/>
            <a:r>
              <a:rPr sz="900" b="1">
                <a:solidFill>
                  <a:srgbClr val="1B2A4A"/>
                </a:solidFill>
                <a:latin typeface="맑은 고딕"/>
              </a:rPr>
              <a:t>26,628</a:t>
            </a:r>
          </a:p>
        </p:txBody>
      </p:sp>
      <p:sp>
        <p:nvSpPr>
          <p:cNvPr id="36" name="TextBox 35"/>
          <p:cNvSpPr txBox="1"/>
          <p:nvPr/>
        </p:nvSpPr>
        <p:spPr>
          <a:xfrm>
            <a:off x="10652760" y="2867640"/>
            <a:ext cx="1051560" cy="274320"/>
          </a:xfrm>
          <a:prstGeom prst="rect">
            <a:avLst/>
          </a:prstGeom>
          <a:noFill/>
        </p:spPr>
        <p:txBody>
          <a:bodyPr wrap="square" lIns="36000" tIns="18000" rIns="36000" bIns="18000" anchor="ctr">
            <a:spAutoFit/>
          </a:bodyPr>
          <a:lstStyle/>
          <a:p>
            <a:pPr algn="r"/>
            <a:r>
              <a:rPr sz="900" b="0">
                <a:solidFill>
                  <a:srgbClr val="4A4A4A"/>
                </a:solidFill>
                <a:latin typeface="맑은 고딕"/>
              </a:rPr>
              <a:t>16.0%</a:t>
            </a:r>
          </a:p>
        </p:txBody>
      </p:sp>
      <p:sp>
        <p:nvSpPr>
          <p:cNvPr id="37" name="Rounded Rectangle 36"/>
          <p:cNvSpPr/>
          <p:nvPr/>
        </p:nvSpPr>
        <p:spPr>
          <a:xfrm>
            <a:off x="7040880" y="3215112"/>
            <a:ext cx="4754880" cy="3657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114032" y="3333984"/>
            <a:ext cx="118872" cy="118872"/>
          </a:xfrm>
          <a:prstGeom prst="ellipse">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315200" y="3251688"/>
            <a:ext cx="2103120" cy="274320"/>
          </a:xfrm>
          <a:prstGeom prst="rect">
            <a:avLst/>
          </a:prstGeom>
          <a:noFill/>
        </p:spPr>
        <p:txBody>
          <a:bodyPr wrap="square" lIns="36000" tIns="18000" rIns="36000" bIns="18000" anchor="ctr">
            <a:spAutoFit/>
          </a:bodyPr>
          <a:lstStyle/>
          <a:p>
            <a:pPr algn="l"/>
            <a:r>
              <a:rPr sz="900" b="0">
                <a:solidFill>
                  <a:srgbClr val="4A4A4A"/>
                </a:solidFill>
                <a:latin typeface="맑은 고딕"/>
              </a:rPr>
              <a:t>NoNose, NoBody2</a:t>
            </a:r>
          </a:p>
        </p:txBody>
      </p:sp>
      <p:sp>
        <p:nvSpPr>
          <p:cNvPr id="40" name="TextBox 39"/>
          <p:cNvSpPr txBox="1"/>
          <p:nvPr/>
        </p:nvSpPr>
        <p:spPr>
          <a:xfrm>
            <a:off x="9418320" y="3251688"/>
            <a:ext cx="1188720" cy="274320"/>
          </a:xfrm>
          <a:prstGeom prst="rect">
            <a:avLst/>
          </a:prstGeom>
          <a:noFill/>
        </p:spPr>
        <p:txBody>
          <a:bodyPr wrap="square" lIns="36000" tIns="18000" rIns="36000" bIns="18000" anchor="ctr">
            <a:spAutoFit/>
          </a:bodyPr>
          <a:lstStyle/>
          <a:p>
            <a:pPr algn="r"/>
            <a:r>
              <a:rPr sz="900" b="1">
                <a:solidFill>
                  <a:srgbClr val="1B2A4A"/>
                </a:solidFill>
                <a:latin typeface="맑은 고딕"/>
              </a:rPr>
              <a:t>25,206</a:t>
            </a:r>
          </a:p>
        </p:txBody>
      </p:sp>
      <p:sp>
        <p:nvSpPr>
          <p:cNvPr id="41" name="TextBox 40"/>
          <p:cNvSpPr txBox="1"/>
          <p:nvPr/>
        </p:nvSpPr>
        <p:spPr>
          <a:xfrm>
            <a:off x="10652760" y="3251688"/>
            <a:ext cx="1051560" cy="274320"/>
          </a:xfrm>
          <a:prstGeom prst="rect">
            <a:avLst/>
          </a:prstGeom>
          <a:noFill/>
        </p:spPr>
        <p:txBody>
          <a:bodyPr wrap="square" lIns="36000" tIns="18000" rIns="36000" bIns="18000" anchor="ctr">
            <a:spAutoFit/>
          </a:bodyPr>
          <a:lstStyle/>
          <a:p>
            <a:pPr algn="r"/>
            <a:r>
              <a:rPr sz="900" b="0">
                <a:solidFill>
                  <a:srgbClr val="4A4A4A"/>
                </a:solidFill>
                <a:latin typeface="맑은 고딕"/>
              </a:rPr>
              <a:t>15.2%</a:t>
            </a:r>
          </a:p>
        </p:txBody>
      </p:sp>
      <p:sp>
        <p:nvSpPr>
          <p:cNvPr id="42" name="Rounded Rectangle 41"/>
          <p:cNvSpPr/>
          <p:nvPr/>
        </p:nvSpPr>
        <p:spPr>
          <a:xfrm>
            <a:off x="7040880" y="3599160"/>
            <a:ext cx="4754880" cy="3657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114032" y="3718032"/>
            <a:ext cx="118872" cy="118872"/>
          </a:xfrm>
          <a:prstGeom prst="ellipse">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0" y="3635736"/>
            <a:ext cx="2103120" cy="274320"/>
          </a:xfrm>
          <a:prstGeom prst="rect">
            <a:avLst/>
          </a:prstGeom>
          <a:noFill/>
        </p:spPr>
        <p:txBody>
          <a:bodyPr wrap="square" lIns="36000" tIns="18000" rIns="36000" bIns="18000" anchor="ctr">
            <a:spAutoFit/>
          </a:bodyPr>
          <a:lstStyle/>
          <a:p>
            <a:pPr algn="l"/>
            <a:r>
              <a:rPr sz="900" b="0">
                <a:solidFill>
                  <a:srgbClr val="4A4A4A"/>
                </a:solidFill>
                <a:latin typeface="맑은 고딕"/>
              </a:rPr>
              <a:t>NoNose</a:t>
            </a:r>
          </a:p>
        </p:txBody>
      </p:sp>
      <p:sp>
        <p:nvSpPr>
          <p:cNvPr id="45" name="TextBox 44"/>
          <p:cNvSpPr txBox="1"/>
          <p:nvPr/>
        </p:nvSpPr>
        <p:spPr>
          <a:xfrm>
            <a:off x="9418320" y="3635736"/>
            <a:ext cx="1188720" cy="274320"/>
          </a:xfrm>
          <a:prstGeom prst="rect">
            <a:avLst/>
          </a:prstGeom>
          <a:noFill/>
        </p:spPr>
        <p:txBody>
          <a:bodyPr wrap="square" lIns="36000" tIns="18000" rIns="36000" bIns="18000" anchor="ctr">
            <a:spAutoFit/>
          </a:bodyPr>
          <a:lstStyle/>
          <a:p>
            <a:pPr algn="r"/>
            <a:r>
              <a:rPr sz="900" b="1">
                <a:solidFill>
                  <a:srgbClr val="1B2A4A"/>
                </a:solidFill>
                <a:latin typeface="맑은 고딕"/>
              </a:rPr>
              <a:t>19,307</a:t>
            </a:r>
          </a:p>
        </p:txBody>
      </p:sp>
      <p:sp>
        <p:nvSpPr>
          <p:cNvPr id="46" name="TextBox 45"/>
          <p:cNvSpPr txBox="1"/>
          <p:nvPr/>
        </p:nvSpPr>
        <p:spPr>
          <a:xfrm>
            <a:off x="10652760" y="3635736"/>
            <a:ext cx="1051560" cy="274320"/>
          </a:xfrm>
          <a:prstGeom prst="rect">
            <a:avLst/>
          </a:prstGeom>
          <a:noFill/>
        </p:spPr>
        <p:txBody>
          <a:bodyPr wrap="square" lIns="36000" tIns="18000" rIns="36000" bIns="18000" anchor="ctr">
            <a:spAutoFit/>
          </a:bodyPr>
          <a:lstStyle/>
          <a:p>
            <a:pPr algn="r"/>
            <a:r>
              <a:rPr sz="900" b="0">
                <a:solidFill>
                  <a:srgbClr val="4A4A4A"/>
                </a:solidFill>
                <a:latin typeface="맑은 고딕"/>
              </a:rPr>
              <a:t>11.7%</a:t>
            </a:r>
          </a:p>
        </p:txBody>
      </p:sp>
      <p:sp>
        <p:nvSpPr>
          <p:cNvPr id="47" name="Rounded Rectangle 46"/>
          <p:cNvSpPr/>
          <p:nvPr/>
        </p:nvSpPr>
        <p:spPr>
          <a:xfrm>
            <a:off x="7040880" y="3983208"/>
            <a:ext cx="4754880" cy="3657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7114032" y="4102080"/>
            <a:ext cx="118872" cy="118872"/>
          </a:xfrm>
          <a:prstGeom prst="ellipse">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315200" y="4019784"/>
            <a:ext cx="2103120" cy="274320"/>
          </a:xfrm>
          <a:prstGeom prst="rect">
            <a:avLst/>
          </a:prstGeom>
          <a:noFill/>
        </p:spPr>
        <p:txBody>
          <a:bodyPr wrap="square" lIns="36000" tIns="18000" rIns="36000" bIns="18000" anchor="ctr">
            <a:spAutoFit/>
          </a:bodyPr>
          <a:lstStyle/>
          <a:p>
            <a:pPr algn="l"/>
            <a:r>
              <a:rPr sz="900" b="0">
                <a:solidFill>
                  <a:srgbClr val="4A4A4A"/>
                </a:solidFill>
                <a:latin typeface="맑은 고딕"/>
              </a:rPr>
              <a:t>NoBody1 (병합)</a:t>
            </a:r>
          </a:p>
        </p:txBody>
      </p:sp>
      <p:sp>
        <p:nvSpPr>
          <p:cNvPr id="50" name="TextBox 49"/>
          <p:cNvSpPr txBox="1"/>
          <p:nvPr/>
        </p:nvSpPr>
        <p:spPr>
          <a:xfrm>
            <a:off x="9418320" y="4019784"/>
            <a:ext cx="1188720" cy="274320"/>
          </a:xfrm>
          <a:prstGeom prst="rect">
            <a:avLst/>
          </a:prstGeom>
          <a:noFill/>
        </p:spPr>
        <p:txBody>
          <a:bodyPr wrap="square" lIns="36000" tIns="18000" rIns="36000" bIns="18000" anchor="ctr">
            <a:spAutoFit/>
          </a:bodyPr>
          <a:lstStyle/>
          <a:p>
            <a:pPr algn="r"/>
            <a:r>
              <a:rPr sz="900" b="1">
                <a:solidFill>
                  <a:srgbClr val="1B2A4A"/>
                </a:solidFill>
                <a:latin typeface="맑은 고딕"/>
              </a:rPr>
              <a:t>4,016</a:t>
            </a:r>
          </a:p>
        </p:txBody>
      </p:sp>
      <p:sp>
        <p:nvSpPr>
          <p:cNvPr id="51" name="TextBox 50"/>
          <p:cNvSpPr txBox="1"/>
          <p:nvPr/>
        </p:nvSpPr>
        <p:spPr>
          <a:xfrm>
            <a:off x="10652760" y="4019784"/>
            <a:ext cx="1051560" cy="274320"/>
          </a:xfrm>
          <a:prstGeom prst="rect">
            <a:avLst/>
          </a:prstGeom>
          <a:noFill/>
        </p:spPr>
        <p:txBody>
          <a:bodyPr wrap="square" lIns="36000" tIns="18000" rIns="36000" bIns="18000" anchor="ctr">
            <a:spAutoFit/>
          </a:bodyPr>
          <a:lstStyle/>
          <a:p>
            <a:pPr algn="r"/>
            <a:r>
              <a:rPr sz="900" b="0">
                <a:solidFill>
                  <a:srgbClr val="4A4A4A"/>
                </a:solidFill>
                <a:latin typeface="맑은 고딕"/>
              </a:rPr>
              <a:t>2.4%</a:t>
            </a:r>
          </a:p>
        </p:txBody>
      </p:sp>
      <p:sp>
        <p:nvSpPr>
          <p:cNvPr id="52" name="Rounded Rectangle 51"/>
          <p:cNvSpPr/>
          <p:nvPr/>
        </p:nvSpPr>
        <p:spPr>
          <a:xfrm>
            <a:off x="384048" y="5074920"/>
            <a:ext cx="11430000" cy="777240"/>
          </a:xfrm>
          <a:prstGeom prst="roundRect">
            <a:avLst>
              <a:gd name="adj" fmla="val 5000"/>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48640" y="5138928"/>
            <a:ext cx="411480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전처리 전략</a:t>
            </a:r>
          </a:p>
        </p:txBody>
      </p:sp>
      <p:sp>
        <p:nvSpPr>
          <p:cNvPr id="54" name="TextBox 53"/>
          <p:cNvSpPr txBox="1"/>
          <p:nvPr/>
        </p:nvSpPr>
        <p:spPr>
          <a:xfrm>
            <a:off x="548640" y="5422392"/>
            <a:ext cx="11155680" cy="411480"/>
          </a:xfrm>
          <a:prstGeom prst="rect">
            <a:avLst/>
          </a:prstGeom>
          <a:noFill/>
        </p:spPr>
        <p:txBody>
          <a:bodyPr wrap="square" lIns="36000" tIns="18000" rIns="36000" bIns="18000" anchor="ctr">
            <a:spAutoFit/>
          </a:bodyPr>
          <a:lstStyle/>
          <a:p>
            <a:pPr algn="l"/>
            <a:r>
              <a:rPr sz="1000" b="0">
                <a:solidFill>
                  <a:srgbClr val="4A4A4A"/>
                </a:solidFill>
                <a:latin typeface="맑은 고딕"/>
              </a:rPr>
              <a:t>Cycle-wise 80/20 split (data leakage 방지) · Sliding Window 시퀀스 (T=50) · StandardScaler 정규화 · Class Weight로 불균형 보정</a:t>
            </a:r>
          </a:p>
        </p:txBody>
      </p:sp>
    </p:spTree>
    <p:extLst>
      <p:ext uri="{BB962C8B-B14F-4D97-AF65-F5344CB8AC3E}">
        <p14:creationId xmlns:p14="http://schemas.microsoft.com/office/powerpoint/2010/main" val="3927354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2BE1E22D-06CF-4359-9924-19C9B34A5E61}"/>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DD25A201-B6C3-4649-8DB9-EF4302B01CD1}"/>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05</a:t>
            </a:r>
            <a:endParaRPr lang="ko-KR" altLang="en-US" sz="1600" b="1">
              <a:solidFill>
                <a:srgbClr val="FFFFFF"/>
              </a:solidFill>
            </a:endParaRPr>
          </a:p>
        </p:txBody>
      </p:sp>
      <p:sp>
        <p:nvSpPr>
          <p:cNvPr id="5" name="TextBox 4">
            <a:extLst>
              <a:ext uri="{FF2B5EF4-FFF2-40B4-BE49-F238E27FC236}">
                <a16:creationId xmlns:a16="http://schemas.microsoft.com/office/drawing/2014/main" id="{D0824D9D-2C94-4564-B459-7DF5AD17E2EF}"/>
              </a:ext>
            </a:extLst>
          </p:cNvPr>
          <p:cNvSpPr txBox="1"/>
          <p:nvPr/>
        </p:nvSpPr>
        <p:spPr>
          <a:xfrm>
            <a:off x="1079500" y="190500"/>
            <a:ext cx="508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전체 아키텍처</a:t>
            </a:r>
          </a:p>
        </p:txBody>
      </p:sp>
      <p:sp>
        <p:nvSpPr>
          <p:cNvPr id="6" name="Rounded Rectangle 5"/>
          <p:cNvSpPr/>
          <p:nvPr/>
        </p:nvSpPr>
        <p:spPr>
          <a:xfrm>
            <a:off x="457200" y="1691640"/>
            <a:ext cx="2194560" cy="1097280"/>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783080"/>
            <a:ext cx="2103120" cy="365760"/>
          </a:xfrm>
          <a:prstGeom prst="rect">
            <a:avLst/>
          </a:prstGeom>
          <a:noFill/>
        </p:spPr>
        <p:txBody>
          <a:bodyPr wrap="square" lIns="36000" tIns="18000" rIns="36000" bIns="18000" anchor="ctr">
            <a:spAutoFit/>
          </a:bodyPr>
          <a:lstStyle/>
          <a:p>
            <a:pPr algn="ctr"/>
            <a:r>
              <a:rPr sz="1300" b="1">
                <a:solidFill>
                  <a:srgbClr val="FFFFFF"/>
                </a:solidFill>
                <a:latin typeface="맑은 고딕"/>
              </a:rPr>
              <a:t>Sensor Data</a:t>
            </a:r>
          </a:p>
        </p:txBody>
      </p:sp>
      <p:sp>
        <p:nvSpPr>
          <p:cNvPr id="8" name="TextBox 7"/>
          <p:cNvSpPr txBox="1"/>
          <p:nvPr/>
        </p:nvSpPr>
        <p:spPr>
          <a:xfrm>
            <a:off x="502920" y="2148840"/>
            <a:ext cx="2103120" cy="548640"/>
          </a:xfrm>
          <a:prstGeom prst="rect">
            <a:avLst/>
          </a:prstGeom>
          <a:noFill/>
        </p:spPr>
        <p:txBody>
          <a:bodyPr wrap="square" lIns="36000" tIns="18000" rIns="36000" bIns="18000" anchor="ctr">
            <a:spAutoFit/>
          </a:bodyPr>
          <a:lstStyle/>
          <a:p>
            <a:pPr algn="ctr"/>
            <a:r>
              <a:rPr sz="1000" b="0">
                <a:solidFill>
                  <a:srgbClr val="FFFFFF"/>
                </a:solidFill>
                <a:latin typeface="맑은 고딕"/>
              </a:rPr>
              <a:t>22 channels</a:t>
            </a:r>
          </a:p>
          <a:p>
            <a:pPr algn="ctr"/>
            <a:r>
              <a:rPr sz="1000" b="0">
                <a:solidFill>
                  <a:srgbClr val="FFFFFF"/>
                </a:solidFill>
                <a:latin typeface="맑은 고딕"/>
              </a:rPr>
              <a:t>50 time steps</a:t>
            </a:r>
          </a:p>
        </p:txBody>
      </p:sp>
      <p:sp>
        <p:nvSpPr>
          <p:cNvPr id="9" name="Rounded Rectangle 8"/>
          <p:cNvSpPr/>
          <p:nvPr/>
        </p:nvSpPr>
        <p:spPr>
          <a:xfrm>
            <a:off x="457200" y="3931920"/>
            <a:ext cx="2194560" cy="109728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4023360"/>
            <a:ext cx="2103120" cy="365760"/>
          </a:xfrm>
          <a:prstGeom prst="rect">
            <a:avLst/>
          </a:prstGeom>
          <a:noFill/>
        </p:spPr>
        <p:txBody>
          <a:bodyPr wrap="square" lIns="36000" tIns="18000" rIns="36000" bIns="18000" anchor="ctr">
            <a:spAutoFit/>
          </a:bodyPr>
          <a:lstStyle/>
          <a:p>
            <a:pPr algn="ctr"/>
            <a:r>
              <a:rPr sz="1300" b="1">
                <a:solidFill>
                  <a:srgbClr val="FFFFFF"/>
                </a:solidFill>
                <a:latin typeface="맑은 고딕"/>
              </a:rPr>
              <a:t>Image Data</a:t>
            </a:r>
          </a:p>
        </p:txBody>
      </p:sp>
      <p:sp>
        <p:nvSpPr>
          <p:cNvPr id="11" name="TextBox 10"/>
          <p:cNvSpPr txBox="1"/>
          <p:nvPr/>
        </p:nvSpPr>
        <p:spPr>
          <a:xfrm>
            <a:off x="502920" y="4389120"/>
            <a:ext cx="2103120" cy="548640"/>
          </a:xfrm>
          <a:prstGeom prst="rect">
            <a:avLst/>
          </a:prstGeom>
          <a:noFill/>
        </p:spPr>
        <p:txBody>
          <a:bodyPr wrap="square" lIns="36000" tIns="18000" rIns="36000" bIns="18000" anchor="ctr">
            <a:spAutoFit/>
          </a:bodyPr>
          <a:lstStyle/>
          <a:p>
            <a:pPr algn="ctr"/>
            <a:r>
              <a:rPr sz="1000" b="0">
                <a:solidFill>
                  <a:srgbClr val="FFFFFF"/>
                </a:solidFill>
                <a:latin typeface="맑은 고딕"/>
              </a:rPr>
              <a:t>224 × 224 × 3</a:t>
            </a:r>
          </a:p>
          <a:p>
            <a:pPr algn="ctr"/>
            <a:r>
              <a:rPr sz="1000" b="0">
                <a:solidFill>
                  <a:srgbClr val="FFFFFF"/>
                </a:solidFill>
                <a:latin typeface="맑은 고딕"/>
              </a:rPr>
              <a:t>(Cycle 4·9)</a:t>
            </a:r>
          </a:p>
        </p:txBody>
      </p:sp>
      <p:sp>
        <p:nvSpPr>
          <p:cNvPr id="12" name="Right Arrow 11"/>
          <p:cNvSpPr/>
          <p:nvPr/>
        </p:nvSpPr>
        <p:spPr>
          <a:xfrm>
            <a:off x="2697480" y="2103120"/>
            <a:ext cx="54864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2697480" y="4343400"/>
            <a:ext cx="54864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337560" y="1691640"/>
            <a:ext cx="2377440" cy="1097280"/>
          </a:xfrm>
          <a:prstGeom prst="roundRect">
            <a:avLst>
              <a:gd name="adj" fmla="val 5000"/>
            </a:avLst>
          </a:prstGeom>
          <a:solidFill>
            <a:srgbClr val="F8F9FA"/>
          </a:solidFill>
          <a:ln w="19050">
            <a:solidFill>
              <a:srgbClr val="2676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1783080"/>
            <a:ext cx="2286000" cy="365760"/>
          </a:xfrm>
          <a:prstGeom prst="rect">
            <a:avLst/>
          </a:prstGeom>
          <a:noFill/>
        </p:spPr>
        <p:txBody>
          <a:bodyPr wrap="square" lIns="36000" tIns="18000" rIns="36000" bIns="18000" anchor="ctr">
            <a:spAutoFit/>
          </a:bodyPr>
          <a:lstStyle/>
          <a:p>
            <a:pPr algn="ctr"/>
            <a:r>
              <a:rPr sz="1300" b="1">
                <a:solidFill>
                  <a:srgbClr val="2676AC"/>
                </a:solidFill>
                <a:latin typeface="맑은 고딕"/>
              </a:rPr>
              <a:t>BiLSTM</a:t>
            </a:r>
          </a:p>
        </p:txBody>
      </p:sp>
      <p:sp>
        <p:nvSpPr>
          <p:cNvPr id="16" name="TextBox 15"/>
          <p:cNvSpPr txBox="1"/>
          <p:nvPr/>
        </p:nvSpPr>
        <p:spPr>
          <a:xfrm>
            <a:off x="3383280" y="2148840"/>
            <a:ext cx="2286000" cy="548640"/>
          </a:xfrm>
          <a:prstGeom prst="rect">
            <a:avLst/>
          </a:prstGeom>
          <a:noFill/>
        </p:spPr>
        <p:txBody>
          <a:bodyPr wrap="square" lIns="36000" tIns="18000" rIns="36000" bIns="18000" anchor="ctr">
            <a:spAutoFit/>
          </a:bodyPr>
          <a:lstStyle/>
          <a:p>
            <a:pPr algn="ctr"/>
            <a:r>
              <a:rPr sz="1000" b="0">
                <a:solidFill>
                  <a:srgbClr val="4A4A4A"/>
                </a:solidFill>
                <a:latin typeface="맑은 고딕"/>
              </a:rPr>
              <a:t>hidden 128 × 2-layer</a:t>
            </a:r>
          </a:p>
          <a:p>
            <a:pPr algn="ctr"/>
            <a:r>
              <a:rPr sz="1000" b="0">
                <a:solidFill>
                  <a:srgbClr val="4A4A4A"/>
                </a:solidFill>
                <a:latin typeface="맑은 고딕"/>
              </a:rPr>
              <a:t>bidirectional</a:t>
            </a:r>
          </a:p>
        </p:txBody>
      </p:sp>
      <p:sp>
        <p:nvSpPr>
          <p:cNvPr id="17" name="Rounded Rectangle 16"/>
          <p:cNvSpPr/>
          <p:nvPr/>
        </p:nvSpPr>
        <p:spPr>
          <a:xfrm>
            <a:off x="3337560" y="3931920"/>
            <a:ext cx="2377440" cy="1097280"/>
          </a:xfrm>
          <a:prstGeom prst="roundRect">
            <a:avLst>
              <a:gd name="adj" fmla="val 5000"/>
            </a:avLst>
          </a:prstGeom>
          <a:solidFill>
            <a:srgbClr val="F8F9FA"/>
          </a:solidFill>
          <a:ln w="19050">
            <a:solidFill>
              <a:srgbClr val="16A29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83280" y="4023360"/>
            <a:ext cx="2286000" cy="365760"/>
          </a:xfrm>
          <a:prstGeom prst="rect">
            <a:avLst/>
          </a:prstGeom>
          <a:noFill/>
        </p:spPr>
        <p:txBody>
          <a:bodyPr wrap="square" lIns="36000" tIns="18000" rIns="36000" bIns="18000" anchor="ctr">
            <a:spAutoFit/>
          </a:bodyPr>
          <a:lstStyle/>
          <a:p>
            <a:pPr algn="ctr"/>
            <a:r>
              <a:rPr sz="1300" b="1">
                <a:solidFill>
                  <a:srgbClr val="16A295"/>
                </a:solidFill>
                <a:latin typeface="맑은 고딕"/>
              </a:rPr>
              <a:t>ResNet18</a:t>
            </a:r>
          </a:p>
        </p:txBody>
      </p:sp>
      <p:sp>
        <p:nvSpPr>
          <p:cNvPr id="19" name="TextBox 18"/>
          <p:cNvSpPr txBox="1"/>
          <p:nvPr/>
        </p:nvSpPr>
        <p:spPr>
          <a:xfrm>
            <a:off x="3383280" y="4389120"/>
            <a:ext cx="2286000" cy="548640"/>
          </a:xfrm>
          <a:prstGeom prst="rect">
            <a:avLst/>
          </a:prstGeom>
          <a:noFill/>
        </p:spPr>
        <p:txBody>
          <a:bodyPr wrap="square" lIns="36000" tIns="18000" rIns="36000" bIns="18000" anchor="ctr">
            <a:spAutoFit/>
          </a:bodyPr>
          <a:lstStyle/>
          <a:p>
            <a:pPr algn="ctr"/>
            <a:r>
              <a:rPr sz="1000" b="0">
                <a:solidFill>
                  <a:srgbClr val="4A4A4A"/>
                </a:solidFill>
                <a:latin typeface="맑은 고딕"/>
              </a:rPr>
              <a:t>ImageNet pretrained</a:t>
            </a:r>
          </a:p>
          <a:p>
            <a:pPr algn="ctr"/>
            <a:r>
              <a:rPr sz="1000" b="0">
                <a:solidFill>
                  <a:srgbClr val="4A4A4A"/>
                </a:solidFill>
                <a:latin typeface="맑은 고딕"/>
              </a:rPr>
              <a:t>backbone (frozen)</a:t>
            </a:r>
          </a:p>
        </p:txBody>
      </p:sp>
      <p:sp>
        <p:nvSpPr>
          <p:cNvPr id="20" name="Right Arrow 19"/>
          <p:cNvSpPr/>
          <p:nvPr/>
        </p:nvSpPr>
        <p:spPr>
          <a:xfrm>
            <a:off x="5760720" y="2103120"/>
            <a:ext cx="45720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ight Arrow 20"/>
          <p:cNvSpPr/>
          <p:nvPr/>
        </p:nvSpPr>
        <p:spPr>
          <a:xfrm>
            <a:off x="5760720" y="4343400"/>
            <a:ext cx="45720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09360" y="1691640"/>
            <a:ext cx="1554480" cy="1097280"/>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55080" y="1783080"/>
            <a:ext cx="1463040" cy="365760"/>
          </a:xfrm>
          <a:prstGeom prst="rect">
            <a:avLst/>
          </a:prstGeom>
          <a:noFill/>
        </p:spPr>
        <p:txBody>
          <a:bodyPr wrap="square" lIns="36000" tIns="18000" rIns="36000" bIns="18000" anchor="ctr">
            <a:spAutoFit/>
          </a:bodyPr>
          <a:lstStyle/>
          <a:p>
            <a:pPr algn="ctr"/>
            <a:r>
              <a:rPr sz="1200" b="1">
                <a:solidFill>
                  <a:srgbClr val="FFFFFF"/>
                </a:solidFill>
                <a:latin typeface="맑은 고딕"/>
              </a:rPr>
              <a:t>f_sensor</a:t>
            </a:r>
          </a:p>
        </p:txBody>
      </p:sp>
      <p:sp>
        <p:nvSpPr>
          <p:cNvPr id="24" name="TextBox 23"/>
          <p:cNvSpPr txBox="1"/>
          <p:nvPr/>
        </p:nvSpPr>
        <p:spPr>
          <a:xfrm>
            <a:off x="6355080" y="2194560"/>
            <a:ext cx="1463040" cy="457200"/>
          </a:xfrm>
          <a:prstGeom prst="rect">
            <a:avLst/>
          </a:prstGeom>
          <a:noFill/>
        </p:spPr>
        <p:txBody>
          <a:bodyPr wrap="square" lIns="36000" tIns="18000" rIns="36000" bIns="18000" anchor="ctr">
            <a:spAutoFit/>
          </a:bodyPr>
          <a:lstStyle/>
          <a:p>
            <a:pPr algn="ctr"/>
            <a:r>
              <a:rPr sz="1400" b="0">
                <a:solidFill>
                  <a:srgbClr val="FFFFFF"/>
                </a:solidFill>
                <a:latin typeface="맑은 고딕"/>
              </a:rPr>
              <a:t>(256)</a:t>
            </a:r>
          </a:p>
        </p:txBody>
      </p:sp>
      <p:sp>
        <p:nvSpPr>
          <p:cNvPr id="25" name="Rounded Rectangle 24"/>
          <p:cNvSpPr/>
          <p:nvPr/>
        </p:nvSpPr>
        <p:spPr>
          <a:xfrm>
            <a:off x="6309360" y="3931920"/>
            <a:ext cx="1554480" cy="109728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55080" y="4023360"/>
            <a:ext cx="1463040" cy="365760"/>
          </a:xfrm>
          <a:prstGeom prst="rect">
            <a:avLst/>
          </a:prstGeom>
          <a:noFill/>
        </p:spPr>
        <p:txBody>
          <a:bodyPr wrap="square" lIns="36000" tIns="18000" rIns="36000" bIns="18000" anchor="ctr">
            <a:spAutoFit/>
          </a:bodyPr>
          <a:lstStyle/>
          <a:p>
            <a:pPr algn="ctr"/>
            <a:r>
              <a:rPr sz="1200" b="1">
                <a:solidFill>
                  <a:srgbClr val="FFFFFF"/>
                </a:solidFill>
                <a:latin typeface="맑은 고딕"/>
              </a:rPr>
              <a:t>f_image</a:t>
            </a:r>
          </a:p>
        </p:txBody>
      </p:sp>
      <p:sp>
        <p:nvSpPr>
          <p:cNvPr id="27" name="TextBox 26"/>
          <p:cNvSpPr txBox="1"/>
          <p:nvPr/>
        </p:nvSpPr>
        <p:spPr>
          <a:xfrm>
            <a:off x="6355080" y="4434840"/>
            <a:ext cx="1463040" cy="457200"/>
          </a:xfrm>
          <a:prstGeom prst="rect">
            <a:avLst/>
          </a:prstGeom>
          <a:noFill/>
        </p:spPr>
        <p:txBody>
          <a:bodyPr wrap="square" lIns="36000" tIns="18000" rIns="36000" bIns="18000" anchor="ctr">
            <a:spAutoFit/>
          </a:bodyPr>
          <a:lstStyle/>
          <a:p>
            <a:pPr algn="ctr"/>
            <a:r>
              <a:rPr sz="1400" b="0">
                <a:solidFill>
                  <a:srgbClr val="FFFFFF"/>
                </a:solidFill>
                <a:latin typeface="맑은 고딕"/>
              </a:rPr>
              <a:t>(512)</a:t>
            </a:r>
          </a:p>
        </p:txBody>
      </p:sp>
      <p:sp>
        <p:nvSpPr>
          <p:cNvPr id="28" name="Right Arrow 27"/>
          <p:cNvSpPr/>
          <p:nvPr/>
        </p:nvSpPr>
        <p:spPr>
          <a:xfrm>
            <a:off x="7909560" y="2103120"/>
            <a:ext cx="36576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ight Arrow 28"/>
          <p:cNvSpPr/>
          <p:nvPr/>
        </p:nvSpPr>
        <p:spPr>
          <a:xfrm>
            <a:off x="7909560" y="4343400"/>
            <a:ext cx="36576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321040" y="2651760"/>
            <a:ext cx="1828800" cy="1371600"/>
          </a:xfrm>
          <a:prstGeom prst="roundRect">
            <a:avLst>
              <a:gd name="adj" fmla="val 5000"/>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66760" y="2743200"/>
            <a:ext cx="1737360" cy="365760"/>
          </a:xfrm>
          <a:prstGeom prst="rect">
            <a:avLst/>
          </a:prstGeom>
          <a:noFill/>
        </p:spPr>
        <p:txBody>
          <a:bodyPr wrap="square" lIns="36000" tIns="18000" rIns="36000" bIns="18000" anchor="ctr">
            <a:spAutoFit/>
          </a:bodyPr>
          <a:lstStyle/>
          <a:p>
            <a:pPr algn="ctr"/>
            <a:r>
              <a:rPr sz="1300" b="1">
                <a:solidFill>
                  <a:srgbClr val="FFFFFF"/>
                </a:solidFill>
                <a:latin typeface="맑은 고딕"/>
              </a:rPr>
              <a:t>Concat</a:t>
            </a:r>
          </a:p>
        </p:txBody>
      </p:sp>
      <p:sp>
        <p:nvSpPr>
          <p:cNvPr id="32" name="TextBox 31"/>
          <p:cNvSpPr txBox="1"/>
          <p:nvPr/>
        </p:nvSpPr>
        <p:spPr>
          <a:xfrm>
            <a:off x="8366760" y="3154680"/>
            <a:ext cx="1737360" cy="365760"/>
          </a:xfrm>
          <a:prstGeom prst="rect">
            <a:avLst/>
          </a:prstGeom>
          <a:noFill/>
        </p:spPr>
        <p:txBody>
          <a:bodyPr wrap="square" lIns="36000" tIns="18000" rIns="36000" bIns="18000" anchor="ctr">
            <a:spAutoFit/>
          </a:bodyPr>
          <a:lstStyle/>
          <a:p>
            <a:pPr algn="ctr"/>
            <a:r>
              <a:rPr sz="1200" b="0">
                <a:solidFill>
                  <a:srgbClr val="FFFFFF"/>
                </a:solidFill>
                <a:latin typeface="맑은 고딕"/>
              </a:rPr>
              <a:t>[f_s ; f_i]</a:t>
            </a:r>
          </a:p>
        </p:txBody>
      </p:sp>
      <p:sp>
        <p:nvSpPr>
          <p:cNvPr id="33" name="TextBox 32"/>
          <p:cNvSpPr txBox="1"/>
          <p:nvPr/>
        </p:nvSpPr>
        <p:spPr>
          <a:xfrm>
            <a:off x="8366760" y="3520440"/>
            <a:ext cx="1737360" cy="365760"/>
          </a:xfrm>
          <a:prstGeom prst="rect">
            <a:avLst/>
          </a:prstGeom>
          <a:noFill/>
        </p:spPr>
        <p:txBody>
          <a:bodyPr wrap="square" lIns="36000" tIns="18000" rIns="36000" bIns="18000" anchor="ctr">
            <a:spAutoFit/>
          </a:bodyPr>
          <a:lstStyle/>
          <a:p>
            <a:pPr algn="ctr"/>
            <a:r>
              <a:rPr sz="1400" b="1">
                <a:solidFill>
                  <a:srgbClr val="FFFFFF"/>
                </a:solidFill>
                <a:latin typeface="맑은 고딕"/>
              </a:rPr>
              <a:t>(768)</a:t>
            </a:r>
          </a:p>
        </p:txBody>
      </p:sp>
      <p:sp>
        <p:nvSpPr>
          <p:cNvPr id="34" name="Right Arrow 33"/>
          <p:cNvSpPr/>
          <p:nvPr/>
        </p:nvSpPr>
        <p:spPr>
          <a:xfrm>
            <a:off x="10195560" y="3246120"/>
            <a:ext cx="365760" cy="274320"/>
          </a:xfrm>
          <a:prstGeom prst="rightArrow">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0607040" y="2651760"/>
            <a:ext cx="1280160" cy="137160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607040" y="2743200"/>
            <a:ext cx="1280160" cy="365760"/>
          </a:xfrm>
          <a:prstGeom prst="rect">
            <a:avLst/>
          </a:prstGeom>
          <a:noFill/>
        </p:spPr>
        <p:txBody>
          <a:bodyPr wrap="square" lIns="36000" tIns="18000" rIns="36000" bIns="18000" anchor="ctr">
            <a:spAutoFit/>
          </a:bodyPr>
          <a:lstStyle/>
          <a:p>
            <a:pPr algn="ctr"/>
            <a:r>
              <a:rPr sz="1200" b="1">
                <a:solidFill>
                  <a:srgbClr val="FFFFFF"/>
                </a:solidFill>
                <a:latin typeface="맑은 고딕"/>
              </a:rPr>
              <a:t>FC</a:t>
            </a:r>
          </a:p>
        </p:txBody>
      </p:sp>
      <p:sp>
        <p:nvSpPr>
          <p:cNvPr id="37" name="TextBox 36"/>
          <p:cNvSpPr txBox="1"/>
          <p:nvPr/>
        </p:nvSpPr>
        <p:spPr>
          <a:xfrm>
            <a:off x="10607040" y="3154680"/>
            <a:ext cx="1280160" cy="365760"/>
          </a:xfrm>
          <a:prstGeom prst="rect">
            <a:avLst/>
          </a:prstGeom>
          <a:noFill/>
        </p:spPr>
        <p:txBody>
          <a:bodyPr wrap="square" lIns="36000" tIns="18000" rIns="36000" bIns="18000" anchor="ctr">
            <a:spAutoFit/>
          </a:bodyPr>
          <a:lstStyle/>
          <a:p>
            <a:pPr algn="ctr"/>
            <a:r>
              <a:rPr sz="1000" b="0">
                <a:solidFill>
                  <a:srgbClr val="FFFFFF"/>
                </a:solidFill>
                <a:latin typeface="맑은 고딕"/>
              </a:rPr>
              <a:t>Dropout</a:t>
            </a:r>
          </a:p>
        </p:txBody>
      </p:sp>
      <p:sp>
        <p:nvSpPr>
          <p:cNvPr id="38" name="TextBox 37"/>
          <p:cNvSpPr txBox="1"/>
          <p:nvPr/>
        </p:nvSpPr>
        <p:spPr>
          <a:xfrm>
            <a:off x="10607040" y="3566160"/>
            <a:ext cx="1280160" cy="457200"/>
          </a:xfrm>
          <a:prstGeom prst="rect">
            <a:avLst/>
          </a:prstGeom>
          <a:noFill/>
        </p:spPr>
        <p:txBody>
          <a:bodyPr wrap="square" lIns="36000" tIns="18000" rIns="36000" bIns="18000" anchor="ctr">
            <a:spAutoFit/>
          </a:bodyPr>
          <a:lstStyle/>
          <a:p>
            <a:pPr algn="ctr"/>
            <a:r>
              <a:rPr sz="1100" b="1">
                <a:solidFill>
                  <a:srgbClr val="F29E16"/>
                </a:solidFill>
                <a:latin typeface="맑은 고딕"/>
              </a:rPr>
              <a:t>5-class</a:t>
            </a:r>
          </a:p>
        </p:txBody>
      </p:sp>
      <p:sp>
        <p:nvSpPr>
          <p:cNvPr id="39" name="Rounded Rectangle 38"/>
          <p:cNvSpPr/>
          <p:nvPr/>
        </p:nvSpPr>
        <p:spPr>
          <a:xfrm>
            <a:off x="384048" y="5349240"/>
            <a:ext cx="11430000" cy="502920"/>
          </a:xfrm>
          <a:prstGeom prst="roundRect">
            <a:avLst>
              <a:gd name="adj" fmla="val 5000"/>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5394960"/>
            <a:ext cx="11155680" cy="457200"/>
          </a:xfrm>
          <a:prstGeom prst="rect">
            <a:avLst/>
          </a:prstGeom>
          <a:noFill/>
        </p:spPr>
        <p:txBody>
          <a:bodyPr wrap="square" lIns="36000" tIns="18000" rIns="36000" bIns="18000" anchor="ctr">
            <a:spAutoFit/>
          </a:bodyPr>
          <a:lstStyle/>
          <a:p>
            <a:pPr algn="l"/>
            <a:r>
              <a:rPr sz="1100" b="0">
                <a:solidFill>
                  <a:srgbClr val="1B2A4A"/>
                </a:solidFill>
                <a:latin typeface="맑은 고딕"/>
              </a:rPr>
              <a:t>Decision-Level Fusion: 각 모달리티의 특징을 독립적으로 추출 후 Concatenate → 두 모달리티가 보완 가능</a:t>
            </a:r>
          </a:p>
        </p:txBody>
      </p:sp>
    </p:spTree>
    <p:extLst>
      <p:ext uri="{BB962C8B-B14F-4D97-AF65-F5344CB8AC3E}">
        <p14:creationId xmlns:p14="http://schemas.microsoft.com/office/powerpoint/2010/main" val="79786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BB455E5B-71F4-48C2-ADEC-0559BD1D01E6}"/>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C40322B8-1E27-411D-81DF-682938F5447B}"/>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06</a:t>
            </a:r>
            <a:endParaRPr lang="ko-KR" altLang="en-US" sz="1600" b="1">
              <a:solidFill>
                <a:srgbClr val="FFFFFF"/>
              </a:solidFill>
            </a:endParaRPr>
          </a:p>
        </p:txBody>
      </p:sp>
      <p:sp>
        <p:nvSpPr>
          <p:cNvPr id="5" name="TextBox 4">
            <a:extLst>
              <a:ext uri="{FF2B5EF4-FFF2-40B4-BE49-F238E27FC236}">
                <a16:creationId xmlns:a16="http://schemas.microsoft.com/office/drawing/2014/main" id="{AA609288-408F-4951-A1ED-CA79BB61EE2A}"/>
              </a:ext>
            </a:extLst>
          </p:cNvPr>
          <p:cNvSpPr txBox="1"/>
          <p:nvPr/>
        </p:nvSpPr>
        <p:spPr>
          <a:xfrm>
            <a:off x="1079500" y="190500"/>
            <a:ext cx="635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모델별 학습 전략</a:t>
            </a:r>
          </a:p>
        </p:txBody>
      </p:sp>
      <p:sp>
        <p:nvSpPr>
          <p:cNvPr id="6" name="Rounded Rectangle 5"/>
          <p:cNvSpPr/>
          <p:nvPr/>
        </p:nvSpPr>
        <p:spPr>
          <a:xfrm>
            <a:off x="384048" y="1280160"/>
            <a:ext cx="3429000" cy="41148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84048" y="1280160"/>
            <a:ext cx="3429000" cy="640080"/>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66928" y="1403012"/>
            <a:ext cx="914400" cy="365760"/>
          </a:xfrm>
          <a:prstGeom prst="rect">
            <a:avLst/>
          </a:prstGeom>
          <a:noFill/>
        </p:spPr>
        <p:txBody>
          <a:bodyPr wrap="square" lIns="36000" tIns="18000" rIns="36000" bIns="18000" anchor="ctr">
            <a:spAutoFit/>
          </a:bodyPr>
          <a:lstStyle/>
          <a:p>
            <a:pPr algn="l"/>
            <a:r>
              <a:rPr sz="1400" b="1">
                <a:solidFill>
                  <a:srgbClr val="FFFFFF"/>
                </a:solidFill>
                <a:latin typeface="맑은 고딕"/>
              </a:rPr>
              <a:t>M1</a:t>
            </a:r>
          </a:p>
        </p:txBody>
      </p:sp>
      <p:sp>
        <p:nvSpPr>
          <p:cNvPr id="9" name="TextBox 8"/>
          <p:cNvSpPr txBox="1"/>
          <p:nvPr/>
        </p:nvSpPr>
        <p:spPr>
          <a:xfrm>
            <a:off x="1416722" y="1421300"/>
            <a:ext cx="2286000" cy="365760"/>
          </a:xfrm>
          <a:prstGeom prst="rect">
            <a:avLst/>
          </a:prstGeom>
          <a:noFill/>
        </p:spPr>
        <p:txBody>
          <a:bodyPr wrap="square" lIns="36000" tIns="18000" rIns="36000" bIns="18000" anchor="ctr">
            <a:spAutoFit/>
          </a:bodyPr>
          <a:lstStyle/>
          <a:p>
            <a:pPr algn="r"/>
            <a:r>
              <a:rPr sz="1300" b="1" dirty="0">
                <a:solidFill>
                  <a:srgbClr val="FFFFFF"/>
                </a:solidFill>
                <a:latin typeface="맑은 고딕"/>
              </a:rPr>
              <a:t>Sensor </a:t>
            </a:r>
            <a:r>
              <a:rPr sz="1300" b="1" dirty="0" err="1">
                <a:solidFill>
                  <a:srgbClr val="FFFFFF"/>
                </a:solidFill>
                <a:latin typeface="맑은 고딕"/>
              </a:rPr>
              <a:t>BiLSTM</a:t>
            </a:r>
            <a:endParaRPr sz="1300" b="1" dirty="0">
              <a:solidFill>
                <a:srgbClr val="FFFFFF"/>
              </a:solidFill>
              <a:latin typeface="맑은 고딕"/>
            </a:endParaRPr>
          </a:p>
        </p:txBody>
      </p:sp>
      <p:sp>
        <p:nvSpPr>
          <p:cNvPr id="10" name="TextBox 9"/>
          <p:cNvSpPr txBox="1"/>
          <p:nvPr/>
        </p:nvSpPr>
        <p:spPr>
          <a:xfrm>
            <a:off x="566928" y="2113060"/>
            <a:ext cx="3154680" cy="274320"/>
          </a:xfrm>
          <a:prstGeom prst="rect">
            <a:avLst/>
          </a:prstGeom>
          <a:noFill/>
        </p:spPr>
        <p:txBody>
          <a:bodyPr wrap="square" lIns="36000" tIns="18000" rIns="36000" bIns="18000" anchor="ctr">
            <a:spAutoFit/>
          </a:bodyPr>
          <a:lstStyle/>
          <a:p>
            <a:pPr algn="l"/>
            <a:r>
              <a:rPr sz="1000" b="1">
                <a:solidFill>
                  <a:srgbClr val="2676AC"/>
                </a:solidFill>
                <a:latin typeface="맑은 고딕"/>
              </a:rPr>
              <a:t>입력</a:t>
            </a:r>
          </a:p>
        </p:txBody>
      </p:sp>
      <p:sp>
        <p:nvSpPr>
          <p:cNvPr id="11" name="TextBox 10"/>
          <p:cNvSpPr txBox="1"/>
          <p:nvPr/>
        </p:nvSpPr>
        <p:spPr>
          <a:xfrm>
            <a:off x="566928" y="2294546"/>
            <a:ext cx="3154680" cy="502920"/>
          </a:xfrm>
          <a:prstGeom prst="rect">
            <a:avLst/>
          </a:prstGeom>
          <a:noFill/>
        </p:spPr>
        <p:txBody>
          <a:bodyPr wrap="square" lIns="36000" tIns="18000" rIns="36000" bIns="18000" anchor="ctr">
            <a:spAutoFit/>
          </a:bodyPr>
          <a:lstStyle/>
          <a:p>
            <a:pPr algn="l"/>
            <a:r>
              <a:rPr sz="1000" b="0" dirty="0">
                <a:solidFill>
                  <a:srgbClr val="4A4A4A"/>
                </a:solidFill>
                <a:latin typeface="맑은 고딕"/>
              </a:rPr>
              <a:t>22채널 × 50 step </a:t>
            </a:r>
            <a:r>
              <a:rPr sz="1000" b="0" dirty="0" err="1">
                <a:solidFill>
                  <a:srgbClr val="4A4A4A"/>
                </a:solidFill>
                <a:latin typeface="맑은 고딕"/>
              </a:rPr>
              <a:t>시퀀스</a:t>
            </a:r>
            <a:endParaRPr sz="1000" b="0" dirty="0">
              <a:solidFill>
                <a:srgbClr val="4A4A4A"/>
              </a:solidFill>
              <a:latin typeface="맑은 고딕"/>
            </a:endParaRPr>
          </a:p>
        </p:txBody>
      </p:sp>
      <p:sp>
        <p:nvSpPr>
          <p:cNvPr id="12" name="TextBox 11"/>
          <p:cNvSpPr txBox="1"/>
          <p:nvPr/>
        </p:nvSpPr>
        <p:spPr>
          <a:xfrm>
            <a:off x="566928" y="2890300"/>
            <a:ext cx="3154680" cy="274320"/>
          </a:xfrm>
          <a:prstGeom prst="rect">
            <a:avLst/>
          </a:prstGeom>
          <a:noFill/>
        </p:spPr>
        <p:txBody>
          <a:bodyPr wrap="square" lIns="36000" tIns="18000" rIns="36000" bIns="18000" anchor="ctr">
            <a:spAutoFit/>
          </a:bodyPr>
          <a:lstStyle/>
          <a:p>
            <a:pPr algn="l"/>
            <a:r>
              <a:rPr sz="1000" b="1">
                <a:solidFill>
                  <a:srgbClr val="2676AC"/>
                </a:solidFill>
                <a:latin typeface="맑은 고딕"/>
              </a:rPr>
              <a:t>적용 범위</a:t>
            </a:r>
          </a:p>
        </p:txBody>
      </p:sp>
      <p:sp>
        <p:nvSpPr>
          <p:cNvPr id="13" name="TextBox 12"/>
          <p:cNvSpPr txBox="1"/>
          <p:nvPr/>
        </p:nvSpPr>
        <p:spPr>
          <a:xfrm>
            <a:off x="566928" y="3071785"/>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전체 사이클 (~150K 시퀀스)</a:t>
            </a:r>
          </a:p>
        </p:txBody>
      </p:sp>
      <p:sp>
        <p:nvSpPr>
          <p:cNvPr id="14" name="TextBox 13"/>
          <p:cNvSpPr txBox="1"/>
          <p:nvPr/>
        </p:nvSpPr>
        <p:spPr>
          <a:xfrm>
            <a:off x="566928" y="3667540"/>
            <a:ext cx="3154680" cy="274320"/>
          </a:xfrm>
          <a:prstGeom prst="rect">
            <a:avLst/>
          </a:prstGeom>
          <a:noFill/>
        </p:spPr>
        <p:txBody>
          <a:bodyPr wrap="square" lIns="36000" tIns="18000" rIns="36000" bIns="18000" anchor="ctr">
            <a:spAutoFit/>
          </a:bodyPr>
          <a:lstStyle/>
          <a:p>
            <a:pPr algn="l"/>
            <a:r>
              <a:rPr sz="1000" b="1">
                <a:solidFill>
                  <a:srgbClr val="2676AC"/>
                </a:solidFill>
                <a:latin typeface="맑은 고딕"/>
              </a:rPr>
              <a:t>핵심</a:t>
            </a:r>
          </a:p>
        </p:txBody>
      </p:sp>
      <p:sp>
        <p:nvSpPr>
          <p:cNvPr id="15" name="TextBox 14"/>
          <p:cNvSpPr txBox="1"/>
          <p:nvPr/>
        </p:nvSpPr>
        <p:spPr>
          <a:xfrm>
            <a:off x="566928" y="3849026"/>
            <a:ext cx="3154680" cy="502920"/>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양방향</a:t>
            </a:r>
            <a:r>
              <a:rPr sz="1000" b="0" dirty="0">
                <a:solidFill>
                  <a:srgbClr val="4A4A4A"/>
                </a:solidFill>
                <a:latin typeface="맑은 고딕"/>
              </a:rPr>
              <a:t> </a:t>
            </a:r>
            <a:r>
              <a:rPr sz="1000" b="0" dirty="0" err="1">
                <a:solidFill>
                  <a:srgbClr val="4A4A4A"/>
                </a:solidFill>
                <a:latin typeface="맑은 고딕"/>
              </a:rPr>
              <a:t>LSTM으로</a:t>
            </a:r>
            <a:endParaRPr lang="ko-KR" altLang="en-US" sz="1000" b="0" dirty="0">
              <a:solidFill>
                <a:srgbClr val="4A4A4A"/>
              </a:solidFill>
              <a:latin typeface="맑은 고딕"/>
            </a:endParaRPr>
          </a:p>
          <a:p>
            <a:pPr algn="l"/>
            <a:r>
              <a:rPr lang="ko-KR" altLang="en-US" sz="1000" b="0" dirty="0">
                <a:solidFill>
                  <a:srgbClr val="4A4A4A"/>
                </a:solidFill>
                <a:latin typeface="맑은 고딕"/>
              </a:rPr>
              <a:t>과거</a:t>
            </a:r>
            <a:r>
              <a:rPr lang="en-US" altLang="ko-KR" sz="1000" b="0" dirty="0">
                <a:solidFill>
                  <a:srgbClr val="4A4A4A"/>
                </a:solidFill>
                <a:latin typeface="맑은 고딕"/>
              </a:rPr>
              <a:t>·</a:t>
            </a:r>
            <a:r>
              <a:rPr lang="ko-KR" altLang="en-US" sz="1000" b="0" dirty="0">
                <a:solidFill>
                  <a:srgbClr val="4A4A4A"/>
                </a:solidFill>
                <a:latin typeface="맑은 고딕"/>
              </a:rPr>
              <a:t>미래 컨텍스트 모두 활용</a:t>
            </a:r>
          </a:p>
        </p:txBody>
      </p:sp>
      <p:sp>
        <p:nvSpPr>
          <p:cNvPr id="16" name="TextBox 15"/>
          <p:cNvSpPr txBox="1"/>
          <p:nvPr/>
        </p:nvSpPr>
        <p:spPr>
          <a:xfrm>
            <a:off x="566928" y="4444780"/>
            <a:ext cx="3154680" cy="274320"/>
          </a:xfrm>
          <a:prstGeom prst="rect">
            <a:avLst/>
          </a:prstGeom>
          <a:noFill/>
        </p:spPr>
        <p:txBody>
          <a:bodyPr wrap="square" lIns="36000" tIns="18000" rIns="36000" bIns="18000" anchor="ctr">
            <a:spAutoFit/>
          </a:bodyPr>
          <a:lstStyle/>
          <a:p>
            <a:pPr algn="l"/>
            <a:r>
              <a:rPr sz="1000" b="1">
                <a:solidFill>
                  <a:srgbClr val="2676AC"/>
                </a:solidFill>
                <a:latin typeface="맑은 고딕"/>
              </a:rPr>
              <a:t>학습</a:t>
            </a:r>
          </a:p>
        </p:txBody>
      </p:sp>
      <p:sp>
        <p:nvSpPr>
          <p:cNvPr id="17" name="TextBox 16"/>
          <p:cNvSpPr txBox="1"/>
          <p:nvPr/>
        </p:nvSpPr>
        <p:spPr>
          <a:xfrm>
            <a:off x="566928" y="4626266"/>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Class Weight</a:t>
            </a:r>
          </a:p>
          <a:p>
            <a:pPr algn="l"/>
            <a:r>
              <a:rPr sz="1000" b="0">
                <a:solidFill>
                  <a:srgbClr val="4A4A4A"/>
                </a:solidFill>
                <a:latin typeface="맑은 고딕"/>
              </a:rPr>
              <a:t>ReduceLROnPlateau, Early Stop</a:t>
            </a:r>
          </a:p>
        </p:txBody>
      </p:sp>
      <p:sp>
        <p:nvSpPr>
          <p:cNvPr id="18" name="Rounded Rectangle 17"/>
          <p:cNvSpPr/>
          <p:nvPr/>
        </p:nvSpPr>
        <p:spPr>
          <a:xfrm>
            <a:off x="4379976" y="1280160"/>
            <a:ext cx="3429000" cy="41148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4379976" y="1280160"/>
            <a:ext cx="3429000" cy="64008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62856" y="1403012"/>
            <a:ext cx="914400" cy="365760"/>
          </a:xfrm>
          <a:prstGeom prst="rect">
            <a:avLst/>
          </a:prstGeom>
          <a:noFill/>
        </p:spPr>
        <p:txBody>
          <a:bodyPr wrap="square" lIns="36000" tIns="18000" rIns="36000" bIns="18000" anchor="ctr">
            <a:spAutoFit/>
          </a:bodyPr>
          <a:lstStyle/>
          <a:p>
            <a:pPr algn="l"/>
            <a:r>
              <a:rPr sz="1400" b="1">
                <a:solidFill>
                  <a:srgbClr val="FFFFFF"/>
                </a:solidFill>
                <a:latin typeface="맑은 고딕"/>
              </a:rPr>
              <a:t>M2</a:t>
            </a:r>
          </a:p>
        </p:txBody>
      </p:sp>
      <p:sp>
        <p:nvSpPr>
          <p:cNvPr id="21" name="TextBox 20"/>
          <p:cNvSpPr txBox="1"/>
          <p:nvPr/>
        </p:nvSpPr>
        <p:spPr>
          <a:xfrm>
            <a:off x="5412650" y="1421300"/>
            <a:ext cx="2286000" cy="365760"/>
          </a:xfrm>
          <a:prstGeom prst="rect">
            <a:avLst/>
          </a:prstGeom>
          <a:noFill/>
        </p:spPr>
        <p:txBody>
          <a:bodyPr wrap="square" lIns="36000" tIns="18000" rIns="36000" bIns="18000" anchor="ctr">
            <a:spAutoFit/>
          </a:bodyPr>
          <a:lstStyle/>
          <a:p>
            <a:pPr algn="r"/>
            <a:r>
              <a:rPr sz="1300" b="1">
                <a:solidFill>
                  <a:srgbClr val="FFFFFF"/>
                </a:solidFill>
                <a:latin typeface="맑은 고딕"/>
              </a:rPr>
              <a:t>Image ResNet18</a:t>
            </a:r>
          </a:p>
        </p:txBody>
      </p:sp>
      <p:sp>
        <p:nvSpPr>
          <p:cNvPr id="22" name="TextBox 21"/>
          <p:cNvSpPr txBox="1"/>
          <p:nvPr/>
        </p:nvSpPr>
        <p:spPr>
          <a:xfrm>
            <a:off x="4562856" y="2113060"/>
            <a:ext cx="3154680" cy="274320"/>
          </a:xfrm>
          <a:prstGeom prst="rect">
            <a:avLst/>
          </a:prstGeom>
          <a:noFill/>
        </p:spPr>
        <p:txBody>
          <a:bodyPr wrap="square" lIns="36000" tIns="18000" rIns="36000" bIns="18000" anchor="ctr">
            <a:spAutoFit/>
          </a:bodyPr>
          <a:lstStyle/>
          <a:p>
            <a:pPr algn="l"/>
            <a:r>
              <a:rPr sz="1000" b="1">
                <a:solidFill>
                  <a:srgbClr val="16A295"/>
                </a:solidFill>
                <a:latin typeface="맑은 고딕"/>
              </a:rPr>
              <a:t>입력</a:t>
            </a:r>
          </a:p>
        </p:txBody>
      </p:sp>
      <p:sp>
        <p:nvSpPr>
          <p:cNvPr id="23" name="TextBox 22"/>
          <p:cNvSpPr txBox="1"/>
          <p:nvPr/>
        </p:nvSpPr>
        <p:spPr>
          <a:xfrm>
            <a:off x="4562856" y="2294546"/>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224 × 224 RGB 이미지</a:t>
            </a:r>
          </a:p>
        </p:txBody>
      </p:sp>
      <p:sp>
        <p:nvSpPr>
          <p:cNvPr id="24" name="TextBox 23"/>
          <p:cNvSpPr txBox="1"/>
          <p:nvPr/>
        </p:nvSpPr>
        <p:spPr>
          <a:xfrm>
            <a:off x="4562856" y="2890300"/>
            <a:ext cx="3154680" cy="274320"/>
          </a:xfrm>
          <a:prstGeom prst="rect">
            <a:avLst/>
          </a:prstGeom>
          <a:noFill/>
        </p:spPr>
        <p:txBody>
          <a:bodyPr wrap="square" lIns="36000" tIns="18000" rIns="36000" bIns="18000" anchor="ctr">
            <a:spAutoFit/>
          </a:bodyPr>
          <a:lstStyle/>
          <a:p>
            <a:pPr algn="l"/>
            <a:r>
              <a:rPr sz="1000" b="1">
                <a:solidFill>
                  <a:srgbClr val="16A295"/>
                </a:solidFill>
                <a:latin typeface="맑은 고딕"/>
              </a:rPr>
              <a:t>적용 범위</a:t>
            </a:r>
          </a:p>
        </p:txBody>
      </p:sp>
      <p:sp>
        <p:nvSpPr>
          <p:cNvPr id="25" name="TextBox 24"/>
          <p:cNvSpPr txBox="1"/>
          <p:nvPr/>
        </p:nvSpPr>
        <p:spPr>
          <a:xfrm>
            <a:off x="4562856" y="3071785"/>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Cycle 4·9 시점 (~9,500장)</a:t>
            </a:r>
          </a:p>
        </p:txBody>
      </p:sp>
      <p:sp>
        <p:nvSpPr>
          <p:cNvPr id="26" name="TextBox 25"/>
          <p:cNvSpPr txBox="1"/>
          <p:nvPr/>
        </p:nvSpPr>
        <p:spPr>
          <a:xfrm>
            <a:off x="4562856" y="3667540"/>
            <a:ext cx="3154680" cy="274320"/>
          </a:xfrm>
          <a:prstGeom prst="rect">
            <a:avLst/>
          </a:prstGeom>
          <a:noFill/>
        </p:spPr>
        <p:txBody>
          <a:bodyPr wrap="square" lIns="36000" tIns="18000" rIns="36000" bIns="18000" anchor="ctr">
            <a:spAutoFit/>
          </a:bodyPr>
          <a:lstStyle/>
          <a:p>
            <a:pPr algn="l"/>
            <a:r>
              <a:rPr sz="1000" b="1">
                <a:solidFill>
                  <a:srgbClr val="16A295"/>
                </a:solidFill>
                <a:latin typeface="맑은 고딕"/>
              </a:rPr>
              <a:t>핵심</a:t>
            </a:r>
          </a:p>
        </p:txBody>
      </p:sp>
      <p:sp>
        <p:nvSpPr>
          <p:cNvPr id="27" name="TextBox 26"/>
          <p:cNvSpPr txBox="1"/>
          <p:nvPr/>
        </p:nvSpPr>
        <p:spPr>
          <a:xfrm>
            <a:off x="4562856" y="3849026"/>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ImageNet 사전학습 활용</a:t>
            </a:r>
          </a:p>
          <a:p>
            <a:pPr algn="l"/>
            <a:r>
              <a:rPr sz="1000" b="0">
                <a:solidFill>
                  <a:srgbClr val="4A4A4A"/>
                </a:solidFill>
                <a:latin typeface="맑은 고딕"/>
              </a:rPr>
              <a:t>Transfer Learning</a:t>
            </a:r>
          </a:p>
        </p:txBody>
      </p:sp>
      <p:sp>
        <p:nvSpPr>
          <p:cNvPr id="28" name="TextBox 27"/>
          <p:cNvSpPr txBox="1"/>
          <p:nvPr/>
        </p:nvSpPr>
        <p:spPr>
          <a:xfrm>
            <a:off x="4562856" y="4444780"/>
            <a:ext cx="3154680" cy="274320"/>
          </a:xfrm>
          <a:prstGeom prst="rect">
            <a:avLst/>
          </a:prstGeom>
          <a:noFill/>
        </p:spPr>
        <p:txBody>
          <a:bodyPr wrap="square" lIns="36000" tIns="18000" rIns="36000" bIns="18000" anchor="ctr">
            <a:spAutoFit/>
          </a:bodyPr>
          <a:lstStyle/>
          <a:p>
            <a:pPr algn="l"/>
            <a:r>
              <a:rPr sz="1000" b="1">
                <a:solidFill>
                  <a:srgbClr val="16A295"/>
                </a:solidFill>
                <a:latin typeface="맑은 고딕"/>
              </a:rPr>
              <a:t>학습</a:t>
            </a:r>
          </a:p>
        </p:txBody>
      </p:sp>
      <p:sp>
        <p:nvSpPr>
          <p:cNvPr id="29" name="TextBox 28"/>
          <p:cNvSpPr txBox="1"/>
          <p:nvPr/>
        </p:nvSpPr>
        <p:spPr>
          <a:xfrm>
            <a:off x="4562856" y="4626266"/>
            <a:ext cx="3154680" cy="502920"/>
          </a:xfrm>
          <a:prstGeom prst="rect">
            <a:avLst/>
          </a:prstGeom>
          <a:noFill/>
        </p:spPr>
        <p:txBody>
          <a:bodyPr wrap="square" lIns="36000" tIns="18000" rIns="36000" bIns="18000" anchor="ctr">
            <a:spAutoFit/>
          </a:bodyPr>
          <a:lstStyle/>
          <a:p>
            <a:pPr algn="l"/>
            <a:r>
              <a:rPr sz="1000" b="0" dirty="0">
                <a:solidFill>
                  <a:srgbClr val="4A4A4A"/>
                </a:solidFill>
                <a:latin typeface="맑은 고딕"/>
              </a:rPr>
              <a:t>Augmentation</a:t>
            </a:r>
            <a:endParaRPr lang="en-US" sz="1000" b="0" dirty="0">
              <a:solidFill>
                <a:srgbClr val="4A4A4A"/>
              </a:solidFill>
              <a:latin typeface="맑은 고딕"/>
            </a:endParaRPr>
          </a:p>
          <a:p>
            <a:pPr algn="l"/>
            <a:r>
              <a:rPr lang="en-US" sz="1000" b="0" dirty="0">
                <a:solidFill>
                  <a:srgbClr val="4A4A4A"/>
                </a:solidFill>
                <a:latin typeface="맑은 고딕"/>
              </a:rPr>
              <a:t>(Flip, Rotation, </a:t>
            </a:r>
            <a:r>
              <a:rPr lang="en-US" sz="1000" b="0" dirty="0" err="1">
                <a:solidFill>
                  <a:srgbClr val="4A4A4A"/>
                </a:solidFill>
                <a:latin typeface="맑은 고딕"/>
              </a:rPr>
              <a:t>ColorJitter</a:t>
            </a:r>
            <a:r>
              <a:rPr lang="en-US" sz="1000" b="0" dirty="0">
                <a:solidFill>
                  <a:srgbClr val="4A4A4A"/>
                </a:solidFill>
                <a:latin typeface="맑은 고딕"/>
              </a:rPr>
              <a:t>)</a:t>
            </a:r>
          </a:p>
        </p:txBody>
      </p:sp>
      <p:sp>
        <p:nvSpPr>
          <p:cNvPr id="30" name="Rounded Rectangle 29"/>
          <p:cNvSpPr/>
          <p:nvPr/>
        </p:nvSpPr>
        <p:spPr>
          <a:xfrm>
            <a:off x="8375904" y="1280160"/>
            <a:ext cx="3429000" cy="411480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375904" y="1280160"/>
            <a:ext cx="3429000" cy="640080"/>
          </a:xfrm>
          <a:prstGeom prst="roundRect">
            <a:avLst>
              <a:gd name="adj" fmla="val 5000"/>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558784" y="1403012"/>
            <a:ext cx="914400" cy="365760"/>
          </a:xfrm>
          <a:prstGeom prst="rect">
            <a:avLst/>
          </a:prstGeom>
          <a:noFill/>
        </p:spPr>
        <p:txBody>
          <a:bodyPr wrap="square" lIns="36000" tIns="18000" rIns="36000" bIns="18000" anchor="ctr">
            <a:spAutoFit/>
          </a:bodyPr>
          <a:lstStyle/>
          <a:p>
            <a:pPr algn="l"/>
            <a:r>
              <a:rPr sz="1400" b="1">
                <a:solidFill>
                  <a:srgbClr val="FFFFFF"/>
                </a:solidFill>
                <a:latin typeface="맑은 고딕"/>
              </a:rPr>
              <a:t>M3</a:t>
            </a:r>
          </a:p>
        </p:txBody>
      </p:sp>
      <p:sp>
        <p:nvSpPr>
          <p:cNvPr id="33" name="TextBox 32"/>
          <p:cNvSpPr txBox="1"/>
          <p:nvPr/>
        </p:nvSpPr>
        <p:spPr>
          <a:xfrm>
            <a:off x="9408578" y="1421300"/>
            <a:ext cx="2286000" cy="365760"/>
          </a:xfrm>
          <a:prstGeom prst="rect">
            <a:avLst/>
          </a:prstGeom>
          <a:noFill/>
        </p:spPr>
        <p:txBody>
          <a:bodyPr wrap="square" lIns="36000" tIns="18000" rIns="36000" bIns="18000" anchor="ctr">
            <a:spAutoFit/>
          </a:bodyPr>
          <a:lstStyle/>
          <a:p>
            <a:pPr algn="r"/>
            <a:r>
              <a:rPr sz="1300" b="1">
                <a:solidFill>
                  <a:srgbClr val="FFFFFF"/>
                </a:solidFill>
                <a:latin typeface="맑은 고딕"/>
              </a:rPr>
              <a:t>Multimodal Fusion</a:t>
            </a:r>
          </a:p>
        </p:txBody>
      </p:sp>
      <p:sp>
        <p:nvSpPr>
          <p:cNvPr id="34" name="TextBox 33"/>
          <p:cNvSpPr txBox="1"/>
          <p:nvPr/>
        </p:nvSpPr>
        <p:spPr>
          <a:xfrm>
            <a:off x="8558784" y="2113060"/>
            <a:ext cx="3154680" cy="274320"/>
          </a:xfrm>
          <a:prstGeom prst="rect">
            <a:avLst/>
          </a:prstGeom>
          <a:noFill/>
        </p:spPr>
        <p:txBody>
          <a:bodyPr wrap="square" lIns="36000" tIns="18000" rIns="36000" bIns="18000" anchor="ctr">
            <a:spAutoFit/>
          </a:bodyPr>
          <a:lstStyle/>
          <a:p>
            <a:pPr algn="l"/>
            <a:r>
              <a:rPr sz="1000" b="1">
                <a:solidFill>
                  <a:srgbClr val="E8584F"/>
                </a:solidFill>
                <a:latin typeface="맑은 고딕"/>
              </a:rPr>
              <a:t>입력</a:t>
            </a:r>
          </a:p>
        </p:txBody>
      </p:sp>
      <p:sp>
        <p:nvSpPr>
          <p:cNvPr id="35" name="TextBox 34"/>
          <p:cNvSpPr txBox="1"/>
          <p:nvPr/>
        </p:nvSpPr>
        <p:spPr>
          <a:xfrm>
            <a:off x="8558784" y="2294546"/>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센서 시퀀스 + 동기화 이미지</a:t>
            </a:r>
          </a:p>
        </p:txBody>
      </p:sp>
      <p:sp>
        <p:nvSpPr>
          <p:cNvPr id="36" name="TextBox 35"/>
          <p:cNvSpPr txBox="1"/>
          <p:nvPr/>
        </p:nvSpPr>
        <p:spPr>
          <a:xfrm>
            <a:off x="8558784" y="2890300"/>
            <a:ext cx="3154680" cy="274320"/>
          </a:xfrm>
          <a:prstGeom prst="rect">
            <a:avLst/>
          </a:prstGeom>
          <a:noFill/>
        </p:spPr>
        <p:txBody>
          <a:bodyPr wrap="square" lIns="36000" tIns="18000" rIns="36000" bIns="18000" anchor="ctr">
            <a:spAutoFit/>
          </a:bodyPr>
          <a:lstStyle/>
          <a:p>
            <a:pPr algn="l"/>
            <a:r>
              <a:rPr sz="1000" b="1">
                <a:solidFill>
                  <a:srgbClr val="E8584F"/>
                </a:solidFill>
                <a:latin typeface="맑은 고딕"/>
              </a:rPr>
              <a:t>적용 범위</a:t>
            </a:r>
          </a:p>
        </p:txBody>
      </p:sp>
      <p:sp>
        <p:nvSpPr>
          <p:cNvPr id="37" name="TextBox 36"/>
          <p:cNvSpPr txBox="1"/>
          <p:nvPr/>
        </p:nvSpPr>
        <p:spPr>
          <a:xfrm>
            <a:off x="8558784" y="3071785"/>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Cycle 4·9 (이미지 보유 시점)</a:t>
            </a:r>
          </a:p>
        </p:txBody>
      </p:sp>
      <p:sp>
        <p:nvSpPr>
          <p:cNvPr id="38" name="TextBox 37"/>
          <p:cNvSpPr txBox="1"/>
          <p:nvPr/>
        </p:nvSpPr>
        <p:spPr>
          <a:xfrm>
            <a:off x="8558784" y="3667540"/>
            <a:ext cx="3154680" cy="274320"/>
          </a:xfrm>
          <a:prstGeom prst="rect">
            <a:avLst/>
          </a:prstGeom>
          <a:noFill/>
        </p:spPr>
        <p:txBody>
          <a:bodyPr wrap="square" lIns="36000" tIns="18000" rIns="36000" bIns="18000" anchor="ctr">
            <a:spAutoFit/>
          </a:bodyPr>
          <a:lstStyle/>
          <a:p>
            <a:pPr algn="l"/>
            <a:r>
              <a:rPr sz="1000" b="1">
                <a:solidFill>
                  <a:srgbClr val="E8584F"/>
                </a:solidFill>
                <a:latin typeface="맑은 고딕"/>
              </a:rPr>
              <a:t>핵심</a:t>
            </a:r>
          </a:p>
        </p:txBody>
      </p:sp>
      <p:sp>
        <p:nvSpPr>
          <p:cNvPr id="39" name="TextBox 38"/>
          <p:cNvSpPr txBox="1"/>
          <p:nvPr/>
        </p:nvSpPr>
        <p:spPr>
          <a:xfrm>
            <a:off x="8558784" y="3849026"/>
            <a:ext cx="3154680" cy="502920"/>
          </a:xfrm>
          <a:prstGeom prst="rect">
            <a:avLst/>
          </a:prstGeom>
          <a:noFill/>
        </p:spPr>
        <p:txBody>
          <a:bodyPr wrap="square" lIns="36000" tIns="18000" rIns="36000" bIns="18000" anchor="ctr">
            <a:spAutoFit/>
          </a:bodyPr>
          <a:lstStyle/>
          <a:p>
            <a:pPr algn="l"/>
            <a:r>
              <a:rPr sz="1000" b="0">
                <a:solidFill>
                  <a:srgbClr val="4A4A4A"/>
                </a:solidFill>
                <a:latin typeface="맑은 고딕"/>
              </a:rPr>
              <a:t>Decision-Level Fusion</a:t>
            </a:r>
          </a:p>
          <a:p>
            <a:pPr algn="l"/>
            <a:r>
              <a:rPr sz="1000" b="0">
                <a:solidFill>
                  <a:srgbClr val="4A4A4A"/>
                </a:solidFill>
                <a:latin typeface="맑은 고딕"/>
              </a:rPr>
              <a:t>ResNet 동결 + LSTM 학습</a:t>
            </a:r>
          </a:p>
        </p:txBody>
      </p:sp>
      <p:sp>
        <p:nvSpPr>
          <p:cNvPr id="40" name="TextBox 39"/>
          <p:cNvSpPr txBox="1"/>
          <p:nvPr/>
        </p:nvSpPr>
        <p:spPr>
          <a:xfrm>
            <a:off x="8558784" y="4444780"/>
            <a:ext cx="3154680" cy="274320"/>
          </a:xfrm>
          <a:prstGeom prst="rect">
            <a:avLst/>
          </a:prstGeom>
          <a:noFill/>
        </p:spPr>
        <p:txBody>
          <a:bodyPr wrap="square" lIns="36000" tIns="18000" rIns="36000" bIns="18000" anchor="ctr">
            <a:spAutoFit/>
          </a:bodyPr>
          <a:lstStyle/>
          <a:p>
            <a:pPr algn="l"/>
            <a:r>
              <a:rPr sz="1000" b="1">
                <a:solidFill>
                  <a:srgbClr val="E8584F"/>
                </a:solidFill>
                <a:latin typeface="맑은 고딕"/>
              </a:rPr>
              <a:t>학습</a:t>
            </a:r>
          </a:p>
        </p:txBody>
      </p:sp>
      <p:sp>
        <p:nvSpPr>
          <p:cNvPr id="41" name="TextBox 40"/>
          <p:cNvSpPr txBox="1"/>
          <p:nvPr/>
        </p:nvSpPr>
        <p:spPr>
          <a:xfrm>
            <a:off x="8558784" y="4626266"/>
            <a:ext cx="3154680" cy="502920"/>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이미지</a:t>
            </a:r>
            <a:r>
              <a:rPr sz="1000" b="0" dirty="0">
                <a:solidFill>
                  <a:srgbClr val="4A4A4A"/>
                </a:solidFill>
                <a:latin typeface="맑은 고딕"/>
              </a:rPr>
              <a:t> </a:t>
            </a:r>
            <a:r>
              <a:rPr sz="1000" b="0" dirty="0" err="1">
                <a:solidFill>
                  <a:srgbClr val="4A4A4A"/>
                </a:solidFill>
                <a:latin typeface="맑은 고딕"/>
              </a:rPr>
              <a:t>없는</a:t>
            </a:r>
            <a:r>
              <a:rPr sz="1000" b="0" dirty="0">
                <a:solidFill>
                  <a:srgbClr val="4A4A4A"/>
                </a:solidFill>
                <a:latin typeface="맑은 고딕"/>
              </a:rPr>
              <a:t> </a:t>
            </a:r>
            <a:r>
              <a:rPr sz="1000" b="0" dirty="0" err="1">
                <a:solidFill>
                  <a:srgbClr val="4A4A4A"/>
                </a:solidFill>
                <a:latin typeface="맑은 고딕"/>
              </a:rPr>
              <a:t>샘플은</a:t>
            </a:r>
            <a:endParaRPr lang="ko-KR" altLang="en-US" sz="1000" b="0" dirty="0">
              <a:solidFill>
                <a:srgbClr val="4A4A4A"/>
              </a:solidFill>
              <a:latin typeface="맑은 고딕"/>
            </a:endParaRPr>
          </a:p>
          <a:p>
            <a:pPr algn="l"/>
            <a:r>
              <a:rPr lang="ko-KR" altLang="en-US" sz="1000" b="0" dirty="0" err="1">
                <a:solidFill>
                  <a:srgbClr val="4A4A4A"/>
                </a:solidFill>
                <a:latin typeface="맑은 고딕"/>
              </a:rPr>
              <a:t>마스킹</a:t>
            </a:r>
            <a:r>
              <a:rPr lang="ko-KR" altLang="en-US" sz="1000" b="0" dirty="0">
                <a:solidFill>
                  <a:srgbClr val="4A4A4A"/>
                </a:solidFill>
                <a:latin typeface="맑은 고딕"/>
              </a:rPr>
              <a:t> 처리하여 견고성 확보</a:t>
            </a:r>
          </a:p>
        </p:txBody>
      </p:sp>
      <p:sp>
        <p:nvSpPr>
          <p:cNvPr id="42" name="Rounded Rectangle 41"/>
          <p:cNvSpPr/>
          <p:nvPr/>
        </p:nvSpPr>
        <p:spPr>
          <a:xfrm>
            <a:off x="384048" y="5532120"/>
            <a:ext cx="11430000" cy="365760"/>
          </a:xfrm>
          <a:prstGeom prst="roundRect">
            <a:avLst>
              <a:gd name="adj" fmla="val 5000"/>
            </a:avLst>
          </a:prstGeom>
          <a:solidFill>
            <a:srgbClr val="1B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48640" y="5550408"/>
            <a:ext cx="11155680" cy="329184"/>
          </a:xfrm>
          <a:prstGeom prst="rect">
            <a:avLst/>
          </a:prstGeom>
          <a:noFill/>
        </p:spPr>
        <p:txBody>
          <a:bodyPr wrap="square" lIns="36000" tIns="18000" rIns="36000" bIns="18000" anchor="ctr">
            <a:spAutoFit/>
          </a:bodyPr>
          <a:lstStyle/>
          <a:p>
            <a:pPr algn="l"/>
            <a:r>
              <a:rPr sz="1100" b="0">
                <a:solidFill>
                  <a:srgbClr val="FFFFFF"/>
                </a:solidFill>
                <a:latin typeface="맑은 고딕"/>
              </a:rPr>
              <a:t>동일 5-class · 동일 Cycle-wise split · 동일 평가 지표 → 모달리티 차이만 분리하여 비교</a:t>
            </a:r>
          </a:p>
        </p:txBody>
      </p:sp>
    </p:spTree>
    <p:extLst>
      <p:ext uri="{BB962C8B-B14F-4D97-AF65-F5344CB8AC3E}">
        <p14:creationId xmlns:p14="http://schemas.microsoft.com/office/powerpoint/2010/main" val="1763201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1F1601DD-21D7-4974-8C6C-652A366892A7}"/>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468C4A86-D0B0-4958-86A4-44DD0958394F}"/>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07</a:t>
            </a:r>
            <a:endParaRPr lang="ko-KR" altLang="en-US" sz="1600" b="1">
              <a:solidFill>
                <a:srgbClr val="FFFFFF"/>
              </a:solidFill>
            </a:endParaRPr>
          </a:p>
        </p:txBody>
      </p:sp>
      <p:sp>
        <p:nvSpPr>
          <p:cNvPr id="5" name="TextBox 4">
            <a:extLst>
              <a:ext uri="{FF2B5EF4-FFF2-40B4-BE49-F238E27FC236}">
                <a16:creationId xmlns:a16="http://schemas.microsoft.com/office/drawing/2014/main" id="{0E4114A6-2525-472A-9CED-A485D64831EB}"/>
              </a:ext>
            </a:extLst>
          </p:cNvPr>
          <p:cNvSpPr txBox="1"/>
          <p:nvPr/>
        </p:nvSpPr>
        <p:spPr>
          <a:xfrm>
            <a:off x="1079500" y="190500"/>
            <a:ext cx="508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실행 환경 및 데이터 제약</a:t>
            </a:r>
          </a:p>
        </p:txBody>
      </p:sp>
      <p:sp>
        <p:nvSpPr>
          <p:cNvPr id="6" name="Rounded Rectangle 5"/>
          <p:cNvSpPr/>
          <p:nvPr/>
        </p:nvSpPr>
        <p:spPr>
          <a:xfrm>
            <a:off x="384048" y="1234440"/>
            <a:ext cx="5486400" cy="502920"/>
          </a:xfrm>
          <a:prstGeom prst="roundRect">
            <a:avLst>
              <a:gd name="adj" fmla="val 5000"/>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07592"/>
            <a:ext cx="5303520" cy="365760"/>
          </a:xfrm>
          <a:prstGeom prst="rect">
            <a:avLst/>
          </a:prstGeom>
          <a:noFill/>
        </p:spPr>
        <p:txBody>
          <a:bodyPr wrap="square" lIns="36000" tIns="18000" rIns="36000" bIns="18000" anchor="ctr">
            <a:spAutoFit/>
          </a:bodyPr>
          <a:lstStyle/>
          <a:p>
            <a:pPr algn="l"/>
            <a:r>
              <a:rPr sz="1400" b="1">
                <a:solidFill>
                  <a:srgbClr val="FFFFFF"/>
                </a:solidFill>
                <a:latin typeface="맑은 고딕"/>
              </a:rPr>
              <a:t>마주한 제약</a:t>
            </a:r>
          </a:p>
        </p:txBody>
      </p:sp>
      <p:sp>
        <p:nvSpPr>
          <p:cNvPr id="8" name="Rounded Rectangle 7"/>
          <p:cNvSpPr/>
          <p:nvPr/>
        </p:nvSpPr>
        <p:spPr>
          <a:xfrm>
            <a:off x="384048" y="1828800"/>
            <a:ext cx="5486400" cy="1051560"/>
          </a:xfrm>
          <a:prstGeom prst="roundRect">
            <a:avLst>
              <a:gd name="adj" fmla="val 5000"/>
            </a:avLst>
          </a:prstGeom>
          <a:solidFill>
            <a:srgbClr val="FF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1989816"/>
            <a:ext cx="5303520" cy="320040"/>
          </a:xfrm>
          <a:prstGeom prst="rect">
            <a:avLst/>
          </a:prstGeom>
          <a:noFill/>
        </p:spPr>
        <p:txBody>
          <a:bodyPr wrap="square" lIns="36000" tIns="18000" rIns="36000" bIns="18000" anchor="ctr">
            <a:spAutoFit/>
          </a:bodyPr>
          <a:lstStyle/>
          <a:p>
            <a:pPr algn="l"/>
            <a:r>
              <a:rPr sz="1200" b="1" dirty="0" err="1">
                <a:solidFill>
                  <a:srgbClr val="E8584F"/>
                </a:solidFill>
                <a:latin typeface="맑은 고딕"/>
              </a:rPr>
              <a:t>이미지</a:t>
            </a:r>
            <a:r>
              <a:rPr sz="1200" b="1" dirty="0">
                <a:solidFill>
                  <a:srgbClr val="E8584F"/>
                </a:solidFill>
                <a:latin typeface="맑은 고딕"/>
              </a:rPr>
              <a:t> </a:t>
            </a:r>
            <a:r>
              <a:rPr sz="1200" b="1" dirty="0" err="1">
                <a:solidFill>
                  <a:srgbClr val="E8584F"/>
                </a:solidFill>
                <a:latin typeface="맑은 고딕"/>
              </a:rPr>
              <a:t>원본</a:t>
            </a:r>
            <a:r>
              <a:rPr sz="1200" b="1" dirty="0">
                <a:solidFill>
                  <a:srgbClr val="E8584F"/>
                </a:solidFill>
                <a:latin typeface="맑은 고딕"/>
              </a:rPr>
              <a:t> 580GB</a:t>
            </a:r>
          </a:p>
        </p:txBody>
      </p:sp>
      <p:sp>
        <p:nvSpPr>
          <p:cNvPr id="10" name="TextBox 9"/>
          <p:cNvSpPr txBox="1"/>
          <p:nvPr/>
        </p:nvSpPr>
        <p:spPr>
          <a:xfrm>
            <a:off x="502920" y="2183227"/>
            <a:ext cx="5303520" cy="640080"/>
          </a:xfrm>
          <a:prstGeom prst="rect">
            <a:avLst/>
          </a:prstGeom>
          <a:noFill/>
        </p:spPr>
        <p:txBody>
          <a:bodyPr wrap="square" lIns="36000" tIns="18000" rIns="36000" bIns="18000" anchor="ctr">
            <a:spAutoFit/>
          </a:bodyPr>
          <a:lstStyle/>
          <a:p>
            <a:pPr algn="l"/>
            <a:r>
              <a:rPr sz="1000" b="0">
                <a:solidFill>
                  <a:srgbClr val="4A4A4A"/>
                </a:solidFill>
                <a:latin typeface="맑은 고딕"/>
              </a:rPr>
              <a:t>Kaggle의 Multi-Modal Dataset 6 파트의 총 용량 (각 ~104GB)</a:t>
            </a:r>
          </a:p>
          <a:p>
            <a:pPr algn="l"/>
            <a:r>
              <a:rPr sz="1000" b="0">
                <a:solidFill>
                  <a:srgbClr val="4A4A4A"/>
                </a:solidFill>
                <a:latin typeface="맑은 고딕"/>
              </a:rPr>
              <a:t>→ 로컬 PC 다운로드 사실상 불가능</a:t>
            </a:r>
          </a:p>
        </p:txBody>
      </p:sp>
      <p:sp>
        <p:nvSpPr>
          <p:cNvPr id="11" name="Rounded Rectangle 10"/>
          <p:cNvSpPr/>
          <p:nvPr/>
        </p:nvSpPr>
        <p:spPr>
          <a:xfrm>
            <a:off x="384048" y="2971800"/>
            <a:ext cx="5486400" cy="1051560"/>
          </a:xfrm>
          <a:prstGeom prst="roundRect">
            <a:avLst>
              <a:gd name="adj" fmla="val 5000"/>
            </a:avLst>
          </a:prstGeom>
          <a:solidFill>
            <a:srgbClr val="FF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3132816"/>
            <a:ext cx="5303520" cy="320040"/>
          </a:xfrm>
          <a:prstGeom prst="rect">
            <a:avLst/>
          </a:prstGeom>
          <a:noFill/>
        </p:spPr>
        <p:txBody>
          <a:bodyPr wrap="square" lIns="36000" tIns="18000" rIns="36000" bIns="18000" anchor="ctr">
            <a:spAutoFit/>
          </a:bodyPr>
          <a:lstStyle/>
          <a:p>
            <a:pPr algn="l"/>
            <a:r>
              <a:rPr sz="1200" b="1" dirty="0" err="1">
                <a:solidFill>
                  <a:srgbClr val="E8584F"/>
                </a:solidFill>
                <a:latin typeface="맑은 고딕"/>
              </a:rPr>
              <a:t>빠른 프로토타이핑 필요</a:t>
            </a:r>
            <a:endParaRPr sz="1200" b="1" dirty="0">
              <a:solidFill>
                <a:srgbClr val="E8584F"/>
              </a:solidFill>
              <a:latin typeface="맑은 고딕"/>
            </a:endParaRPr>
          </a:p>
        </p:txBody>
      </p:sp>
      <p:sp>
        <p:nvSpPr>
          <p:cNvPr id="13" name="TextBox 12"/>
          <p:cNvSpPr txBox="1"/>
          <p:nvPr/>
        </p:nvSpPr>
        <p:spPr>
          <a:xfrm>
            <a:off x="502920" y="3474203"/>
            <a:ext cx="5303520" cy="344128"/>
          </a:xfrm>
          <a:prstGeom prst="rect">
            <a:avLst/>
          </a:prstGeom>
          <a:noFill/>
        </p:spPr>
        <p:txBody>
          <a:bodyPr wrap="square" lIns="36000" tIns="18000" rIns="36000" bIns="18000" anchor="ctr">
            <a:spAutoFit/>
          </a:bodyPr>
          <a:lstStyle/>
          <a:p>
            <a:pPr algn="l"/>
            <a:r>
              <a:rPr sz="1000" b="0" dirty="0">
                <a:solidFill>
                  <a:srgbClr val="4A4A4A"/>
                </a:solidFill>
                <a:latin typeface="맑은 고딕"/>
              </a:rPr>
              <a:t>3개 </a:t>
            </a:r>
            <a:r>
              <a:rPr sz="1000" b="0" dirty="0" err="1">
                <a:solidFill>
                  <a:srgbClr val="4A4A4A"/>
                </a:solidFill>
                <a:latin typeface="맑은 고딕"/>
              </a:rPr>
              <a:t>모델</a:t>
            </a:r>
            <a:r>
              <a:rPr sz="1000" b="0" dirty="0">
                <a:solidFill>
                  <a:srgbClr val="4A4A4A"/>
                </a:solidFill>
                <a:latin typeface="맑은 고딕"/>
              </a:rPr>
              <a:t> × </a:t>
            </a:r>
            <a:r>
              <a:rPr sz="1000" b="0" dirty="0" err="1">
                <a:solidFill>
                  <a:srgbClr val="4A4A4A"/>
                </a:solidFill>
                <a:latin typeface="맑은 고딕"/>
              </a:rPr>
              <a:t>학습</a:t>
            </a:r>
            <a:r>
              <a:rPr sz="1000" b="0" dirty="0">
                <a:solidFill>
                  <a:srgbClr val="4A4A4A"/>
                </a:solidFill>
                <a:latin typeface="맑은 고딕"/>
              </a:rPr>
              <a:t> </a:t>
            </a:r>
            <a:r>
              <a:rPr sz="1000" b="0" dirty="0" err="1">
                <a:solidFill>
                  <a:srgbClr val="4A4A4A"/>
                </a:solidFill>
                <a:latin typeface="맑은 고딕"/>
              </a:rPr>
              <a:t>반복</a:t>
            </a:r>
            <a:r>
              <a:rPr sz="1000" b="0" dirty="0">
                <a:solidFill>
                  <a:srgbClr val="4A4A4A"/>
                </a:solidFill>
                <a:latin typeface="맑은 고딕"/>
              </a:rPr>
              <a:t> 시 </a:t>
            </a:r>
            <a:r>
              <a:rPr sz="1000" b="0" dirty="0" err="1">
                <a:solidFill>
                  <a:srgbClr val="4A4A4A"/>
                </a:solidFill>
                <a:latin typeface="맑은 고딕"/>
              </a:rPr>
              <a:t>로컬</a:t>
            </a:r>
            <a:r>
              <a:rPr sz="1000" b="0" dirty="0">
                <a:solidFill>
                  <a:srgbClr val="4A4A4A"/>
                </a:solidFill>
                <a:latin typeface="맑은 고딕"/>
              </a:rPr>
              <a:t> </a:t>
            </a:r>
            <a:r>
              <a:rPr sz="1000" b="0" dirty="0" err="1">
                <a:solidFill>
                  <a:srgbClr val="4A4A4A"/>
                </a:solidFill>
                <a:latin typeface="맑은 고딕"/>
              </a:rPr>
              <a:t>자원</a:t>
            </a:r>
            <a:r>
              <a:rPr sz="1000" b="0" dirty="0">
                <a:solidFill>
                  <a:srgbClr val="4A4A4A"/>
                </a:solidFill>
                <a:latin typeface="맑은 고딕"/>
              </a:rPr>
              <a:t> </a:t>
            </a:r>
            <a:r>
              <a:rPr sz="1000" b="0" dirty="0" err="1">
                <a:solidFill>
                  <a:srgbClr val="4A4A4A"/>
                </a:solidFill>
                <a:latin typeface="맑은 고딕"/>
              </a:rPr>
              <a:t>장시간</a:t>
            </a:r>
            <a:r>
              <a:rPr sz="1000" b="0" dirty="0">
                <a:solidFill>
                  <a:srgbClr val="4A4A4A"/>
                </a:solidFill>
                <a:latin typeface="맑은 고딕"/>
              </a:rPr>
              <a:t> </a:t>
            </a:r>
            <a:r>
              <a:rPr sz="1000" b="0" dirty="0" err="1">
                <a:solidFill>
                  <a:srgbClr val="4A4A4A"/>
                </a:solidFill>
                <a:latin typeface="맑은 고딕"/>
              </a:rPr>
              <a:t>점유</a:t>
            </a:r>
            <a:endParaRPr sz="1000" b="0" dirty="0">
              <a:solidFill>
                <a:srgbClr val="4A4A4A"/>
              </a:solidFill>
              <a:latin typeface="맑은 고딕"/>
            </a:endParaRPr>
          </a:p>
          <a:p>
            <a:pPr algn="l"/>
            <a:r>
              <a:rPr sz="1000" b="0" dirty="0">
                <a:solidFill>
                  <a:srgbClr val="4A4A4A"/>
                </a:solidFill>
                <a:latin typeface="맑은 고딕"/>
              </a:rPr>
              <a:t>→ Kaggle T4로 </a:t>
            </a:r>
            <a:r>
              <a:rPr sz="1000" b="0" dirty="0" err="1">
                <a:solidFill>
                  <a:srgbClr val="4A4A4A"/>
                </a:solidFill>
                <a:latin typeface="맑은 고딕"/>
              </a:rPr>
              <a:t>실험</a:t>
            </a:r>
            <a:r>
              <a:rPr sz="1000" b="0" dirty="0">
                <a:solidFill>
                  <a:srgbClr val="4A4A4A"/>
                </a:solidFill>
                <a:latin typeface="맑은 고딕"/>
              </a:rPr>
              <a:t> </a:t>
            </a:r>
            <a:r>
              <a:rPr sz="1000" b="0" dirty="0" err="1">
                <a:solidFill>
                  <a:srgbClr val="4A4A4A"/>
                </a:solidFill>
                <a:latin typeface="맑은 고딕"/>
              </a:rPr>
              <a:t>사이클</a:t>
            </a:r>
            <a:r>
              <a:rPr sz="1000" b="0" dirty="0">
                <a:solidFill>
                  <a:srgbClr val="4A4A4A"/>
                </a:solidFill>
                <a:latin typeface="맑은 고딕"/>
              </a:rPr>
              <a:t> </a:t>
            </a:r>
            <a:r>
              <a:rPr sz="1000" b="0" dirty="0" err="1">
                <a:solidFill>
                  <a:srgbClr val="4A4A4A"/>
                </a:solidFill>
                <a:latin typeface="맑은 고딕"/>
              </a:rPr>
              <a:t>단축</a:t>
            </a:r>
            <a:endParaRPr sz="1000" b="0" dirty="0">
              <a:solidFill>
                <a:srgbClr val="4A4A4A"/>
              </a:solidFill>
              <a:latin typeface="맑은 고딕"/>
            </a:endParaRPr>
          </a:p>
        </p:txBody>
      </p:sp>
      <p:sp>
        <p:nvSpPr>
          <p:cNvPr id="14" name="Rounded Rectangle 13"/>
          <p:cNvSpPr/>
          <p:nvPr/>
        </p:nvSpPr>
        <p:spPr>
          <a:xfrm>
            <a:off x="384048" y="4114800"/>
            <a:ext cx="5486400" cy="1051560"/>
          </a:xfrm>
          <a:prstGeom prst="roundRect">
            <a:avLst>
              <a:gd name="adj" fmla="val 5000"/>
            </a:avLst>
          </a:prstGeom>
          <a:solidFill>
            <a:srgbClr val="FF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4275816"/>
            <a:ext cx="5303520" cy="320040"/>
          </a:xfrm>
          <a:prstGeom prst="rect">
            <a:avLst/>
          </a:prstGeom>
          <a:noFill/>
        </p:spPr>
        <p:txBody>
          <a:bodyPr wrap="square" lIns="36000" tIns="18000" rIns="36000" bIns="18000" anchor="ctr">
            <a:spAutoFit/>
          </a:bodyPr>
          <a:lstStyle/>
          <a:p>
            <a:pPr algn="l"/>
            <a:r>
              <a:rPr sz="1200" b="1">
                <a:solidFill>
                  <a:srgbClr val="E8584F"/>
                </a:solidFill>
                <a:latin typeface="맑은 고딕"/>
              </a:rPr>
              <a:t>데이터 동기화</a:t>
            </a:r>
          </a:p>
        </p:txBody>
      </p:sp>
      <p:sp>
        <p:nvSpPr>
          <p:cNvPr id="16" name="TextBox 15"/>
          <p:cNvSpPr txBox="1"/>
          <p:nvPr/>
        </p:nvSpPr>
        <p:spPr>
          <a:xfrm>
            <a:off x="502920" y="4469227"/>
            <a:ext cx="5303520" cy="640080"/>
          </a:xfrm>
          <a:prstGeom prst="rect">
            <a:avLst/>
          </a:prstGeom>
          <a:noFill/>
        </p:spPr>
        <p:txBody>
          <a:bodyPr wrap="square" lIns="36000" tIns="18000" rIns="36000" bIns="18000" anchor="ctr">
            <a:spAutoFit/>
          </a:bodyPr>
          <a:lstStyle/>
          <a:p>
            <a:pPr algn="l"/>
            <a:r>
              <a:rPr sz="1000" b="0">
                <a:solidFill>
                  <a:srgbClr val="4A4A4A"/>
                </a:solidFill>
                <a:latin typeface="맑은 고딕"/>
              </a:rPr>
              <a:t>JSON + 이미지 폴더 구조</a:t>
            </a:r>
          </a:p>
          <a:p>
            <a:pPr algn="l"/>
            <a:r>
              <a:rPr sz="1000" b="0">
                <a:solidFill>
                  <a:srgbClr val="4A4A4A"/>
                </a:solidFill>
                <a:latin typeface="맑은 고딕"/>
              </a:rPr>
              <a:t>시계열 + 이미지 시점 매칭 별도 필요</a:t>
            </a:r>
          </a:p>
        </p:txBody>
      </p:sp>
      <p:sp>
        <p:nvSpPr>
          <p:cNvPr id="17" name="Rounded Rectangle 16"/>
          <p:cNvSpPr/>
          <p:nvPr/>
        </p:nvSpPr>
        <p:spPr>
          <a:xfrm>
            <a:off x="6327648" y="1234440"/>
            <a:ext cx="5486400" cy="502920"/>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1307592"/>
            <a:ext cx="5303520" cy="365760"/>
          </a:xfrm>
          <a:prstGeom prst="rect">
            <a:avLst/>
          </a:prstGeom>
          <a:noFill/>
        </p:spPr>
        <p:txBody>
          <a:bodyPr wrap="square" lIns="36000" tIns="18000" rIns="36000" bIns="18000" anchor="ctr">
            <a:spAutoFit/>
          </a:bodyPr>
          <a:lstStyle/>
          <a:p>
            <a:pPr algn="l"/>
            <a:r>
              <a:rPr sz="1400" b="1">
                <a:solidFill>
                  <a:srgbClr val="FFFFFF"/>
                </a:solidFill>
                <a:latin typeface="맑은 고딕"/>
              </a:rPr>
              <a:t>해결 전략</a:t>
            </a:r>
          </a:p>
        </p:txBody>
      </p:sp>
      <p:sp>
        <p:nvSpPr>
          <p:cNvPr id="19" name="Rounded Rectangle 18"/>
          <p:cNvSpPr/>
          <p:nvPr/>
        </p:nvSpPr>
        <p:spPr>
          <a:xfrm>
            <a:off x="6327648" y="1828800"/>
            <a:ext cx="5486400" cy="10515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46520" y="1989816"/>
            <a:ext cx="5303520" cy="320040"/>
          </a:xfrm>
          <a:prstGeom prst="rect">
            <a:avLst/>
          </a:prstGeom>
          <a:noFill/>
        </p:spPr>
        <p:txBody>
          <a:bodyPr wrap="square" lIns="36000" tIns="18000" rIns="36000" bIns="18000" anchor="ctr">
            <a:spAutoFit/>
          </a:bodyPr>
          <a:lstStyle/>
          <a:p>
            <a:pPr algn="l"/>
            <a:r>
              <a:rPr sz="1200" b="1">
                <a:solidFill>
                  <a:srgbClr val="16A295"/>
                </a:solidFill>
                <a:latin typeface="맑은 고딕"/>
              </a:rPr>
              <a:t>Kaggle Notebook 활용</a:t>
            </a:r>
          </a:p>
        </p:txBody>
      </p:sp>
      <p:sp>
        <p:nvSpPr>
          <p:cNvPr id="21" name="TextBox 20"/>
          <p:cNvSpPr txBox="1"/>
          <p:nvPr/>
        </p:nvSpPr>
        <p:spPr>
          <a:xfrm>
            <a:off x="6446520" y="2183227"/>
            <a:ext cx="5303520" cy="640080"/>
          </a:xfrm>
          <a:prstGeom prst="rect">
            <a:avLst/>
          </a:prstGeom>
          <a:noFill/>
        </p:spPr>
        <p:txBody>
          <a:bodyPr wrap="square" lIns="36000" tIns="18000" rIns="36000" bIns="18000" anchor="ctr">
            <a:spAutoFit/>
          </a:bodyPr>
          <a:lstStyle/>
          <a:p>
            <a:pPr algn="l"/>
            <a:r>
              <a:rPr sz="1000" b="0">
                <a:solidFill>
                  <a:srgbClr val="4A4A4A"/>
                </a:solidFill>
                <a:latin typeface="맑은 고딕"/>
              </a:rPr>
              <a:t>Kaggle 서버에 데이터 마운트 → 다운로드 없이 직접 사용</a:t>
            </a:r>
          </a:p>
          <a:p>
            <a:pPr algn="l"/>
            <a:r>
              <a:rPr sz="1000" b="0">
                <a:solidFill>
                  <a:srgbClr val="4A4A4A"/>
                </a:solidFill>
                <a:latin typeface="맑은 고딕"/>
              </a:rPr>
              <a:t>무료 GPU (Tesla T4 × 2) 주 30시간 제공</a:t>
            </a:r>
          </a:p>
        </p:txBody>
      </p:sp>
      <p:sp>
        <p:nvSpPr>
          <p:cNvPr id="22" name="Rounded Rectangle 21"/>
          <p:cNvSpPr/>
          <p:nvPr/>
        </p:nvSpPr>
        <p:spPr>
          <a:xfrm>
            <a:off x="6327648" y="2971800"/>
            <a:ext cx="5486400" cy="10515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3132816"/>
            <a:ext cx="5303520" cy="320040"/>
          </a:xfrm>
          <a:prstGeom prst="rect">
            <a:avLst/>
          </a:prstGeom>
          <a:noFill/>
        </p:spPr>
        <p:txBody>
          <a:bodyPr wrap="square" lIns="36000" tIns="18000" rIns="36000" bIns="18000" anchor="ctr">
            <a:spAutoFit/>
          </a:bodyPr>
          <a:lstStyle/>
          <a:p>
            <a:pPr algn="l"/>
            <a:r>
              <a:rPr sz="1200" b="1">
                <a:solidFill>
                  <a:srgbClr val="16A295"/>
                </a:solidFill>
                <a:latin typeface="맑은 고딕"/>
              </a:rPr>
              <a:t>이미지 파트 1개만 사용</a:t>
            </a:r>
          </a:p>
        </p:txBody>
      </p:sp>
      <p:sp>
        <p:nvSpPr>
          <p:cNvPr id="24" name="TextBox 23"/>
          <p:cNvSpPr txBox="1"/>
          <p:nvPr/>
        </p:nvSpPr>
        <p:spPr>
          <a:xfrm>
            <a:off x="6446520" y="3326227"/>
            <a:ext cx="5303520" cy="640080"/>
          </a:xfrm>
          <a:prstGeom prst="rect">
            <a:avLst/>
          </a:prstGeom>
          <a:noFill/>
        </p:spPr>
        <p:txBody>
          <a:bodyPr wrap="square" lIns="36000" tIns="18000" rIns="36000" bIns="18000" anchor="ctr">
            <a:spAutoFit/>
          </a:bodyPr>
          <a:lstStyle/>
          <a:p>
            <a:pPr algn="l"/>
            <a:r>
              <a:rPr sz="1000" b="0">
                <a:solidFill>
                  <a:srgbClr val="4A4A4A"/>
                </a:solidFill>
                <a:latin typeface="맑은 고딕"/>
              </a:rPr>
              <a:t>BATCH 1000~30000 (전체 1/6) 만 로드</a:t>
            </a:r>
          </a:p>
          <a:p>
            <a:pPr algn="l"/>
            <a:r>
              <a:rPr sz="1000" b="0">
                <a:solidFill>
                  <a:srgbClr val="4A4A4A"/>
                </a:solidFill>
                <a:latin typeface="맑은 고딕"/>
              </a:rPr>
              <a:t>53,881장 중 9,542장 매칭 (~18%, NSF-MAP은 ~15K 사용)</a:t>
            </a:r>
          </a:p>
        </p:txBody>
      </p:sp>
      <p:sp>
        <p:nvSpPr>
          <p:cNvPr id="25" name="Rounded Rectangle 24"/>
          <p:cNvSpPr/>
          <p:nvPr/>
        </p:nvSpPr>
        <p:spPr>
          <a:xfrm>
            <a:off x="6327648" y="4114800"/>
            <a:ext cx="5486400" cy="105156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4275816"/>
            <a:ext cx="5303520" cy="320040"/>
          </a:xfrm>
          <a:prstGeom prst="rect">
            <a:avLst/>
          </a:prstGeom>
          <a:noFill/>
        </p:spPr>
        <p:txBody>
          <a:bodyPr wrap="square" lIns="36000" tIns="18000" rIns="36000" bIns="18000" anchor="ctr">
            <a:spAutoFit/>
          </a:bodyPr>
          <a:lstStyle/>
          <a:p>
            <a:pPr algn="l"/>
            <a:r>
              <a:rPr sz="1200" b="1">
                <a:solidFill>
                  <a:srgbClr val="16A295"/>
                </a:solidFill>
                <a:latin typeface="맑은 고딕"/>
              </a:rPr>
              <a:t>재현성 및 결과 백업</a:t>
            </a:r>
          </a:p>
        </p:txBody>
      </p:sp>
      <p:sp>
        <p:nvSpPr>
          <p:cNvPr id="27" name="TextBox 26"/>
          <p:cNvSpPr txBox="1"/>
          <p:nvPr/>
        </p:nvSpPr>
        <p:spPr>
          <a:xfrm>
            <a:off x="6446520" y="4469227"/>
            <a:ext cx="5303520" cy="640080"/>
          </a:xfrm>
          <a:prstGeom prst="rect">
            <a:avLst/>
          </a:prstGeom>
          <a:noFill/>
        </p:spPr>
        <p:txBody>
          <a:bodyPr wrap="square" lIns="36000" tIns="18000" rIns="36000" bIns="18000" anchor="ctr">
            <a:spAutoFit/>
          </a:bodyPr>
          <a:lstStyle/>
          <a:p>
            <a:pPr algn="l"/>
            <a:r>
              <a:rPr sz="1000" b="0">
                <a:solidFill>
                  <a:srgbClr val="4A4A4A"/>
                </a:solidFill>
                <a:latin typeface="맑은 고딕"/>
              </a:rPr>
              <a:t>Random Seed 42 고정 (numpy·torch·random)</a:t>
            </a:r>
          </a:p>
          <a:p>
            <a:pPr algn="l"/>
            <a:r>
              <a:rPr sz="1000" b="0">
                <a:solidFill>
                  <a:srgbClr val="4A4A4A"/>
                </a:solidFill>
                <a:latin typeface="맑은 고딕"/>
              </a:rPr>
              <a:t>학습 가중치(.pt) + 결과(JSON) Kaggle Output에 저장</a:t>
            </a:r>
          </a:p>
        </p:txBody>
      </p:sp>
      <p:sp>
        <p:nvSpPr>
          <p:cNvPr id="28" name="Rounded Rectangle 27"/>
          <p:cNvSpPr/>
          <p:nvPr/>
        </p:nvSpPr>
        <p:spPr>
          <a:xfrm>
            <a:off x="384048" y="5440680"/>
            <a:ext cx="11430000" cy="457200"/>
          </a:xfrm>
          <a:prstGeom prst="roundRect">
            <a:avLst>
              <a:gd name="adj" fmla="val 5000"/>
            </a:avLst>
          </a:prstGeom>
          <a:solidFill>
            <a:srgbClr val="1B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48640" y="5468112"/>
            <a:ext cx="11155680" cy="411480"/>
          </a:xfrm>
          <a:prstGeom prst="rect">
            <a:avLst/>
          </a:prstGeom>
          <a:noFill/>
        </p:spPr>
        <p:txBody>
          <a:bodyPr wrap="square" lIns="36000" tIns="18000" rIns="36000" bIns="18000" anchor="ctr">
            <a:spAutoFit/>
          </a:bodyPr>
          <a:lstStyle/>
          <a:p>
            <a:pPr algn="l"/>
            <a:r>
              <a:rPr sz="1100" b="0">
                <a:solidFill>
                  <a:srgbClr val="FFFFFF"/>
                </a:solidFill>
                <a:latin typeface="맑은 고딕"/>
              </a:rPr>
              <a:t>→  Kaggle 환경 채택으로 데이터·연산 제약을 동시에 해결하면서 학술적으로 유의미한 샘플 규모 확보</a:t>
            </a:r>
          </a:p>
        </p:txBody>
      </p:sp>
    </p:spTree>
    <p:extLst>
      <p:ext uri="{BB962C8B-B14F-4D97-AF65-F5344CB8AC3E}">
        <p14:creationId xmlns:p14="http://schemas.microsoft.com/office/powerpoint/2010/main" val="306008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7403ABE3-BC7D-425A-9A7F-CE02809199C3}"/>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42BB5AF4-79F0-4388-B37F-B704422F97D3}"/>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08</a:t>
            </a:r>
            <a:endParaRPr lang="ko-KR" altLang="en-US" sz="1600" b="1">
              <a:solidFill>
                <a:srgbClr val="FFFFFF"/>
              </a:solidFill>
            </a:endParaRPr>
          </a:p>
        </p:txBody>
      </p:sp>
      <p:sp>
        <p:nvSpPr>
          <p:cNvPr id="5" name="TextBox 4">
            <a:extLst>
              <a:ext uri="{FF2B5EF4-FFF2-40B4-BE49-F238E27FC236}">
                <a16:creationId xmlns:a16="http://schemas.microsoft.com/office/drawing/2014/main" id="{C241DE32-F741-47BD-9CFF-3ABE4251BCD9}"/>
              </a:ext>
            </a:extLst>
          </p:cNvPr>
          <p:cNvSpPr txBox="1"/>
          <p:nvPr/>
        </p:nvSpPr>
        <p:spPr>
          <a:xfrm>
            <a:off x="1079500" y="190500"/>
            <a:ext cx="381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최종 실험 결과</a:t>
            </a:r>
          </a:p>
        </p:txBody>
      </p:sp>
      <p:grpSp>
        <p:nvGrpSpPr>
          <p:cNvPr id="52" name="그룹 51">
            <a:extLst>
              <a:ext uri="{FF2B5EF4-FFF2-40B4-BE49-F238E27FC236}">
                <a16:creationId xmlns:a16="http://schemas.microsoft.com/office/drawing/2014/main" id="{8F559146-3943-3E8D-3451-471AAE982CCC}"/>
              </a:ext>
            </a:extLst>
          </p:cNvPr>
          <p:cNvGrpSpPr/>
          <p:nvPr/>
        </p:nvGrpSpPr>
        <p:grpSpPr>
          <a:xfrm>
            <a:off x="409278" y="1455968"/>
            <a:ext cx="11428006" cy="4389120"/>
            <a:chOff x="765457" y="1479536"/>
            <a:chExt cx="11428006" cy="4389120"/>
          </a:xfrm>
        </p:grpSpPr>
        <p:grpSp>
          <p:nvGrpSpPr>
            <p:cNvPr id="51" name="그룹 50">
              <a:extLst>
                <a:ext uri="{FF2B5EF4-FFF2-40B4-BE49-F238E27FC236}">
                  <a16:creationId xmlns:a16="http://schemas.microsoft.com/office/drawing/2014/main" id="{037F5D4B-6116-0829-1F94-09B6636FB575}"/>
                </a:ext>
              </a:extLst>
            </p:cNvPr>
            <p:cNvGrpSpPr/>
            <p:nvPr/>
          </p:nvGrpSpPr>
          <p:grpSpPr>
            <a:xfrm>
              <a:off x="765457" y="1479536"/>
              <a:ext cx="7269480" cy="4389120"/>
              <a:chOff x="4663440" y="1234440"/>
              <a:chExt cx="7269480" cy="4389120"/>
            </a:xfrm>
          </p:grpSpPr>
          <p:sp>
            <p:nvSpPr>
              <p:cNvPr id="19" name="TextBox 18"/>
              <p:cNvSpPr txBox="1"/>
              <p:nvPr/>
            </p:nvSpPr>
            <p:spPr>
              <a:xfrm>
                <a:off x="4663440" y="1234440"/>
                <a:ext cx="7132320" cy="365760"/>
              </a:xfrm>
              <a:prstGeom prst="rect">
                <a:avLst/>
              </a:prstGeom>
              <a:noFill/>
            </p:spPr>
            <p:txBody>
              <a:bodyPr wrap="square" lIns="36000" tIns="18000" rIns="36000" bIns="18000" anchor="ctr">
                <a:spAutoFit/>
              </a:bodyPr>
              <a:lstStyle/>
              <a:p>
                <a:pPr algn="l"/>
                <a:r>
                  <a:rPr sz="1400" b="1">
                    <a:solidFill>
                      <a:srgbClr val="1B2A4A"/>
                    </a:solidFill>
                    <a:latin typeface="맑은 고딕"/>
                  </a:rPr>
                  <a:t>3모델 최종 비교</a:t>
                </a:r>
              </a:p>
            </p:txBody>
          </p:sp>
          <p:grpSp>
            <p:nvGrpSpPr>
              <p:cNvPr id="50" name="그룹 49">
                <a:extLst>
                  <a:ext uri="{FF2B5EF4-FFF2-40B4-BE49-F238E27FC236}">
                    <a16:creationId xmlns:a16="http://schemas.microsoft.com/office/drawing/2014/main" id="{3C845001-39C0-1ACF-53DA-766B30FF24A7}"/>
                  </a:ext>
                </a:extLst>
              </p:cNvPr>
              <p:cNvGrpSpPr/>
              <p:nvPr/>
            </p:nvGrpSpPr>
            <p:grpSpPr>
              <a:xfrm>
                <a:off x="4663440" y="1691640"/>
                <a:ext cx="7269480" cy="3931920"/>
                <a:chOff x="4663440" y="1691640"/>
                <a:chExt cx="7269480" cy="3931920"/>
              </a:xfrm>
            </p:grpSpPr>
            <p:sp>
              <p:nvSpPr>
                <p:cNvPr id="20" name="Rounded Rectangle 19"/>
                <p:cNvSpPr/>
                <p:nvPr/>
              </p:nvSpPr>
              <p:spPr>
                <a:xfrm>
                  <a:off x="4663440" y="1691640"/>
                  <a:ext cx="7132320" cy="365760"/>
                </a:xfrm>
                <a:prstGeom prst="roundRect">
                  <a:avLst>
                    <a:gd name="adj" fmla="val 5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800600" y="1737360"/>
                  <a:ext cx="1645920" cy="274320"/>
                </a:xfrm>
                <a:prstGeom prst="rect">
                  <a:avLst/>
                </a:prstGeom>
                <a:noFill/>
              </p:spPr>
              <p:txBody>
                <a:bodyPr wrap="square" lIns="36000" tIns="18000" rIns="36000" bIns="18000" anchor="ctr">
                  <a:spAutoFit/>
                </a:bodyPr>
                <a:lstStyle/>
                <a:p>
                  <a:pPr algn="l"/>
                  <a:r>
                    <a:rPr sz="1000" b="1">
                      <a:solidFill>
                        <a:srgbClr val="FFFFFF"/>
                      </a:solidFill>
                      <a:latin typeface="맑은 고딕"/>
                    </a:rPr>
                    <a:t>Model</a:t>
                  </a:r>
                </a:p>
              </p:txBody>
            </p:sp>
            <p:sp>
              <p:nvSpPr>
                <p:cNvPr id="22" name="TextBox 21"/>
                <p:cNvSpPr txBox="1"/>
                <p:nvPr/>
              </p:nvSpPr>
              <p:spPr>
                <a:xfrm>
                  <a:off x="7178040" y="1737360"/>
                  <a:ext cx="1645920" cy="274320"/>
                </a:xfrm>
                <a:prstGeom prst="rect">
                  <a:avLst/>
                </a:prstGeom>
                <a:noFill/>
              </p:spPr>
              <p:txBody>
                <a:bodyPr wrap="square" lIns="36000" tIns="18000" rIns="36000" bIns="18000" anchor="ctr">
                  <a:spAutoFit/>
                </a:bodyPr>
                <a:lstStyle/>
                <a:p>
                  <a:pPr algn="l"/>
                  <a:r>
                    <a:rPr sz="1000" b="1">
                      <a:solidFill>
                        <a:srgbClr val="FFFFFF"/>
                      </a:solidFill>
                      <a:latin typeface="맑은 고딕"/>
                    </a:rPr>
                    <a:t>Accuracy</a:t>
                  </a:r>
                </a:p>
              </p:txBody>
            </p:sp>
            <p:sp>
              <p:nvSpPr>
                <p:cNvPr id="23" name="TextBox 22"/>
                <p:cNvSpPr txBox="1"/>
                <p:nvPr/>
              </p:nvSpPr>
              <p:spPr>
                <a:xfrm>
                  <a:off x="8732520" y="1737360"/>
                  <a:ext cx="1645920" cy="274320"/>
                </a:xfrm>
                <a:prstGeom prst="rect">
                  <a:avLst/>
                </a:prstGeom>
                <a:noFill/>
              </p:spPr>
              <p:txBody>
                <a:bodyPr wrap="square" lIns="36000" tIns="18000" rIns="36000" bIns="18000" anchor="ctr">
                  <a:spAutoFit/>
                </a:bodyPr>
                <a:lstStyle/>
                <a:p>
                  <a:pPr algn="l"/>
                  <a:r>
                    <a:rPr sz="1000" b="1">
                      <a:solidFill>
                        <a:srgbClr val="FFFFFF"/>
                      </a:solidFill>
                      <a:latin typeface="맑은 고딕"/>
                    </a:rPr>
                    <a:t>Precision</a:t>
                  </a:r>
                </a:p>
              </p:txBody>
            </p:sp>
            <p:sp>
              <p:nvSpPr>
                <p:cNvPr id="24" name="TextBox 23"/>
                <p:cNvSpPr txBox="1"/>
                <p:nvPr/>
              </p:nvSpPr>
              <p:spPr>
                <a:xfrm>
                  <a:off x="10287000" y="1737360"/>
                  <a:ext cx="1645920" cy="274320"/>
                </a:xfrm>
                <a:prstGeom prst="rect">
                  <a:avLst/>
                </a:prstGeom>
                <a:noFill/>
              </p:spPr>
              <p:txBody>
                <a:bodyPr wrap="square" lIns="36000" tIns="18000" rIns="36000" bIns="18000" anchor="ctr">
                  <a:spAutoFit/>
                </a:bodyPr>
                <a:lstStyle/>
                <a:p>
                  <a:pPr algn="l"/>
                  <a:r>
                    <a:rPr sz="1000" b="1">
                      <a:solidFill>
                        <a:srgbClr val="FFFFFF"/>
                      </a:solidFill>
                      <a:latin typeface="맑은 고딕"/>
                    </a:rPr>
                    <a:t>F1</a:t>
                  </a:r>
                </a:p>
              </p:txBody>
            </p:sp>
            <p:sp>
              <p:nvSpPr>
                <p:cNvPr id="25" name="Rounded Rectangle 24"/>
                <p:cNvSpPr/>
                <p:nvPr/>
              </p:nvSpPr>
              <p:spPr>
                <a:xfrm>
                  <a:off x="4663440" y="2057400"/>
                  <a:ext cx="7132320" cy="64008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736592" y="2286000"/>
                  <a:ext cx="164592" cy="164592"/>
                </a:xfrm>
                <a:prstGeom prst="ellipse">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937760" y="2240280"/>
                  <a:ext cx="2148840" cy="274320"/>
                </a:xfrm>
                <a:prstGeom prst="rect">
                  <a:avLst/>
                </a:prstGeom>
                <a:noFill/>
              </p:spPr>
              <p:txBody>
                <a:bodyPr wrap="square" lIns="36000" tIns="18000" rIns="36000" bIns="18000" anchor="ctr">
                  <a:spAutoFit/>
                </a:bodyPr>
                <a:lstStyle/>
                <a:p>
                  <a:pPr algn="l"/>
                  <a:r>
                    <a:rPr sz="1000" b="0">
                      <a:solidFill>
                        <a:srgbClr val="4A4A4A"/>
                      </a:solidFill>
                      <a:latin typeface="맑은 고딕"/>
                    </a:rPr>
                    <a:t>M1 · Sensor (BiLSTM)</a:t>
                  </a:r>
                </a:p>
              </p:txBody>
            </p:sp>
            <p:sp>
              <p:nvSpPr>
                <p:cNvPr id="28" name="TextBox 27"/>
                <p:cNvSpPr txBox="1"/>
                <p:nvPr/>
              </p:nvSpPr>
              <p:spPr>
                <a:xfrm>
                  <a:off x="7086600" y="224028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0.9276</a:t>
                  </a:r>
                </a:p>
              </p:txBody>
            </p:sp>
            <p:sp>
              <p:nvSpPr>
                <p:cNvPr id="29" name="TextBox 28"/>
                <p:cNvSpPr txBox="1"/>
                <p:nvPr/>
              </p:nvSpPr>
              <p:spPr>
                <a:xfrm>
                  <a:off x="8641080" y="224028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0.9276</a:t>
                  </a:r>
                </a:p>
              </p:txBody>
            </p:sp>
            <p:sp>
              <p:nvSpPr>
                <p:cNvPr id="30" name="TextBox 29"/>
                <p:cNvSpPr txBox="1"/>
                <p:nvPr/>
              </p:nvSpPr>
              <p:spPr>
                <a:xfrm>
                  <a:off x="10195560" y="2240280"/>
                  <a:ext cx="1463040" cy="274320"/>
                </a:xfrm>
                <a:prstGeom prst="rect">
                  <a:avLst/>
                </a:prstGeom>
                <a:noFill/>
              </p:spPr>
              <p:txBody>
                <a:bodyPr wrap="square" lIns="36000" tIns="18000" rIns="36000" bIns="18000" anchor="ctr">
                  <a:spAutoFit/>
                </a:bodyPr>
                <a:lstStyle/>
                <a:p>
                  <a:pPr algn="l"/>
                  <a:r>
                    <a:rPr sz="1100" b="1">
                      <a:solidFill>
                        <a:srgbClr val="16A295"/>
                      </a:solidFill>
                      <a:latin typeface="맑은 고딕"/>
                    </a:rPr>
                    <a:t>0.9267</a:t>
                  </a:r>
                </a:p>
              </p:txBody>
            </p:sp>
            <p:sp>
              <p:nvSpPr>
                <p:cNvPr id="31" name="Rounded Rectangle 30"/>
                <p:cNvSpPr/>
                <p:nvPr/>
              </p:nvSpPr>
              <p:spPr>
                <a:xfrm>
                  <a:off x="4663440" y="2697480"/>
                  <a:ext cx="7132320" cy="640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4736592" y="2926080"/>
                  <a:ext cx="164592" cy="164592"/>
                </a:xfrm>
                <a:prstGeom prst="ellipse">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937760" y="2880360"/>
                  <a:ext cx="2148840" cy="274320"/>
                </a:xfrm>
                <a:prstGeom prst="rect">
                  <a:avLst/>
                </a:prstGeom>
                <a:noFill/>
              </p:spPr>
              <p:txBody>
                <a:bodyPr wrap="square" lIns="36000" tIns="18000" rIns="36000" bIns="18000" anchor="ctr">
                  <a:spAutoFit/>
                </a:bodyPr>
                <a:lstStyle/>
                <a:p>
                  <a:pPr algn="l"/>
                  <a:r>
                    <a:rPr sz="1000" b="0" dirty="0">
                      <a:solidFill>
                        <a:srgbClr val="4A4A4A"/>
                      </a:solidFill>
                      <a:latin typeface="맑은 고딕"/>
                    </a:rPr>
                    <a:t>M2 · Image (ResNet18)</a:t>
                  </a:r>
                </a:p>
              </p:txBody>
            </p:sp>
            <p:sp>
              <p:nvSpPr>
                <p:cNvPr id="34" name="TextBox 33"/>
                <p:cNvSpPr txBox="1"/>
                <p:nvPr/>
              </p:nvSpPr>
              <p:spPr>
                <a:xfrm>
                  <a:off x="7086600" y="288036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0.7263</a:t>
                  </a:r>
                </a:p>
              </p:txBody>
            </p:sp>
            <p:sp>
              <p:nvSpPr>
                <p:cNvPr id="35" name="TextBox 34"/>
                <p:cNvSpPr txBox="1"/>
                <p:nvPr/>
              </p:nvSpPr>
              <p:spPr>
                <a:xfrm>
                  <a:off x="8641080" y="288036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0.5276</a:t>
                  </a:r>
                </a:p>
              </p:txBody>
            </p:sp>
            <p:sp>
              <p:nvSpPr>
                <p:cNvPr id="36" name="TextBox 35"/>
                <p:cNvSpPr txBox="1"/>
                <p:nvPr/>
              </p:nvSpPr>
              <p:spPr>
                <a:xfrm>
                  <a:off x="10195560" y="2880360"/>
                  <a:ext cx="1463040" cy="274320"/>
                </a:xfrm>
                <a:prstGeom prst="rect">
                  <a:avLst/>
                </a:prstGeom>
                <a:noFill/>
              </p:spPr>
              <p:txBody>
                <a:bodyPr wrap="square" lIns="36000" tIns="18000" rIns="36000" bIns="18000" anchor="ctr">
                  <a:spAutoFit/>
                </a:bodyPr>
                <a:lstStyle/>
                <a:p>
                  <a:pPr algn="l"/>
                  <a:r>
                    <a:rPr sz="1100" b="1">
                      <a:solidFill>
                        <a:srgbClr val="F29E16"/>
                      </a:solidFill>
                      <a:latin typeface="맑은 고딕"/>
                    </a:rPr>
                    <a:t>0.6112</a:t>
                  </a:r>
                </a:p>
              </p:txBody>
            </p:sp>
            <p:sp>
              <p:nvSpPr>
                <p:cNvPr id="37" name="Rounded Rectangle 36"/>
                <p:cNvSpPr/>
                <p:nvPr/>
              </p:nvSpPr>
              <p:spPr>
                <a:xfrm>
                  <a:off x="4663440" y="3337560"/>
                  <a:ext cx="7132320" cy="640080"/>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4736592" y="3566160"/>
                  <a:ext cx="164592" cy="164592"/>
                </a:xfrm>
                <a:prstGeom prst="ellipse">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937760" y="3520440"/>
                  <a:ext cx="2148840" cy="274320"/>
                </a:xfrm>
                <a:prstGeom prst="rect">
                  <a:avLst/>
                </a:prstGeom>
                <a:noFill/>
              </p:spPr>
              <p:txBody>
                <a:bodyPr wrap="square" lIns="36000" tIns="18000" rIns="36000" bIns="18000" anchor="ctr">
                  <a:spAutoFit/>
                </a:bodyPr>
                <a:lstStyle/>
                <a:p>
                  <a:pPr algn="l"/>
                  <a:r>
                    <a:rPr sz="1000" b="0">
                      <a:solidFill>
                        <a:srgbClr val="4A4A4A"/>
                      </a:solidFill>
                      <a:latin typeface="맑은 고딕"/>
                    </a:rPr>
                    <a:t>M3 · Fusion</a:t>
                  </a:r>
                </a:p>
              </p:txBody>
            </p:sp>
            <p:sp>
              <p:nvSpPr>
                <p:cNvPr id="40" name="TextBox 39"/>
                <p:cNvSpPr txBox="1"/>
                <p:nvPr/>
              </p:nvSpPr>
              <p:spPr>
                <a:xfrm>
                  <a:off x="7086600" y="352044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0.8941</a:t>
                  </a:r>
                </a:p>
              </p:txBody>
            </p:sp>
            <p:sp>
              <p:nvSpPr>
                <p:cNvPr id="41" name="TextBox 40"/>
                <p:cNvSpPr txBox="1"/>
                <p:nvPr/>
              </p:nvSpPr>
              <p:spPr>
                <a:xfrm>
                  <a:off x="8641080" y="3520440"/>
                  <a:ext cx="1554480" cy="274320"/>
                </a:xfrm>
                <a:prstGeom prst="rect">
                  <a:avLst/>
                </a:prstGeom>
                <a:noFill/>
              </p:spPr>
              <p:txBody>
                <a:bodyPr wrap="square" lIns="36000" tIns="18000" rIns="36000" bIns="18000" anchor="ctr">
                  <a:spAutoFit/>
                </a:bodyPr>
                <a:lstStyle/>
                <a:p>
                  <a:pPr algn="l"/>
                  <a:r>
                    <a:rPr sz="1100" b="1">
                      <a:solidFill>
                        <a:srgbClr val="1B2A4A"/>
                      </a:solidFill>
                      <a:latin typeface="맑은 고딕"/>
                    </a:rPr>
                    <a:t>0.8891</a:t>
                  </a:r>
                </a:p>
              </p:txBody>
            </p:sp>
            <p:sp>
              <p:nvSpPr>
                <p:cNvPr id="42" name="TextBox 41"/>
                <p:cNvSpPr txBox="1"/>
                <p:nvPr/>
              </p:nvSpPr>
              <p:spPr>
                <a:xfrm>
                  <a:off x="10195560" y="3520440"/>
                  <a:ext cx="1463040" cy="274320"/>
                </a:xfrm>
                <a:prstGeom prst="rect">
                  <a:avLst/>
                </a:prstGeom>
                <a:noFill/>
              </p:spPr>
              <p:txBody>
                <a:bodyPr wrap="square" lIns="36000" tIns="18000" rIns="36000" bIns="18000" anchor="ctr">
                  <a:spAutoFit/>
                </a:bodyPr>
                <a:lstStyle/>
                <a:p>
                  <a:pPr algn="l"/>
                  <a:r>
                    <a:rPr sz="1100" b="1">
                      <a:solidFill>
                        <a:srgbClr val="93B64E"/>
                      </a:solidFill>
                      <a:latin typeface="맑은 고딕"/>
                    </a:rPr>
                    <a:t>0.8824</a:t>
                  </a:r>
                </a:p>
              </p:txBody>
            </p:sp>
            <p:sp>
              <p:nvSpPr>
                <p:cNvPr id="43" name="Rounded Rectangle 42"/>
                <p:cNvSpPr/>
                <p:nvPr/>
              </p:nvSpPr>
              <p:spPr>
                <a:xfrm>
                  <a:off x="4663440" y="4297680"/>
                  <a:ext cx="7132320" cy="1325880"/>
                </a:xfrm>
                <a:prstGeom prst="roundRect">
                  <a:avLst>
                    <a:gd name="adj" fmla="val 5000"/>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00600" y="4370832"/>
                  <a:ext cx="685800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핵심 관찰</a:t>
                  </a:r>
                </a:p>
              </p:txBody>
            </p:sp>
            <p:sp>
              <p:nvSpPr>
                <p:cNvPr id="45" name="TextBox 44"/>
                <p:cNvSpPr txBox="1"/>
                <p:nvPr/>
              </p:nvSpPr>
              <p:spPr>
                <a:xfrm>
                  <a:off x="4800600" y="4709160"/>
                  <a:ext cx="6858000" cy="868680"/>
                </a:xfrm>
                <a:prstGeom prst="rect">
                  <a:avLst/>
                </a:prstGeom>
                <a:noFill/>
              </p:spPr>
              <p:txBody>
                <a:bodyPr wrap="square" lIns="36000" tIns="18000" rIns="36000" bIns="18000" anchor="ctr">
                  <a:spAutoFit/>
                </a:bodyPr>
                <a:lstStyle/>
                <a:p>
                  <a:pPr algn="l"/>
                  <a:r>
                    <a:rPr sz="1000" b="0">
                      <a:solidFill>
                        <a:srgbClr val="4A4A4A"/>
                      </a:solidFill>
                      <a:latin typeface="맑은 고딕"/>
                    </a:rPr>
                    <a:t>·  센서 단독(F1 0.927) &gt; Fusion(F1 0.882) &gt; 이미지 단독(F1 0.611)</a:t>
                  </a:r>
                </a:p>
                <a:p>
                  <a:pPr algn="l"/>
                  <a:r>
                    <a:rPr sz="1000" b="0">
                      <a:solidFill>
                        <a:srgbClr val="4A4A4A"/>
                      </a:solidFill>
                      <a:latin typeface="맑은 고딕"/>
                    </a:rPr>
                    <a:t>·  이미지 데이터 부족(9,542장, Cycle 4·9만)으로 Fusion에서 이미지 브랜치가 노이즈로 작용</a:t>
                  </a:r>
                </a:p>
                <a:p>
                  <a:pPr algn="l"/>
                  <a:r>
                    <a:rPr sz="1000" b="0">
                      <a:solidFill>
                        <a:srgbClr val="4A4A4A"/>
                      </a:solidFill>
                      <a:latin typeface="맑은 고딕"/>
                    </a:rPr>
                    <a:t>·  NSF-MAP P1 기본 Fusion 72%와 동일한 현상 — 데이터 균형이 Fusion 성능의 핵심</a:t>
                  </a:r>
                </a:p>
              </p:txBody>
            </p:sp>
          </p:grpSp>
        </p:grpSp>
        <p:grpSp>
          <p:nvGrpSpPr>
            <p:cNvPr id="49" name="그룹 48">
              <a:extLst>
                <a:ext uri="{FF2B5EF4-FFF2-40B4-BE49-F238E27FC236}">
                  <a16:creationId xmlns:a16="http://schemas.microsoft.com/office/drawing/2014/main" id="{4AA7C8A3-C6F6-5D9A-E5B9-034E9A6C4B48}"/>
                </a:ext>
              </a:extLst>
            </p:cNvPr>
            <p:cNvGrpSpPr/>
            <p:nvPr/>
          </p:nvGrpSpPr>
          <p:grpSpPr>
            <a:xfrm>
              <a:off x="8034937" y="1909899"/>
              <a:ext cx="4158526" cy="3913037"/>
              <a:chOff x="417011" y="1746575"/>
              <a:chExt cx="4158526" cy="3913037"/>
            </a:xfrm>
          </p:grpSpPr>
          <p:pic>
            <p:nvPicPr>
              <p:cNvPr id="46" name="그림 45">
                <a:extLst>
                  <a:ext uri="{FF2B5EF4-FFF2-40B4-BE49-F238E27FC236}">
                    <a16:creationId xmlns:a16="http://schemas.microsoft.com/office/drawing/2014/main" id="{E262AA79-B445-252B-738F-81F875F9B8FF}"/>
                  </a:ext>
                </a:extLst>
              </p:cNvPr>
              <p:cNvPicPr>
                <a:picLocks noChangeAspect="1"/>
              </p:cNvPicPr>
              <p:nvPr/>
            </p:nvPicPr>
            <p:blipFill>
              <a:blip r:embed="rId3"/>
              <a:stretch>
                <a:fillRect/>
              </a:stretch>
            </p:blipFill>
            <p:spPr>
              <a:xfrm>
                <a:off x="417011" y="1746575"/>
                <a:ext cx="4158526" cy="1307804"/>
              </a:xfrm>
              <a:prstGeom prst="rect">
                <a:avLst/>
              </a:prstGeom>
            </p:spPr>
          </p:pic>
          <p:pic>
            <p:nvPicPr>
              <p:cNvPr id="48" name="그림 47">
                <a:extLst>
                  <a:ext uri="{FF2B5EF4-FFF2-40B4-BE49-F238E27FC236}">
                    <a16:creationId xmlns:a16="http://schemas.microsoft.com/office/drawing/2014/main" id="{B330DB5D-BA26-CB7A-A34D-34ACF640C216}"/>
                  </a:ext>
                </a:extLst>
              </p:cNvPr>
              <p:cNvPicPr>
                <a:picLocks noChangeAspect="1"/>
              </p:cNvPicPr>
              <p:nvPr/>
            </p:nvPicPr>
            <p:blipFill>
              <a:blip r:embed="rId4"/>
              <a:stretch>
                <a:fillRect/>
              </a:stretch>
            </p:blipFill>
            <p:spPr>
              <a:xfrm>
                <a:off x="417011" y="3271195"/>
                <a:ext cx="4158526" cy="2388417"/>
              </a:xfrm>
              <a:prstGeom prst="rect">
                <a:avLst/>
              </a:prstGeom>
            </p:spPr>
          </p:pic>
        </p:grpSp>
      </p:grpSp>
    </p:spTree>
    <p:extLst>
      <p:ext uri="{BB962C8B-B14F-4D97-AF65-F5344CB8AC3E}">
        <p14:creationId xmlns:p14="http://schemas.microsoft.com/office/powerpoint/2010/main" val="215505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FA5DF926-B695-41BD-8FFF-2E98E0FED5D2}"/>
              </a:ext>
            </a:extLst>
          </p:cNvPr>
          <p:cNvSpPr/>
          <p:nvPr/>
        </p:nvSpPr>
        <p:spPr>
          <a:xfrm>
            <a:off x="0" y="0"/>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7AFD8D2D-4A8D-4741-AF8C-B51B2CEAECDC}"/>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09</a:t>
            </a:r>
            <a:endParaRPr lang="ko-KR" altLang="en-US" sz="1600" b="1">
              <a:solidFill>
                <a:srgbClr val="FFFFFF"/>
              </a:solidFill>
            </a:endParaRPr>
          </a:p>
        </p:txBody>
      </p:sp>
      <p:sp>
        <p:nvSpPr>
          <p:cNvPr id="5" name="TextBox 4">
            <a:extLst>
              <a:ext uri="{FF2B5EF4-FFF2-40B4-BE49-F238E27FC236}">
                <a16:creationId xmlns:a16="http://schemas.microsoft.com/office/drawing/2014/main" id="{1BFEE3B8-B4B5-4FEB-BC0B-63E7D1069C0C}"/>
              </a:ext>
            </a:extLst>
          </p:cNvPr>
          <p:cNvSpPr txBox="1"/>
          <p:nvPr/>
        </p:nvSpPr>
        <p:spPr>
          <a:xfrm>
            <a:off x="1079500" y="190500"/>
            <a:ext cx="381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한계와 향후 개선 방향</a:t>
            </a:r>
          </a:p>
        </p:txBody>
      </p:sp>
      <p:sp>
        <p:nvSpPr>
          <p:cNvPr id="6" name="Rounded Rectangle 5"/>
          <p:cNvSpPr/>
          <p:nvPr/>
        </p:nvSpPr>
        <p:spPr>
          <a:xfrm>
            <a:off x="384048" y="1234440"/>
            <a:ext cx="11430000" cy="777240"/>
          </a:xfrm>
          <a:prstGeom prst="roundRect">
            <a:avLst>
              <a:gd name="adj" fmla="val 5000"/>
            </a:avLst>
          </a:prstGeom>
          <a:solidFill>
            <a:srgbClr val="FFF3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298448"/>
            <a:ext cx="11155680" cy="274320"/>
          </a:xfrm>
          <a:prstGeom prst="rect">
            <a:avLst/>
          </a:prstGeom>
          <a:noFill/>
        </p:spPr>
        <p:txBody>
          <a:bodyPr wrap="square" lIns="36000" tIns="18000" rIns="36000" bIns="18000" anchor="ctr">
            <a:spAutoFit/>
          </a:bodyPr>
          <a:lstStyle/>
          <a:p>
            <a:pPr algn="l"/>
            <a:r>
              <a:rPr sz="1200" b="1">
                <a:solidFill>
                  <a:srgbClr val="E8584F"/>
                </a:solidFill>
                <a:latin typeface="맑은 고딕"/>
              </a:rPr>
              <a:t>진단: Fusion이 센서 단독보다 낮은 이유</a:t>
            </a:r>
          </a:p>
        </p:txBody>
      </p:sp>
      <p:sp>
        <p:nvSpPr>
          <p:cNvPr id="8" name="TextBox 7"/>
          <p:cNvSpPr txBox="1"/>
          <p:nvPr/>
        </p:nvSpPr>
        <p:spPr>
          <a:xfrm>
            <a:off x="548640" y="1572768"/>
            <a:ext cx="11155680" cy="411480"/>
          </a:xfrm>
          <a:prstGeom prst="rect">
            <a:avLst/>
          </a:prstGeom>
          <a:noFill/>
        </p:spPr>
        <p:txBody>
          <a:bodyPr wrap="square" lIns="36000" tIns="18000" rIns="36000" bIns="18000" anchor="ctr">
            <a:spAutoFit/>
          </a:bodyPr>
          <a:lstStyle/>
          <a:p>
            <a:pPr algn="l"/>
            <a:r>
              <a:rPr sz="1000" b="0">
                <a:solidFill>
                  <a:srgbClr val="4A4A4A"/>
                </a:solidFill>
                <a:latin typeface="맑은 고딕"/>
              </a:rPr>
              <a:t>이미지 데이터 9,542장 (Cycle 4·9 한정, 전체의 ~18%) vs 센서 121,550 시퀀스 → Fusion에서 이미지 브랜치가 정보를 더하기보다 노이즈로 작용</a:t>
            </a:r>
          </a:p>
        </p:txBody>
      </p:sp>
      <p:sp>
        <p:nvSpPr>
          <p:cNvPr id="9" name="TextBox 8"/>
          <p:cNvSpPr txBox="1"/>
          <p:nvPr/>
        </p:nvSpPr>
        <p:spPr>
          <a:xfrm>
            <a:off x="384048" y="2240280"/>
            <a:ext cx="5486400" cy="365760"/>
          </a:xfrm>
          <a:prstGeom prst="rect">
            <a:avLst/>
          </a:prstGeom>
          <a:noFill/>
        </p:spPr>
        <p:txBody>
          <a:bodyPr wrap="square" lIns="36000" tIns="18000" rIns="36000" bIns="18000" anchor="ctr">
            <a:spAutoFit/>
          </a:bodyPr>
          <a:lstStyle/>
          <a:p>
            <a:pPr algn="l"/>
            <a:r>
              <a:rPr sz="1400" b="1">
                <a:solidFill>
                  <a:srgbClr val="1B2A4A"/>
                </a:solidFill>
                <a:latin typeface="맑은 고딕"/>
              </a:rPr>
              <a:t>데이터 측면 개선</a:t>
            </a:r>
          </a:p>
        </p:txBody>
      </p:sp>
      <p:sp>
        <p:nvSpPr>
          <p:cNvPr id="10" name="Rounded Rectangle 9"/>
          <p:cNvSpPr/>
          <p:nvPr/>
        </p:nvSpPr>
        <p:spPr>
          <a:xfrm>
            <a:off x="384048" y="269748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2898648"/>
            <a:ext cx="438912" cy="438912"/>
          </a:xfrm>
          <a:prstGeom prst="ellipse">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1</a:t>
            </a:r>
          </a:p>
        </p:txBody>
      </p:sp>
      <p:sp>
        <p:nvSpPr>
          <p:cNvPr id="12" name="TextBox 11"/>
          <p:cNvSpPr txBox="1"/>
          <p:nvPr/>
        </p:nvSpPr>
        <p:spPr>
          <a:xfrm>
            <a:off x="1097280" y="277063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이미지 파트 확장</a:t>
            </a:r>
          </a:p>
        </p:txBody>
      </p:sp>
      <p:sp>
        <p:nvSpPr>
          <p:cNvPr id="13" name="TextBox 12"/>
          <p:cNvSpPr txBox="1"/>
          <p:nvPr/>
        </p:nvSpPr>
        <p:spPr>
          <a:xfrm>
            <a:off x="1097280" y="308152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Part 2~6 추가 사용 (최대 580GB)</a:t>
            </a:r>
          </a:p>
          <a:p>
            <a:pPr algn="l"/>
            <a:r>
              <a:rPr sz="900" b="0">
                <a:solidFill>
                  <a:srgbClr val="4A4A4A"/>
                </a:solidFill>
                <a:latin typeface="맑은 고딕"/>
              </a:rPr>
              <a:t>→ 9,542장 → 50K+ 장으로 ~5배 확장 기대</a:t>
            </a:r>
          </a:p>
        </p:txBody>
      </p:sp>
      <p:sp>
        <p:nvSpPr>
          <p:cNvPr id="14" name="Rounded Rectangle 13"/>
          <p:cNvSpPr/>
          <p:nvPr/>
        </p:nvSpPr>
        <p:spPr>
          <a:xfrm>
            <a:off x="384048" y="365760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502920" y="3858768"/>
            <a:ext cx="438912" cy="438912"/>
          </a:xfrm>
          <a:prstGeom prst="ellipse">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2</a:t>
            </a:r>
          </a:p>
        </p:txBody>
      </p:sp>
      <p:sp>
        <p:nvSpPr>
          <p:cNvPr id="16" name="TextBox 15"/>
          <p:cNvSpPr txBox="1"/>
          <p:nvPr/>
        </p:nvSpPr>
        <p:spPr>
          <a:xfrm>
            <a:off x="1097280" y="373075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Augmentation 고도화</a:t>
            </a:r>
          </a:p>
        </p:txBody>
      </p:sp>
      <p:sp>
        <p:nvSpPr>
          <p:cNvPr id="17" name="TextBox 16"/>
          <p:cNvSpPr txBox="1"/>
          <p:nvPr/>
        </p:nvSpPr>
        <p:spPr>
          <a:xfrm>
            <a:off x="1097280" y="404164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현재 Flip/Rotation/ColorJitter</a:t>
            </a:r>
          </a:p>
          <a:p>
            <a:pPr algn="l"/>
            <a:r>
              <a:rPr sz="900" b="0">
                <a:solidFill>
                  <a:srgbClr val="4A4A4A"/>
                </a:solidFill>
                <a:latin typeface="맑은 고딕"/>
              </a:rPr>
              <a:t>→ MixUp · CutMix · RandomErasing 추가</a:t>
            </a:r>
          </a:p>
        </p:txBody>
      </p:sp>
      <p:sp>
        <p:nvSpPr>
          <p:cNvPr id="18" name="Rounded Rectangle 17"/>
          <p:cNvSpPr/>
          <p:nvPr/>
        </p:nvSpPr>
        <p:spPr>
          <a:xfrm>
            <a:off x="384048" y="461772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02920" y="4818888"/>
            <a:ext cx="438912" cy="438912"/>
          </a:xfrm>
          <a:prstGeom prst="ellipse">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3</a:t>
            </a:r>
          </a:p>
        </p:txBody>
      </p:sp>
      <p:sp>
        <p:nvSpPr>
          <p:cNvPr id="20" name="TextBox 19"/>
          <p:cNvSpPr txBox="1"/>
          <p:nvPr/>
        </p:nvSpPr>
        <p:spPr>
          <a:xfrm>
            <a:off x="1097280" y="469087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샘플링 균형 조정</a:t>
            </a:r>
          </a:p>
        </p:txBody>
      </p:sp>
      <p:sp>
        <p:nvSpPr>
          <p:cNvPr id="21" name="TextBox 20"/>
          <p:cNvSpPr txBox="1"/>
          <p:nvPr/>
        </p:nvSpPr>
        <p:spPr>
          <a:xfrm>
            <a:off x="1097280" y="500176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센서 시퀀스 다운샘플링 + 이미지 업샘플링</a:t>
            </a:r>
          </a:p>
          <a:p>
            <a:pPr algn="l"/>
            <a:r>
              <a:rPr sz="900" b="0">
                <a:solidFill>
                  <a:srgbClr val="4A4A4A"/>
                </a:solidFill>
                <a:latin typeface="맑은 고딕"/>
              </a:rPr>
              <a:t>→ Fusion 학습 시 두 모달리티 비율 맞춤</a:t>
            </a:r>
          </a:p>
        </p:txBody>
      </p:sp>
      <p:sp>
        <p:nvSpPr>
          <p:cNvPr id="22" name="TextBox 21"/>
          <p:cNvSpPr txBox="1"/>
          <p:nvPr/>
        </p:nvSpPr>
        <p:spPr>
          <a:xfrm>
            <a:off x="6327648" y="2240280"/>
            <a:ext cx="5486400" cy="365760"/>
          </a:xfrm>
          <a:prstGeom prst="rect">
            <a:avLst/>
          </a:prstGeom>
          <a:noFill/>
        </p:spPr>
        <p:txBody>
          <a:bodyPr wrap="square" lIns="36000" tIns="18000" rIns="36000" bIns="18000" anchor="ctr">
            <a:spAutoFit/>
          </a:bodyPr>
          <a:lstStyle/>
          <a:p>
            <a:pPr algn="l"/>
            <a:r>
              <a:rPr sz="1400" b="1">
                <a:solidFill>
                  <a:srgbClr val="1B2A4A"/>
                </a:solidFill>
                <a:latin typeface="맑은 고딕"/>
              </a:rPr>
              <a:t>모델·학습 측면 개선</a:t>
            </a:r>
          </a:p>
        </p:txBody>
      </p:sp>
      <p:sp>
        <p:nvSpPr>
          <p:cNvPr id="23" name="Rounded Rectangle 22"/>
          <p:cNvSpPr/>
          <p:nvPr/>
        </p:nvSpPr>
        <p:spPr>
          <a:xfrm>
            <a:off x="6327648" y="269748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446520" y="2898648"/>
            <a:ext cx="438912" cy="438912"/>
          </a:xfrm>
          <a:prstGeom prst="ellipse">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A</a:t>
            </a:r>
          </a:p>
        </p:txBody>
      </p:sp>
      <p:sp>
        <p:nvSpPr>
          <p:cNvPr id="25" name="TextBox 24"/>
          <p:cNvSpPr txBox="1"/>
          <p:nvPr/>
        </p:nvSpPr>
        <p:spPr>
          <a:xfrm>
            <a:off x="7040880" y="277063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Attention-based Fusion</a:t>
            </a:r>
          </a:p>
        </p:txBody>
      </p:sp>
      <p:sp>
        <p:nvSpPr>
          <p:cNvPr id="26" name="TextBox 25"/>
          <p:cNvSpPr txBox="1"/>
          <p:nvPr/>
        </p:nvSpPr>
        <p:spPr>
          <a:xfrm>
            <a:off x="7040880" y="308152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단순 Concat → Cross-Attention 도입</a:t>
            </a:r>
          </a:p>
          <a:p>
            <a:pPr algn="l"/>
            <a:r>
              <a:rPr sz="900" b="0">
                <a:solidFill>
                  <a:srgbClr val="4A4A4A"/>
                </a:solidFill>
                <a:latin typeface="맑은 고딕"/>
              </a:rPr>
              <a:t>→ 이미지 신뢰도가 낮을 때 센서에 가중치 부여</a:t>
            </a:r>
          </a:p>
        </p:txBody>
      </p:sp>
      <p:sp>
        <p:nvSpPr>
          <p:cNvPr id="27" name="Rounded Rectangle 26"/>
          <p:cNvSpPr/>
          <p:nvPr/>
        </p:nvSpPr>
        <p:spPr>
          <a:xfrm>
            <a:off x="6327648" y="365760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446520" y="3858768"/>
            <a:ext cx="438912" cy="438912"/>
          </a:xfrm>
          <a:prstGeom prst="ellipse">
            <a:avLst/>
          </a:prstGeom>
          <a:solidFill>
            <a:srgbClr val="93B64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B</a:t>
            </a:r>
          </a:p>
        </p:txBody>
      </p:sp>
      <p:sp>
        <p:nvSpPr>
          <p:cNvPr id="29" name="TextBox 28"/>
          <p:cNvSpPr txBox="1"/>
          <p:nvPr/>
        </p:nvSpPr>
        <p:spPr>
          <a:xfrm>
            <a:off x="7040880" y="373075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Transfer Learning 강화</a:t>
            </a:r>
          </a:p>
        </p:txBody>
      </p:sp>
      <p:sp>
        <p:nvSpPr>
          <p:cNvPr id="30" name="TextBox 29"/>
          <p:cNvSpPr txBox="1"/>
          <p:nvPr/>
        </p:nvSpPr>
        <p:spPr>
          <a:xfrm>
            <a:off x="7040880" y="404164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ResNet18 backbone 동결 → 일부 unfreeze</a:t>
            </a:r>
          </a:p>
          <a:p>
            <a:pPr algn="l"/>
            <a:r>
              <a:rPr sz="900" b="0">
                <a:solidFill>
                  <a:srgbClr val="4A4A4A"/>
                </a:solidFill>
                <a:latin typeface="맑은 고딕"/>
              </a:rPr>
              <a:t>→ NSF-MAP P2 전략 (72%→88%) 차용</a:t>
            </a:r>
          </a:p>
        </p:txBody>
      </p:sp>
      <p:sp>
        <p:nvSpPr>
          <p:cNvPr id="31" name="Rounded Rectangle 30"/>
          <p:cNvSpPr/>
          <p:nvPr/>
        </p:nvSpPr>
        <p:spPr>
          <a:xfrm>
            <a:off x="6327648" y="4617720"/>
            <a:ext cx="5486400" cy="841248"/>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46520" y="4818888"/>
            <a:ext cx="438912" cy="438912"/>
          </a:xfrm>
          <a:prstGeom prst="ellipse">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맑은 고딕"/>
              </a:rPr>
              <a:t>C</a:t>
            </a:r>
          </a:p>
        </p:txBody>
      </p:sp>
      <p:sp>
        <p:nvSpPr>
          <p:cNvPr id="33" name="TextBox 32"/>
          <p:cNvSpPr txBox="1"/>
          <p:nvPr/>
        </p:nvSpPr>
        <p:spPr>
          <a:xfrm>
            <a:off x="7040880" y="4690872"/>
            <a:ext cx="4297680" cy="320040"/>
          </a:xfrm>
          <a:prstGeom prst="rect">
            <a:avLst/>
          </a:prstGeom>
          <a:noFill/>
        </p:spPr>
        <p:txBody>
          <a:bodyPr wrap="square" lIns="36000" tIns="18000" rIns="36000" bIns="18000" anchor="ctr">
            <a:spAutoFit/>
          </a:bodyPr>
          <a:lstStyle/>
          <a:p>
            <a:pPr algn="l"/>
            <a:r>
              <a:rPr sz="1200" b="1">
                <a:solidFill>
                  <a:srgbClr val="1B2A4A"/>
                </a:solidFill>
                <a:latin typeface="맑은 고딕"/>
              </a:rPr>
              <a:t>Knowledge Infusion</a:t>
            </a:r>
          </a:p>
        </p:txBody>
      </p:sp>
      <p:sp>
        <p:nvSpPr>
          <p:cNvPr id="34" name="TextBox 33"/>
          <p:cNvSpPr txBox="1"/>
          <p:nvPr/>
        </p:nvSpPr>
        <p:spPr>
          <a:xfrm>
            <a:off x="7040880" y="5001768"/>
            <a:ext cx="4297680" cy="457200"/>
          </a:xfrm>
          <a:prstGeom prst="rect">
            <a:avLst/>
          </a:prstGeom>
          <a:noFill/>
        </p:spPr>
        <p:txBody>
          <a:bodyPr wrap="square" lIns="36000" tIns="18000" rIns="36000" bIns="18000" anchor="ctr">
            <a:spAutoFit/>
          </a:bodyPr>
          <a:lstStyle/>
          <a:p>
            <a:pPr algn="l"/>
            <a:r>
              <a:rPr sz="900" b="0">
                <a:solidFill>
                  <a:srgbClr val="4A4A4A"/>
                </a:solidFill>
                <a:latin typeface="맑은 고딕"/>
              </a:rPr>
              <a:t>Process Ontology 기반 센서 범위 위반 패널티</a:t>
            </a:r>
          </a:p>
          <a:p>
            <a:pPr algn="l"/>
            <a:r>
              <a:rPr sz="900" b="0">
                <a:solidFill>
                  <a:srgbClr val="4A4A4A"/>
                </a:solidFill>
                <a:latin typeface="맑은 고딕"/>
              </a:rPr>
              <a:t>→ NSF-MAP P3 전략 (88%→93%) 차용</a:t>
            </a:r>
          </a:p>
        </p:txBody>
      </p:sp>
      <p:sp>
        <p:nvSpPr>
          <p:cNvPr id="35" name="Rounded Rectangle 34"/>
          <p:cNvSpPr/>
          <p:nvPr/>
        </p:nvSpPr>
        <p:spPr>
          <a:xfrm>
            <a:off x="384048" y="5577840"/>
            <a:ext cx="11430000" cy="320040"/>
          </a:xfrm>
          <a:prstGeom prst="roundRect">
            <a:avLst>
              <a:gd name="adj" fmla="val 5000"/>
            </a:avLst>
          </a:prstGeom>
          <a:solidFill>
            <a:srgbClr val="1B54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 y="5605272"/>
            <a:ext cx="11155680" cy="274320"/>
          </a:xfrm>
          <a:prstGeom prst="rect">
            <a:avLst/>
          </a:prstGeom>
          <a:noFill/>
        </p:spPr>
        <p:txBody>
          <a:bodyPr wrap="square" lIns="36000" tIns="18000" rIns="36000" bIns="18000" anchor="ctr">
            <a:spAutoFit/>
          </a:bodyPr>
          <a:lstStyle/>
          <a:p>
            <a:pPr algn="l"/>
            <a:r>
              <a:rPr sz="1000" b="0">
                <a:solidFill>
                  <a:srgbClr val="FFFFFF"/>
                </a:solidFill>
                <a:latin typeface="맑은 고딕"/>
              </a:rPr>
              <a:t>→  데이터 균형 + Attention Fusion 적용 시 Fusion이 센서 단독을 상회할 것으로 기대 (NSF-MAP 사례 참조)</a:t>
            </a:r>
          </a:p>
        </p:txBody>
      </p:sp>
    </p:spTree>
    <p:extLst>
      <p:ext uri="{BB962C8B-B14F-4D97-AF65-F5344CB8AC3E}">
        <p14:creationId xmlns:p14="http://schemas.microsoft.com/office/powerpoint/2010/main" val="94739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a:extLst>
              <a:ext uri="{FF2B5EF4-FFF2-40B4-BE49-F238E27FC236}">
                <a16:creationId xmlns:a16="http://schemas.microsoft.com/office/drawing/2014/main" id="{AB589446-007F-4E3B-A7FE-92D910E0E2E2}"/>
              </a:ext>
            </a:extLst>
          </p:cNvPr>
          <p:cNvSpPr/>
          <p:nvPr/>
        </p:nvSpPr>
        <p:spPr>
          <a:xfrm>
            <a:off x="0" y="-9989"/>
            <a:ext cx="12192000" cy="889000"/>
          </a:xfrm>
          <a:prstGeom prst="rect">
            <a:avLst/>
          </a:prstGeom>
          <a:solidFill>
            <a:srgbClr val="1B2A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lstStyle/>
          <a:p>
            <a:pPr algn="l"/>
            <a:endParaRPr lang="ko-KR" altLang="en-US"/>
          </a:p>
        </p:txBody>
      </p:sp>
      <p:sp>
        <p:nvSpPr>
          <p:cNvPr id="4" name="타원 3">
            <a:extLst>
              <a:ext uri="{FF2B5EF4-FFF2-40B4-BE49-F238E27FC236}">
                <a16:creationId xmlns:a16="http://schemas.microsoft.com/office/drawing/2014/main" id="{91E87C97-72F7-424B-B4A5-2568480F102A}"/>
              </a:ext>
            </a:extLst>
          </p:cNvPr>
          <p:cNvSpPr/>
          <p:nvPr/>
        </p:nvSpPr>
        <p:spPr>
          <a:xfrm>
            <a:off x="381000" y="190500"/>
            <a:ext cx="508000" cy="508000"/>
          </a:xfrm>
          <a:prstGeom prst="ellipse">
            <a:avLst/>
          </a:prstGeom>
          <a:solidFill>
            <a:srgbClr val="16A29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600" b="1">
                <a:solidFill>
                  <a:srgbClr val="FFFFFF"/>
                </a:solidFill>
              </a:rPr>
              <a:t>10</a:t>
            </a:r>
            <a:endParaRPr lang="ko-KR" altLang="en-US" sz="1600" b="1">
              <a:solidFill>
                <a:srgbClr val="FFFFFF"/>
              </a:solidFill>
            </a:endParaRPr>
          </a:p>
        </p:txBody>
      </p:sp>
      <p:sp>
        <p:nvSpPr>
          <p:cNvPr id="5" name="TextBox 4">
            <a:extLst>
              <a:ext uri="{FF2B5EF4-FFF2-40B4-BE49-F238E27FC236}">
                <a16:creationId xmlns:a16="http://schemas.microsoft.com/office/drawing/2014/main" id="{BC1B2A0C-7324-4F06-A534-90FAF346333E}"/>
              </a:ext>
            </a:extLst>
          </p:cNvPr>
          <p:cNvSpPr txBox="1"/>
          <p:nvPr/>
        </p:nvSpPr>
        <p:spPr>
          <a:xfrm>
            <a:off x="1079500" y="190500"/>
            <a:ext cx="3810000" cy="508000"/>
          </a:xfrm>
          <a:prstGeom prst="rect">
            <a:avLst/>
          </a:prstGeom>
          <a:noFill/>
        </p:spPr>
        <p:txBody>
          <a:bodyPr vertOverflow="overflow" vert="horz" wrap="square" rtlCol="0" anchor="ctr">
            <a:noAutofit/>
          </a:bodyPr>
          <a:lstStyle/>
          <a:p>
            <a:pPr algn="l">
              <a:lnSpc>
                <a:spcPct val="130000"/>
              </a:lnSpc>
            </a:pPr>
            <a:r>
              <a:rPr lang="ko-KR" altLang="en-US" sz="2200" b="1">
                <a:solidFill>
                  <a:srgbClr val="FFFFFF"/>
                </a:solidFill>
                <a:latin typeface="나눔고딕" panose="020D0604000000000000" pitchFamily="50" charset="-127"/>
                <a:ea typeface="나눔고딕" panose="020D0604000000000000" pitchFamily="50" charset="-127"/>
                <a:cs typeface="Arial" panose="020B0604020202020204" pitchFamily="34" charset="0"/>
              </a:rPr>
              <a:t>스케줄 및 역할 분담</a:t>
            </a:r>
          </a:p>
        </p:txBody>
      </p:sp>
      <p:sp>
        <p:nvSpPr>
          <p:cNvPr id="6" name="TextBox 5"/>
          <p:cNvSpPr txBox="1"/>
          <p:nvPr/>
        </p:nvSpPr>
        <p:spPr>
          <a:xfrm>
            <a:off x="384048" y="1536096"/>
            <a:ext cx="5486400" cy="365760"/>
          </a:xfrm>
          <a:prstGeom prst="rect">
            <a:avLst/>
          </a:prstGeom>
          <a:noFill/>
        </p:spPr>
        <p:txBody>
          <a:bodyPr wrap="square" lIns="36000" tIns="18000" rIns="36000" bIns="18000" anchor="ctr">
            <a:spAutoFit/>
          </a:bodyPr>
          <a:lstStyle/>
          <a:p>
            <a:pPr algn="l"/>
            <a:r>
              <a:rPr sz="1400" b="1">
                <a:solidFill>
                  <a:srgbClr val="1B2A4A"/>
                </a:solidFill>
                <a:latin typeface="맑은 고딕"/>
              </a:rPr>
              <a:t>주차별 진행 계획</a:t>
            </a:r>
          </a:p>
        </p:txBody>
      </p:sp>
      <p:sp>
        <p:nvSpPr>
          <p:cNvPr id="7" name="Rounded Rectangle 6"/>
          <p:cNvSpPr/>
          <p:nvPr/>
        </p:nvSpPr>
        <p:spPr>
          <a:xfrm>
            <a:off x="384048" y="1993296"/>
            <a:ext cx="54864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84048" y="1993296"/>
            <a:ext cx="137160" cy="621792"/>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081056"/>
            <a:ext cx="1463040" cy="190240"/>
          </a:xfrm>
          <a:prstGeom prst="rect">
            <a:avLst/>
          </a:prstGeom>
          <a:noFill/>
        </p:spPr>
        <p:txBody>
          <a:bodyPr wrap="square" lIns="36000" tIns="18000" rIns="36000" bIns="18000" anchor="ctr">
            <a:spAutoFit/>
          </a:bodyPr>
          <a:lstStyle/>
          <a:p>
            <a:pPr algn="l"/>
            <a:r>
              <a:rPr sz="1000" b="1" dirty="0">
                <a:solidFill>
                  <a:srgbClr val="1B2A4A"/>
                </a:solidFill>
                <a:latin typeface="맑은 고딕"/>
              </a:rPr>
              <a:t>1주차</a:t>
            </a:r>
          </a:p>
        </p:txBody>
      </p:sp>
      <p:sp>
        <p:nvSpPr>
          <p:cNvPr id="10" name="TextBox 9"/>
          <p:cNvSpPr txBox="1"/>
          <p:nvPr/>
        </p:nvSpPr>
        <p:spPr>
          <a:xfrm>
            <a:off x="640080" y="2304192"/>
            <a:ext cx="1463040" cy="274320"/>
          </a:xfrm>
          <a:prstGeom prst="rect">
            <a:avLst/>
          </a:prstGeom>
          <a:noFill/>
        </p:spPr>
        <p:txBody>
          <a:bodyPr wrap="square" lIns="36000" tIns="18000" rIns="36000" bIns="18000" anchor="ctr">
            <a:spAutoFit/>
          </a:bodyPr>
          <a:lstStyle/>
          <a:p>
            <a:pPr algn="l"/>
            <a:r>
              <a:rPr sz="900" b="1">
                <a:solidFill>
                  <a:srgbClr val="16A295"/>
                </a:solidFill>
                <a:latin typeface="맑은 고딕"/>
              </a:rPr>
              <a:t>완료</a:t>
            </a:r>
          </a:p>
        </p:txBody>
      </p:sp>
      <p:sp>
        <p:nvSpPr>
          <p:cNvPr id="11" name="TextBox 10"/>
          <p:cNvSpPr txBox="1"/>
          <p:nvPr/>
        </p:nvSpPr>
        <p:spPr>
          <a:xfrm>
            <a:off x="2194560" y="2130456"/>
            <a:ext cx="3200400" cy="457200"/>
          </a:xfrm>
          <a:prstGeom prst="rect">
            <a:avLst/>
          </a:prstGeom>
          <a:noFill/>
        </p:spPr>
        <p:txBody>
          <a:bodyPr wrap="square" lIns="36000" tIns="18000" rIns="36000" bIns="18000" anchor="ctr">
            <a:spAutoFit/>
          </a:bodyPr>
          <a:lstStyle/>
          <a:p>
            <a:pPr algn="l"/>
            <a:r>
              <a:rPr sz="1000" b="0">
                <a:solidFill>
                  <a:srgbClr val="4A4A4A"/>
                </a:solidFill>
                <a:latin typeface="맑은 고딕"/>
              </a:rPr>
              <a:t>데이터셋 확보, 데이터 탐색, 전처리 파이프라인</a:t>
            </a:r>
          </a:p>
        </p:txBody>
      </p:sp>
      <p:sp>
        <p:nvSpPr>
          <p:cNvPr id="12" name="Rounded Rectangle 11"/>
          <p:cNvSpPr/>
          <p:nvPr/>
        </p:nvSpPr>
        <p:spPr>
          <a:xfrm>
            <a:off x="384048" y="2706528"/>
            <a:ext cx="54864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84048" y="2706528"/>
            <a:ext cx="137160" cy="621792"/>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794287"/>
            <a:ext cx="1463040" cy="190240"/>
          </a:xfrm>
          <a:prstGeom prst="rect">
            <a:avLst/>
          </a:prstGeom>
          <a:noFill/>
        </p:spPr>
        <p:txBody>
          <a:bodyPr wrap="square" lIns="36000" tIns="18000" rIns="36000" bIns="18000" anchor="ctr">
            <a:spAutoFit/>
          </a:bodyPr>
          <a:lstStyle/>
          <a:p>
            <a:pPr algn="l"/>
            <a:r>
              <a:rPr lang="en-US" altLang="ko-KR" sz="1000" b="1" dirty="0">
                <a:solidFill>
                  <a:srgbClr val="1B2A4A"/>
                </a:solidFill>
                <a:latin typeface="맑은 고딕"/>
              </a:rPr>
              <a:t>2</a:t>
            </a:r>
            <a:r>
              <a:rPr sz="1000" b="1" dirty="0">
                <a:solidFill>
                  <a:srgbClr val="1B2A4A"/>
                </a:solidFill>
                <a:latin typeface="맑은 고딕"/>
              </a:rPr>
              <a:t>주차</a:t>
            </a:r>
          </a:p>
        </p:txBody>
      </p:sp>
      <p:sp>
        <p:nvSpPr>
          <p:cNvPr id="15" name="TextBox 14"/>
          <p:cNvSpPr txBox="1"/>
          <p:nvPr/>
        </p:nvSpPr>
        <p:spPr>
          <a:xfrm>
            <a:off x="640080" y="3017424"/>
            <a:ext cx="1463040" cy="274320"/>
          </a:xfrm>
          <a:prstGeom prst="rect">
            <a:avLst/>
          </a:prstGeom>
          <a:noFill/>
        </p:spPr>
        <p:txBody>
          <a:bodyPr wrap="square" lIns="36000" tIns="18000" rIns="36000" bIns="18000" anchor="ctr">
            <a:spAutoFit/>
          </a:bodyPr>
          <a:lstStyle/>
          <a:p>
            <a:pPr algn="l"/>
            <a:r>
              <a:rPr sz="900" b="1">
                <a:solidFill>
                  <a:srgbClr val="16A295"/>
                </a:solidFill>
                <a:latin typeface="맑은 고딕"/>
              </a:rPr>
              <a:t>완료</a:t>
            </a:r>
          </a:p>
        </p:txBody>
      </p:sp>
      <p:sp>
        <p:nvSpPr>
          <p:cNvPr id="16" name="TextBox 15"/>
          <p:cNvSpPr txBox="1"/>
          <p:nvPr/>
        </p:nvSpPr>
        <p:spPr>
          <a:xfrm>
            <a:off x="2194560" y="2843688"/>
            <a:ext cx="3200400" cy="457200"/>
          </a:xfrm>
          <a:prstGeom prst="rect">
            <a:avLst/>
          </a:prstGeom>
          <a:noFill/>
        </p:spPr>
        <p:txBody>
          <a:bodyPr wrap="square" lIns="36000" tIns="18000" rIns="36000" bIns="18000" anchor="ctr">
            <a:spAutoFit/>
          </a:bodyPr>
          <a:lstStyle/>
          <a:p>
            <a:pPr algn="l"/>
            <a:r>
              <a:rPr sz="1000" b="0">
                <a:solidFill>
                  <a:srgbClr val="4A4A4A"/>
                </a:solidFill>
                <a:latin typeface="맑은 고딕"/>
              </a:rPr>
              <a:t>3개 모델 아키텍처 구현, Kaggle 환경 구축</a:t>
            </a:r>
          </a:p>
        </p:txBody>
      </p:sp>
      <p:sp>
        <p:nvSpPr>
          <p:cNvPr id="17" name="Rounded Rectangle 16"/>
          <p:cNvSpPr/>
          <p:nvPr/>
        </p:nvSpPr>
        <p:spPr>
          <a:xfrm>
            <a:off x="384048" y="3419760"/>
            <a:ext cx="54864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84048" y="3419760"/>
            <a:ext cx="137160" cy="621792"/>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3507520"/>
            <a:ext cx="1463040" cy="190240"/>
          </a:xfrm>
          <a:prstGeom prst="rect">
            <a:avLst/>
          </a:prstGeom>
          <a:noFill/>
        </p:spPr>
        <p:txBody>
          <a:bodyPr wrap="square" lIns="36000" tIns="18000" rIns="36000" bIns="18000" anchor="ctr">
            <a:spAutoFit/>
          </a:bodyPr>
          <a:lstStyle/>
          <a:p>
            <a:pPr algn="l"/>
            <a:r>
              <a:rPr lang="en-US" altLang="ko-KR" sz="1000" b="1" dirty="0">
                <a:solidFill>
                  <a:srgbClr val="1B2A4A"/>
                </a:solidFill>
                <a:latin typeface="맑은 고딕"/>
              </a:rPr>
              <a:t>3</a:t>
            </a:r>
            <a:r>
              <a:rPr sz="1000" b="1" dirty="0">
                <a:solidFill>
                  <a:srgbClr val="1B2A4A"/>
                </a:solidFill>
                <a:latin typeface="맑은 고딕"/>
              </a:rPr>
              <a:t>주차</a:t>
            </a:r>
          </a:p>
        </p:txBody>
      </p:sp>
      <p:sp>
        <p:nvSpPr>
          <p:cNvPr id="20" name="TextBox 19"/>
          <p:cNvSpPr txBox="1"/>
          <p:nvPr/>
        </p:nvSpPr>
        <p:spPr>
          <a:xfrm>
            <a:off x="640080" y="3730656"/>
            <a:ext cx="1463040" cy="274320"/>
          </a:xfrm>
          <a:prstGeom prst="rect">
            <a:avLst/>
          </a:prstGeom>
          <a:noFill/>
        </p:spPr>
        <p:txBody>
          <a:bodyPr wrap="square" lIns="36000" tIns="18000" rIns="36000" bIns="18000" anchor="ctr">
            <a:spAutoFit/>
          </a:bodyPr>
          <a:lstStyle/>
          <a:p>
            <a:pPr algn="l"/>
            <a:r>
              <a:rPr sz="900" b="1">
                <a:solidFill>
                  <a:srgbClr val="16A295"/>
                </a:solidFill>
                <a:latin typeface="맑은 고딕"/>
              </a:rPr>
              <a:t>완료</a:t>
            </a:r>
          </a:p>
        </p:txBody>
      </p:sp>
      <p:sp>
        <p:nvSpPr>
          <p:cNvPr id="21" name="TextBox 20"/>
          <p:cNvSpPr txBox="1"/>
          <p:nvPr/>
        </p:nvSpPr>
        <p:spPr>
          <a:xfrm>
            <a:off x="2194560" y="3556920"/>
            <a:ext cx="3200400" cy="457200"/>
          </a:xfrm>
          <a:prstGeom prst="rect">
            <a:avLst/>
          </a:prstGeom>
          <a:noFill/>
        </p:spPr>
        <p:txBody>
          <a:bodyPr wrap="square" lIns="36000" tIns="18000" rIns="36000" bIns="18000" anchor="ctr">
            <a:spAutoFit/>
          </a:bodyPr>
          <a:lstStyle/>
          <a:p>
            <a:pPr algn="l"/>
            <a:r>
              <a:rPr sz="1000" b="0">
                <a:solidFill>
                  <a:srgbClr val="4A4A4A"/>
                </a:solidFill>
                <a:latin typeface="맑은 고딕"/>
              </a:rPr>
              <a:t>센서·이미지·Fusion 3모델 학습 완료, 비교 분석</a:t>
            </a:r>
          </a:p>
        </p:txBody>
      </p:sp>
      <p:sp>
        <p:nvSpPr>
          <p:cNvPr id="22" name="Rounded Rectangle 21"/>
          <p:cNvSpPr/>
          <p:nvPr/>
        </p:nvSpPr>
        <p:spPr>
          <a:xfrm>
            <a:off x="384048" y="4132991"/>
            <a:ext cx="54864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84048" y="4132991"/>
            <a:ext cx="137160" cy="621792"/>
          </a:xfrm>
          <a:prstGeom prst="roundRect">
            <a:avLst>
              <a:gd name="adj" fmla="val 5000"/>
            </a:avLst>
          </a:prstGeom>
          <a:solidFill>
            <a:srgbClr val="F29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4220751"/>
            <a:ext cx="1463040" cy="190240"/>
          </a:xfrm>
          <a:prstGeom prst="rect">
            <a:avLst/>
          </a:prstGeom>
          <a:noFill/>
        </p:spPr>
        <p:txBody>
          <a:bodyPr wrap="square" lIns="36000" tIns="18000" rIns="36000" bIns="18000" anchor="ctr">
            <a:spAutoFit/>
          </a:bodyPr>
          <a:lstStyle/>
          <a:p>
            <a:pPr algn="l"/>
            <a:r>
              <a:rPr lang="en-US" altLang="ko-KR" sz="1000" b="1" dirty="0">
                <a:solidFill>
                  <a:srgbClr val="1B2A4A"/>
                </a:solidFill>
                <a:latin typeface="맑은 고딕"/>
              </a:rPr>
              <a:t>4</a:t>
            </a:r>
            <a:r>
              <a:rPr sz="1000" b="1" dirty="0">
                <a:solidFill>
                  <a:srgbClr val="1B2A4A"/>
                </a:solidFill>
                <a:latin typeface="맑은 고딕"/>
              </a:rPr>
              <a:t>주차 (</a:t>
            </a:r>
            <a:r>
              <a:rPr sz="1000" b="1" dirty="0" err="1">
                <a:solidFill>
                  <a:srgbClr val="1B2A4A"/>
                </a:solidFill>
                <a:latin typeface="맑은 고딕"/>
              </a:rPr>
              <a:t>현재</a:t>
            </a:r>
            <a:r>
              <a:rPr sz="1000" b="1" dirty="0">
                <a:solidFill>
                  <a:srgbClr val="1B2A4A"/>
                </a:solidFill>
                <a:latin typeface="맑은 고딕"/>
              </a:rPr>
              <a:t>)</a:t>
            </a:r>
          </a:p>
        </p:txBody>
      </p:sp>
      <p:sp>
        <p:nvSpPr>
          <p:cNvPr id="25" name="TextBox 24"/>
          <p:cNvSpPr txBox="1"/>
          <p:nvPr/>
        </p:nvSpPr>
        <p:spPr>
          <a:xfrm>
            <a:off x="640080" y="4443887"/>
            <a:ext cx="1463040" cy="274320"/>
          </a:xfrm>
          <a:prstGeom prst="rect">
            <a:avLst/>
          </a:prstGeom>
          <a:noFill/>
        </p:spPr>
        <p:txBody>
          <a:bodyPr wrap="square" lIns="36000" tIns="18000" rIns="36000" bIns="18000" anchor="ctr">
            <a:spAutoFit/>
          </a:bodyPr>
          <a:lstStyle/>
          <a:p>
            <a:pPr algn="l"/>
            <a:r>
              <a:rPr sz="900" b="1">
                <a:solidFill>
                  <a:srgbClr val="F29E16"/>
                </a:solidFill>
                <a:latin typeface="맑은 고딕"/>
              </a:rPr>
              <a:t>진행중</a:t>
            </a:r>
          </a:p>
        </p:txBody>
      </p:sp>
      <p:sp>
        <p:nvSpPr>
          <p:cNvPr id="26" name="TextBox 25"/>
          <p:cNvSpPr txBox="1"/>
          <p:nvPr/>
        </p:nvSpPr>
        <p:spPr>
          <a:xfrm>
            <a:off x="2194560" y="4270152"/>
            <a:ext cx="3200400" cy="457200"/>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한계</a:t>
            </a:r>
            <a:r>
              <a:rPr sz="1000" b="0" dirty="0">
                <a:solidFill>
                  <a:srgbClr val="4A4A4A"/>
                </a:solidFill>
                <a:latin typeface="맑은 고딕"/>
              </a:rPr>
              <a:t> </a:t>
            </a:r>
            <a:r>
              <a:rPr sz="1000" b="0" dirty="0" err="1">
                <a:solidFill>
                  <a:srgbClr val="4A4A4A"/>
                </a:solidFill>
                <a:latin typeface="맑은 고딕"/>
              </a:rPr>
              <a:t>분석</a:t>
            </a:r>
            <a:r>
              <a:rPr sz="1000" b="0" dirty="0">
                <a:solidFill>
                  <a:srgbClr val="4A4A4A"/>
                </a:solidFill>
                <a:latin typeface="맑은 고딕"/>
              </a:rPr>
              <a:t> 및 </a:t>
            </a:r>
            <a:r>
              <a:rPr sz="1000" b="0" dirty="0" err="1">
                <a:solidFill>
                  <a:srgbClr val="4A4A4A"/>
                </a:solidFill>
                <a:latin typeface="맑은 고딕"/>
              </a:rPr>
              <a:t>개선</a:t>
            </a:r>
            <a:r>
              <a:rPr sz="1000" b="0" dirty="0">
                <a:solidFill>
                  <a:srgbClr val="4A4A4A"/>
                </a:solidFill>
                <a:latin typeface="맑은 고딕"/>
              </a:rPr>
              <a:t> </a:t>
            </a:r>
            <a:r>
              <a:rPr sz="1000" b="0" dirty="0" err="1">
                <a:solidFill>
                  <a:srgbClr val="4A4A4A"/>
                </a:solidFill>
                <a:latin typeface="맑은 고딕"/>
              </a:rPr>
              <a:t>방향</a:t>
            </a:r>
            <a:r>
              <a:rPr sz="1000" b="0" dirty="0">
                <a:solidFill>
                  <a:srgbClr val="4A4A4A"/>
                </a:solidFill>
                <a:latin typeface="맑은 고딕"/>
              </a:rPr>
              <a:t> </a:t>
            </a:r>
            <a:r>
              <a:rPr sz="1000" b="0" dirty="0" err="1">
                <a:solidFill>
                  <a:srgbClr val="4A4A4A"/>
                </a:solidFill>
                <a:latin typeface="맑은 고딕"/>
              </a:rPr>
              <a:t>도출</a:t>
            </a:r>
            <a:r>
              <a:rPr sz="1000" b="0" dirty="0">
                <a:solidFill>
                  <a:srgbClr val="4A4A4A"/>
                </a:solidFill>
                <a:latin typeface="맑은 고딕"/>
              </a:rPr>
              <a:t>, </a:t>
            </a:r>
            <a:r>
              <a:rPr sz="1000" b="0" dirty="0" err="1">
                <a:solidFill>
                  <a:srgbClr val="4A4A4A"/>
                </a:solidFill>
                <a:latin typeface="맑은 고딕"/>
              </a:rPr>
              <a:t>중간</a:t>
            </a:r>
            <a:r>
              <a:rPr sz="1000" b="0" dirty="0">
                <a:solidFill>
                  <a:srgbClr val="4A4A4A"/>
                </a:solidFill>
                <a:latin typeface="맑은 고딕"/>
              </a:rPr>
              <a:t> </a:t>
            </a:r>
            <a:r>
              <a:rPr sz="1000" b="0" dirty="0" err="1">
                <a:solidFill>
                  <a:srgbClr val="4A4A4A"/>
                </a:solidFill>
                <a:latin typeface="맑은 고딕"/>
              </a:rPr>
              <a:t>발표</a:t>
            </a:r>
            <a:r>
              <a:rPr sz="1000" b="0" dirty="0">
                <a:solidFill>
                  <a:srgbClr val="4A4A4A"/>
                </a:solidFill>
                <a:latin typeface="맑은 고딕"/>
              </a:rPr>
              <a:t> </a:t>
            </a:r>
            <a:r>
              <a:rPr sz="1000" b="0" dirty="0" err="1">
                <a:solidFill>
                  <a:srgbClr val="4A4A4A"/>
                </a:solidFill>
                <a:latin typeface="맑은 고딕"/>
              </a:rPr>
              <a:t>준비</a:t>
            </a:r>
            <a:endParaRPr sz="1000" b="0" dirty="0">
              <a:solidFill>
                <a:srgbClr val="4A4A4A"/>
              </a:solidFill>
              <a:latin typeface="맑은 고딕"/>
            </a:endParaRPr>
          </a:p>
        </p:txBody>
      </p:sp>
      <p:sp>
        <p:nvSpPr>
          <p:cNvPr id="27" name="Rounded Rectangle 26"/>
          <p:cNvSpPr/>
          <p:nvPr/>
        </p:nvSpPr>
        <p:spPr>
          <a:xfrm>
            <a:off x="384048" y="4846224"/>
            <a:ext cx="5486400" cy="6217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384048" y="4846224"/>
            <a:ext cx="137160" cy="621792"/>
          </a:xfrm>
          <a:prstGeom prst="roundRect">
            <a:avLst>
              <a:gd name="adj" fmla="val 5000"/>
            </a:avLst>
          </a:prstGeom>
          <a:solidFill>
            <a:srgbClr val="9AA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4933984"/>
            <a:ext cx="1463040" cy="190240"/>
          </a:xfrm>
          <a:prstGeom prst="rect">
            <a:avLst/>
          </a:prstGeom>
          <a:noFill/>
        </p:spPr>
        <p:txBody>
          <a:bodyPr wrap="square" lIns="36000" tIns="18000" rIns="36000" bIns="18000" anchor="ctr">
            <a:spAutoFit/>
          </a:bodyPr>
          <a:lstStyle/>
          <a:p>
            <a:pPr algn="l"/>
            <a:r>
              <a:rPr lang="en-US" altLang="ko-KR" sz="1000" b="1" dirty="0">
                <a:solidFill>
                  <a:srgbClr val="1B2A4A"/>
                </a:solidFill>
                <a:latin typeface="맑은 고딕"/>
              </a:rPr>
              <a:t>5-</a:t>
            </a:r>
            <a:r>
              <a:rPr sz="1000" b="1" dirty="0">
                <a:solidFill>
                  <a:srgbClr val="1B2A4A"/>
                </a:solidFill>
                <a:latin typeface="맑은 고딕"/>
              </a:rPr>
              <a:t>6주차</a:t>
            </a:r>
          </a:p>
        </p:txBody>
      </p:sp>
      <p:sp>
        <p:nvSpPr>
          <p:cNvPr id="30" name="TextBox 29"/>
          <p:cNvSpPr txBox="1"/>
          <p:nvPr/>
        </p:nvSpPr>
        <p:spPr>
          <a:xfrm>
            <a:off x="640080" y="5157120"/>
            <a:ext cx="1463040" cy="274320"/>
          </a:xfrm>
          <a:prstGeom prst="rect">
            <a:avLst/>
          </a:prstGeom>
          <a:noFill/>
        </p:spPr>
        <p:txBody>
          <a:bodyPr wrap="square" lIns="36000" tIns="18000" rIns="36000" bIns="18000" anchor="ctr">
            <a:spAutoFit/>
          </a:bodyPr>
          <a:lstStyle/>
          <a:p>
            <a:pPr algn="l"/>
            <a:r>
              <a:rPr sz="900" b="1">
                <a:solidFill>
                  <a:srgbClr val="9AA0A6"/>
                </a:solidFill>
                <a:latin typeface="맑은 고딕"/>
              </a:rPr>
              <a:t>예정</a:t>
            </a:r>
          </a:p>
        </p:txBody>
      </p:sp>
      <p:sp>
        <p:nvSpPr>
          <p:cNvPr id="31" name="TextBox 30"/>
          <p:cNvSpPr txBox="1"/>
          <p:nvPr/>
        </p:nvSpPr>
        <p:spPr>
          <a:xfrm>
            <a:off x="2194560" y="4983384"/>
            <a:ext cx="3200400" cy="457200"/>
          </a:xfrm>
          <a:prstGeom prst="rect">
            <a:avLst/>
          </a:prstGeom>
          <a:noFill/>
        </p:spPr>
        <p:txBody>
          <a:bodyPr wrap="square" lIns="36000" tIns="18000" rIns="36000" bIns="18000" anchor="ctr">
            <a:spAutoFit/>
          </a:bodyPr>
          <a:lstStyle/>
          <a:p>
            <a:pPr algn="l"/>
            <a:r>
              <a:rPr sz="1000" b="0" dirty="0" err="1">
                <a:solidFill>
                  <a:srgbClr val="4A4A4A"/>
                </a:solidFill>
                <a:latin typeface="맑은 고딕"/>
              </a:rPr>
              <a:t>추가</a:t>
            </a:r>
            <a:r>
              <a:rPr sz="1000" b="0" dirty="0">
                <a:solidFill>
                  <a:srgbClr val="4A4A4A"/>
                </a:solidFill>
                <a:latin typeface="맑은 고딕"/>
              </a:rPr>
              <a:t> </a:t>
            </a:r>
            <a:r>
              <a:rPr sz="1000" b="0" dirty="0" err="1">
                <a:solidFill>
                  <a:srgbClr val="4A4A4A"/>
                </a:solidFill>
                <a:latin typeface="맑은 고딕"/>
              </a:rPr>
              <a:t>개선</a:t>
            </a:r>
            <a:r>
              <a:rPr sz="1000" b="0" dirty="0">
                <a:solidFill>
                  <a:srgbClr val="4A4A4A"/>
                </a:solidFill>
                <a:latin typeface="맑은 고딕"/>
              </a:rPr>
              <a:t> </a:t>
            </a:r>
            <a:r>
              <a:rPr sz="1000" b="0" dirty="0" err="1">
                <a:solidFill>
                  <a:srgbClr val="4A4A4A"/>
                </a:solidFill>
                <a:latin typeface="맑은 고딕"/>
              </a:rPr>
              <a:t>실험</a:t>
            </a:r>
            <a:r>
              <a:rPr sz="1000" b="0" dirty="0">
                <a:solidFill>
                  <a:srgbClr val="4A4A4A"/>
                </a:solidFill>
                <a:latin typeface="맑은 고딕"/>
              </a:rPr>
              <a:t> (Attention Fusion 등), </a:t>
            </a:r>
            <a:r>
              <a:rPr sz="1000" b="0" dirty="0" err="1">
                <a:solidFill>
                  <a:srgbClr val="4A4A4A"/>
                </a:solidFill>
                <a:latin typeface="맑은 고딕"/>
              </a:rPr>
              <a:t>최종</a:t>
            </a:r>
            <a:r>
              <a:rPr sz="1000" b="0" dirty="0">
                <a:solidFill>
                  <a:srgbClr val="4A4A4A"/>
                </a:solidFill>
                <a:latin typeface="맑은 고딕"/>
              </a:rPr>
              <a:t> </a:t>
            </a:r>
            <a:r>
              <a:rPr sz="1000" b="0" dirty="0" err="1">
                <a:solidFill>
                  <a:srgbClr val="4A4A4A"/>
                </a:solidFill>
                <a:latin typeface="맑은 고딕"/>
              </a:rPr>
              <a:t>보고서</a:t>
            </a:r>
            <a:endParaRPr sz="1000" b="0" dirty="0">
              <a:solidFill>
                <a:srgbClr val="4A4A4A"/>
              </a:solidFill>
              <a:latin typeface="맑은 고딕"/>
            </a:endParaRPr>
          </a:p>
        </p:txBody>
      </p:sp>
      <p:sp>
        <p:nvSpPr>
          <p:cNvPr id="32" name="TextBox 31"/>
          <p:cNvSpPr txBox="1"/>
          <p:nvPr/>
        </p:nvSpPr>
        <p:spPr>
          <a:xfrm>
            <a:off x="6327648" y="1536096"/>
            <a:ext cx="5486400" cy="365760"/>
          </a:xfrm>
          <a:prstGeom prst="rect">
            <a:avLst/>
          </a:prstGeom>
          <a:noFill/>
        </p:spPr>
        <p:txBody>
          <a:bodyPr wrap="square" lIns="36000" tIns="18000" rIns="36000" bIns="18000" anchor="ctr">
            <a:spAutoFit/>
          </a:bodyPr>
          <a:lstStyle/>
          <a:p>
            <a:pPr algn="l"/>
            <a:r>
              <a:rPr sz="1400" b="1">
                <a:solidFill>
                  <a:srgbClr val="1B2A4A"/>
                </a:solidFill>
                <a:latin typeface="맑은 고딕"/>
              </a:rPr>
              <a:t>역할 분담 (파트별)</a:t>
            </a:r>
          </a:p>
        </p:txBody>
      </p:sp>
      <p:sp>
        <p:nvSpPr>
          <p:cNvPr id="33" name="Rounded Rectangle 32"/>
          <p:cNvSpPr/>
          <p:nvPr/>
        </p:nvSpPr>
        <p:spPr>
          <a:xfrm>
            <a:off x="6327648" y="1993296"/>
            <a:ext cx="5486400" cy="10789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6327648" y="1993296"/>
            <a:ext cx="1280160" cy="1078992"/>
          </a:xfrm>
          <a:prstGeom prst="roundRect">
            <a:avLst>
              <a:gd name="adj" fmla="val 5000"/>
            </a:avLst>
          </a:prstGeom>
          <a:solidFill>
            <a:srgbClr val="2676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327648" y="2313336"/>
            <a:ext cx="1280160" cy="457200"/>
          </a:xfrm>
          <a:prstGeom prst="rect">
            <a:avLst/>
          </a:prstGeom>
          <a:noFill/>
        </p:spPr>
        <p:txBody>
          <a:bodyPr wrap="square" lIns="36000" tIns="18000" rIns="36000" bIns="18000" anchor="ctr">
            <a:spAutoFit/>
          </a:bodyPr>
          <a:lstStyle/>
          <a:p>
            <a:pPr algn="ctr"/>
            <a:r>
              <a:rPr sz="1300" b="1">
                <a:solidFill>
                  <a:srgbClr val="FFFFFF"/>
                </a:solidFill>
                <a:latin typeface="맑은 고딕"/>
              </a:rPr>
              <a:t>하현성</a:t>
            </a:r>
          </a:p>
        </p:txBody>
      </p:sp>
      <p:sp>
        <p:nvSpPr>
          <p:cNvPr id="36" name="TextBox 35"/>
          <p:cNvSpPr txBox="1"/>
          <p:nvPr/>
        </p:nvSpPr>
        <p:spPr>
          <a:xfrm>
            <a:off x="7726679" y="2084736"/>
            <a:ext cx="4023360" cy="914400"/>
          </a:xfrm>
          <a:prstGeom prst="rect">
            <a:avLst/>
          </a:prstGeom>
          <a:noFill/>
        </p:spPr>
        <p:txBody>
          <a:bodyPr wrap="square" lIns="36000" tIns="18000" rIns="36000" bIns="18000" anchor="ctr">
            <a:spAutoFit/>
          </a:bodyPr>
          <a:lstStyle/>
          <a:p>
            <a:pPr algn="l"/>
            <a:r>
              <a:rPr sz="1000" b="0">
                <a:solidFill>
                  <a:srgbClr val="4A4A4A"/>
                </a:solidFill>
                <a:latin typeface="맑은 고딕"/>
              </a:rPr>
              <a:t>·  멀티모달 융합 아키텍처 설계 및 코드 통합</a:t>
            </a:r>
          </a:p>
          <a:p>
            <a:pPr algn="l"/>
            <a:r>
              <a:rPr sz="1000" b="0">
                <a:solidFill>
                  <a:srgbClr val="4A4A4A"/>
                </a:solidFill>
                <a:latin typeface="맑은 고딕"/>
              </a:rPr>
              <a:t>·  센서 브랜치 (BiLSTM) 구현 및 학습</a:t>
            </a:r>
          </a:p>
          <a:p>
            <a:pPr algn="l"/>
            <a:r>
              <a:rPr sz="1000" b="0">
                <a:solidFill>
                  <a:srgbClr val="4A4A4A"/>
                </a:solidFill>
                <a:latin typeface="맑은 고딕"/>
              </a:rPr>
              <a:t>·  Kaggle 실행 환경 · 데이터 파이프라인</a:t>
            </a:r>
          </a:p>
        </p:txBody>
      </p:sp>
      <p:sp>
        <p:nvSpPr>
          <p:cNvPr id="37" name="Rounded Rectangle 36"/>
          <p:cNvSpPr/>
          <p:nvPr/>
        </p:nvSpPr>
        <p:spPr>
          <a:xfrm>
            <a:off x="6327648" y="3182016"/>
            <a:ext cx="5486400" cy="10789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6327648" y="3182016"/>
            <a:ext cx="1280160" cy="1078992"/>
          </a:xfrm>
          <a:prstGeom prst="roundRect">
            <a:avLst>
              <a:gd name="adj" fmla="val 5000"/>
            </a:avLst>
          </a:prstGeom>
          <a:solidFill>
            <a:srgbClr val="16A2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27648" y="3502056"/>
            <a:ext cx="1280160" cy="457200"/>
          </a:xfrm>
          <a:prstGeom prst="rect">
            <a:avLst/>
          </a:prstGeom>
          <a:noFill/>
        </p:spPr>
        <p:txBody>
          <a:bodyPr wrap="square" lIns="36000" tIns="18000" rIns="36000" bIns="18000" anchor="ctr">
            <a:spAutoFit/>
          </a:bodyPr>
          <a:lstStyle/>
          <a:p>
            <a:pPr algn="ctr"/>
            <a:r>
              <a:rPr sz="1300" b="1">
                <a:solidFill>
                  <a:srgbClr val="FFFFFF"/>
                </a:solidFill>
                <a:latin typeface="맑은 고딕"/>
              </a:rPr>
              <a:t>김주헌</a:t>
            </a:r>
          </a:p>
        </p:txBody>
      </p:sp>
      <p:sp>
        <p:nvSpPr>
          <p:cNvPr id="40" name="TextBox 39"/>
          <p:cNvSpPr txBox="1"/>
          <p:nvPr/>
        </p:nvSpPr>
        <p:spPr>
          <a:xfrm>
            <a:off x="7726679" y="3273456"/>
            <a:ext cx="4023360" cy="914400"/>
          </a:xfrm>
          <a:prstGeom prst="rect">
            <a:avLst/>
          </a:prstGeom>
          <a:noFill/>
        </p:spPr>
        <p:txBody>
          <a:bodyPr wrap="square" lIns="36000" tIns="18000" rIns="36000" bIns="18000" anchor="ctr">
            <a:spAutoFit/>
          </a:bodyPr>
          <a:lstStyle/>
          <a:p>
            <a:pPr algn="l"/>
            <a:r>
              <a:rPr sz="1000" b="0">
                <a:solidFill>
                  <a:srgbClr val="4A4A4A"/>
                </a:solidFill>
                <a:latin typeface="맑은 고딕"/>
              </a:rPr>
              <a:t>·  이미지 브랜치 (ResNet18) 구현 및 학습</a:t>
            </a:r>
          </a:p>
          <a:p>
            <a:pPr algn="l"/>
            <a:r>
              <a:rPr sz="1000" b="0">
                <a:solidFill>
                  <a:srgbClr val="4A4A4A"/>
                </a:solidFill>
                <a:latin typeface="맑은 고딕"/>
              </a:rPr>
              <a:t>·  데이터 탐색 및 라벨 정리 / 클래스 병합</a:t>
            </a:r>
          </a:p>
          <a:p>
            <a:pPr algn="l"/>
            <a:r>
              <a:rPr sz="1000" b="0">
                <a:solidFill>
                  <a:srgbClr val="4A4A4A"/>
                </a:solidFill>
                <a:latin typeface="맑은 고딕"/>
              </a:rPr>
              <a:t>·  평가 지표 시각화 (Confusion Matrix 등)</a:t>
            </a:r>
          </a:p>
        </p:txBody>
      </p:sp>
      <p:sp>
        <p:nvSpPr>
          <p:cNvPr id="41" name="Rounded Rectangle 40"/>
          <p:cNvSpPr/>
          <p:nvPr/>
        </p:nvSpPr>
        <p:spPr>
          <a:xfrm>
            <a:off x="6327648" y="4370736"/>
            <a:ext cx="5486400" cy="1078992"/>
          </a:xfrm>
          <a:prstGeom prst="roundRect">
            <a:avLst>
              <a:gd name="adj" fmla="val 5000"/>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327648" y="4370736"/>
            <a:ext cx="1280160" cy="1078992"/>
          </a:xfrm>
          <a:prstGeom prst="roundRect">
            <a:avLst>
              <a:gd name="adj" fmla="val 5000"/>
            </a:avLst>
          </a:prstGeom>
          <a:solidFill>
            <a:srgbClr val="E858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327648" y="4690776"/>
            <a:ext cx="1280160" cy="457200"/>
          </a:xfrm>
          <a:prstGeom prst="rect">
            <a:avLst/>
          </a:prstGeom>
          <a:noFill/>
        </p:spPr>
        <p:txBody>
          <a:bodyPr wrap="square" lIns="36000" tIns="18000" rIns="36000" bIns="18000" anchor="ctr">
            <a:spAutoFit/>
          </a:bodyPr>
          <a:lstStyle/>
          <a:p>
            <a:pPr algn="ctr"/>
            <a:r>
              <a:rPr sz="1300" b="1">
                <a:solidFill>
                  <a:srgbClr val="FFFFFF"/>
                </a:solidFill>
                <a:latin typeface="맑은 고딕"/>
              </a:rPr>
              <a:t>공동 수행</a:t>
            </a:r>
          </a:p>
        </p:txBody>
      </p:sp>
      <p:sp>
        <p:nvSpPr>
          <p:cNvPr id="44" name="TextBox 43"/>
          <p:cNvSpPr txBox="1"/>
          <p:nvPr/>
        </p:nvSpPr>
        <p:spPr>
          <a:xfrm>
            <a:off x="7726679" y="4462176"/>
            <a:ext cx="4023360" cy="914400"/>
          </a:xfrm>
          <a:prstGeom prst="rect">
            <a:avLst/>
          </a:prstGeom>
          <a:noFill/>
        </p:spPr>
        <p:txBody>
          <a:bodyPr wrap="square" lIns="36000" tIns="18000" rIns="36000" bIns="18000" anchor="ctr">
            <a:spAutoFit/>
          </a:bodyPr>
          <a:lstStyle/>
          <a:p>
            <a:pPr algn="l"/>
            <a:r>
              <a:rPr sz="1000" b="0">
                <a:solidFill>
                  <a:srgbClr val="4A4A4A"/>
                </a:solidFill>
                <a:latin typeface="맑은 고딕"/>
              </a:rPr>
              <a:t>·  Fusion 모델 통합 학습 및 디버깅</a:t>
            </a:r>
          </a:p>
          <a:p>
            <a:pPr algn="l"/>
            <a:r>
              <a:rPr sz="1000" b="0">
                <a:solidFill>
                  <a:srgbClr val="4A4A4A"/>
                </a:solidFill>
                <a:latin typeface="맑은 고딕"/>
              </a:rPr>
              <a:t>·  3모델 성능 비교 분석</a:t>
            </a:r>
          </a:p>
          <a:p>
            <a:pPr algn="l"/>
            <a:r>
              <a:rPr sz="1000" b="0">
                <a:solidFill>
                  <a:srgbClr val="4A4A4A"/>
                </a:solidFill>
                <a:latin typeface="맑은 고딕"/>
              </a:rPr>
              <a:t>·  발표 자료 및 기말 보고서 작성</a:t>
            </a:r>
          </a:p>
        </p:txBody>
      </p:sp>
    </p:spTree>
    <p:extLst>
      <p:ext uri="{BB962C8B-B14F-4D97-AF65-F5344CB8AC3E}">
        <p14:creationId xmlns:p14="http://schemas.microsoft.com/office/powerpoint/2010/main" val="43677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64DE33E0-C7C1-4A9C-3B83-F44A86D4831E}"/>
              </a:ext>
            </a:extLst>
          </p:cNvPr>
          <p:cNvGrpSpPr/>
          <p:nvPr/>
        </p:nvGrpSpPr>
        <p:grpSpPr>
          <a:xfrm>
            <a:off x="2390454" y="2719087"/>
            <a:ext cx="7411092" cy="1306812"/>
            <a:chOff x="1250023" y="1493750"/>
            <a:chExt cx="7411092" cy="1306812"/>
          </a:xfrm>
        </p:grpSpPr>
        <p:sp>
          <p:nvSpPr>
            <p:cNvPr id="4" name="TextBox 3">
              <a:extLst>
                <a:ext uri="{FF2B5EF4-FFF2-40B4-BE49-F238E27FC236}">
                  <a16:creationId xmlns:a16="http://schemas.microsoft.com/office/drawing/2014/main" id="{D590DF89-2A84-E6AC-5F5A-106DD6628239}"/>
                </a:ext>
              </a:extLst>
            </p:cNvPr>
            <p:cNvSpPr txBox="1"/>
            <p:nvPr/>
          </p:nvSpPr>
          <p:spPr>
            <a:xfrm>
              <a:off x="1250023" y="1493750"/>
              <a:ext cx="7411092" cy="918965"/>
            </a:xfrm>
            <a:prstGeom prst="rect">
              <a:avLst/>
            </a:prstGeom>
            <a:noFill/>
          </p:spPr>
          <p:txBody>
            <a:bodyPr vertOverflow="overflow" vert="horz" wrap="square" rtlCol="0" anchor="ctr">
              <a:noAutofit/>
            </a:bodyPr>
            <a:lstStyle/>
            <a:p>
              <a:pPr algn="ctr"/>
              <a:r>
                <a:rPr lang="en-US" altLang="ko-KR" sz="6000" b="1">
                  <a:solidFill>
                    <a:srgbClr val="1B2A4A"/>
                  </a:solidFill>
                  <a:latin typeface="나눔고딕" panose="020D0604000000000000" pitchFamily="50" charset="-127"/>
                  <a:ea typeface="나눔고딕" panose="020D0604000000000000" pitchFamily="50" charset="-127"/>
                  <a:cs typeface="Arial" panose="020B0604020202020204" pitchFamily="34" charset="0"/>
                </a:rPr>
                <a:t>Thank You</a:t>
              </a:r>
              <a:endParaRPr lang="ko-KR" altLang="en-US" sz="6000" b="1">
                <a:solidFill>
                  <a:srgbClr val="1B2A4A"/>
                </a:solidFill>
                <a:latin typeface="나눔고딕" panose="020D0604000000000000" pitchFamily="50" charset="-127"/>
                <a:ea typeface="나눔고딕" panose="020D0604000000000000" pitchFamily="50" charset="-127"/>
                <a:cs typeface="Arial" panose="020B0604020202020204" pitchFamily="34" charset="0"/>
              </a:endParaRPr>
            </a:p>
          </p:txBody>
        </p:sp>
        <p:sp>
          <p:nvSpPr>
            <p:cNvPr id="5" name="TextBox 4">
              <a:extLst>
                <a:ext uri="{FF2B5EF4-FFF2-40B4-BE49-F238E27FC236}">
                  <a16:creationId xmlns:a16="http://schemas.microsoft.com/office/drawing/2014/main" id="{F2B5A417-0130-FBC3-C785-24284DFF8E7E}"/>
                </a:ext>
              </a:extLst>
            </p:cNvPr>
            <p:cNvSpPr txBox="1"/>
            <p:nvPr/>
          </p:nvSpPr>
          <p:spPr>
            <a:xfrm>
              <a:off x="1470061" y="2427338"/>
              <a:ext cx="6971016" cy="373224"/>
            </a:xfrm>
            <a:prstGeom prst="rect">
              <a:avLst/>
            </a:prstGeom>
            <a:noFill/>
          </p:spPr>
          <p:txBody>
            <a:bodyPr vertOverflow="overflow" vert="horz" wrap="square" rtlCol="0" anchor="ctr">
              <a:noAutofit/>
            </a:bodyPr>
            <a:lstStyle/>
            <a:p>
              <a:pPr algn="ctr"/>
              <a:r>
                <a:rPr lang="en-US" altLang="ko-KR" sz="1500">
                  <a:solidFill>
                    <a:srgbClr val="555555"/>
                  </a:solidFill>
                  <a:latin typeface="나눔고딕" panose="020D0604000000000000" pitchFamily="50" charset="-127"/>
                  <a:ea typeface="나눔고딕" panose="020D0604000000000000" pitchFamily="50" charset="-127"/>
                  <a:cs typeface="Arial" panose="020B0604020202020204" pitchFamily="34" charset="0"/>
                </a:rPr>
                <a:t>Q &amp; A</a:t>
              </a:r>
              <a:endParaRPr lang="ko-KR" altLang="en-US" sz="1500">
                <a:solidFill>
                  <a:srgbClr val="555555"/>
                </a:solidFill>
                <a:latin typeface="나눔고딕" panose="020D0604000000000000" pitchFamily="50" charset="-127"/>
                <a:ea typeface="나눔고딕" panose="020D0604000000000000" pitchFamily="50" charset="-127"/>
                <a:cs typeface="Arial" panose="020B0604020202020204" pitchFamily="34" charset="0"/>
              </a:endParaRPr>
            </a:p>
          </p:txBody>
        </p:sp>
      </p:grpSp>
    </p:spTree>
    <p:extLst>
      <p:ext uri="{BB962C8B-B14F-4D97-AF65-F5344CB8AC3E}">
        <p14:creationId xmlns:p14="http://schemas.microsoft.com/office/powerpoint/2010/main" val="1546479590"/>
      </p:ext>
    </p:extLst>
  </p:cSld>
  <p:clrMapOvr>
    <a:masterClrMapping/>
  </p:clrMapOvr>
</p:sld>
</file>

<file path=ppt/theme/theme1.xml><?xml version="1.0" encoding="utf-8"?>
<a:theme xmlns:a="http://schemas.openxmlformats.org/drawingml/2006/main" name="Office 2013 - 2022 테마 [1777720222177]">
  <a:themeElements>
    <a:clrScheme name="Office 2013 - 2022 테마">
      <a:dk1>
        <a:srgbClr val="1B2A4A"/>
      </a:dk1>
      <a:lt1>
        <a:srgbClr val="FFFFFF"/>
      </a:lt1>
      <a:dk2>
        <a:srgbClr val="2C3E5D"/>
      </a:dk2>
      <a:lt2>
        <a:srgbClr val="F0F2F5"/>
      </a:lt2>
      <a:accent1>
        <a:srgbClr val="2676AC"/>
      </a:accent1>
      <a:accent2>
        <a:srgbClr val="16A295"/>
      </a:accent2>
      <a:accent3>
        <a:srgbClr val="E8584F"/>
      </a:accent3>
      <a:accent4>
        <a:srgbClr val="F29E16"/>
      </a:accent4>
      <a:accent5>
        <a:srgbClr val="93B64E"/>
      </a:accent5>
      <a:accent6>
        <a:srgbClr val="AE729E"/>
      </a:accent6>
      <a:hlink>
        <a:srgbClr val="0563C1"/>
      </a:hlink>
      <a:folHlink>
        <a:srgbClr val="954F72"/>
      </a:folHlink>
    </a:clrScheme>
    <a:fontScheme name="사용자 지정 4">
      <a:majorFont>
        <a:latin typeface="Pretendard"/>
        <a:ea typeface=""/>
        <a:cs typeface=""/>
      </a:majorFont>
      <a:minorFont>
        <a:latin typeface="Pretendard"/>
        <a:ea typeface=""/>
        <a:cs typeface=""/>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2200" dirty="0" smtClean="0">
            <a:solidFill>
              <a:schemeClr val="tx1">
                <a:lumMod val="65000"/>
                <a:lumOff val="35000"/>
              </a:schemeClr>
            </a:solidFill>
            <a:latin typeface="나눔고딕" panose="020D0604000000000000" pitchFamily="50" charset="-127"/>
            <a:ea typeface="나눔고딕" panose="020D0604000000000000" pitchFamily="50" charset="-127"/>
            <a:cs typeface="Arial" panose="020B0604020202020204" pitchFamily="34" charset="0"/>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92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98D53C4-EB30-4D06-B415-8CAF9BDD6141}">
  <we:reference id="WA200010001" version="1.0.0.1" store="Omex" storeType="OMEX"/>
  <we:alternateReferences>
    <we:reference id="WA200010001" version="1.0.0.1" store="WA200010001" storeType="OMEX"/>
  </we:alternateReferences>
  <we:properties>
    <we:property name="claude.fileId" value="&quot;c072c8d9-7136-4530-9268-0bffd5bfeccf&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문서" ma:contentTypeID="0x010100597F093C87EF87408D5C5F04BCF3A1CB" ma:contentTypeVersion="9" ma:contentTypeDescription="새 문서를 만듭니다." ma:contentTypeScope="" ma:versionID="cd7cd375469c6d4b522ce2b3e8029dd3">
  <xsd:schema xmlns:xsd="http://www.w3.org/2001/XMLSchema" xmlns:xs="http://www.w3.org/2001/XMLSchema" xmlns:p="http://schemas.microsoft.com/office/2006/metadata/properties" xmlns:ns3="1f7d68b1-f69b-49f8-80cd-f995854cf296" xmlns:ns4="362945be-0545-4d77-ba0f-90fd258c610d" targetNamespace="http://schemas.microsoft.com/office/2006/metadata/properties" ma:root="true" ma:fieldsID="3709e7358902c5645f0e406a38b57213" ns3:_="" ns4:_="">
    <xsd:import namespace="1f7d68b1-f69b-49f8-80cd-f995854cf296"/>
    <xsd:import namespace="362945be-0545-4d77-ba0f-90fd258c610d"/>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7d68b1-f69b-49f8-80cd-f995854cf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2945be-0545-4d77-ba0f-90fd258c610d" elementFormDefault="qualified">
    <xsd:import namespace="http://schemas.microsoft.com/office/2006/documentManagement/types"/>
    <xsd:import namespace="http://schemas.microsoft.com/office/infopath/2007/PartnerControls"/>
    <xsd:element name="SharedWithUsers" ma:index="13" nillable="true" ma:displayName="공유 대상"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세부 정보 공유" ma:internalName="SharedWithDetails" ma:readOnly="true">
      <xsd:simpleType>
        <xsd:restriction base="dms:Note">
          <xsd:maxLength value="255"/>
        </xsd:restriction>
      </xsd:simpleType>
    </xsd:element>
    <xsd:element name="SharingHintHash" ma:index="15" nillable="true" ma:displayName="힌트 해시 공유"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1f7d68b1-f69b-49f8-80cd-f995854cf296" xsi:nil="true"/>
  </documentManagement>
</p:properties>
</file>

<file path=customXml/itemProps1.xml><?xml version="1.0" encoding="utf-8"?>
<ds:datastoreItem xmlns:ds="http://schemas.openxmlformats.org/officeDocument/2006/customXml" ds:itemID="{D221C8D9-4205-4504-9844-72894E2B915B}">
  <ds:schemaRefs>
    <ds:schemaRef ds:uri="http://schemas.microsoft.com/sharepoint/v3/contenttype/forms"/>
  </ds:schemaRefs>
</ds:datastoreItem>
</file>

<file path=customXml/itemProps2.xml><?xml version="1.0" encoding="utf-8"?>
<ds:datastoreItem xmlns:ds="http://schemas.openxmlformats.org/officeDocument/2006/customXml" ds:itemID="{27312C13-A2B3-4A01-B220-75D5986F7D62}">
  <ds:schemaRefs>
    <ds:schemaRef ds:uri="1f7d68b1-f69b-49f8-80cd-f995854cf296"/>
    <ds:schemaRef ds:uri="362945be-0545-4d77-ba0f-90fd258c61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3D5EEEF-55DE-415E-A824-415CEA62A4FB}">
  <ds:schemaRefs>
    <ds:schemaRef ds:uri="http://schemas.microsoft.com/office/2006/documentManagement/types"/>
    <ds:schemaRef ds:uri="http://schemas.microsoft.com/office/2006/metadata/properties"/>
    <ds:schemaRef ds:uri="http://purl.org/dc/terms/"/>
    <ds:schemaRef ds:uri="1f7d68b1-f69b-49f8-80cd-f995854cf296"/>
    <ds:schemaRef ds:uri="http://schemas.openxmlformats.org/package/2006/metadata/core-properties"/>
    <ds:schemaRef ds:uri="http://purl.org/dc/elements/1.1/"/>
    <ds:schemaRef ds:uri="http://purl.org/dc/dcmitype/"/>
    <ds:schemaRef ds:uri="http://schemas.microsoft.com/office/infopath/2007/PartnerControls"/>
    <ds:schemaRef ds:uri="362945be-0545-4d77-ba0f-90fd258c610d"/>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43</TotalTime>
  <Words>2337</Words>
  <Application>Microsoft Office PowerPoint</Application>
  <PresentationFormat>와이드스크린</PresentationFormat>
  <Paragraphs>335</Paragraphs>
  <Slides>12</Slides>
  <Notes>12</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vt:i4>
      </vt:variant>
    </vt:vector>
  </HeadingPairs>
  <TitlesOfParts>
    <vt:vector size="17" baseType="lpstr">
      <vt:lpstr>Pretendard</vt:lpstr>
      <vt:lpstr>나눔고딕</vt:lpstr>
      <vt:lpstr>맑은 고딕</vt:lpstr>
      <vt:lpstr>Arial</vt:lpstr>
      <vt:lpstr>Office 2013 - 2022 테마 [1777720222177]</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현성 하</dc:creator>
  <cp:lastModifiedBy>하 현성</cp:lastModifiedBy>
  <cp:revision>37</cp:revision>
  <dcterms:created xsi:type="dcterms:W3CDTF">2024-04-02T11:49:31Z</dcterms:created>
  <dcterms:modified xsi:type="dcterms:W3CDTF">2026-05-26T13:38:17Z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0x010100597F093C87EF87408D5C5F04BCF3A1CB</vt:lpwstr>
  </property>
</Properties>
</file>