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18"/>
  </p:notesMasterIdLst>
  <p:sldIdLst>
    <p:sldId id="256" r:id="rId5"/>
    <p:sldId id="257" r:id="rId6"/>
    <p:sldId id="258" r:id="rId7"/>
    <p:sldId id="260" r:id="rId8"/>
    <p:sldId id="259" r:id="rId9"/>
    <p:sldId id="261" r:id="rId10"/>
    <p:sldId id="270" r:id="rId11"/>
    <p:sldId id="264" r:id="rId12"/>
    <p:sldId id="265" r:id="rId13"/>
    <p:sldId id="268" r:id="rId14"/>
    <p:sldId id="266" r:id="rId15"/>
    <p:sldId id="269"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2676AC"/>
    <a:srgbClr val="EBECF1"/>
    <a:srgbClr val="3B3535"/>
    <a:srgbClr val="F1F2F5"/>
    <a:srgbClr val="EDEEF3"/>
    <a:srgbClr val="A3A3A3"/>
    <a:srgbClr val="9D9D9D"/>
    <a:srgbClr val="929292"/>
    <a:srgbClr val="E6E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82C3E0-EFE3-4D6B-A4EB-282364353C02}" v="5" dt="2026-05-08T03:41:44.70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73" autoAdjust="0"/>
  </p:normalViewPr>
  <p:slideViewPr>
    <p:cSldViewPr snapToGrid="0">
      <p:cViewPr varScale="1">
        <p:scale>
          <a:sx n="128" d="100"/>
          <a:sy n="128" d="100"/>
        </p:scale>
        <p:origin x="1512" y="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하 현성" userId="545a4ab8-e4ee-4590-b348-fc04c608cfe8" providerId="ADAL" clId="{D7EE3CC3-84C1-417B-9413-2A5A64C9CA42}"/>
    <pc:docChg chg="modSld">
      <pc:chgData name="하 현성" userId="545a4ab8-e4ee-4590-b348-fc04c608cfe8" providerId="ADAL" clId="{D7EE3CC3-84C1-417B-9413-2A5A64C9CA42}" dt="2026-05-08T03:41:44.707" v="4" actId="207"/>
      <pc:docMkLst>
        <pc:docMk/>
      </pc:docMkLst>
      <pc:sldChg chg="modSp mod">
        <pc:chgData name="하 현성" userId="545a4ab8-e4ee-4590-b348-fc04c608cfe8" providerId="ADAL" clId="{D7EE3CC3-84C1-417B-9413-2A5A64C9CA42}" dt="2026-05-08T03:41:39.524" v="3" actId="207"/>
        <pc:sldMkLst>
          <pc:docMk/>
          <pc:sldMk cId="797869273" sldId="261"/>
        </pc:sldMkLst>
        <pc:spChg chg="mod">
          <ac:chgData name="하 현성" userId="545a4ab8-e4ee-4590-b348-fc04c608cfe8" providerId="ADAL" clId="{D7EE3CC3-84C1-417B-9413-2A5A64C9CA42}" dt="2026-05-08T03:41:24.471" v="2" actId="207"/>
          <ac:spMkLst>
            <pc:docMk/>
            <pc:sldMk cId="797869273" sldId="261"/>
            <ac:spMk id="7" creationId="{D7F909FE-EA72-4430-84E5-711DDED494E4}"/>
          </ac:spMkLst>
        </pc:spChg>
        <pc:spChg chg="mod">
          <ac:chgData name="하 현성" userId="545a4ab8-e4ee-4590-b348-fc04c608cfe8" providerId="ADAL" clId="{D7EE3CC3-84C1-417B-9413-2A5A64C9CA42}" dt="2026-05-08T03:41:24.471" v="2" actId="207"/>
          <ac:spMkLst>
            <pc:docMk/>
            <pc:sldMk cId="797869273" sldId="261"/>
            <ac:spMk id="9" creationId="{505D91E8-F199-4B9F-93A0-3A3C6FB4450D}"/>
          </ac:spMkLst>
        </pc:spChg>
        <pc:spChg chg="mod">
          <ac:chgData name="하 현성" userId="545a4ab8-e4ee-4590-b348-fc04c608cfe8" providerId="ADAL" clId="{D7EE3CC3-84C1-417B-9413-2A5A64C9CA42}" dt="2026-05-08T03:41:15.507" v="0" actId="207"/>
          <ac:spMkLst>
            <pc:docMk/>
            <pc:sldMk cId="797869273" sldId="261"/>
            <ac:spMk id="12" creationId="{B4D160E4-B85C-4F6B-992E-79BD9580D8BF}"/>
          </ac:spMkLst>
        </pc:spChg>
        <pc:spChg chg="mod">
          <ac:chgData name="하 현성" userId="545a4ab8-e4ee-4590-b348-fc04c608cfe8" providerId="ADAL" clId="{D7EE3CC3-84C1-417B-9413-2A5A64C9CA42}" dt="2026-05-08T03:41:15.507" v="0" actId="207"/>
          <ac:spMkLst>
            <pc:docMk/>
            <pc:sldMk cId="797869273" sldId="261"/>
            <ac:spMk id="14" creationId="{F3B4D038-5F48-47D0-B924-6182A661C3D2}"/>
          </ac:spMkLst>
        </pc:spChg>
        <pc:spChg chg="mod">
          <ac:chgData name="하 현성" userId="545a4ab8-e4ee-4590-b348-fc04c608cfe8" providerId="ADAL" clId="{D7EE3CC3-84C1-417B-9413-2A5A64C9CA42}" dt="2026-05-08T03:41:15.507" v="0" actId="207"/>
          <ac:spMkLst>
            <pc:docMk/>
            <pc:sldMk cId="797869273" sldId="261"/>
            <ac:spMk id="16" creationId="{A52EA78F-89A1-4DCB-9025-CA3124B9C5C0}"/>
          </ac:spMkLst>
        </pc:spChg>
        <pc:spChg chg="mod">
          <ac:chgData name="하 현성" userId="545a4ab8-e4ee-4590-b348-fc04c608cfe8" providerId="ADAL" clId="{D7EE3CC3-84C1-417B-9413-2A5A64C9CA42}" dt="2026-05-08T03:41:39.524" v="3" actId="207"/>
          <ac:spMkLst>
            <pc:docMk/>
            <pc:sldMk cId="797869273" sldId="261"/>
            <ac:spMk id="19" creationId="{30E731E0-7D1D-4D66-82D2-7CE3BF61D67E}"/>
          </ac:spMkLst>
        </pc:spChg>
        <pc:spChg chg="mod">
          <ac:chgData name="하 현성" userId="545a4ab8-e4ee-4590-b348-fc04c608cfe8" providerId="ADAL" clId="{D7EE3CC3-84C1-417B-9413-2A5A64C9CA42}" dt="2026-05-08T03:41:24.471" v="2" actId="207"/>
          <ac:spMkLst>
            <pc:docMk/>
            <pc:sldMk cId="797869273" sldId="261"/>
            <ac:spMk id="22" creationId="{643DCCE1-B3BE-4827-A6A7-12FF1B638CA9}"/>
          </ac:spMkLst>
        </pc:spChg>
      </pc:sldChg>
      <pc:sldChg chg="modSp mod">
        <pc:chgData name="하 현성" userId="545a4ab8-e4ee-4590-b348-fc04c608cfe8" providerId="ADAL" clId="{D7EE3CC3-84C1-417B-9413-2A5A64C9CA42}" dt="2026-05-08T03:41:44.707" v="4" actId="207"/>
        <pc:sldMkLst>
          <pc:docMk/>
          <pc:sldMk cId="1763201014" sldId="262"/>
        </pc:sldMkLst>
        <pc:spChg chg="mod">
          <ac:chgData name="하 현성" userId="545a4ab8-e4ee-4590-b348-fc04c608cfe8" providerId="ADAL" clId="{D7EE3CC3-84C1-417B-9413-2A5A64C9CA42}" dt="2026-05-08T03:41:44.707" v="4" actId="207"/>
          <ac:spMkLst>
            <pc:docMk/>
            <pc:sldMk cId="1763201014" sldId="262"/>
            <ac:spMk id="11" creationId="{03057C49-52E1-4DD5-95D1-DDEEC5107A29}"/>
          </ac:spMkLst>
        </pc:spChg>
        <pc:spChg chg="mod">
          <ac:chgData name="하 현성" userId="545a4ab8-e4ee-4590-b348-fc04c608cfe8" providerId="ADAL" clId="{D7EE3CC3-84C1-417B-9413-2A5A64C9CA42}" dt="2026-05-08T03:41:44.707" v="4" actId="207"/>
          <ac:spMkLst>
            <pc:docMk/>
            <pc:sldMk cId="1763201014" sldId="262"/>
            <ac:spMk id="17" creationId="{9655BF96-6805-47BC-8A01-845DE1108082}"/>
          </ac:spMkLst>
        </pc:spChg>
      </pc:sldChg>
    </pc:docChg>
  </pc:docChgLst>
  <pc:docChgLst>
    <pc:chgData name="하 현성" userId="545a4ab8-e4ee-4590-b348-fc04c608cfe8" providerId="ADAL" clId="{19A5CB6E-E37B-4EDD-80DF-4815AA54A118}"/>
    <pc:docChg chg="undo custSel modSld">
      <pc:chgData name="하 현성" userId="545a4ab8-e4ee-4590-b348-fc04c608cfe8" providerId="ADAL" clId="{19A5CB6E-E37B-4EDD-80DF-4815AA54A118}" dt="2026-05-08T12:41:53.690" v="108" actId="1076"/>
      <pc:docMkLst>
        <pc:docMk/>
      </pc:docMkLst>
      <pc:sldChg chg="modSp mod">
        <pc:chgData name="하 현성" userId="545a4ab8-e4ee-4590-b348-fc04c608cfe8" providerId="ADAL" clId="{19A5CB6E-E37B-4EDD-80DF-4815AA54A118}" dt="2026-05-08T12:41:53.690" v="108" actId="1076"/>
        <pc:sldMkLst>
          <pc:docMk/>
          <pc:sldMk cId="1423671779" sldId="256"/>
        </pc:sldMkLst>
        <pc:grpChg chg="mod">
          <ac:chgData name="하 현성" userId="545a4ab8-e4ee-4590-b348-fc04c608cfe8" providerId="ADAL" clId="{19A5CB6E-E37B-4EDD-80DF-4815AA54A118}" dt="2026-05-08T12:41:53.690" v="108" actId="1076"/>
          <ac:grpSpMkLst>
            <pc:docMk/>
            <pc:sldMk cId="1423671779" sldId="256"/>
            <ac:grpSpMk id="21" creationId="{EBE95E33-541A-7ECA-DBE6-55DDF3E50930}"/>
          </ac:grpSpMkLst>
        </pc:grpChg>
      </pc:sldChg>
      <pc:sldChg chg="modNotesTx">
        <pc:chgData name="하 현성" userId="545a4ab8-e4ee-4590-b348-fc04c608cfe8" providerId="ADAL" clId="{19A5CB6E-E37B-4EDD-80DF-4815AA54A118}" dt="2026-05-08T11:18:38.379" v="71" actId="20577"/>
        <pc:sldMkLst>
          <pc:docMk/>
          <pc:sldMk cId="1651085585" sldId="257"/>
        </pc:sldMkLst>
      </pc:sldChg>
      <pc:sldChg chg="modNotesTx">
        <pc:chgData name="하 현성" userId="545a4ab8-e4ee-4590-b348-fc04c608cfe8" providerId="ADAL" clId="{19A5CB6E-E37B-4EDD-80DF-4815AA54A118}" dt="2026-05-08T11:28:35.603" v="106" actId="20577"/>
        <pc:sldMkLst>
          <pc:docMk/>
          <pc:sldMk cId="797869273"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B455BE-1399-48B6-9FDD-6D8F9FE4BCA3}" type="datetimeFigureOut">
              <a:rPr lang="ko-KR" altLang="en-US" smtClean="0"/>
              <a:t>2026-06-08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8DF1B-83BF-4DB2-ADDA-54159C83935C}" type="slidenum">
              <a:rPr lang="ko-KR" altLang="en-US" smtClean="0"/>
              <a:t>‹#›</a:t>
            </a:fld>
            <a:endParaRPr lang="ko-KR" altLang="en-US"/>
          </a:p>
        </p:txBody>
      </p:sp>
    </p:spTree>
    <p:extLst>
      <p:ext uri="{BB962C8B-B14F-4D97-AF65-F5344CB8AC3E}">
        <p14:creationId xmlns:p14="http://schemas.microsoft.com/office/powerpoint/2010/main" val="1992069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안녕하세요, 딥러닝응용 3조 김주헌, 하현성입니다. 저희는 제조 공정에서 발생하는 결함을 시계열 센서와 카메라 이미지를 함께 사용하는 멀티모달 딥러닝으로 탐지하는 프로젝트를 진행했습니다. 오늘 발표에서는 저희가 어떤 문제를 풀었고, 어떤 방법을 썼으며, 어떤 결과를 얻었는지를 차례로 말씀드리겠습니다.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a:t>
            </a:fld>
            <a:endParaRPr lang="ko-KR" altLang="en-US"/>
          </a:p>
        </p:txBody>
      </p:sp>
    </p:spTree>
    <p:extLst>
      <p:ext uri="{BB962C8B-B14F-4D97-AF65-F5344CB8AC3E}">
        <p14:creationId xmlns:p14="http://schemas.microsoft.com/office/powerpoint/2010/main" val="6929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제조</a:t>
            </a:r>
            <a:r>
              <a:rPr dirty="0"/>
              <a:t> </a:t>
            </a:r>
            <a:r>
              <a:rPr dirty="0" err="1"/>
              <a:t>라인의</a:t>
            </a:r>
            <a:r>
              <a:rPr dirty="0"/>
              <a:t> </a:t>
            </a:r>
            <a:r>
              <a:rPr dirty="0" err="1"/>
              <a:t>자동</a:t>
            </a:r>
            <a:r>
              <a:rPr dirty="0"/>
              <a:t> </a:t>
            </a:r>
            <a:r>
              <a:rPr dirty="0" err="1"/>
              <a:t>검수</a:t>
            </a:r>
            <a:r>
              <a:rPr dirty="0"/>
              <a:t> </a:t>
            </a:r>
            <a:r>
              <a:rPr dirty="0" err="1"/>
              <a:t>시스템은</a:t>
            </a:r>
            <a:r>
              <a:rPr dirty="0"/>
              <a:t> </a:t>
            </a:r>
            <a:r>
              <a:rPr dirty="0" err="1"/>
              <a:t>보통</a:t>
            </a:r>
            <a:r>
              <a:rPr dirty="0"/>
              <a:t> 두 </a:t>
            </a:r>
            <a:r>
              <a:rPr dirty="0" err="1"/>
              <a:t>종류의</a:t>
            </a:r>
            <a:r>
              <a:rPr dirty="0"/>
              <a:t> </a:t>
            </a:r>
            <a:r>
              <a:rPr dirty="0" err="1"/>
              <a:t>데이터를</a:t>
            </a:r>
            <a:r>
              <a:rPr dirty="0"/>
              <a:t> </a:t>
            </a:r>
            <a:r>
              <a:rPr dirty="0" err="1"/>
              <a:t>활용합니다</a:t>
            </a:r>
            <a:r>
              <a:rPr dirty="0"/>
              <a:t>. 첫 </a:t>
            </a:r>
            <a:r>
              <a:rPr dirty="0" err="1"/>
              <a:t>번째는</a:t>
            </a:r>
            <a:r>
              <a:rPr dirty="0"/>
              <a:t> </a:t>
            </a:r>
            <a:r>
              <a:rPr dirty="0" err="1"/>
              <a:t>로봇의</a:t>
            </a:r>
            <a:r>
              <a:rPr dirty="0"/>
              <a:t> </a:t>
            </a:r>
            <a:r>
              <a:rPr dirty="0" err="1"/>
              <a:t>부하나</a:t>
            </a:r>
            <a:r>
              <a:rPr dirty="0"/>
              <a:t> </a:t>
            </a:r>
            <a:r>
              <a:rPr dirty="0" err="1"/>
              <a:t>관절</a:t>
            </a:r>
            <a:r>
              <a:rPr dirty="0"/>
              <a:t> </a:t>
            </a:r>
            <a:r>
              <a:rPr dirty="0" err="1"/>
              <a:t>각도</a:t>
            </a:r>
            <a:r>
              <a:rPr dirty="0"/>
              <a:t>, </a:t>
            </a:r>
            <a:r>
              <a:rPr dirty="0" err="1"/>
              <a:t>컨베이어</a:t>
            </a:r>
            <a:r>
              <a:rPr dirty="0"/>
              <a:t> </a:t>
            </a:r>
            <a:r>
              <a:rPr dirty="0" err="1"/>
              <a:t>온도</a:t>
            </a:r>
            <a:r>
              <a:rPr dirty="0"/>
              <a:t> </a:t>
            </a:r>
            <a:r>
              <a:rPr dirty="0" err="1"/>
              <a:t>같은</a:t>
            </a:r>
            <a:r>
              <a:rPr dirty="0"/>
              <a:t> </a:t>
            </a:r>
            <a:r>
              <a:rPr dirty="0" err="1"/>
              <a:t>센서</a:t>
            </a:r>
            <a:r>
              <a:rPr dirty="0"/>
              <a:t> </a:t>
            </a:r>
            <a:r>
              <a:rPr dirty="0" err="1"/>
              <a:t>측정값이고</a:t>
            </a:r>
            <a:r>
              <a:rPr dirty="0"/>
              <a:t>, 두 </a:t>
            </a:r>
            <a:r>
              <a:rPr dirty="0" err="1"/>
              <a:t>번째는</a:t>
            </a:r>
            <a:r>
              <a:rPr dirty="0"/>
              <a:t> </a:t>
            </a:r>
            <a:r>
              <a:rPr dirty="0" err="1"/>
              <a:t>카메라로</a:t>
            </a:r>
            <a:r>
              <a:rPr dirty="0"/>
              <a:t> </a:t>
            </a:r>
            <a:r>
              <a:rPr dirty="0" err="1"/>
              <a:t>찍은</a:t>
            </a:r>
            <a:r>
              <a:rPr dirty="0"/>
              <a:t> </a:t>
            </a:r>
            <a:r>
              <a:rPr dirty="0" err="1"/>
              <a:t>제품</a:t>
            </a:r>
            <a:r>
              <a:rPr dirty="0"/>
              <a:t> </a:t>
            </a:r>
            <a:r>
              <a:rPr dirty="0" err="1"/>
              <a:t>이미지입니다</a:t>
            </a:r>
            <a:r>
              <a:rPr dirty="0"/>
              <a:t>. </a:t>
            </a:r>
            <a:r>
              <a:rPr dirty="0" err="1"/>
              <a:t>그런데</a:t>
            </a:r>
            <a:r>
              <a:rPr dirty="0"/>
              <a:t> 이 두 </a:t>
            </a:r>
            <a:r>
              <a:rPr dirty="0" err="1"/>
              <a:t>가지를</a:t>
            </a:r>
            <a:r>
              <a:rPr dirty="0"/>
              <a:t> </a:t>
            </a:r>
            <a:r>
              <a:rPr dirty="0" err="1"/>
              <a:t>따로따로</a:t>
            </a:r>
            <a:r>
              <a:rPr dirty="0"/>
              <a:t> </a:t>
            </a:r>
            <a:r>
              <a:rPr dirty="0" err="1"/>
              <a:t>쓰면</a:t>
            </a:r>
            <a:r>
              <a:rPr dirty="0"/>
              <a:t> </a:t>
            </a:r>
            <a:r>
              <a:rPr dirty="0" err="1"/>
              <a:t>각자</a:t>
            </a:r>
            <a:r>
              <a:rPr dirty="0"/>
              <a:t> </a:t>
            </a:r>
            <a:r>
              <a:rPr dirty="0" err="1"/>
              <a:t>놓치는</a:t>
            </a:r>
            <a:r>
              <a:rPr dirty="0"/>
              <a:t> </a:t>
            </a:r>
            <a:r>
              <a:rPr dirty="0" err="1"/>
              <a:t>부분이</a:t>
            </a:r>
            <a:r>
              <a:rPr dirty="0"/>
              <a:t> </a:t>
            </a:r>
            <a:r>
              <a:rPr dirty="0" err="1"/>
              <a:t>생깁니다</a:t>
            </a:r>
            <a:r>
              <a:rPr dirty="0"/>
              <a:t>. </a:t>
            </a:r>
            <a:r>
              <a:rPr dirty="0" err="1"/>
              <a:t>센서값만</a:t>
            </a:r>
            <a:r>
              <a:rPr dirty="0"/>
              <a:t> </a:t>
            </a:r>
            <a:r>
              <a:rPr dirty="0" err="1"/>
              <a:t>보면</a:t>
            </a:r>
            <a:r>
              <a:rPr dirty="0"/>
              <a:t> </a:t>
            </a:r>
            <a:r>
              <a:rPr dirty="0" err="1"/>
              <a:t>부품이</a:t>
            </a:r>
            <a:r>
              <a:rPr dirty="0"/>
              <a:t> </a:t>
            </a:r>
            <a:r>
              <a:rPr dirty="0" err="1"/>
              <a:t>시각적으로</a:t>
            </a:r>
            <a:r>
              <a:rPr dirty="0"/>
              <a:t> </a:t>
            </a:r>
            <a:r>
              <a:rPr dirty="0" err="1"/>
              <a:t>빠진</a:t>
            </a:r>
            <a:r>
              <a:rPr dirty="0"/>
              <a:t> </a:t>
            </a:r>
            <a:r>
              <a:rPr dirty="0" err="1"/>
              <a:t>결함을</a:t>
            </a:r>
            <a:r>
              <a:rPr dirty="0"/>
              <a:t> </a:t>
            </a:r>
            <a:r>
              <a:rPr dirty="0" err="1"/>
              <a:t>알기</a:t>
            </a:r>
            <a:r>
              <a:rPr dirty="0"/>
              <a:t> </a:t>
            </a:r>
            <a:r>
              <a:rPr dirty="0" err="1"/>
              <a:t>어렵고</a:t>
            </a:r>
            <a:r>
              <a:rPr dirty="0"/>
              <a:t>, </a:t>
            </a:r>
            <a:r>
              <a:rPr dirty="0" err="1"/>
              <a:t>이미지만</a:t>
            </a:r>
            <a:r>
              <a:rPr dirty="0"/>
              <a:t> </a:t>
            </a:r>
            <a:r>
              <a:rPr dirty="0" err="1"/>
              <a:t>보면</a:t>
            </a:r>
            <a:r>
              <a:rPr dirty="0"/>
              <a:t> </a:t>
            </a:r>
            <a:r>
              <a:rPr dirty="0" err="1"/>
              <a:t>로봇이</a:t>
            </a:r>
            <a:r>
              <a:rPr dirty="0"/>
              <a:t> </a:t>
            </a:r>
            <a:r>
              <a:rPr dirty="0" err="1"/>
              <a:t>비정상적인</a:t>
            </a:r>
            <a:r>
              <a:rPr dirty="0"/>
              <a:t> </a:t>
            </a:r>
            <a:r>
              <a:rPr dirty="0" err="1"/>
              <a:t>힘으로</a:t>
            </a:r>
            <a:r>
              <a:rPr dirty="0"/>
              <a:t> </a:t>
            </a:r>
            <a:r>
              <a:rPr dirty="0" err="1"/>
              <a:t>작동하는</a:t>
            </a:r>
            <a:r>
              <a:rPr dirty="0"/>
              <a:t> </a:t>
            </a:r>
            <a:r>
              <a:rPr dirty="0" err="1"/>
              <a:t>상황은</a:t>
            </a:r>
            <a:r>
              <a:rPr dirty="0"/>
              <a:t> 알 수 </a:t>
            </a:r>
            <a:r>
              <a:rPr dirty="0" err="1"/>
              <a:t>없습니다</a:t>
            </a:r>
            <a:r>
              <a:rPr dirty="0"/>
              <a:t>. </a:t>
            </a:r>
            <a:r>
              <a:rPr dirty="0" err="1"/>
              <a:t>그래서</a:t>
            </a:r>
            <a:r>
              <a:rPr dirty="0"/>
              <a:t> 두 </a:t>
            </a:r>
            <a:r>
              <a:rPr dirty="0" err="1"/>
              <a:t>모달리티를</a:t>
            </a:r>
            <a:r>
              <a:rPr dirty="0"/>
              <a:t> </a:t>
            </a:r>
            <a:r>
              <a:rPr dirty="0" err="1"/>
              <a:t>결합하는</a:t>
            </a:r>
            <a:r>
              <a:rPr dirty="0"/>
              <a:t> </a:t>
            </a:r>
            <a:r>
              <a:rPr dirty="0" err="1"/>
              <a:t>멀티모달</a:t>
            </a:r>
            <a:r>
              <a:rPr dirty="0"/>
              <a:t> </a:t>
            </a:r>
            <a:r>
              <a:rPr dirty="0" err="1"/>
              <a:t>접근이</a:t>
            </a:r>
            <a:r>
              <a:rPr dirty="0"/>
              <a:t> </a:t>
            </a:r>
            <a:r>
              <a:rPr dirty="0" err="1"/>
              <a:t>필요</a:t>
            </a:r>
            <a:r>
              <a:rPr lang="ko-KR" altLang="en-US" dirty="0"/>
              <a:t>합니다</a:t>
            </a:r>
            <a:r>
              <a:rPr dirty="0"/>
              <a:t>.</a:t>
            </a:r>
            <a:r>
              <a:rPr lang="en-US" dirty="0"/>
              <a:t> </a:t>
            </a:r>
            <a:r>
              <a:rPr lang="ko-KR" altLang="en-US" dirty="0"/>
              <a:t>그 중에서도 저희 조는 </a:t>
            </a:r>
            <a:r>
              <a:rPr dirty="0" err="1"/>
              <a:t>정말</a:t>
            </a:r>
            <a:r>
              <a:rPr dirty="0"/>
              <a:t> </a:t>
            </a:r>
            <a:r>
              <a:rPr dirty="0" err="1"/>
              <a:t>결합이</a:t>
            </a:r>
            <a:r>
              <a:rPr dirty="0"/>
              <a:t> </a:t>
            </a:r>
            <a:r>
              <a:rPr dirty="0" err="1"/>
              <a:t>항상</a:t>
            </a:r>
            <a:r>
              <a:rPr dirty="0"/>
              <a:t> 더 </a:t>
            </a:r>
            <a:r>
              <a:rPr dirty="0" err="1"/>
              <a:t>좋은가</a:t>
            </a:r>
            <a:r>
              <a:rPr dirty="0"/>
              <a:t>, </a:t>
            </a:r>
            <a:r>
              <a:rPr dirty="0" err="1"/>
              <a:t>그렇다면</a:t>
            </a:r>
            <a:r>
              <a:rPr dirty="0"/>
              <a:t> </a:t>
            </a:r>
            <a:r>
              <a:rPr dirty="0" err="1"/>
              <a:t>어떤</a:t>
            </a:r>
            <a:r>
              <a:rPr dirty="0"/>
              <a:t> </a:t>
            </a:r>
            <a:r>
              <a:rPr dirty="0" err="1"/>
              <a:t>조건에서</a:t>
            </a:r>
            <a:r>
              <a:rPr dirty="0"/>
              <a:t> </a:t>
            </a:r>
            <a:r>
              <a:rPr dirty="0" err="1"/>
              <a:t>효과가</a:t>
            </a:r>
            <a:r>
              <a:rPr dirty="0"/>
              <a:t> </a:t>
            </a:r>
            <a:r>
              <a:rPr dirty="0" err="1"/>
              <a:t>있는가</a:t>
            </a:r>
            <a:r>
              <a:rPr lang="ko-KR" altLang="en-US" dirty="0"/>
              <a:t>라는</a:t>
            </a:r>
            <a:r>
              <a:rPr dirty="0" err="1"/>
              <a:t>질문에</a:t>
            </a:r>
            <a:r>
              <a:rPr dirty="0"/>
              <a:t> </a:t>
            </a:r>
            <a:r>
              <a:rPr dirty="0" err="1"/>
              <a:t>실험으로</a:t>
            </a:r>
            <a:r>
              <a:rPr dirty="0"/>
              <a:t> </a:t>
            </a:r>
            <a:r>
              <a:rPr dirty="0" err="1"/>
              <a:t>답하는</a:t>
            </a:r>
            <a:r>
              <a:rPr dirty="0"/>
              <a:t> </a:t>
            </a:r>
            <a:r>
              <a:rPr dirty="0" err="1"/>
              <a:t>것이</a:t>
            </a:r>
            <a:r>
              <a:rPr dirty="0"/>
              <a:t> </a:t>
            </a:r>
            <a:r>
              <a:rPr dirty="0" err="1"/>
              <a:t>목표였습니다</a:t>
            </a:r>
            <a:r>
              <a:rPr dirty="0"/>
              <a:t>.</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2</a:t>
            </a:fld>
            <a:endParaRPr lang="ko-KR" altLang="en-US"/>
          </a:p>
        </p:txBody>
      </p:sp>
    </p:spTree>
    <p:extLst>
      <p:ext uri="{BB962C8B-B14F-4D97-AF65-F5344CB8AC3E}">
        <p14:creationId xmlns:p14="http://schemas.microsoft.com/office/powerpoint/2010/main" val="230093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저희</a:t>
            </a:r>
            <a:r>
              <a:rPr dirty="0"/>
              <a:t> </a:t>
            </a:r>
            <a:r>
              <a:rPr dirty="0" err="1"/>
              <a:t>프로젝트는</a:t>
            </a:r>
            <a:r>
              <a:rPr dirty="0"/>
              <a:t> 세 </a:t>
            </a:r>
            <a:r>
              <a:rPr dirty="0" err="1"/>
              <a:t>가지</a:t>
            </a:r>
            <a:r>
              <a:rPr dirty="0"/>
              <a:t> </a:t>
            </a:r>
            <a:r>
              <a:rPr dirty="0" err="1"/>
              <a:t>구체적인</a:t>
            </a:r>
            <a:r>
              <a:rPr dirty="0"/>
              <a:t> </a:t>
            </a:r>
            <a:r>
              <a:rPr dirty="0" err="1"/>
              <a:t>질문에</a:t>
            </a:r>
            <a:r>
              <a:rPr dirty="0"/>
              <a:t> </a:t>
            </a:r>
            <a:r>
              <a:rPr dirty="0" err="1"/>
              <a:t>답하려</a:t>
            </a:r>
            <a:r>
              <a:rPr dirty="0"/>
              <a:t> </a:t>
            </a:r>
            <a:r>
              <a:rPr dirty="0" err="1"/>
              <a:t>했습니다</a:t>
            </a:r>
            <a:r>
              <a:rPr dirty="0"/>
              <a:t>. </a:t>
            </a:r>
            <a:r>
              <a:rPr dirty="0" err="1"/>
              <a:t>첫째</a:t>
            </a:r>
            <a:r>
              <a:rPr dirty="0"/>
              <a:t>, </a:t>
            </a:r>
            <a:r>
              <a:rPr dirty="0" err="1"/>
              <a:t>멀티모달</a:t>
            </a:r>
            <a:r>
              <a:rPr dirty="0"/>
              <a:t> </a:t>
            </a:r>
            <a:r>
              <a:rPr dirty="0" err="1"/>
              <a:t>결합</a:t>
            </a:r>
            <a:r>
              <a:rPr dirty="0"/>
              <a:t> </a:t>
            </a:r>
            <a:r>
              <a:rPr dirty="0" err="1"/>
              <a:t>모델이</a:t>
            </a:r>
            <a:r>
              <a:rPr dirty="0"/>
              <a:t> </a:t>
            </a:r>
            <a:r>
              <a:rPr dirty="0" err="1"/>
              <a:t>센서</a:t>
            </a:r>
            <a:r>
              <a:rPr dirty="0"/>
              <a:t> </a:t>
            </a:r>
            <a:r>
              <a:rPr dirty="0" err="1"/>
              <a:t>단독</a:t>
            </a:r>
            <a:r>
              <a:rPr dirty="0"/>
              <a:t>, </a:t>
            </a:r>
            <a:r>
              <a:rPr dirty="0" err="1"/>
              <a:t>이미지</a:t>
            </a:r>
            <a:r>
              <a:rPr dirty="0"/>
              <a:t> </a:t>
            </a:r>
            <a:r>
              <a:rPr dirty="0" err="1"/>
              <a:t>단독보다</a:t>
            </a:r>
            <a:r>
              <a:rPr dirty="0"/>
              <a:t> </a:t>
            </a:r>
            <a:r>
              <a:rPr dirty="0" err="1"/>
              <a:t>실제로</a:t>
            </a:r>
            <a:r>
              <a:rPr dirty="0"/>
              <a:t> 더 </a:t>
            </a:r>
            <a:r>
              <a:rPr dirty="0" err="1"/>
              <a:t>좋은</a:t>
            </a:r>
            <a:r>
              <a:rPr dirty="0"/>
              <a:t> </a:t>
            </a:r>
            <a:r>
              <a:rPr dirty="0" err="1"/>
              <a:t>성능을</a:t>
            </a:r>
            <a:r>
              <a:rPr dirty="0"/>
              <a:t> </a:t>
            </a:r>
            <a:r>
              <a:rPr dirty="0" err="1"/>
              <a:t>내는가</a:t>
            </a:r>
            <a:r>
              <a:rPr dirty="0"/>
              <a:t>. </a:t>
            </a:r>
            <a:r>
              <a:rPr dirty="0" err="1"/>
              <a:t>둘째</a:t>
            </a:r>
            <a:r>
              <a:rPr dirty="0"/>
              <a:t>, 두 </a:t>
            </a:r>
            <a:r>
              <a:rPr dirty="0" err="1"/>
              <a:t>모달리티</a:t>
            </a:r>
            <a:r>
              <a:rPr dirty="0"/>
              <a:t> 중 </a:t>
            </a:r>
            <a:r>
              <a:rPr dirty="0" err="1"/>
              <a:t>한쪽이</a:t>
            </a:r>
            <a:r>
              <a:rPr dirty="0"/>
              <a:t> </a:t>
            </a:r>
            <a:r>
              <a:rPr dirty="0" err="1"/>
              <a:t>너무</a:t>
            </a:r>
            <a:r>
              <a:rPr dirty="0"/>
              <a:t> </a:t>
            </a:r>
            <a:r>
              <a:rPr dirty="0" err="1"/>
              <a:t>강하거나</a:t>
            </a:r>
            <a:r>
              <a:rPr dirty="0"/>
              <a:t> </a:t>
            </a:r>
            <a:r>
              <a:rPr dirty="0" err="1"/>
              <a:t>약할</a:t>
            </a:r>
            <a:r>
              <a:rPr dirty="0"/>
              <a:t> 때 </a:t>
            </a:r>
            <a:r>
              <a:rPr dirty="0" err="1"/>
              <a:t>융합</a:t>
            </a:r>
            <a:r>
              <a:rPr dirty="0"/>
              <a:t> </a:t>
            </a:r>
            <a:r>
              <a:rPr dirty="0" err="1"/>
              <a:t>효과가</a:t>
            </a:r>
            <a:r>
              <a:rPr dirty="0"/>
              <a:t> </a:t>
            </a:r>
            <a:r>
              <a:rPr dirty="0" err="1"/>
              <a:t>어떻게</a:t>
            </a:r>
            <a:r>
              <a:rPr dirty="0"/>
              <a:t> </a:t>
            </a:r>
            <a:r>
              <a:rPr dirty="0" err="1"/>
              <a:t>달라지는가</a:t>
            </a:r>
            <a:r>
              <a:rPr dirty="0"/>
              <a:t>. </a:t>
            </a:r>
            <a:r>
              <a:rPr dirty="0" err="1"/>
              <a:t>셋째</a:t>
            </a:r>
            <a:r>
              <a:rPr dirty="0"/>
              <a:t>, </a:t>
            </a:r>
            <a:r>
              <a:rPr dirty="0" err="1"/>
              <a:t>카메라</a:t>
            </a:r>
            <a:r>
              <a:rPr dirty="0"/>
              <a:t> </a:t>
            </a:r>
            <a:r>
              <a:rPr dirty="0" err="1"/>
              <a:t>이미지가</a:t>
            </a:r>
            <a:r>
              <a:rPr dirty="0"/>
              <a:t> </a:t>
            </a:r>
            <a:r>
              <a:rPr dirty="0" err="1"/>
              <a:t>항상</a:t>
            </a:r>
            <a:r>
              <a:rPr dirty="0"/>
              <a:t> </a:t>
            </a:r>
            <a:r>
              <a:rPr dirty="0" err="1"/>
              <a:t>들어오는</a:t>
            </a:r>
            <a:r>
              <a:rPr dirty="0"/>
              <a:t> </a:t>
            </a:r>
            <a:r>
              <a:rPr dirty="0" err="1"/>
              <a:t>것이</a:t>
            </a:r>
            <a:r>
              <a:rPr dirty="0"/>
              <a:t> </a:t>
            </a:r>
            <a:r>
              <a:rPr dirty="0" err="1"/>
              <a:t>아닐</a:t>
            </a:r>
            <a:r>
              <a:rPr dirty="0"/>
              <a:t> 때, 즉 </a:t>
            </a:r>
            <a:r>
              <a:rPr dirty="0" err="1"/>
              <a:t>이미지가</a:t>
            </a:r>
            <a:r>
              <a:rPr dirty="0"/>
              <a:t> </a:t>
            </a:r>
            <a:r>
              <a:rPr dirty="0" err="1"/>
              <a:t>없는</a:t>
            </a:r>
            <a:r>
              <a:rPr dirty="0"/>
              <a:t> </a:t>
            </a:r>
            <a:r>
              <a:rPr dirty="0" err="1"/>
              <a:t>순간에도</a:t>
            </a:r>
            <a:r>
              <a:rPr dirty="0"/>
              <a:t> </a:t>
            </a:r>
            <a:r>
              <a:rPr dirty="0" err="1"/>
              <a:t>모델이</a:t>
            </a:r>
            <a:r>
              <a:rPr dirty="0"/>
              <a:t> </a:t>
            </a:r>
            <a:r>
              <a:rPr dirty="0" err="1"/>
              <a:t>안정적으로</a:t>
            </a:r>
            <a:r>
              <a:rPr dirty="0"/>
              <a:t> </a:t>
            </a:r>
            <a:r>
              <a:rPr dirty="0" err="1"/>
              <a:t>작동할</a:t>
            </a:r>
            <a:r>
              <a:rPr dirty="0"/>
              <a:t> 수 </a:t>
            </a:r>
            <a:r>
              <a:rPr dirty="0" err="1"/>
              <a:t>있는가입니다</a:t>
            </a:r>
            <a:r>
              <a:rPr dirty="0"/>
              <a:t>.</a:t>
            </a:r>
            <a:r>
              <a:rPr lang="ko-KR" altLang="en-US" dirty="0"/>
              <a:t> 이러한 질문을 통해 단순히 </a:t>
            </a:r>
            <a:r>
              <a:rPr lang="ko-KR" altLang="en-US" dirty="0" err="1"/>
              <a:t>멀티모달이</a:t>
            </a:r>
            <a:r>
              <a:rPr lang="ko-KR" altLang="en-US" dirty="0"/>
              <a:t> 더 좋다가 아닌 어떤 조건에서 어떻게 좋은지를 이해하고자 했습니다</a:t>
            </a:r>
            <a:r>
              <a:rPr lang="en-US" altLang="ko-KR" dirty="0"/>
              <a:t>.</a:t>
            </a:r>
            <a:endParaRPr dirty="0"/>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3</a:t>
            </a:fld>
            <a:endParaRPr lang="ko-KR" altLang="en-US"/>
          </a:p>
        </p:txBody>
      </p:sp>
    </p:spTree>
    <p:extLst>
      <p:ext uri="{BB962C8B-B14F-4D97-AF65-F5344CB8AC3E}">
        <p14:creationId xmlns:p14="http://schemas.microsoft.com/office/powerpoint/2010/main" val="173324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저희가</a:t>
            </a:r>
            <a:r>
              <a:rPr dirty="0"/>
              <a:t> </a:t>
            </a:r>
            <a:r>
              <a:rPr dirty="0" err="1"/>
              <a:t>사용한</a:t>
            </a:r>
            <a:r>
              <a:rPr dirty="0"/>
              <a:t> </a:t>
            </a:r>
            <a:r>
              <a:rPr dirty="0" err="1"/>
              <a:t>데이터는</a:t>
            </a:r>
            <a:r>
              <a:rPr dirty="0"/>
              <a:t> </a:t>
            </a:r>
            <a:r>
              <a:rPr dirty="0" err="1"/>
              <a:t>사우스캐롤라이나</a:t>
            </a:r>
            <a:r>
              <a:rPr dirty="0"/>
              <a:t> </a:t>
            </a:r>
            <a:r>
              <a:rPr dirty="0" err="1"/>
              <a:t>대학</a:t>
            </a:r>
            <a:r>
              <a:rPr dirty="0"/>
              <a:t> Future Factories </a:t>
            </a:r>
            <a:r>
              <a:rPr dirty="0" err="1"/>
              <a:t>연구실에서</a:t>
            </a:r>
            <a:r>
              <a:rPr dirty="0"/>
              <a:t> </a:t>
            </a:r>
            <a:r>
              <a:rPr dirty="0" err="1"/>
              <a:t>공개한</a:t>
            </a:r>
            <a:r>
              <a:rPr dirty="0"/>
              <a:t> </a:t>
            </a:r>
            <a:r>
              <a:rPr dirty="0" err="1"/>
              <a:t>산업용</a:t>
            </a:r>
            <a:r>
              <a:rPr dirty="0"/>
              <a:t> </a:t>
            </a:r>
            <a:r>
              <a:rPr dirty="0" err="1"/>
              <a:t>데이터셋입니다</a:t>
            </a:r>
            <a:r>
              <a:rPr dirty="0"/>
              <a:t>. </a:t>
            </a:r>
            <a:r>
              <a:rPr dirty="0" err="1"/>
              <a:t>실제</a:t>
            </a:r>
            <a:r>
              <a:rPr dirty="0"/>
              <a:t> </a:t>
            </a:r>
            <a:r>
              <a:rPr dirty="0" err="1"/>
              <a:t>조립</a:t>
            </a:r>
            <a:r>
              <a:rPr dirty="0"/>
              <a:t> </a:t>
            </a:r>
            <a:r>
              <a:rPr dirty="0" err="1"/>
              <a:t>라인을</a:t>
            </a:r>
            <a:r>
              <a:rPr dirty="0"/>
              <a:t> </a:t>
            </a:r>
            <a:r>
              <a:rPr dirty="0" err="1"/>
              <a:t>그대로</a:t>
            </a:r>
            <a:r>
              <a:rPr dirty="0"/>
              <a:t> </a:t>
            </a:r>
            <a:r>
              <a:rPr dirty="0" err="1"/>
              <a:t>옮긴</a:t>
            </a:r>
            <a:r>
              <a:rPr dirty="0"/>
              <a:t> </a:t>
            </a:r>
            <a:r>
              <a:rPr dirty="0" err="1"/>
              <a:t>시설에서</a:t>
            </a:r>
            <a:r>
              <a:rPr dirty="0"/>
              <a:t> </a:t>
            </a:r>
            <a:r>
              <a:rPr dirty="0" err="1"/>
              <a:t>로봇</a:t>
            </a:r>
            <a:r>
              <a:rPr dirty="0"/>
              <a:t> 4대와 </a:t>
            </a:r>
            <a:r>
              <a:rPr dirty="0" err="1"/>
              <a:t>컨베이어가</a:t>
            </a:r>
            <a:r>
              <a:rPr dirty="0"/>
              <a:t> 30시간 </a:t>
            </a:r>
            <a:r>
              <a:rPr dirty="0" err="1"/>
              <a:t>동안</a:t>
            </a:r>
            <a:r>
              <a:rPr dirty="0"/>
              <a:t> </a:t>
            </a:r>
            <a:r>
              <a:rPr dirty="0" err="1"/>
              <a:t>로켓</a:t>
            </a:r>
            <a:r>
              <a:rPr dirty="0"/>
              <a:t> </a:t>
            </a:r>
            <a:r>
              <a:rPr dirty="0" err="1"/>
              <a:t>모형을</a:t>
            </a:r>
            <a:r>
              <a:rPr dirty="0"/>
              <a:t> </a:t>
            </a:r>
            <a:r>
              <a:rPr dirty="0" err="1"/>
              <a:t>만들었고</a:t>
            </a:r>
            <a:r>
              <a:rPr dirty="0"/>
              <a:t>, </a:t>
            </a:r>
            <a:r>
              <a:rPr dirty="0" err="1"/>
              <a:t>그동안</a:t>
            </a:r>
            <a:r>
              <a:rPr dirty="0"/>
              <a:t> 16만 6천 </a:t>
            </a:r>
            <a:r>
              <a:rPr dirty="0" err="1"/>
              <a:t>건의</a:t>
            </a:r>
            <a:r>
              <a:rPr dirty="0"/>
              <a:t> </a:t>
            </a:r>
            <a:r>
              <a:rPr dirty="0" err="1"/>
              <a:t>측정</a:t>
            </a:r>
            <a:r>
              <a:rPr dirty="0"/>
              <a:t> </a:t>
            </a:r>
            <a:r>
              <a:rPr dirty="0" err="1"/>
              <a:t>데이터가</a:t>
            </a:r>
            <a:r>
              <a:rPr dirty="0"/>
              <a:t> </a:t>
            </a:r>
            <a:r>
              <a:rPr dirty="0" err="1"/>
              <a:t>쌓였습니다</a:t>
            </a:r>
            <a:r>
              <a:rPr dirty="0"/>
              <a:t>. </a:t>
            </a:r>
            <a:r>
              <a:rPr dirty="0" err="1"/>
              <a:t>측정</a:t>
            </a:r>
            <a:r>
              <a:rPr dirty="0"/>
              <a:t> </a:t>
            </a:r>
            <a:r>
              <a:rPr dirty="0" err="1"/>
              <a:t>데이터에는</a:t>
            </a:r>
            <a:r>
              <a:rPr dirty="0"/>
              <a:t> 두 </a:t>
            </a:r>
            <a:r>
              <a:rPr dirty="0" err="1"/>
              <a:t>종류가</a:t>
            </a:r>
            <a:r>
              <a:rPr dirty="0"/>
              <a:t> </a:t>
            </a:r>
            <a:r>
              <a:rPr dirty="0" err="1"/>
              <a:t>들어</a:t>
            </a:r>
            <a:r>
              <a:rPr dirty="0"/>
              <a:t> </a:t>
            </a:r>
            <a:r>
              <a:rPr dirty="0" err="1"/>
              <a:t>있습니다</a:t>
            </a:r>
            <a:r>
              <a:rPr dirty="0"/>
              <a:t>. 22개 </a:t>
            </a:r>
            <a:r>
              <a:rPr dirty="0" err="1"/>
              <a:t>센서값은</a:t>
            </a:r>
            <a:r>
              <a:rPr dirty="0"/>
              <a:t> </a:t>
            </a:r>
            <a:r>
              <a:rPr dirty="0" err="1"/>
              <a:t>모든</a:t>
            </a:r>
            <a:r>
              <a:rPr dirty="0"/>
              <a:t> </a:t>
            </a:r>
            <a:r>
              <a:rPr dirty="0" err="1"/>
              <a:t>측정</a:t>
            </a:r>
            <a:r>
              <a:rPr dirty="0"/>
              <a:t> </a:t>
            </a:r>
            <a:r>
              <a:rPr dirty="0" err="1"/>
              <a:t>순간에</a:t>
            </a:r>
            <a:r>
              <a:rPr dirty="0"/>
              <a:t> </a:t>
            </a:r>
            <a:r>
              <a:rPr dirty="0" err="1"/>
              <a:t>기록되었고</a:t>
            </a:r>
            <a:r>
              <a:rPr dirty="0"/>
              <a:t>, </a:t>
            </a:r>
            <a:r>
              <a:rPr dirty="0" err="1"/>
              <a:t>카메라</a:t>
            </a:r>
            <a:r>
              <a:rPr dirty="0"/>
              <a:t> 두 </a:t>
            </a:r>
            <a:r>
              <a:rPr dirty="0" err="1"/>
              <a:t>대가</a:t>
            </a:r>
            <a:r>
              <a:rPr dirty="0"/>
              <a:t> </a:t>
            </a:r>
            <a:r>
              <a:rPr dirty="0" err="1"/>
              <a:t>찍은</a:t>
            </a:r>
            <a:r>
              <a:rPr dirty="0"/>
              <a:t> </a:t>
            </a:r>
            <a:r>
              <a:rPr dirty="0" err="1"/>
              <a:t>이미지는</a:t>
            </a:r>
            <a:r>
              <a:rPr dirty="0"/>
              <a:t> </a:t>
            </a:r>
            <a:r>
              <a:rPr dirty="0" err="1"/>
              <a:t>부품이</a:t>
            </a:r>
            <a:r>
              <a:rPr dirty="0"/>
              <a:t> </a:t>
            </a:r>
            <a:r>
              <a:rPr dirty="0" err="1"/>
              <a:t>명확히</a:t>
            </a:r>
            <a:r>
              <a:rPr dirty="0"/>
              <a:t> </a:t>
            </a:r>
            <a:r>
              <a:rPr dirty="0" err="1"/>
              <a:t>보이는</a:t>
            </a:r>
            <a:r>
              <a:rPr dirty="0"/>
              <a:t> </a:t>
            </a:r>
            <a:r>
              <a:rPr dirty="0" err="1"/>
              <a:t>특정</a:t>
            </a:r>
            <a:r>
              <a:rPr dirty="0"/>
              <a:t> </a:t>
            </a:r>
            <a:r>
              <a:rPr dirty="0" err="1"/>
              <a:t>공정</a:t>
            </a:r>
            <a:r>
              <a:rPr dirty="0"/>
              <a:t> </a:t>
            </a:r>
            <a:r>
              <a:rPr dirty="0" err="1"/>
              <a:t>단계에서</a:t>
            </a:r>
            <a:r>
              <a:rPr dirty="0"/>
              <a:t> </a:t>
            </a:r>
            <a:r>
              <a:rPr dirty="0" err="1"/>
              <a:t>사용했습니다</a:t>
            </a:r>
            <a:r>
              <a:rPr dirty="0"/>
              <a:t>. </a:t>
            </a:r>
            <a:r>
              <a:rPr dirty="0" err="1"/>
              <a:t>결함은</a:t>
            </a:r>
            <a:r>
              <a:rPr dirty="0"/>
              <a:t> </a:t>
            </a:r>
            <a:r>
              <a:rPr dirty="0" err="1"/>
              <a:t>의도적으로</a:t>
            </a:r>
            <a:r>
              <a:rPr dirty="0"/>
              <a:t> </a:t>
            </a:r>
            <a:r>
              <a:rPr dirty="0" err="1"/>
              <a:t>부품을</a:t>
            </a:r>
            <a:r>
              <a:rPr dirty="0"/>
              <a:t> </a:t>
            </a:r>
            <a:r>
              <a:rPr dirty="0" err="1"/>
              <a:t>빼고</a:t>
            </a:r>
            <a:r>
              <a:rPr dirty="0"/>
              <a:t> </a:t>
            </a:r>
            <a:r>
              <a:rPr dirty="0" err="1"/>
              <a:t>조립하게</a:t>
            </a:r>
            <a:r>
              <a:rPr dirty="0"/>
              <a:t> </a:t>
            </a:r>
            <a:r>
              <a:rPr dirty="0" err="1"/>
              <a:t>해서</a:t>
            </a:r>
            <a:r>
              <a:rPr dirty="0"/>
              <a:t> </a:t>
            </a:r>
            <a:r>
              <a:rPr dirty="0" err="1"/>
              <a:t>정상</a:t>
            </a:r>
            <a:r>
              <a:rPr dirty="0"/>
              <a:t> </a:t>
            </a:r>
            <a:r>
              <a:rPr dirty="0" err="1"/>
              <a:t>외에</a:t>
            </a:r>
            <a:r>
              <a:rPr dirty="0"/>
              <a:t> </a:t>
            </a:r>
            <a:r>
              <a:rPr dirty="0" err="1"/>
              <a:t>NoNose</a:t>
            </a:r>
            <a:r>
              <a:rPr dirty="0"/>
              <a:t>, NoBody1 </a:t>
            </a:r>
            <a:r>
              <a:rPr dirty="0" err="1"/>
              <a:t>같은</a:t>
            </a:r>
            <a:r>
              <a:rPr dirty="0"/>
              <a:t> </a:t>
            </a:r>
            <a:r>
              <a:rPr dirty="0" err="1"/>
              <a:t>결함</a:t>
            </a:r>
            <a:r>
              <a:rPr dirty="0"/>
              <a:t> </a:t>
            </a:r>
            <a:r>
              <a:rPr dirty="0" err="1"/>
              <a:t>유형이</a:t>
            </a:r>
            <a:r>
              <a:rPr dirty="0"/>
              <a:t> </a:t>
            </a:r>
            <a:r>
              <a:rPr dirty="0" err="1"/>
              <a:t>만들어졌고</a:t>
            </a:r>
            <a:r>
              <a:rPr dirty="0"/>
              <a:t>, 매 </a:t>
            </a:r>
            <a:r>
              <a:rPr dirty="0" err="1"/>
              <a:t>측정</a:t>
            </a:r>
            <a:r>
              <a:rPr dirty="0"/>
              <a:t> </a:t>
            </a:r>
            <a:r>
              <a:rPr dirty="0" err="1"/>
              <a:t>순간마다</a:t>
            </a:r>
            <a:r>
              <a:rPr dirty="0"/>
              <a:t> 그 </a:t>
            </a:r>
            <a:r>
              <a:rPr dirty="0" err="1"/>
              <a:t>시점에</a:t>
            </a:r>
            <a:r>
              <a:rPr dirty="0"/>
              <a:t> </a:t>
            </a:r>
            <a:r>
              <a:rPr dirty="0" err="1"/>
              <a:t>어떤</a:t>
            </a:r>
            <a:r>
              <a:rPr dirty="0"/>
              <a:t> </a:t>
            </a:r>
            <a:r>
              <a:rPr dirty="0" err="1"/>
              <a:t>상태였는지가</a:t>
            </a:r>
            <a:r>
              <a:rPr dirty="0"/>
              <a:t> </a:t>
            </a:r>
            <a:r>
              <a:rPr dirty="0" err="1"/>
              <a:t>라벨로</a:t>
            </a:r>
            <a:r>
              <a:rPr dirty="0"/>
              <a:t> </a:t>
            </a:r>
            <a:r>
              <a:rPr dirty="0" err="1"/>
              <a:t>기록되어</a:t>
            </a:r>
            <a:r>
              <a:rPr dirty="0"/>
              <a:t> </a:t>
            </a:r>
            <a:r>
              <a:rPr dirty="0" err="1"/>
              <a:t>있습니다</a:t>
            </a:r>
            <a:r>
              <a:rPr dirty="0"/>
              <a:t>. 즉 </a:t>
            </a:r>
            <a:r>
              <a:rPr dirty="0" err="1"/>
              <a:t>저희</a:t>
            </a:r>
            <a:r>
              <a:rPr dirty="0"/>
              <a:t> </a:t>
            </a:r>
            <a:r>
              <a:rPr dirty="0" err="1"/>
              <a:t>문제는</a:t>
            </a:r>
            <a:r>
              <a:rPr dirty="0"/>
              <a:t> ‘</a:t>
            </a:r>
            <a:r>
              <a:rPr dirty="0" err="1"/>
              <a:t>지금</a:t>
            </a:r>
            <a:r>
              <a:rPr dirty="0"/>
              <a:t> 이 </a:t>
            </a:r>
            <a:r>
              <a:rPr dirty="0" err="1"/>
              <a:t>순간</a:t>
            </a:r>
            <a:r>
              <a:rPr dirty="0"/>
              <a:t> </a:t>
            </a:r>
            <a:r>
              <a:rPr dirty="0" err="1"/>
              <a:t>어떤</a:t>
            </a:r>
            <a:r>
              <a:rPr dirty="0"/>
              <a:t> </a:t>
            </a:r>
            <a:r>
              <a:rPr dirty="0" err="1"/>
              <a:t>상태인가’를</a:t>
            </a:r>
            <a:r>
              <a:rPr dirty="0"/>
              <a:t> 매 </a:t>
            </a:r>
            <a:r>
              <a:rPr dirty="0" err="1"/>
              <a:t>시점마다</a:t>
            </a:r>
            <a:r>
              <a:rPr dirty="0"/>
              <a:t> </a:t>
            </a:r>
            <a:r>
              <a:rPr dirty="0" err="1"/>
              <a:t>분류하는</a:t>
            </a:r>
            <a:r>
              <a:rPr dirty="0"/>
              <a:t> </a:t>
            </a:r>
            <a:r>
              <a:rPr dirty="0" err="1"/>
              <a:t>과제입니다</a:t>
            </a:r>
            <a:r>
              <a:rPr dirty="0"/>
              <a:t>.</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4</a:t>
            </a:fld>
            <a:endParaRPr lang="ko-KR" altLang="en-US"/>
          </a:p>
        </p:txBody>
      </p:sp>
    </p:spTree>
    <p:extLst>
      <p:ext uri="{BB962C8B-B14F-4D97-AF65-F5344CB8AC3E}">
        <p14:creationId xmlns:p14="http://schemas.microsoft.com/office/powerpoint/2010/main" val="1063792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세 가지 모델을 만들어 비교했습니다. 첫 번째는 센서 단독으로, 양방향 LSTM이 22채널 센서값의 시간 흐름을 분석하며 모든 시점에서 작동합니다. 두 번째는 이미지 단독으로, ImageNet 사전학습 ResNet18을 두 카메라에 적용해 특징을 평균냅니다. 세 번째가 융합인데, 저희는 한 가지가 아니라 여러 융합 방식을 구현해 비교했습니다. 두 특징을 이어붙여 학습하는 Concat, 두 모델의 예측 확률을 가중 결합하고 이미지가 없으면 센서로 폴백하는 Decision-level, 그리고 이미지 신뢰도에 따라 비중을 조절하는 Cross-Attention입니다. 여러 전략을 비교한 이유는 뒤에서 보시듯 상황에 따라 강한 방식이 다르기 때문입니다.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5</a:t>
            </a:fld>
            <a:endParaRPr lang="ko-KR" altLang="en-US"/>
          </a:p>
        </p:txBody>
      </p:sp>
    </p:spTree>
    <p:extLst>
      <p:ext uri="{BB962C8B-B14F-4D97-AF65-F5344CB8AC3E}">
        <p14:creationId xmlns:p14="http://schemas.microsoft.com/office/powerpoint/2010/main" val="4243134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전체 시스템은 이렇게 구성됩니다. 센서값은 항상 들어오기 때문에 매 시점마다 BiLSTM이 예측 확률을 만듭니다. 카메라 이미지는 부품이 보이는 시점에 들어오는데, 두 대의 이미지를 각각 ResNet18에 통과시켜 특징을 합친 뒤 이미지 예측 확률을 만듭니다. 마지막에 두 확률을 가중 평균해서 최종 분류 결과를 냅니다. 만약 이미지가 들어오지 않는 시점이면 자동으로 센서 확률만 사용하기 때문에, 시스템은 어떤 상황에서도 멈추지 않고 작동합니다.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6</a:t>
            </a:fld>
            <a:endParaRPr lang="ko-KR" altLang="en-US"/>
          </a:p>
        </p:txBody>
      </p:sp>
    </p:spTree>
    <p:extLst>
      <p:ext uri="{BB962C8B-B14F-4D97-AF65-F5344CB8AC3E}">
        <p14:creationId xmlns:p14="http://schemas.microsoft.com/office/powerpoint/2010/main" val="28661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저희 프로젝트가 어떻게 발전했는지 말씀드리겠습니다. 중간발표 때는 융합 모델이 전체 구간에서 F1 0.88로 센서 단독 0.93보다 오히려 낮았습니다. 멀티모달인데 단독보다 못한 결과였고, 원인을 데이터 불균형으로 봤습니다. 이미지는 9천여 시점인데 센서는 12만 시퀀스라, 약하고 드문 이미지가 융합에서 정보를 더하기보다 노이즈로 작용한 것입니다. 그래서 최종 단계에서 이미지 파트와 카메라를 확장해 이미지를 충분히 강하게 만들고, 여러 융합 방식을 함께 비교했습니다. 그 결과 두 모달리티가 균형 있게 함께 들어오는 구간에서는 융합이 두 단독을 넘어섰고, ‘멀티모달의 성공은 데이터 균형에 달려 있다’는 가설을 검증했습니다. 다만 어떤 융합 방식이 어떤 상황에 강한지는 차이가 컸는데, 이는 핵심 결과와 견고성 슬라이드에서 자세히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가설을 검증한 핵심 근거입니다. 이 그래프는 두 모달리티가 모두 있는 3,912개 시점에서 측정했고, 지표는 Weighted F1입니다. 센서 0.907, 이미지 0.957, 그리고 두 특징을 학습형으로 결합한 Concat 융합이 0.977로 두 단독을 모두 앞섰습니다. 이 차이가 우연이 아님은 부트스트랩 검정으로 확인했는데, 융합과 센서의 차이가 평균 +0.050, 95% 신뢰구간 [+0.039, +0.060]으로 0보다 커 통계적으로 유의했습니다. 참고로 이미지가 없는 시점까지 포함한 전체 cycle 4·9 9,521개 시점에서도 Concat 0.900, Decision-Fusion 0.893이 센서 0.871과 이미지 0.826을 모두 넘어, 이미지 결측이 많은 현실적 분포에서도 융합이 단독을 상회했습니다. 방식별로 보면 Concat이 전 구간에서 정확도가 가장 높았고, 확률을 단순 가중평균하는 Decision-Fusion은 이미지가 없을 때 센서로 폴백해 안정적이지만 정확도는 Concat보다 낮았습니다. 다만 이미지가 이미 강해 융합의 정확도 이득 자체는 작았고, 융합의 이점은 다음 슬라이드에서 더 나타납니다.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8</a:t>
            </a:fld>
            <a:endParaRPr lang="ko-KR" altLang="en-US"/>
          </a:p>
        </p:txBody>
      </p:sp>
    </p:spTree>
    <p:extLst>
      <p:ext uri="{BB962C8B-B14F-4D97-AF65-F5344CB8AC3E}">
        <p14:creationId xmlns:p14="http://schemas.microsoft.com/office/powerpoint/2010/main" val="3255979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이번에는 모든 시점에 이미지가 있다고 가정하고, 이미지 품질이 나빠지는 상황을 살펴봤습니다. 학습된 모델은 그대로 두고, 테스트 이미지를 블러·조명 변화·가림으로 열화시켰습니다. 이미지 단독 모델을 0.96에서 0.68, 최종적으로 0.03까지 3단계로 약화시켰고, 이 때 융합 방식마다 다른 결과를 보였습니다. 고정 가중치로 확률을 섞는 Decision-Fusion은 중간 열화에서 0.77로 센서보다 낮아졌습니다. 학습형 Concat은 중간 열화까지 0.93으로 버텼으나 심한 열화에서는 0.30으로 떨어졌습니다. 적응형 주의를 쓰는 Cross-Attention은 0.90으로 끝까지 유지됐습니다. 즉 이미지 품질이 양호할 때는 Concat이, 심하게 나빠질 때는 적응형 융합이 유리합니다. 따라서 이미지 신뢰도에 따라 비중을 자동으로 조절하는 적응형 가중치가 필요해 보입니다.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9</a:t>
            </a:fld>
            <a:endParaRPr lang="ko-KR" altLang="en-US"/>
          </a:p>
        </p:txBody>
      </p:sp>
    </p:spTree>
    <p:extLst>
      <p:ext uri="{BB962C8B-B14F-4D97-AF65-F5344CB8AC3E}">
        <p14:creationId xmlns:p14="http://schemas.microsoft.com/office/powerpoint/2010/main" val="863702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결함 유형별로 모델이 얼마나 잘 작동하는지 분석한 결과입니다. NoNose 같은 단순한 단일 부품 결함은 F1 0.97로 거의 완벽하게 검출됩니다. 두 부품이 빠진 복합 결함은 0.94로 양호합니다. 그런데 세 부품이 동시에 빠진 가장 복잡한 결함은 0.71로 상대적으로 낮습니다. 이는 결함이 누적될수록 각 결함 유형의 시각적·센서적 특징이 서로 닮아져서 모델이 구분하기 어려워지기 때문입니다. 향후 이러한 부분을 개선한다면 더 나은 모델이 될 것이라 생각됩니다.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결론입니다. 저희는 멀티모달 융합이 언제 도움이 되는지를 단계적으로 확인했습니다. 첫째, 이미지가 깨끗할 때는 이미지 단독이 0.96으로 강해 융합의 정확도 이득은 작았습니다. 둘째, 융합은 이미지 품질이 나빠질 때 더 유용했습니다. 이미지를 점점 열화시키자 이미지 단독은 무너졌지만 적절한 융합은 성능을 유지했습니다. 셋째, 어떤 융합 방식을 쓰느냐가 중요했습니다. 확률을 고정 비율로 평균하는 Decision 융합은 이미지가 조금만 나빠져도 센서보다 떨어졌고, 특징을 이어붙여 학습하는 Concat 융합은 중간 열화까지, 센서가 이미지에 적응적으로 주의를 거는 Cross-Attention 융합은 끝까지 버텼습니다. 정리하면 멀티모달은 무조건 정확도를 높이기보다 이미지가 나쁠 때 더 유용했고, 이미지 신뢰도에 따라 비중을 자동 조절하는 적응형 융합이 그런 상황에 특히 적합합니다.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11</a:t>
            </a:fld>
            <a:endParaRPr lang="ko-KR" altLang="en-US"/>
          </a:p>
        </p:txBody>
      </p:sp>
    </p:spTree>
    <p:extLst>
      <p:ext uri="{BB962C8B-B14F-4D97-AF65-F5344CB8AC3E}">
        <p14:creationId xmlns:p14="http://schemas.microsoft.com/office/powerpoint/2010/main" val="950960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한계와 향후 방향입니다. 첫째, 단일 데이터셋 검증이라 다른 제조 환경 일반화가 필요합니다. 둘째, 깨끗한 실험실 이미지에선 이미지 단독이 0.96으로 너무 강해 융합의 정확도 이득이 작았습니다. 셋째, 가장 중요한 발견이자 한계로, 고정 가중치 융합은 이미지 열화에 취약했습니다. 이를 해결하려면 이미지 신뢰도가 낮을 때 자동으로 비중을 낮추는 적응형·신뢰도 기반 융합이 필요하며, 이번에 적응형 주의(Cross-Attention)가 그 가능성을 보였습니다. 그 외 복합 결함 개선과 도메인 지식 주입 등이 후속 과제입니다.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질문 받겠습니다.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13</a:t>
            </a:fld>
            <a:endParaRPr lang="ko-KR" altLang="en-US"/>
          </a:p>
        </p:txBody>
      </p:sp>
    </p:spTree>
    <p:extLst>
      <p:ext uri="{BB962C8B-B14F-4D97-AF65-F5344CB8AC3E}">
        <p14:creationId xmlns:p14="http://schemas.microsoft.com/office/powerpoint/2010/main" val="69453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08931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09169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27079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87728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8891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2857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1958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637784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2026-06-08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144301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DD42A-90C7-487F-8239-3BC9C7AE3FA4}" type="datetimeFigureOut">
              <a:rPr lang="ko-KR" altLang="en-US" smtClean="0"/>
              <a:t>2026-06-08</a:t>
            </a:fld>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9D645-73ED-4348-97C8-7DB3ADE2B2C4}" type="slidenum">
              <a:rPr lang="ko-KR" altLang="en-US" smtClean="0"/>
              <a:t>‹#›</a:t>
            </a:fld>
            <a:endParaRPr lang="ko-KR" altLang="en-US"/>
          </a:p>
        </p:txBody>
      </p:sp>
      <p:sp>
        <p:nvSpPr>
          <p:cNvPr id="200" name="BottomBar"/>
          <p:cNvSpPr/>
          <p:nvPr/>
        </p:nvSpPr>
        <p:spPr>
          <a:xfrm>
            <a:off x="0" y="6705600"/>
            <a:ext cx="12192000" cy="152400"/>
          </a:xfrm>
          <a:prstGeom prst="rect">
            <a:avLst/>
          </a:prstGeom>
          <a:gradFill>
            <a:gsLst>
              <a:gs pos="0">
                <a:srgbClr val="2676AC"/>
              </a:gs>
              <a:gs pos="35000">
                <a:srgbClr val="16A295"/>
              </a:gs>
              <a:gs pos="65000">
                <a:srgbClr val="93B64E"/>
              </a:gs>
              <a:gs pos="100000">
                <a:srgbClr val="AE729E"/>
              </a:gs>
            </a:gsLst>
            <a:lin ang="0" scaled="1"/>
          </a:gradFill>
          <a:ln>
            <a:noFill/>
          </a:ln>
        </p:spPr>
        <p:txBody>
          <a:bodyPr/>
          <a:lstStyle/>
          <a:p>
            <a:endParaRPr lang="ko-KR"/>
          </a:p>
        </p:txBody>
      </p:sp>
    </p:spTree>
    <p:extLst>
      <p:ext uri="{BB962C8B-B14F-4D97-AF65-F5344CB8AC3E}">
        <p14:creationId xmlns:p14="http://schemas.microsoft.com/office/powerpoint/2010/main" val="15577208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9" r:id="rId6"/>
    <p:sldLayoutId id="2147483770" r:id="rId7"/>
    <p:sldLayoutId id="2147483771" r:id="rId8"/>
    <p:sldLayoutId id="2147483772" r:id="rId9"/>
  </p:sldLayoutIdLst>
  <p:txStyles>
    <p:titleStyle>
      <a:lvl1pPr algn="l" defTabSz="914400" rtl="0" eaLnBrk="1" latinLnBrk="1" hangingPunct="1">
        <a:lnSpc>
          <a:spcPct val="90000"/>
        </a:lnSpc>
        <a:spcBef>
          <a:spcPct val="0"/>
        </a:spcBef>
        <a:buNone/>
        <a:defRPr sz="4400" kern="1200">
          <a:solidFill>
            <a:srgbClr val="1B2A4A"/>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2C759EB-AE6E-48F6-AB6F-B6041826839F}"/>
              </a:ext>
            </a:extLst>
          </p:cNvPr>
          <p:cNvSpPr/>
          <p:nvPr/>
        </p:nvSpPr>
        <p:spPr>
          <a:xfrm>
            <a:off x="0" y="0"/>
            <a:ext cx="12192000" cy="101600"/>
          </a:xfrm>
          <a:prstGeom prst="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nvGrpSpPr>
          <p:cNvPr id="21" name="그룹 20">
            <a:extLst>
              <a:ext uri="{FF2B5EF4-FFF2-40B4-BE49-F238E27FC236}">
                <a16:creationId xmlns:a16="http://schemas.microsoft.com/office/drawing/2014/main" id="{EBE95E33-541A-7ECA-DBE6-55DDF3E50930}"/>
              </a:ext>
            </a:extLst>
          </p:cNvPr>
          <p:cNvGrpSpPr/>
          <p:nvPr/>
        </p:nvGrpSpPr>
        <p:grpSpPr>
          <a:xfrm>
            <a:off x="2390454" y="2485334"/>
            <a:ext cx="7411092" cy="1887331"/>
            <a:chOff x="1250023" y="1632449"/>
            <a:chExt cx="7411092" cy="1887331"/>
          </a:xfrm>
        </p:grpSpPr>
        <p:sp>
          <p:nvSpPr>
            <p:cNvPr id="4" name="TextBox 3">
              <a:extLst>
                <a:ext uri="{FF2B5EF4-FFF2-40B4-BE49-F238E27FC236}">
                  <a16:creationId xmlns:a16="http://schemas.microsoft.com/office/drawing/2014/main" id="{3C0DAF61-DDE0-4C67-A740-1F6B1CD7178B}"/>
                </a:ext>
              </a:extLst>
            </p:cNvPr>
            <p:cNvSpPr txBox="1"/>
            <p:nvPr/>
          </p:nvSpPr>
          <p:spPr>
            <a:xfrm>
              <a:off x="1250023" y="1632449"/>
              <a:ext cx="7411092" cy="542507"/>
            </a:xfrm>
            <a:prstGeom prst="rect">
              <a:avLst/>
            </a:prstGeom>
            <a:noFill/>
          </p:spPr>
          <p:txBody>
            <a:bodyPr vertOverflow="overflow" vert="horz" wrap="square" rtlCol="0" anchor="ctr">
              <a:noAutofit/>
            </a:bodyPr>
            <a:lstStyle/>
            <a:p>
              <a:pPr algn="l"/>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멀티모달</a:t>
              </a:r>
              <a:r>
                <a:rPr lang="en-US" altLang="ko-KR"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딥러닝</a:t>
              </a:r>
              <a:r>
                <a:rPr lang="en-US" altLang="ko-KR"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기반</a:t>
              </a:r>
              <a:r>
                <a:rPr lang="ko-KR" altLang="en-US"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sz="2700" b="1" dirty="0" err="1">
                  <a:latin typeface="나눔고딕"/>
                </a:rPr>
                <a:t>제조</a:t>
              </a:r>
              <a:r>
                <a:rPr sz="2700" b="1" dirty="0">
                  <a:latin typeface="나눔고딕"/>
                </a:rPr>
                <a:t> </a:t>
              </a:r>
              <a:r>
                <a:rPr sz="2700" b="1" dirty="0" err="1">
                  <a:latin typeface="나눔고딕"/>
                </a:rPr>
                <a:t>공정</a:t>
              </a:r>
              <a:r>
                <a:rPr sz="2700" b="1" dirty="0">
                  <a:latin typeface="나눔고딕"/>
                </a:rPr>
                <a:t> </a:t>
              </a:r>
              <a:r>
                <a:rPr sz="2700" b="1" dirty="0" err="1">
                  <a:latin typeface="나눔고딕"/>
                </a:rPr>
                <a:t>이상</a:t>
              </a:r>
              <a:r>
                <a:rPr sz="2700" b="1" dirty="0">
                  <a:latin typeface="나눔고딕"/>
                </a:rPr>
                <a:t> </a:t>
              </a:r>
              <a:r>
                <a:rPr sz="2700" b="1" dirty="0" err="1">
                  <a:latin typeface="나눔고딕"/>
                </a:rPr>
                <a:t>탐지</a:t>
              </a:r>
              <a:endParaRPr sz="2700" b="1" dirty="0"/>
            </a:p>
          </p:txBody>
        </p:sp>
        <p:sp>
          <p:nvSpPr>
            <p:cNvPr id="6" name="TextBox 5">
              <a:extLst>
                <a:ext uri="{FF2B5EF4-FFF2-40B4-BE49-F238E27FC236}">
                  <a16:creationId xmlns:a16="http://schemas.microsoft.com/office/drawing/2014/main" id="{FF4E0AD3-7E47-44C0-A762-E4DB795E0B7E}"/>
                </a:ext>
              </a:extLst>
            </p:cNvPr>
            <p:cNvSpPr txBox="1"/>
            <p:nvPr/>
          </p:nvSpPr>
          <p:spPr>
            <a:xfrm>
              <a:off x="1250023" y="2150106"/>
              <a:ext cx="6971016" cy="324674"/>
            </a:xfrm>
            <a:prstGeom prst="rect">
              <a:avLst/>
            </a:prstGeom>
            <a:noFill/>
          </p:spPr>
          <p:txBody>
            <a:bodyPr vertOverflow="overflow" vert="horz" wrap="square" rtlCol="0" anchor="ctr">
              <a:noAutofit/>
            </a:bodyPr>
            <a:lstStyle/>
            <a:p>
              <a:pPr algn="l"/>
              <a:r>
                <a:rPr lang="en-US" altLang="ko-KR" sz="1400" dirty="0" err="1">
                  <a:solidFill>
                    <a:srgbClr val="555555"/>
                  </a:solidFill>
                  <a:latin typeface="나눔고딕" pitchFamily="2" charset="-127"/>
                  <a:ea typeface="나눔고딕" pitchFamily="2" charset="-127"/>
                  <a:cs typeface="Arial" panose="020B0604020202020204" pitchFamily="34" charset="0"/>
                </a:rPr>
                <a:t>이미지와</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시계열</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센서</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데이터를</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활용한</a:t>
              </a:r>
              <a:r>
                <a:rPr lang="ko-KR" altLang="en-US" sz="1400" dirty="0">
                  <a:solidFill>
                    <a:srgbClr val="555555"/>
                  </a:solidFill>
                  <a:latin typeface="나눔고딕" pitchFamily="2" charset="-127"/>
                  <a:ea typeface="나눔고딕" pitchFamily="2" charset="-127"/>
                  <a:cs typeface="Arial" panose="020B0604020202020204" pitchFamily="34" charset="0"/>
                </a:rPr>
                <a:t> </a:t>
              </a:r>
              <a:r>
                <a:rPr sz="1400" dirty="0" err="1">
                  <a:solidFill>
                    <a:srgbClr val="555555"/>
                  </a:solidFill>
                  <a:latin typeface="나눔고딕" pitchFamily="2" charset="-127"/>
                  <a:ea typeface="나눔고딕" pitchFamily="2" charset="-127"/>
                </a:rPr>
                <a:t>단일</a:t>
              </a:r>
              <a:r>
                <a:rPr sz="1400" dirty="0">
                  <a:solidFill>
                    <a:srgbClr val="555555"/>
                  </a:solidFill>
                  <a:latin typeface="나눔고딕" pitchFamily="2" charset="-127"/>
                  <a:ea typeface="나눔고딕" pitchFamily="2" charset="-127"/>
                </a:rPr>
                <a:t> vs </a:t>
              </a:r>
              <a:r>
                <a:rPr sz="1400" dirty="0" err="1">
                  <a:solidFill>
                    <a:srgbClr val="555555"/>
                  </a:solidFill>
                  <a:latin typeface="나눔고딕" pitchFamily="2" charset="-127"/>
                  <a:ea typeface="나눔고딕" pitchFamily="2" charset="-127"/>
                </a:rPr>
                <a:t>멀티모달</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모델</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비교</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실험</a:t>
              </a:r>
              <a:endParaRPr sz="1400" dirty="0">
                <a:solidFill>
                  <a:srgbClr val="555555"/>
                </a:solidFill>
                <a:latin typeface="나눔고딕" pitchFamily="2" charset="-127"/>
                <a:ea typeface="나눔고딕" pitchFamily="2" charset="-127"/>
              </a:endParaRPr>
            </a:p>
          </p:txBody>
        </p:sp>
        <p:sp>
          <p:nvSpPr>
            <p:cNvPr id="7" name="TextBox 6">
              <a:extLst>
                <a:ext uri="{FF2B5EF4-FFF2-40B4-BE49-F238E27FC236}">
                  <a16:creationId xmlns:a16="http://schemas.microsoft.com/office/drawing/2014/main" id="{2E156A38-9E34-40E2-BAAB-0D515E2FAD93}"/>
                </a:ext>
              </a:extLst>
            </p:cNvPr>
            <p:cNvSpPr txBox="1"/>
            <p:nvPr/>
          </p:nvSpPr>
          <p:spPr>
            <a:xfrm>
              <a:off x="1250023" y="2782630"/>
              <a:ext cx="7298076" cy="381000"/>
            </a:xfrm>
            <a:prstGeom prst="rect">
              <a:avLst/>
            </a:prstGeom>
            <a:noFill/>
          </p:spPr>
          <p:txBody>
            <a:bodyPr vertOverflow="overflow" vert="horz" wrap="square" rtlCol="0" anchor="ctr">
              <a:noAutofit/>
            </a:bodyPr>
            <a:lstStyle/>
            <a:p>
              <a:pPr algn="l"/>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아주대학교</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딥러닝응용</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기말</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프로젝트</a:t>
              </a:r>
              <a:endParaRPr lang="ko-KR" altLang="en-US"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23E903E7-1FBD-4E21-BB75-28CCF49C4405}"/>
                </a:ext>
              </a:extLst>
            </p:cNvPr>
            <p:cNvSpPr txBox="1"/>
            <p:nvPr/>
          </p:nvSpPr>
          <p:spPr>
            <a:xfrm>
              <a:off x="1250023" y="3138780"/>
              <a:ext cx="2099353" cy="381000"/>
            </a:xfrm>
            <a:prstGeom prst="rect">
              <a:avLst/>
            </a:prstGeom>
            <a:noFill/>
          </p:spPr>
          <p:txBody>
            <a:bodyPr vertOverflow="overflow" vert="horz" wrap="square" rtlCol="0" anchor="ctr">
              <a:noAutofit/>
            </a:bodyPr>
            <a:lstStyle/>
            <a:p>
              <a:r>
                <a:rPr lang="en-US" altLang="ko-KR" sz="1400" dirty="0">
                  <a:solidFill>
                    <a:srgbClr val="777777"/>
                  </a:solidFill>
                  <a:latin typeface="나눔고딕" panose="020D0604000000000000" pitchFamily="50" charset="-127"/>
                  <a:ea typeface="나눔고딕" panose="020D0604000000000000" pitchFamily="50" charset="-127"/>
                  <a:cs typeface="Arial" panose="020B0604020202020204" pitchFamily="34" charset="0"/>
                </a:rPr>
                <a:t>[3조] </a:t>
              </a:r>
              <a:r>
                <a:rPr lang="en-US" altLang="ko-KR" sz="1400" dirty="0" err="1">
                  <a:solidFill>
                    <a:srgbClr val="777777"/>
                  </a:solidFill>
                  <a:latin typeface="나눔고딕" panose="020D0604000000000000" pitchFamily="50" charset="-127"/>
                  <a:ea typeface="나눔고딕" panose="020D0604000000000000" pitchFamily="50" charset="-127"/>
                  <a:cs typeface="Arial" panose="020B0604020202020204" pitchFamily="34" charset="0"/>
                </a:rPr>
                <a:t>김주헌</a:t>
              </a:r>
              <a:r>
                <a:rPr lang="en-US" altLang="ko-KR" sz="1400" dirty="0">
                  <a:solidFill>
                    <a:srgbClr val="777777"/>
                  </a:solidFill>
                  <a:latin typeface="나눔고딕" panose="020D0604000000000000" pitchFamily="50" charset="-127"/>
                  <a:ea typeface="나눔고딕" panose="020D0604000000000000" pitchFamily="50" charset="-127"/>
                  <a:cs typeface="Arial" panose="020B0604020202020204" pitchFamily="34" charset="0"/>
                </a:rPr>
                <a:t> · 하현성</a:t>
              </a:r>
            </a:p>
          </p:txBody>
        </p:sp>
      </p:grpSp>
    </p:spTree>
    <p:extLst>
      <p:ext uri="{BB962C8B-B14F-4D97-AF65-F5344CB8AC3E}">
        <p14:creationId xmlns:p14="http://schemas.microsoft.com/office/powerpoint/2010/main" val="142367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왜 멀티모달이 필요한가</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센서만 보면?</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진동·온도·각도는 알지만 부품이 시각적으로 빠진 결함은 알기 어려움</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이미지만 보면?</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시각적 결함은 보이지만 로봇의 비정상 부하·동작 등은 알 수 없음</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두 데이터를 함께 쓰면?</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서로의 한계를 보완할 수 있다는 기대 — 멀티모달 접근의 출발점</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핵심 질문: 결합은 정말 항상 더 나은가? 어떤 조건에서 효과적인가?</a:t>
            </a:r>
          </a:p>
        </p:txBody>
      </p:sp>
    </p:spTree>
    <p:extLst>
      <p:ext uri="{BB962C8B-B14F-4D97-AF65-F5344CB8AC3E}">
        <p14:creationId xmlns:p14="http://schemas.microsoft.com/office/powerpoint/2010/main" val="165108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4F2F343-49D9-45BA-933C-349D18958A8C}"/>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F279297E-1192-4907-A5E6-BFAAC5E1F3C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02</a:t>
            </a:r>
            <a:endParaRPr lang="ko-KR" altLang="en-US" sz="1600" b="1">
              <a:solidFill>
                <a:srgbClr val="FFFFFF"/>
              </a:solidFill>
            </a:endParaRPr>
          </a:p>
        </p:txBody>
      </p:sp>
      <p:sp>
        <p:nvSpPr>
          <p:cNvPr id="5" name="TextBox 4">
            <a:extLst>
              <a:ext uri="{FF2B5EF4-FFF2-40B4-BE49-F238E27FC236}">
                <a16:creationId xmlns:a16="http://schemas.microsoft.com/office/drawing/2014/main" id="{72CF5864-6C9A-40FE-A90D-FD95FABB8883}"/>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프로젝트 목표</a:t>
            </a:r>
          </a:p>
        </p:txBody>
      </p:sp>
      <p:grpSp>
        <p:nvGrpSpPr>
          <p:cNvPr id="23" name="그룹 22">
            <a:extLst>
              <a:ext uri="{FF2B5EF4-FFF2-40B4-BE49-F238E27FC236}">
                <a16:creationId xmlns:a16="http://schemas.microsoft.com/office/drawing/2014/main" id="{5F3AB159-139A-0CE4-327C-F4D77DD803D5}"/>
              </a:ext>
            </a:extLst>
          </p:cNvPr>
          <p:cNvGrpSpPr/>
          <p:nvPr/>
        </p:nvGrpSpPr>
        <p:grpSpPr>
          <a:xfrm>
            <a:off x="698500" y="1600200"/>
            <a:ext cx="10795000" cy="3657600"/>
            <a:chOff x="508000" y="1079500"/>
            <a:chExt cx="10795000" cy="3657600"/>
          </a:xfrm>
        </p:grpSpPr>
        <p:sp>
          <p:nvSpPr>
            <p:cNvPr id="6" name="TextBox 5">
              <a:extLst>
                <a:ext uri="{FF2B5EF4-FFF2-40B4-BE49-F238E27FC236}">
                  <a16:creationId xmlns:a16="http://schemas.microsoft.com/office/drawing/2014/main" id="{A0639D39-7C95-4595-9A73-52E2B28BA140}"/>
                </a:ext>
              </a:extLst>
            </p:cNvPr>
            <p:cNvSpPr txBox="1"/>
            <p:nvPr/>
          </p:nvSpPr>
          <p:spPr>
            <a:xfrm>
              <a:off x="508000" y="1079500"/>
              <a:ext cx="10606783"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답하려는 세 가지 질문</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0D10900D-DD54-484D-8D37-9901F4C89756}"/>
                </a:ext>
              </a:extLst>
            </p:cNvPr>
            <p:cNvSpPr/>
            <p:nvPr/>
          </p:nvSpPr>
          <p:spPr>
            <a:xfrm>
              <a:off x="508000" y="1587500"/>
              <a:ext cx="3048000" cy="2286000"/>
            </a:xfrm>
            <a:prstGeom prst="roundRect">
              <a:avLst/>
            </a:prstGeom>
            <a:solidFill>
              <a:srgbClr val="FFFFFF"/>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타원 7">
              <a:extLst>
                <a:ext uri="{FF2B5EF4-FFF2-40B4-BE49-F238E27FC236}">
                  <a16:creationId xmlns:a16="http://schemas.microsoft.com/office/drawing/2014/main" id="{FA028449-C84E-4C1B-9017-AF23C4F6A054}"/>
                </a:ext>
              </a:extLst>
            </p:cNvPr>
            <p:cNvSpPr/>
            <p:nvPr/>
          </p:nvSpPr>
          <p:spPr>
            <a:xfrm>
              <a:off x="765281" y="1805183"/>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9" name="TextBox 8">
              <a:extLst>
                <a:ext uri="{FF2B5EF4-FFF2-40B4-BE49-F238E27FC236}">
                  <a16:creationId xmlns:a16="http://schemas.microsoft.com/office/drawing/2014/main" id="{4BE1EC74-9750-4E51-BE3F-E3C049FCAC73}"/>
                </a:ext>
              </a:extLst>
            </p:cNvPr>
            <p:cNvSpPr txBox="1"/>
            <p:nvPr/>
          </p:nvSpPr>
          <p:spPr>
            <a:xfrm>
              <a:off x="765281" y="2524158"/>
              <a:ext cx="3048000" cy="355600"/>
            </a:xfrm>
            <a:prstGeom prst="rect">
              <a:avLst/>
            </a:prstGeom>
            <a:noFill/>
          </p:spPr>
          <p:txBody>
            <a:bodyPr vertOverflow="overflow" vert="horz" wrap="square" rtlCol="0" anchor="t">
              <a:noAutofit/>
            </a:bodyPr>
            <a:lstStyle/>
            <a:p>
              <a:pPr algn="l"/>
              <a:r>
                <a:rPr lang="en-US" altLang="ko-KR" sz="15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결합이</a:t>
              </a:r>
              <a:r>
                <a:rPr lang="en-US" altLang="ko-KR" sz="15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5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단독보다</a:t>
              </a:r>
              <a:r>
                <a:rPr lang="en-US" altLang="ko-KR" sz="15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5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나은가</a:t>
              </a:r>
              <a:endParaRPr lang="ko-KR" altLang="en-US" sz="15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0" name="TextBox 9">
              <a:extLst>
                <a:ext uri="{FF2B5EF4-FFF2-40B4-BE49-F238E27FC236}">
                  <a16:creationId xmlns:a16="http://schemas.microsoft.com/office/drawing/2014/main" id="{C07B4BBF-534C-43CD-9A4D-BDE0E4D82B9F}"/>
                </a:ext>
              </a:extLst>
            </p:cNvPr>
            <p:cNvSpPr txBox="1"/>
            <p:nvPr/>
          </p:nvSpPr>
          <p:spPr>
            <a:xfrm>
              <a:off x="7652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센서·이미지·융합 세 모델을</a:t>
              </a:r>
            </a:p>
            <a:p>
              <a:r>
                <a:rPr sz="1200">
                  <a:solidFill>
                    <a:srgbClr val="444444"/>
                  </a:solidFill>
                </a:rPr>
                <a:t>같은 조건에서 직접 비교</a:t>
              </a:r>
            </a:p>
          </p:txBody>
        </p:sp>
        <p:sp>
          <p:nvSpPr>
            <p:cNvPr id="12" name="사각형: 둥근 모서리 11">
              <a:extLst>
                <a:ext uri="{FF2B5EF4-FFF2-40B4-BE49-F238E27FC236}">
                  <a16:creationId xmlns:a16="http://schemas.microsoft.com/office/drawing/2014/main" id="{3F50AED4-79D2-4514-B234-E3195E11449D}"/>
                </a:ext>
              </a:extLst>
            </p:cNvPr>
            <p:cNvSpPr/>
            <p:nvPr/>
          </p:nvSpPr>
          <p:spPr>
            <a:xfrm>
              <a:off x="4381500" y="1587500"/>
              <a:ext cx="3048000" cy="2286000"/>
            </a:xfrm>
            <a:prstGeom prst="roundRect">
              <a:avLst/>
            </a:prstGeom>
            <a:solidFill>
              <a:srgbClr val="FFFFFF"/>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타원 12">
              <a:extLst>
                <a:ext uri="{FF2B5EF4-FFF2-40B4-BE49-F238E27FC236}">
                  <a16:creationId xmlns:a16="http://schemas.microsoft.com/office/drawing/2014/main" id="{0C2FA366-2311-42DF-9390-21A4FC725CCF}"/>
                </a:ext>
              </a:extLst>
            </p:cNvPr>
            <p:cNvSpPr/>
            <p:nvPr/>
          </p:nvSpPr>
          <p:spPr>
            <a:xfrm>
              <a:off x="4638781" y="1805183"/>
              <a:ext cx="558800" cy="5588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4" name="TextBox 13">
              <a:extLst>
                <a:ext uri="{FF2B5EF4-FFF2-40B4-BE49-F238E27FC236}">
                  <a16:creationId xmlns:a16="http://schemas.microsoft.com/office/drawing/2014/main" id="{DC19206D-A76F-4BB5-BD39-0F868D2F5FA7}"/>
                </a:ext>
              </a:extLst>
            </p:cNvPr>
            <p:cNvSpPr txBox="1"/>
            <p:nvPr/>
          </p:nvSpPr>
          <p:spPr>
            <a:xfrm>
              <a:off x="4638781" y="2524158"/>
              <a:ext cx="3048000" cy="355600"/>
            </a:xfrm>
            <a:prstGeom prst="rect">
              <a:avLst/>
            </a:prstGeom>
            <a:noFill/>
          </p:spPr>
          <p:txBody>
            <a:bodyPr vertOverflow="overflow" vert="horz" wrap="square" rtlCol="0" anchor="t">
              <a:noAutofit/>
            </a:bodyPr>
            <a:lstStyle/>
            <a:p>
              <a:pPr algn="l"/>
              <a:r>
                <a:rPr lang="en-US" altLang="ko-KR" sz="15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언제 이득이 발생하는가</a:t>
              </a:r>
              <a:endParaRPr lang="ko-KR" altLang="en-US" sz="15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5" name="TextBox 14">
              <a:extLst>
                <a:ext uri="{FF2B5EF4-FFF2-40B4-BE49-F238E27FC236}">
                  <a16:creationId xmlns:a16="http://schemas.microsoft.com/office/drawing/2014/main" id="{A5158363-372F-41F1-BC04-59E175D89C52}"/>
                </a:ext>
              </a:extLst>
            </p:cNvPr>
            <p:cNvSpPr txBox="1"/>
            <p:nvPr/>
          </p:nvSpPr>
          <p:spPr>
            <a:xfrm>
              <a:off x="46387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모달리티의 강도를</a:t>
              </a:r>
            </a:p>
            <a:p>
              <a:r>
                <a:rPr sz="1200">
                  <a:solidFill>
                    <a:srgbClr val="444444"/>
                  </a:solidFill>
                </a:rPr>
                <a:t>다양하게 조절하여</a:t>
              </a:r>
            </a:p>
            <a:p>
              <a:r>
                <a:rPr sz="1200">
                  <a:solidFill>
                    <a:srgbClr val="444444"/>
                  </a:solidFill>
                </a:rPr>
                <a:t>융합 효과의 일관성 검증</a:t>
              </a:r>
            </a:p>
          </p:txBody>
        </p:sp>
        <p:sp>
          <p:nvSpPr>
            <p:cNvPr id="17" name="사각형: 둥근 모서리 16">
              <a:extLst>
                <a:ext uri="{FF2B5EF4-FFF2-40B4-BE49-F238E27FC236}">
                  <a16:creationId xmlns:a16="http://schemas.microsoft.com/office/drawing/2014/main" id="{BD2E5B76-71D6-4872-BB9C-ABB15EAFAA0A}"/>
                </a:ext>
              </a:extLst>
            </p:cNvPr>
            <p:cNvSpPr/>
            <p:nvPr/>
          </p:nvSpPr>
          <p:spPr>
            <a:xfrm>
              <a:off x="8255000" y="1587500"/>
              <a:ext cx="3048000" cy="2286000"/>
            </a:xfrm>
            <a:prstGeom prst="roundRect">
              <a:avLst/>
            </a:prstGeom>
            <a:solidFill>
              <a:srgbClr val="FFFFFF"/>
            </a:solidFill>
            <a:ln w="25400" cap="flat" cmpd="sng" algn="ctr">
              <a:solidFill>
                <a:srgbClr val="93B6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타원 17">
              <a:extLst>
                <a:ext uri="{FF2B5EF4-FFF2-40B4-BE49-F238E27FC236}">
                  <a16:creationId xmlns:a16="http://schemas.microsoft.com/office/drawing/2014/main" id="{91B52DC5-B94F-4010-BCFA-DC5FFEE86617}"/>
                </a:ext>
              </a:extLst>
            </p:cNvPr>
            <p:cNvSpPr/>
            <p:nvPr/>
          </p:nvSpPr>
          <p:spPr>
            <a:xfrm>
              <a:off x="8512281" y="1805183"/>
              <a:ext cx="558800" cy="5588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9" name="TextBox 18">
              <a:extLst>
                <a:ext uri="{FF2B5EF4-FFF2-40B4-BE49-F238E27FC236}">
                  <a16:creationId xmlns:a16="http://schemas.microsoft.com/office/drawing/2014/main" id="{B6A0EC6B-2D35-4AD0-B4A4-3966345D54C8}"/>
                </a:ext>
              </a:extLst>
            </p:cNvPr>
            <p:cNvSpPr txBox="1"/>
            <p:nvPr/>
          </p:nvSpPr>
          <p:spPr>
            <a:xfrm>
              <a:off x="8512281" y="2524158"/>
              <a:ext cx="2602502" cy="355600"/>
            </a:xfrm>
            <a:prstGeom prst="rect">
              <a:avLst/>
            </a:prstGeom>
            <a:noFill/>
          </p:spPr>
          <p:txBody>
            <a:bodyPr vertOverflow="overflow" vert="horz" wrap="square" rtlCol="0" anchor="t">
              <a:noAutofit/>
            </a:bodyPr>
            <a:lstStyle/>
            <a:p>
              <a:pPr algn="l"/>
              <a:r>
                <a:rPr lang="en-US" altLang="ko-KR" sz="1500" b="1">
                  <a:solidFill>
                    <a:srgbClr val="93B64E"/>
                  </a:solidFill>
                  <a:latin typeface="나눔고딕" panose="020D0604000000000000" pitchFamily="50" charset="-127"/>
                  <a:ea typeface="나눔고딕" panose="020D0604000000000000" pitchFamily="50" charset="-127"/>
                  <a:cs typeface="Arial" panose="020B0604020202020204" pitchFamily="34" charset="0"/>
                </a:rPr>
                <a:t>이미지가 없는 순간엔</a:t>
              </a:r>
              <a:endParaRPr lang="ko-KR" altLang="en-US" sz="15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0" name="TextBox 19">
              <a:extLst>
                <a:ext uri="{FF2B5EF4-FFF2-40B4-BE49-F238E27FC236}">
                  <a16:creationId xmlns:a16="http://schemas.microsoft.com/office/drawing/2014/main" id="{F9B8E14A-D287-4F92-AA49-AADA410682D2}"/>
                </a:ext>
              </a:extLst>
            </p:cNvPr>
            <p:cNvSpPr txBox="1"/>
            <p:nvPr/>
          </p:nvSpPr>
          <p:spPr>
            <a:xfrm>
              <a:off x="8512281" y="2943258"/>
              <a:ext cx="2602502"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카메라 데이터가 없는 시점에도</a:t>
              </a:r>
            </a:p>
            <a:p>
              <a:r>
                <a:rPr sz="1200">
                  <a:solidFill>
                    <a:srgbClr val="444444"/>
                  </a:solidFill>
                </a:rPr>
                <a:t>안정적으로 작동하는</a:t>
              </a:r>
            </a:p>
            <a:p>
              <a:r>
                <a:rPr sz="1200">
                  <a:solidFill>
                    <a:srgbClr val="444444"/>
                  </a:solidFill>
                </a:rPr>
                <a:t>견고한 융합 설계</a:t>
              </a:r>
            </a:p>
          </p:txBody>
        </p:sp>
        <p:sp>
          <p:nvSpPr>
            <p:cNvPr id="21" name="사각형: 둥근 모서리 20">
              <a:extLst>
                <a:ext uri="{FF2B5EF4-FFF2-40B4-BE49-F238E27FC236}">
                  <a16:creationId xmlns:a16="http://schemas.microsoft.com/office/drawing/2014/main" id="{5D8CE290-11EE-4720-B950-D0F4FDB322F3}"/>
                </a:ext>
              </a:extLst>
            </p:cNvPr>
            <p:cNvSpPr/>
            <p:nvPr/>
          </p:nvSpPr>
          <p:spPr>
            <a:xfrm>
              <a:off x="508000" y="4127500"/>
              <a:ext cx="10795000" cy="609600"/>
            </a:xfrm>
            <a:prstGeom prst="roundRect">
              <a:avLst/>
            </a:prstGeom>
            <a:solidFill>
              <a:srgbClr val="F5F9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6641A26-DEA1-4E71-8F56-F64745B9F16C}"/>
                </a:ext>
              </a:extLst>
            </p:cNvPr>
            <p:cNvSpPr txBox="1"/>
            <p:nvPr/>
          </p:nvSpPr>
          <p:spPr>
            <a:xfrm>
              <a:off x="762000" y="4216400"/>
              <a:ext cx="10352783" cy="444500"/>
            </a:xfrm>
            <a:prstGeom prst="rect">
              <a:avLst/>
            </a:prstGeom>
            <a:noFill/>
          </p:spPr>
          <p:txBody>
            <a:bodyPr vertOverflow="overflow" vert="horz" wrap="square" rtlCol="0" anchor="ctr">
              <a:noAutofit/>
            </a:bodyPr>
            <a:lstStyle/>
            <a:p>
              <a:pPr algn="l"/>
              <a:r>
                <a:rPr lang="ko-KR" altLang="en-US" sz="14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단순히 ‘</a:t>
              </a:r>
              <a:r>
                <a:rPr lang="ko-KR" altLang="en-US" sz="14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멀티모달이</a:t>
              </a:r>
              <a:r>
                <a:rPr lang="ko-KR" altLang="en-US" sz="14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좋다’가</a:t>
              </a:r>
              <a:r>
                <a:rPr lang="ko-KR" altLang="en-US" sz="14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아니라, ‘어떤 조건에서 어떻게 </a:t>
              </a:r>
              <a:r>
                <a:rPr lang="ko-KR" altLang="en-US" sz="14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좋은가’를</a:t>
              </a:r>
              <a:r>
                <a:rPr lang="ko-KR" altLang="en-US" sz="14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설명</a:t>
              </a:r>
            </a:p>
          </p:txBody>
        </p:sp>
        <p:sp>
          <p:nvSpPr>
            <p:cNvPr id="11" name="화살표: 오른쪽 10">
              <a:extLst>
                <a:ext uri="{FF2B5EF4-FFF2-40B4-BE49-F238E27FC236}">
                  <a16:creationId xmlns:a16="http://schemas.microsoft.com/office/drawing/2014/main" id="{3450B821-5DF0-46D3-8A36-B63AA5080FCB}"/>
                </a:ext>
              </a:extLst>
            </p:cNvPr>
            <p:cNvSpPr/>
            <p:nvPr/>
          </p:nvSpPr>
          <p:spPr>
            <a:xfrm>
              <a:off x="3619500" y="25781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화살표: 오른쪽 15">
              <a:extLst>
                <a:ext uri="{FF2B5EF4-FFF2-40B4-BE49-F238E27FC236}">
                  <a16:creationId xmlns:a16="http://schemas.microsoft.com/office/drawing/2014/main" id="{69633D6C-C335-4D3A-94F8-788705375CCC}"/>
                </a:ext>
              </a:extLst>
            </p:cNvPr>
            <p:cNvSpPr/>
            <p:nvPr/>
          </p:nvSpPr>
          <p:spPr>
            <a:xfrm>
              <a:off x="7493000" y="25146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spTree>
    <p:extLst>
      <p:ext uri="{BB962C8B-B14F-4D97-AF65-F5344CB8AC3E}">
        <p14:creationId xmlns:p14="http://schemas.microsoft.com/office/powerpoint/2010/main" val="275203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44F69472-44A6-4369-B22F-F106D9569905}"/>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9EBD975-E638-41F2-ADA6-952D8B13AAC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03</a:t>
            </a:r>
            <a:endParaRPr lang="ko-KR" altLang="en-US" sz="1600" b="1">
              <a:solidFill>
                <a:srgbClr val="FFFFFF"/>
              </a:solidFill>
            </a:endParaRPr>
          </a:p>
        </p:txBody>
      </p:sp>
      <p:sp>
        <p:nvSpPr>
          <p:cNvPr id="5" name="TextBox 4">
            <a:extLst>
              <a:ext uri="{FF2B5EF4-FFF2-40B4-BE49-F238E27FC236}">
                <a16:creationId xmlns:a16="http://schemas.microsoft.com/office/drawing/2014/main" id="{113D395D-7CB5-4918-BCDF-218B4B5BC332}"/>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데이터셋: Future Factories Lab (USC)</a:t>
            </a:r>
          </a:p>
        </p:txBody>
      </p:sp>
      <p:sp>
        <p:nvSpPr>
          <p:cNvPr id="6" name="TextBox 5">
            <a:extLst>
              <a:ext uri="{FF2B5EF4-FFF2-40B4-BE49-F238E27FC236}">
                <a16:creationId xmlns:a16="http://schemas.microsoft.com/office/drawing/2014/main" id="{0FC210FD-6C21-435B-9045-5ED8170F5EAF}"/>
              </a:ext>
            </a:extLst>
          </p:cNvPr>
          <p:cNvSpPr txBox="1"/>
          <p:nvPr/>
        </p:nvSpPr>
        <p:spPr>
          <a:xfrm>
            <a:off x="508000" y="1174295"/>
            <a:ext cx="5080000"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Future Factories Lab Dataset (USC)</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D41B44AC-E48C-4514-BD49-9D6B33BFEB01}"/>
              </a:ext>
            </a:extLst>
          </p:cNvPr>
          <p:cNvSpPr/>
          <p:nvPr/>
        </p:nvSpPr>
        <p:spPr>
          <a:xfrm>
            <a:off x="508000" y="165689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749D75D6-073B-4DE6-B2AA-F29C7C8D9F68}"/>
              </a:ext>
            </a:extLst>
          </p:cNvPr>
          <p:cNvSpPr txBox="1"/>
          <p:nvPr/>
        </p:nvSpPr>
        <p:spPr>
          <a:xfrm>
            <a:off x="698500" y="169499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라인:  로봇 4대 + 컨베이어로 구성된 실제 산업 라인</a:t>
            </a:r>
          </a:p>
        </p:txBody>
      </p:sp>
      <p:sp>
        <p:nvSpPr>
          <p:cNvPr id="9" name="사각형: 둥근 모서리 8">
            <a:extLst>
              <a:ext uri="{FF2B5EF4-FFF2-40B4-BE49-F238E27FC236}">
                <a16:creationId xmlns:a16="http://schemas.microsoft.com/office/drawing/2014/main" id="{1FE7DB88-1722-48F8-B696-334F217387B1}"/>
              </a:ext>
            </a:extLst>
          </p:cNvPr>
          <p:cNvSpPr/>
          <p:nvPr/>
        </p:nvSpPr>
        <p:spPr>
          <a:xfrm>
            <a:off x="508000" y="210139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F8F1F657-AD2B-494F-A655-424D39DC48B5}"/>
              </a:ext>
            </a:extLst>
          </p:cNvPr>
          <p:cNvSpPr txBox="1"/>
          <p:nvPr/>
        </p:nvSpPr>
        <p:spPr>
          <a:xfrm>
            <a:off x="698500" y="2139495"/>
            <a:ext cx="5270500" cy="304800"/>
          </a:xfrm>
          <a:prstGeom prst="rect">
            <a:avLst/>
          </a:prstGeom>
          <a:noFill/>
        </p:spPr>
        <p:txBody>
          <a:bodyPr vertOverflow="overflow" vert="horz" wrap="square" rtlCol="0" anchor="t">
            <a:noAutofit/>
          </a:bodyPr>
          <a:lstStyle/>
          <a:p>
            <a:pPr algn="l"/>
            <a:r>
              <a:rPr lang="ko-KR" altLang="en-US"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대상:  4개 부품으로 된 로켓 모형</a:t>
            </a:r>
          </a:p>
        </p:txBody>
      </p:sp>
      <p:sp>
        <p:nvSpPr>
          <p:cNvPr id="11" name="사각형: 둥근 모서리 10">
            <a:extLst>
              <a:ext uri="{FF2B5EF4-FFF2-40B4-BE49-F238E27FC236}">
                <a16:creationId xmlns:a16="http://schemas.microsoft.com/office/drawing/2014/main" id="{276E0808-C1DE-4798-9D3C-93369AA53683}"/>
              </a:ext>
            </a:extLst>
          </p:cNvPr>
          <p:cNvSpPr/>
          <p:nvPr/>
        </p:nvSpPr>
        <p:spPr>
          <a:xfrm>
            <a:off x="508000" y="254589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4F7220DD-14E3-49DA-A899-FB6C57395553}"/>
              </a:ext>
            </a:extLst>
          </p:cNvPr>
          <p:cNvSpPr txBox="1"/>
          <p:nvPr/>
        </p:nvSpPr>
        <p:spPr>
          <a:xfrm>
            <a:off x="698500" y="258399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수집 시간:  30시간, 약 166,000 측정 시점</a:t>
            </a:r>
          </a:p>
        </p:txBody>
      </p:sp>
      <p:sp>
        <p:nvSpPr>
          <p:cNvPr id="13" name="사각형: 둥근 모서리 12">
            <a:extLst>
              <a:ext uri="{FF2B5EF4-FFF2-40B4-BE49-F238E27FC236}">
                <a16:creationId xmlns:a16="http://schemas.microsoft.com/office/drawing/2014/main" id="{FDEC831B-D5BD-4095-85D4-D5521CA4AA25}"/>
              </a:ext>
            </a:extLst>
          </p:cNvPr>
          <p:cNvSpPr/>
          <p:nvPr/>
        </p:nvSpPr>
        <p:spPr>
          <a:xfrm>
            <a:off x="508000" y="299039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226B8F36-EED6-472F-A736-8B51F7BA4E79}"/>
              </a:ext>
            </a:extLst>
          </p:cNvPr>
          <p:cNvSpPr txBox="1"/>
          <p:nvPr/>
        </p:nvSpPr>
        <p:spPr>
          <a:xfrm>
            <a:off x="698500" y="302849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센서 데이터:  22채널 — 모든 시점에 기록 (전 사이클 구간)</a:t>
            </a:r>
          </a:p>
        </p:txBody>
      </p:sp>
      <p:sp>
        <p:nvSpPr>
          <p:cNvPr id="15" name="사각형: 둥근 모서리 14">
            <a:extLst>
              <a:ext uri="{FF2B5EF4-FFF2-40B4-BE49-F238E27FC236}">
                <a16:creationId xmlns:a16="http://schemas.microsoft.com/office/drawing/2014/main" id="{C193E774-E4A3-47FD-871B-12E28412B0E6}"/>
              </a:ext>
            </a:extLst>
          </p:cNvPr>
          <p:cNvSpPr/>
          <p:nvPr/>
        </p:nvSpPr>
        <p:spPr>
          <a:xfrm>
            <a:off x="508000" y="343489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D21068F9-F28A-487F-91EF-57F506834EEC}"/>
              </a:ext>
            </a:extLst>
          </p:cNvPr>
          <p:cNvSpPr txBox="1"/>
          <p:nvPr/>
        </p:nvSpPr>
        <p:spPr>
          <a:xfrm>
            <a:off x="698500" y="3472995"/>
            <a:ext cx="5270500" cy="304800"/>
          </a:xfrm>
          <a:prstGeom prst="rect">
            <a:avLst/>
          </a:prstGeom>
          <a:noFill/>
        </p:spPr>
        <p:txBody>
          <a:bodyPr vertOverflow="overflow" vert="horz" wrap="square" rtlCol="0" anchor="t">
            <a:noAutofit/>
          </a:bodyPr>
          <a:lstStyle/>
          <a:p>
            <a:r>
              <a:rPr lang="ko-KR" altLang="en-US"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rPr>
              <a:t>이미지 데이터:  카메라 2대 — 부품이 보이는 일부 구간만 사용 </a:t>
            </a:r>
            <a:r>
              <a:rPr lang="en-US" altLang="ko-KR"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200" dirty="0" err="1">
                <a:solidFill>
                  <a:srgbClr val="333333"/>
                </a:solidFill>
                <a:latin typeface="나눔고딕" panose="020D0604000000000000" pitchFamily="50" charset="-127"/>
                <a:ea typeface="나눔고딕" panose="020D0604000000000000" pitchFamily="50" charset="-127"/>
                <a:cs typeface="Arial" panose="020B0604020202020204" pitchFamily="34" charset="0"/>
              </a:rPr>
              <a:t>Cycle</a:t>
            </a:r>
            <a:r>
              <a:rPr lang="ko-KR" altLang="en-US"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rPr>
              <a:t> 4·9</a:t>
            </a:r>
            <a:r>
              <a:rPr lang="en-US" altLang="ko-KR"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rPr>
              <a:t>)</a:t>
            </a:r>
            <a:endParaRPr lang="ko-KR" altLang="en-US" sz="1200" dirty="0">
              <a:solidFill>
                <a:srgbClr val="333333"/>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7" name="TextBox 16">
            <a:extLst>
              <a:ext uri="{FF2B5EF4-FFF2-40B4-BE49-F238E27FC236}">
                <a16:creationId xmlns:a16="http://schemas.microsoft.com/office/drawing/2014/main" id="{9951BA10-3E6D-40E9-9DE0-CC15ADE521DB}"/>
              </a:ext>
            </a:extLst>
          </p:cNvPr>
          <p:cNvSpPr txBox="1"/>
          <p:nvPr/>
        </p:nvSpPr>
        <p:spPr>
          <a:xfrm>
            <a:off x="6604002" y="1275895"/>
            <a:ext cx="5080000" cy="3175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이상 유형 분류</a:t>
            </a:r>
          </a:p>
        </p:txBody>
      </p:sp>
      <p:graphicFrame>
        <p:nvGraphicFramePr>
          <p:cNvPr id="19" name="표 18">
            <a:extLst>
              <a:ext uri="{FF2B5EF4-FFF2-40B4-BE49-F238E27FC236}">
                <a16:creationId xmlns:a16="http://schemas.microsoft.com/office/drawing/2014/main" id="{CB84146B-07C4-4062-A314-23E8D7C31CCA}"/>
              </a:ext>
            </a:extLst>
          </p:cNvPr>
          <p:cNvGraphicFramePr>
            <a:graphicFrameLocks noGrp="1"/>
          </p:cNvGraphicFramePr>
          <p:nvPr>
            <p:extLst>
              <p:ext uri="{D42A27DB-BD31-4B8C-83A1-F6EECF244321}">
                <p14:modId xmlns:p14="http://schemas.microsoft.com/office/powerpoint/2010/main" val="1929447853"/>
              </p:ext>
            </p:extLst>
          </p:nvPr>
        </p:nvGraphicFramePr>
        <p:xfrm>
          <a:off x="6604002" y="1656895"/>
          <a:ext cx="5080000" cy="2158998"/>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3642264490"/>
                    </a:ext>
                  </a:extLst>
                </a:gridCol>
                <a:gridCol w="2540000">
                  <a:extLst>
                    <a:ext uri="{9D8B030D-6E8A-4147-A177-3AD203B41FA5}">
                      <a16:colId xmlns:a16="http://schemas.microsoft.com/office/drawing/2014/main" val="1844567270"/>
                    </a:ext>
                  </a:extLst>
                </a:gridCol>
              </a:tblGrid>
              <a:tr h="359833">
                <a:tc>
                  <a:txBody>
                    <a:bodyPr/>
                    <a:lstStyle/>
                    <a:p>
                      <a:pPr algn="ctr">
                        <a:lnSpc>
                          <a:spcPct val="150000"/>
                        </a:lnSpc>
                      </a:pPr>
                      <a:r>
                        <a:rPr lang="ko-KR" altLang="en-US" sz="1100" b="1">
                          <a:solidFill>
                            <a:srgbClr val="FFFFFF"/>
                          </a:solidFill>
                        </a:rPr>
                        <a:t>이상 유형</a:t>
                      </a:r>
                    </a:p>
                  </a:txBody>
                  <a:tcPr>
                    <a:solidFill>
                      <a:srgbClr val="1B2A4A"/>
                    </a:solidFill>
                  </a:tcPr>
                </a:tc>
                <a:tc>
                  <a:txBody>
                    <a:bodyPr/>
                    <a:lstStyle/>
                    <a:p>
                      <a:pPr algn="ctr">
                        <a:lnSpc>
                          <a:spcPct val="150000"/>
                        </a:lnSpc>
                      </a:pPr>
                      <a:r>
                        <a:rPr lang="ko-KR" altLang="en-US" sz="1100" b="1">
                          <a:solidFill>
                            <a:srgbClr val="FFFFFF"/>
                          </a:solidFill>
                        </a:rPr>
                        <a:t>비율</a:t>
                      </a:r>
                    </a:p>
                  </a:txBody>
                  <a:tcPr>
                    <a:solidFill>
                      <a:srgbClr val="1B2A4A"/>
                    </a:solidFill>
                  </a:tcPr>
                </a:tc>
                <a:extLst>
                  <a:ext uri="{0D108BD9-81ED-4DB2-BD59-A6C34878D82A}">
                    <a16:rowId xmlns:a16="http://schemas.microsoft.com/office/drawing/2014/main" val="550871531"/>
                  </a:ext>
                </a:extLst>
              </a:tr>
              <a:tr h="359833">
                <a:tc>
                  <a:txBody>
                    <a:bodyPr/>
                    <a:lstStyle/>
                    <a:p>
                      <a:pPr algn="l">
                        <a:lnSpc>
                          <a:spcPct val="150000"/>
                        </a:lnSpc>
                      </a:pPr>
                      <a:r>
                        <a:rPr lang="ko-KR" altLang="en-US" sz="1100" err="1">
                          <a:solidFill>
                            <a:srgbClr val="333333"/>
                          </a:solidFill>
                        </a:rPr>
                        <a:t>No</a:t>
                      </a:r>
                      <a:r>
                        <a:rPr lang="ko-KR" altLang="en-US" sz="1100">
                          <a:solidFill>
                            <a:srgbClr val="333333"/>
                          </a:solidFill>
                        </a:rPr>
                        <a:t> </a:t>
                      </a:r>
                      <a:r>
                        <a:rPr lang="ko-KR" altLang="en-US" sz="1100" err="1">
                          <a:solidFill>
                            <a:srgbClr val="333333"/>
                          </a:solidFill>
                        </a:rPr>
                        <a:t>Anomaly</a:t>
                      </a:r>
                      <a:r>
                        <a:rPr lang="ko-KR" altLang="en-US" sz="1100">
                          <a:solidFill>
                            <a:srgbClr val="333333"/>
                          </a:solidFill>
                        </a:rPr>
                        <a:t> (정상)</a:t>
                      </a:r>
                    </a:p>
                  </a:txBody>
                  <a:tcPr/>
                </a:tc>
                <a:tc>
                  <a:txBody>
                    <a:bodyPr/>
                    <a:lstStyle/>
                    <a:p>
                      <a:pPr algn="ctr">
                        <a:lnSpc>
                          <a:spcPct val="150000"/>
                        </a:lnSpc>
                      </a:pPr>
                      <a:r>
                        <a:rPr lang="ko-KR" altLang="en-US" sz="1100">
                          <a:solidFill>
                            <a:srgbClr val="333333"/>
                          </a:solidFill>
                        </a:rPr>
                        <a:t>54.72%</a:t>
                      </a:r>
                    </a:p>
                  </a:txBody>
                  <a:tcPr/>
                </a:tc>
                <a:extLst>
                  <a:ext uri="{0D108BD9-81ED-4DB2-BD59-A6C34878D82A}">
                    <a16:rowId xmlns:a16="http://schemas.microsoft.com/office/drawing/2014/main" val="57346582"/>
                  </a:ext>
                </a:extLst>
              </a:tr>
              <a:tr h="359833">
                <a:tc>
                  <a:txBody>
                    <a:bodyPr/>
                    <a:lstStyle/>
                    <a:p>
                      <a:pPr algn="l">
                        <a:lnSpc>
                          <a:spcPct val="150000"/>
                        </a:lnSpc>
                      </a:pPr>
                      <a:r>
                        <a:rPr lang="ko-KR" altLang="en-US" sz="1100" err="1">
                          <a:solidFill>
                            <a:srgbClr val="333333"/>
                          </a:solidFill>
                        </a:rPr>
                        <a:t>NoNose</a:t>
                      </a:r>
                      <a:endParaRPr lang="ko-KR" altLang="en-US" sz="1100">
                        <a:solidFill>
                          <a:srgbClr val="333333"/>
                        </a:solidFill>
                      </a:endParaRPr>
                    </a:p>
                  </a:txBody>
                  <a:tcPr>
                    <a:solidFill>
                      <a:srgbClr val="F5F7FA"/>
                    </a:solidFill>
                  </a:tcPr>
                </a:tc>
                <a:tc>
                  <a:txBody>
                    <a:bodyPr/>
                    <a:lstStyle/>
                    <a:p>
                      <a:pPr algn="ctr">
                        <a:lnSpc>
                          <a:spcPct val="150000"/>
                        </a:lnSpc>
                      </a:pPr>
                      <a:r>
                        <a:rPr lang="ko-KR" altLang="en-US" sz="1100">
                          <a:solidFill>
                            <a:srgbClr val="333333"/>
                          </a:solidFill>
                        </a:rPr>
                        <a:t>11.63%</a:t>
                      </a:r>
                    </a:p>
                  </a:txBody>
                  <a:tcPr>
                    <a:solidFill>
                      <a:srgbClr val="F5F7FA"/>
                    </a:solidFill>
                  </a:tcPr>
                </a:tc>
                <a:extLst>
                  <a:ext uri="{0D108BD9-81ED-4DB2-BD59-A6C34878D82A}">
                    <a16:rowId xmlns:a16="http://schemas.microsoft.com/office/drawing/2014/main" val="4259242690"/>
                  </a:ext>
                </a:extLst>
              </a:tr>
              <a:tr h="359833">
                <a:tc>
                  <a:txBody>
                    <a:bodyPr/>
                    <a:lstStyle/>
                    <a:p>
                      <a:pPr algn="l">
                        <a:lnSpc>
                          <a:spcPct val="150000"/>
                        </a:lnSpc>
                      </a:pPr>
                      <a:r>
                        <a:rPr lang="ko-KR" altLang="en-US" sz="1100" err="1">
                          <a:solidFill>
                            <a:srgbClr val="333333"/>
                          </a:solidFill>
                        </a:rPr>
                        <a:t>NoNose</a:t>
                      </a:r>
                      <a:r>
                        <a:rPr lang="ko-KR" altLang="en-US" sz="1100">
                          <a:solidFill>
                            <a:srgbClr val="333333"/>
                          </a:solidFill>
                        </a:rPr>
                        <a:t>, NoBody2</a:t>
                      </a:r>
                    </a:p>
                  </a:txBody>
                  <a:tcPr/>
                </a:tc>
                <a:tc>
                  <a:txBody>
                    <a:bodyPr/>
                    <a:lstStyle/>
                    <a:p>
                      <a:pPr algn="ctr">
                        <a:lnSpc>
                          <a:spcPct val="150000"/>
                        </a:lnSpc>
                      </a:pPr>
                      <a:r>
                        <a:rPr lang="ko-KR" altLang="en-US" sz="1100">
                          <a:solidFill>
                            <a:srgbClr val="333333"/>
                          </a:solidFill>
                        </a:rPr>
                        <a:t>15.18%</a:t>
                      </a:r>
                    </a:p>
                  </a:txBody>
                  <a:tcPr/>
                </a:tc>
                <a:extLst>
                  <a:ext uri="{0D108BD9-81ED-4DB2-BD59-A6C34878D82A}">
                    <a16:rowId xmlns:a16="http://schemas.microsoft.com/office/drawing/2014/main" val="1689734928"/>
                  </a:ext>
                </a:extLst>
              </a:tr>
              <a:tr h="359833">
                <a:tc>
                  <a:txBody>
                    <a:bodyPr/>
                    <a:lstStyle/>
                    <a:p>
                      <a:pPr algn="l">
                        <a:lnSpc>
                          <a:spcPct val="150000"/>
                        </a:lnSpc>
                      </a:pPr>
                      <a:r>
                        <a:rPr lang="ko-KR" altLang="en-US" sz="1100">
                          <a:solidFill>
                            <a:srgbClr val="333333"/>
                          </a:solidFill>
                        </a:rPr>
                        <a:t>NoNose, NoBody2, NoBody1</a:t>
                      </a:r>
                    </a:p>
                  </a:txBody>
                  <a:tcPr>
                    <a:solidFill>
                      <a:srgbClr val="F5F7FA"/>
                    </a:solidFill>
                  </a:tcPr>
                </a:tc>
                <a:tc>
                  <a:txBody>
                    <a:bodyPr/>
                    <a:lstStyle/>
                    <a:p>
                      <a:pPr algn="ctr">
                        <a:lnSpc>
                          <a:spcPct val="150000"/>
                        </a:lnSpc>
                      </a:pPr>
                      <a:r>
                        <a:rPr lang="ko-KR" altLang="en-US" sz="1100">
                          <a:solidFill>
                            <a:srgbClr val="333333"/>
                          </a:solidFill>
                        </a:rPr>
                        <a:t>16.04%</a:t>
                      </a:r>
                    </a:p>
                  </a:txBody>
                  <a:tcPr>
                    <a:solidFill>
                      <a:srgbClr val="F5F7FA"/>
                    </a:solidFill>
                  </a:tcPr>
                </a:tc>
                <a:extLst>
                  <a:ext uri="{0D108BD9-81ED-4DB2-BD59-A6C34878D82A}">
                    <a16:rowId xmlns:a16="http://schemas.microsoft.com/office/drawing/2014/main" val="3607165976"/>
                  </a:ext>
                </a:extLst>
              </a:tr>
              <a:tr h="359833">
                <a:tc>
                  <a:txBody>
                    <a:bodyPr/>
                    <a:lstStyle/>
                    <a:p>
                      <a:pPr algn="l">
                        <a:lnSpc>
                          <a:spcPct val="150000"/>
                        </a:lnSpc>
                      </a:pPr>
                      <a:r>
                        <a:rPr lang="ko-KR" altLang="en-US" sz="1100">
                          <a:solidFill>
                            <a:srgbClr val="333333"/>
                          </a:solidFill>
                        </a:rPr>
                        <a:t>NoBody1, NoBody2 등</a:t>
                      </a:r>
                    </a:p>
                  </a:txBody>
                  <a:tcPr/>
                </a:tc>
                <a:tc>
                  <a:txBody>
                    <a:bodyPr/>
                    <a:lstStyle/>
                    <a:p>
                      <a:pPr algn="ctr">
                        <a:lnSpc>
                          <a:spcPct val="150000"/>
                        </a:lnSpc>
                      </a:pPr>
                      <a:r>
                        <a:rPr lang="ko-KR" altLang="en-US" sz="1100">
                          <a:solidFill>
                            <a:srgbClr val="333333"/>
                          </a:solidFill>
                        </a:rPr>
                        <a:t>합계 ~2.4%</a:t>
                      </a:r>
                    </a:p>
                  </a:txBody>
                  <a:tcPr/>
                </a:tc>
                <a:extLst>
                  <a:ext uri="{0D108BD9-81ED-4DB2-BD59-A6C34878D82A}">
                    <a16:rowId xmlns:a16="http://schemas.microsoft.com/office/drawing/2014/main" val="830743961"/>
                  </a:ext>
                </a:extLst>
              </a:tr>
            </a:tbl>
          </a:graphicData>
        </a:graphic>
      </p:graphicFrame>
      <p:sp>
        <p:nvSpPr>
          <p:cNvPr id="20" name="사각형: 둥근 모서리 19">
            <a:extLst>
              <a:ext uri="{FF2B5EF4-FFF2-40B4-BE49-F238E27FC236}">
                <a16:creationId xmlns:a16="http://schemas.microsoft.com/office/drawing/2014/main" id="{327A8F6E-5198-422A-8B6E-5F618B643376}"/>
              </a:ext>
            </a:extLst>
          </p:cNvPr>
          <p:cNvSpPr/>
          <p:nvPr/>
        </p:nvSpPr>
        <p:spPr>
          <a:xfrm>
            <a:off x="508000" y="4024135"/>
            <a:ext cx="11176000" cy="683668"/>
          </a:xfrm>
          <a:prstGeom prst="roundRect">
            <a:avLst/>
          </a:prstGeom>
          <a:solidFill>
            <a:srgbClr val="FFF8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7CBCE0F1-738A-43FE-B6CA-3BA4F3DD9CBB}"/>
              </a:ext>
            </a:extLst>
          </p:cNvPr>
          <p:cNvSpPr txBox="1"/>
          <p:nvPr/>
        </p:nvSpPr>
        <p:spPr>
          <a:xfrm>
            <a:off x="698500" y="4087635"/>
            <a:ext cx="2540000" cy="279400"/>
          </a:xfrm>
          <a:prstGeom prst="rect">
            <a:avLst/>
          </a:prstGeom>
          <a:noFill/>
        </p:spPr>
        <p:txBody>
          <a:bodyPr vertOverflow="overflow" vert="horz" wrap="square" rtlCol="0" anchor="t">
            <a:noAutofit/>
          </a:bodyPr>
          <a:lstStyle/>
          <a:p>
            <a:pPr algn="l"/>
            <a:r>
              <a:rPr lang="ko-KR" altLang="en-US" sz="1200" b="1">
                <a:solidFill>
                  <a:srgbClr val="F29E16"/>
                </a:solidFill>
                <a:latin typeface="나눔고딕" panose="020D0604000000000000" pitchFamily="50" charset="-127"/>
                <a:ea typeface="나눔고딕" panose="020D0604000000000000" pitchFamily="50" charset="-127"/>
                <a:cs typeface="Arial" panose="020B0604020202020204" pitchFamily="34" charset="0"/>
              </a:rPr>
              <a:t>라벨 구조</a:t>
            </a:r>
          </a:p>
        </p:txBody>
      </p:sp>
      <p:sp>
        <p:nvSpPr>
          <p:cNvPr id="22" name="TextBox 21">
            <a:extLst>
              <a:ext uri="{FF2B5EF4-FFF2-40B4-BE49-F238E27FC236}">
                <a16:creationId xmlns:a16="http://schemas.microsoft.com/office/drawing/2014/main" id="{8EBD75B3-898E-40CF-8468-BCF0BF5705CF}"/>
              </a:ext>
            </a:extLst>
          </p:cNvPr>
          <p:cNvSpPr txBox="1"/>
          <p:nvPr/>
        </p:nvSpPr>
        <p:spPr>
          <a:xfrm>
            <a:off x="698500" y="4379735"/>
            <a:ext cx="10668000" cy="279400"/>
          </a:xfrm>
          <a:prstGeom prst="rect">
            <a:avLst/>
          </a:prstGeom>
          <a:noFill/>
        </p:spPr>
        <p:txBody>
          <a:bodyPr vertOverflow="overflow" vert="horz" wrap="square" rtlCol="0" anchor="t">
            <a:noAutofit/>
          </a:bodyPr>
          <a:lstStyle/>
          <a:p>
            <a:pPr algn="l"/>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매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측정</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시점마다</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그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순간의</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상태</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정상</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어떤</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부품</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빠짐</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)가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기록됨</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sz="1200" dirty="0">
                <a:solidFill>
                  <a:srgbClr val="555555"/>
                </a:solidFill>
              </a:rPr>
              <a:t>→ ‘</a:t>
            </a:r>
            <a:r>
              <a:rPr sz="1200" dirty="0" err="1">
                <a:solidFill>
                  <a:srgbClr val="555555"/>
                </a:solidFill>
              </a:rPr>
              <a:t>지금</a:t>
            </a:r>
            <a:r>
              <a:rPr sz="1200" dirty="0">
                <a:solidFill>
                  <a:srgbClr val="555555"/>
                </a:solidFill>
              </a:rPr>
              <a:t> 이 </a:t>
            </a:r>
            <a:r>
              <a:rPr sz="1200" dirty="0" err="1">
                <a:solidFill>
                  <a:srgbClr val="555555"/>
                </a:solidFill>
              </a:rPr>
              <a:t>순간</a:t>
            </a:r>
            <a:r>
              <a:rPr sz="1200" dirty="0">
                <a:solidFill>
                  <a:srgbClr val="555555"/>
                </a:solidFill>
              </a:rPr>
              <a:t> </a:t>
            </a:r>
            <a:r>
              <a:rPr sz="1200" dirty="0" err="1">
                <a:solidFill>
                  <a:srgbClr val="555555"/>
                </a:solidFill>
              </a:rPr>
              <a:t>어떤</a:t>
            </a:r>
            <a:r>
              <a:rPr sz="1200" dirty="0">
                <a:solidFill>
                  <a:srgbClr val="555555"/>
                </a:solidFill>
              </a:rPr>
              <a:t> </a:t>
            </a:r>
            <a:r>
              <a:rPr sz="1200" dirty="0" err="1">
                <a:solidFill>
                  <a:srgbClr val="555555"/>
                </a:solidFill>
              </a:rPr>
              <a:t>상태인가’를</a:t>
            </a:r>
            <a:r>
              <a:rPr sz="1200" dirty="0">
                <a:solidFill>
                  <a:srgbClr val="555555"/>
                </a:solidFill>
              </a:rPr>
              <a:t> 매 </a:t>
            </a:r>
            <a:r>
              <a:rPr sz="1200" dirty="0" err="1">
                <a:solidFill>
                  <a:srgbClr val="555555"/>
                </a:solidFill>
              </a:rPr>
              <a:t>시점</a:t>
            </a:r>
            <a:r>
              <a:rPr sz="1200" dirty="0">
                <a:solidFill>
                  <a:srgbClr val="555555"/>
                </a:solidFill>
              </a:rPr>
              <a:t> </a:t>
            </a:r>
            <a:r>
              <a:rPr sz="1200" dirty="0" err="1">
                <a:solidFill>
                  <a:srgbClr val="555555"/>
                </a:solidFill>
              </a:rPr>
              <a:t>분류하는</a:t>
            </a:r>
            <a:r>
              <a:rPr sz="1200" dirty="0">
                <a:solidFill>
                  <a:srgbClr val="555555"/>
                </a:solidFill>
              </a:rPr>
              <a:t> </a:t>
            </a:r>
            <a:r>
              <a:rPr sz="1200" dirty="0" err="1">
                <a:solidFill>
                  <a:srgbClr val="555555"/>
                </a:solidFill>
              </a:rPr>
              <a:t>과제</a:t>
            </a:r>
            <a:endParaRPr sz="1200" dirty="0">
              <a:solidFill>
                <a:srgbClr val="555555"/>
              </a:solidFill>
            </a:endParaRPr>
          </a:p>
        </p:txBody>
      </p:sp>
      <p:pic>
        <p:nvPicPr>
          <p:cNvPr id="2" name="그림 1">
            <a:extLst>
              <a:ext uri="{FF2B5EF4-FFF2-40B4-BE49-F238E27FC236}">
                <a16:creationId xmlns:a16="http://schemas.microsoft.com/office/drawing/2014/main" id="{53FE5D75-CCF6-EE81-3AB2-82F1B69D3423}"/>
              </a:ext>
            </a:extLst>
          </p:cNvPr>
          <p:cNvPicPr>
            <a:picLocks noChangeAspect="1"/>
          </p:cNvPicPr>
          <p:nvPr/>
        </p:nvPicPr>
        <p:blipFill>
          <a:blip r:embed="rId3"/>
          <a:stretch>
            <a:fillRect/>
          </a:stretch>
        </p:blipFill>
        <p:spPr>
          <a:xfrm>
            <a:off x="4855265" y="4906262"/>
            <a:ext cx="6828735" cy="1510715"/>
          </a:xfrm>
          <a:prstGeom prst="rect">
            <a:avLst/>
          </a:prstGeom>
        </p:spPr>
      </p:pic>
      <p:pic>
        <p:nvPicPr>
          <p:cNvPr id="24" name="그림 23">
            <a:extLst>
              <a:ext uri="{FF2B5EF4-FFF2-40B4-BE49-F238E27FC236}">
                <a16:creationId xmlns:a16="http://schemas.microsoft.com/office/drawing/2014/main" id="{1EE9E0AE-D743-BDDE-E63E-E38D2F67BD06}"/>
              </a:ext>
            </a:extLst>
          </p:cNvPr>
          <p:cNvPicPr>
            <a:picLocks noChangeAspect="1"/>
          </p:cNvPicPr>
          <p:nvPr/>
        </p:nvPicPr>
        <p:blipFill>
          <a:blip r:embed="rId4"/>
          <a:srcRect l="5060" t="6594" r="76515" b="77610"/>
          <a:stretch>
            <a:fillRect/>
          </a:stretch>
        </p:blipFill>
        <p:spPr>
          <a:xfrm>
            <a:off x="508000" y="5014000"/>
            <a:ext cx="1918253" cy="1295400"/>
          </a:xfrm>
          <a:prstGeom prst="rect">
            <a:avLst/>
          </a:prstGeom>
        </p:spPr>
      </p:pic>
      <p:pic>
        <p:nvPicPr>
          <p:cNvPr id="25" name="그림 24">
            <a:extLst>
              <a:ext uri="{FF2B5EF4-FFF2-40B4-BE49-F238E27FC236}">
                <a16:creationId xmlns:a16="http://schemas.microsoft.com/office/drawing/2014/main" id="{08243F84-CD14-7829-2FA5-0E99636F07A6}"/>
              </a:ext>
            </a:extLst>
          </p:cNvPr>
          <p:cNvPicPr>
            <a:picLocks noChangeAspect="1"/>
          </p:cNvPicPr>
          <p:nvPr/>
        </p:nvPicPr>
        <p:blipFill>
          <a:blip r:embed="rId4"/>
          <a:srcRect l="5012" t="30879" r="76563" b="53325"/>
          <a:stretch>
            <a:fillRect/>
          </a:stretch>
        </p:blipFill>
        <p:spPr>
          <a:xfrm>
            <a:off x="2441161" y="5013918"/>
            <a:ext cx="1918253" cy="1295400"/>
          </a:xfrm>
          <a:prstGeom prst="rect">
            <a:avLst/>
          </a:prstGeom>
        </p:spPr>
      </p:pic>
    </p:spTree>
    <p:extLst>
      <p:ext uri="{BB962C8B-B14F-4D97-AF65-F5344CB8AC3E}">
        <p14:creationId xmlns:p14="http://schemas.microsoft.com/office/powerpoint/2010/main" val="3927354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94D440F-2CDE-4A22-95E0-BC24D298F7E8}"/>
              </a:ext>
            </a:extLst>
          </p:cNvPr>
          <p:cNvSpPr/>
          <p:nvPr/>
        </p:nvSpPr>
        <p:spPr>
          <a:xfrm>
            <a:off x="0" y="-46234"/>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3BC0469-B0DB-42C8-AF7F-884DFE2A8C1E}"/>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04</a:t>
            </a:r>
            <a:endParaRPr lang="ko-KR" altLang="en-US" sz="1600" b="1">
              <a:solidFill>
                <a:srgbClr val="FFFFFF"/>
              </a:solidFill>
            </a:endParaRPr>
          </a:p>
        </p:txBody>
      </p:sp>
      <p:sp>
        <p:nvSpPr>
          <p:cNvPr id="5" name="TextBox 4">
            <a:extLst>
              <a:ext uri="{FF2B5EF4-FFF2-40B4-BE49-F238E27FC236}">
                <a16:creationId xmlns:a16="http://schemas.microsoft.com/office/drawing/2014/main" id="{0C12993F-6372-46DC-A47F-FD97393BD727}"/>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세 가지 모델로 비교</a:t>
            </a:r>
          </a:p>
        </p:txBody>
      </p:sp>
      <p:grpSp>
        <p:nvGrpSpPr>
          <p:cNvPr id="2" name="그룹 1">
            <a:extLst>
              <a:ext uri="{FF2B5EF4-FFF2-40B4-BE49-F238E27FC236}">
                <a16:creationId xmlns:a16="http://schemas.microsoft.com/office/drawing/2014/main" id="{62693120-C24B-4A0A-E675-5C30414BC4FC}"/>
              </a:ext>
            </a:extLst>
          </p:cNvPr>
          <p:cNvGrpSpPr/>
          <p:nvPr/>
        </p:nvGrpSpPr>
        <p:grpSpPr>
          <a:xfrm>
            <a:off x="884266" y="2159903"/>
            <a:ext cx="10423468" cy="3089615"/>
            <a:chOff x="296518" y="2214568"/>
            <a:chExt cx="11341813" cy="3089615"/>
          </a:xfrm>
        </p:grpSpPr>
        <p:sp>
          <p:nvSpPr>
            <p:cNvPr id="6" name="사각형: 둥근 모서리 5">
              <a:extLst>
                <a:ext uri="{FF2B5EF4-FFF2-40B4-BE49-F238E27FC236}">
                  <a16:creationId xmlns:a16="http://schemas.microsoft.com/office/drawing/2014/main" id="{65127842-14A5-42F0-B28E-3ACFB2C79F05}"/>
                </a:ext>
              </a:extLst>
            </p:cNvPr>
            <p:cNvSpPr/>
            <p:nvPr/>
          </p:nvSpPr>
          <p:spPr>
            <a:xfrm>
              <a:off x="296518" y="2214568"/>
              <a:ext cx="3683000" cy="4826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ko-KR" altLang="en-US" sz="1400" b="1">
                  <a:solidFill>
                    <a:srgbClr val="FFFFFF"/>
                  </a:solidFill>
                </a:rPr>
                <a:t>센서 단독 — BiLSTM</a:t>
              </a:r>
            </a:p>
          </p:txBody>
        </p:sp>
        <p:sp>
          <p:nvSpPr>
            <p:cNvPr id="7" name="사각형: 둥근 모서리 6">
              <a:extLst>
                <a:ext uri="{FF2B5EF4-FFF2-40B4-BE49-F238E27FC236}">
                  <a16:creationId xmlns:a16="http://schemas.microsoft.com/office/drawing/2014/main" id="{310A4AF8-297D-4FDA-B735-7155BB78FF46}"/>
                </a:ext>
              </a:extLst>
            </p:cNvPr>
            <p:cNvSpPr/>
            <p:nvPr/>
          </p:nvSpPr>
          <p:spPr>
            <a:xfrm>
              <a:off x="296518" y="2760668"/>
              <a:ext cx="3683000" cy="1095715"/>
            </a:xfrm>
            <a:prstGeom prst="roundRect">
              <a:avLst>
                <a:gd name="adj" fmla="val 4184"/>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40A717B7-CFC2-4421-86C6-850E8CA586B0}"/>
                </a:ext>
              </a:extLst>
            </p:cNvPr>
            <p:cNvSpPr txBox="1"/>
            <p:nvPr/>
          </p:nvSpPr>
          <p:spPr>
            <a:xfrm>
              <a:off x="448918" y="2849568"/>
              <a:ext cx="3378200" cy="852758"/>
            </a:xfrm>
            <a:prstGeom prst="rect">
              <a:avLst/>
            </a:prstGeom>
            <a:noFill/>
          </p:spPr>
          <p:txBody>
            <a:bodyPr vertOverflow="overflow" vert="horz" wrap="square" rtlCol="0" anchor="t">
              <a:noAutofit/>
            </a:bodyPr>
            <a:lstStyle/>
            <a:p>
              <a:r>
                <a:rPr lang="en-US" altLang="ko-KR" sz="1100" dirty="0">
                  <a:solidFill>
                    <a:srgbClr val="444444"/>
                  </a:solidFill>
                </a:rPr>
                <a:t>• </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22채널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시계열</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데이터</a:t>
              </a:r>
              <a:endParaRPr lang="ko-KR" altLang="en-US"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a:p>
              <a:r>
                <a:rPr sz="1100" dirty="0">
                  <a:solidFill>
                    <a:srgbClr val="444444"/>
                  </a:solidFill>
                </a:rPr>
                <a:t>• </a:t>
              </a:r>
              <a:r>
                <a:rPr sz="1100" dirty="0" err="1">
                  <a:solidFill>
                    <a:srgbClr val="444444"/>
                  </a:solidFill>
                </a:rPr>
                <a:t>양방향</a:t>
              </a:r>
              <a:r>
                <a:rPr sz="1100" dirty="0">
                  <a:solidFill>
                    <a:srgbClr val="444444"/>
                  </a:solidFill>
                </a:rPr>
                <a:t> LSTM (2-layer)</a:t>
              </a:r>
            </a:p>
            <a:p>
              <a:r>
                <a:rPr sz="1100" dirty="0">
                  <a:solidFill>
                    <a:srgbClr val="444444"/>
                  </a:solidFill>
                </a:rPr>
                <a:t>• </a:t>
              </a:r>
              <a:r>
                <a:rPr sz="1100" dirty="0" err="1">
                  <a:solidFill>
                    <a:srgbClr val="444444"/>
                  </a:solidFill>
                </a:rPr>
                <a:t>시간</a:t>
              </a:r>
              <a:r>
                <a:rPr sz="1100" dirty="0">
                  <a:solidFill>
                    <a:srgbClr val="444444"/>
                  </a:solidFill>
                </a:rPr>
                <a:t> </a:t>
              </a:r>
              <a:r>
                <a:rPr sz="1100" dirty="0" err="1">
                  <a:solidFill>
                    <a:srgbClr val="444444"/>
                  </a:solidFill>
                </a:rPr>
                <a:t>흐름</a:t>
              </a:r>
              <a:r>
                <a:rPr sz="1100" dirty="0">
                  <a:solidFill>
                    <a:srgbClr val="444444"/>
                  </a:solidFill>
                </a:rPr>
                <a:t> </a:t>
              </a:r>
              <a:r>
                <a:rPr sz="1100" dirty="0" err="1">
                  <a:solidFill>
                    <a:srgbClr val="444444"/>
                  </a:solidFill>
                </a:rPr>
                <a:t>패턴</a:t>
              </a:r>
              <a:r>
                <a:rPr sz="1100" dirty="0">
                  <a:solidFill>
                    <a:srgbClr val="444444"/>
                  </a:solidFill>
                </a:rPr>
                <a:t> </a:t>
              </a:r>
              <a:r>
                <a:rPr sz="1100" dirty="0" err="1">
                  <a:solidFill>
                    <a:srgbClr val="444444"/>
                  </a:solidFill>
                </a:rPr>
                <a:t>분석</a:t>
              </a:r>
              <a:endParaRPr sz="1100" dirty="0">
                <a:solidFill>
                  <a:srgbClr val="444444"/>
                </a:solidFill>
              </a:endParaRPr>
            </a:p>
            <a:p>
              <a:r>
                <a:rPr sz="1100" dirty="0">
                  <a:solidFill>
                    <a:srgbClr val="444444"/>
                  </a:solidFill>
                </a:rPr>
                <a:t>• </a:t>
              </a:r>
              <a:r>
                <a:rPr sz="1100" dirty="0" err="1">
                  <a:solidFill>
                    <a:srgbClr val="444444"/>
                  </a:solidFill>
                </a:rPr>
                <a:t>모든</a:t>
              </a:r>
              <a:r>
                <a:rPr sz="1100" dirty="0">
                  <a:solidFill>
                    <a:srgbClr val="444444"/>
                  </a:solidFill>
                </a:rPr>
                <a:t> </a:t>
              </a:r>
              <a:r>
                <a:rPr sz="1100" dirty="0" err="1">
                  <a:solidFill>
                    <a:srgbClr val="444444"/>
                  </a:solidFill>
                </a:rPr>
                <a:t>시점에서</a:t>
              </a:r>
              <a:r>
                <a:rPr sz="1100" dirty="0">
                  <a:solidFill>
                    <a:srgbClr val="444444"/>
                  </a:solidFill>
                </a:rPr>
                <a:t> </a:t>
              </a:r>
              <a:r>
                <a:rPr sz="1100" dirty="0" err="1">
                  <a:solidFill>
                    <a:srgbClr val="444444"/>
                  </a:solidFill>
                </a:rPr>
                <a:t>작동</a:t>
              </a:r>
              <a:endParaRPr sz="1100" dirty="0">
                <a:solidFill>
                  <a:srgbClr val="444444"/>
                </a:solidFill>
              </a:endParaRPr>
            </a:p>
          </p:txBody>
        </p:sp>
        <p:sp>
          <p:nvSpPr>
            <p:cNvPr id="9" name="사각형: 둥근 모서리 8">
              <a:extLst>
                <a:ext uri="{FF2B5EF4-FFF2-40B4-BE49-F238E27FC236}">
                  <a16:creationId xmlns:a16="http://schemas.microsoft.com/office/drawing/2014/main" id="{73137C35-247D-4CAF-B0E7-3F74A27D7ACC}"/>
                </a:ext>
              </a:extLst>
            </p:cNvPr>
            <p:cNvSpPr/>
            <p:nvPr/>
          </p:nvSpPr>
          <p:spPr>
            <a:xfrm>
              <a:off x="296518" y="3945283"/>
              <a:ext cx="3683000" cy="579065"/>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33E428B-44F8-4E37-BC47-8D2F449591A3}"/>
                </a:ext>
              </a:extLst>
            </p:cNvPr>
            <p:cNvSpPr txBox="1"/>
            <p:nvPr/>
          </p:nvSpPr>
          <p:spPr>
            <a:xfrm>
              <a:off x="448918" y="4096112"/>
              <a:ext cx="3378200" cy="428236"/>
            </a:xfrm>
            <a:prstGeom prst="rect">
              <a:avLst/>
            </a:prstGeom>
            <a:noFill/>
          </p:spPr>
          <p:txBody>
            <a:bodyPr vertOverflow="overflow" vert="horz" wrap="square" rtlCol="0" anchor="t">
              <a:noAutofit/>
            </a:bodyPr>
            <a:lstStyle/>
            <a:p>
              <a:pPr algn="l"/>
              <a:r>
                <a:rPr lang="ko-KR" altLang="en-US" sz="1100" b="1" dirty="0">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항상 가용한 </a:t>
              </a:r>
              <a:r>
                <a:rPr sz="1100" b="1" dirty="0" err="1">
                  <a:solidFill>
                    <a:srgbClr val="E8584F"/>
                  </a:solidFill>
                </a:rPr>
                <a:t>기본</a:t>
              </a:r>
              <a:r>
                <a:rPr sz="1100" b="1" dirty="0">
                  <a:solidFill>
                    <a:srgbClr val="E8584F"/>
                  </a:solidFill>
                </a:rPr>
                <a:t> </a:t>
              </a:r>
              <a:r>
                <a:rPr sz="1100" b="1" dirty="0" err="1">
                  <a:solidFill>
                    <a:srgbClr val="E8584F"/>
                  </a:solidFill>
                </a:rPr>
                <a:t>모달리티</a:t>
              </a:r>
              <a:endParaRPr sz="1100" b="1" dirty="0">
                <a:solidFill>
                  <a:srgbClr val="E8584F"/>
                </a:solidFill>
              </a:endParaRPr>
            </a:p>
          </p:txBody>
        </p:sp>
        <p:sp>
          <p:nvSpPr>
            <p:cNvPr id="11" name="사각형: 둥근 모서리 10">
              <a:extLst>
                <a:ext uri="{FF2B5EF4-FFF2-40B4-BE49-F238E27FC236}">
                  <a16:creationId xmlns:a16="http://schemas.microsoft.com/office/drawing/2014/main" id="{7E223DCD-5241-4F1B-A6BE-CC72A0E0AF43}"/>
                </a:ext>
              </a:extLst>
            </p:cNvPr>
            <p:cNvSpPr/>
            <p:nvPr/>
          </p:nvSpPr>
          <p:spPr>
            <a:xfrm>
              <a:off x="4106518" y="2214568"/>
              <a:ext cx="3683000" cy="4826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이미지 단독 — ResNet18</a:t>
              </a:r>
              <a:endParaRPr lang="ko-KR" altLang="en-US" sz="1400" b="1">
                <a:solidFill>
                  <a:srgbClr val="FFFFFF"/>
                </a:solidFill>
              </a:endParaRPr>
            </a:p>
          </p:txBody>
        </p:sp>
        <p:sp>
          <p:nvSpPr>
            <p:cNvPr id="12" name="사각형: 둥근 모서리 11">
              <a:extLst>
                <a:ext uri="{FF2B5EF4-FFF2-40B4-BE49-F238E27FC236}">
                  <a16:creationId xmlns:a16="http://schemas.microsoft.com/office/drawing/2014/main" id="{AB26570A-179F-4888-A971-49AED315E673}"/>
                </a:ext>
              </a:extLst>
            </p:cNvPr>
            <p:cNvSpPr/>
            <p:nvPr/>
          </p:nvSpPr>
          <p:spPr>
            <a:xfrm>
              <a:off x="4106518" y="2760668"/>
              <a:ext cx="3683000" cy="1095715"/>
            </a:xfrm>
            <a:prstGeom prst="roundRect">
              <a:avLst>
                <a:gd name="adj" fmla="val 4393"/>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TextBox 12">
              <a:extLst>
                <a:ext uri="{FF2B5EF4-FFF2-40B4-BE49-F238E27FC236}">
                  <a16:creationId xmlns:a16="http://schemas.microsoft.com/office/drawing/2014/main" id="{748AB003-6FDA-47A0-AE37-49397A164B5C}"/>
                </a:ext>
              </a:extLst>
            </p:cNvPr>
            <p:cNvSpPr txBox="1"/>
            <p:nvPr/>
          </p:nvSpPr>
          <p:spPr>
            <a:xfrm>
              <a:off x="4258918" y="2849568"/>
              <a:ext cx="3378200" cy="852758"/>
            </a:xfrm>
            <a:prstGeom prst="rect">
              <a:avLst/>
            </a:prstGeom>
            <a:noFill/>
          </p:spPr>
          <p:txBody>
            <a:bodyPr vertOverflow="overflow" vert="horz" wrap="square" rtlCol="0" anchor="t">
              <a:noAutofit/>
            </a:bodyPr>
            <a:lstStyle/>
            <a:p>
              <a:r>
                <a:rPr lang="en-US" altLang="ko-KR" sz="1100" dirty="0">
                  <a:solidFill>
                    <a:srgbClr val="444444"/>
                  </a:solidFill>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카메라</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2대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동기</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입력</a:t>
              </a:r>
              <a:endPar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a:p>
              <a:r>
                <a:rPr sz="1100" dirty="0">
                  <a:solidFill>
                    <a:srgbClr val="444444"/>
                  </a:solidFill>
                </a:rPr>
                <a:t>• ImageNet </a:t>
              </a:r>
              <a:r>
                <a:rPr sz="1100" dirty="0" err="1">
                  <a:solidFill>
                    <a:srgbClr val="444444"/>
                  </a:solidFill>
                </a:rPr>
                <a:t>전이학습</a:t>
              </a:r>
              <a:endParaRPr sz="1100" dirty="0">
                <a:solidFill>
                  <a:srgbClr val="444444"/>
                </a:solidFill>
              </a:endParaRPr>
            </a:p>
            <a:p>
              <a:r>
                <a:rPr sz="1100" dirty="0">
                  <a:solidFill>
                    <a:srgbClr val="444444"/>
                  </a:solidFill>
                </a:rPr>
                <a:t>• 두 </a:t>
              </a:r>
              <a:r>
                <a:rPr sz="1100" dirty="0" err="1">
                  <a:solidFill>
                    <a:srgbClr val="444444"/>
                  </a:solidFill>
                </a:rPr>
                <a:t>카메라</a:t>
              </a:r>
              <a:r>
                <a:rPr sz="1100" dirty="0">
                  <a:solidFill>
                    <a:srgbClr val="444444"/>
                  </a:solidFill>
                </a:rPr>
                <a:t> </a:t>
              </a:r>
              <a:r>
                <a:rPr sz="1100" dirty="0" err="1">
                  <a:solidFill>
                    <a:srgbClr val="444444"/>
                  </a:solidFill>
                </a:rPr>
                <a:t>특징</a:t>
              </a:r>
              <a:r>
                <a:rPr sz="1100" dirty="0">
                  <a:solidFill>
                    <a:srgbClr val="444444"/>
                  </a:solidFill>
                </a:rPr>
                <a:t> </a:t>
              </a:r>
              <a:r>
                <a:rPr sz="1100" dirty="0" err="1">
                  <a:solidFill>
                    <a:srgbClr val="444444"/>
                  </a:solidFill>
                </a:rPr>
                <a:t>평균</a:t>
              </a:r>
              <a:endParaRPr sz="1100" dirty="0">
                <a:solidFill>
                  <a:srgbClr val="444444"/>
                </a:solidFill>
              </a:endParaRPr>
            </a:p>
            <a:p>
              <a:r>
                <a:rPr sz="1100" dirty="0">
                  <a:solidFill>
                    <a:srgbClr val="444444"/>
                  </a:solidFill>
                </a:rPr>
                <a:t>• </a:t>
              </a:r>
              <a:r>
                <a:rPr sz="1100" dirty="0" err="1">
                  <a:solidFill>
                    <a:srgbClr val="444444"/>
                  </a:solidFill>
                </a:rPr>
                <a:t>시각적</a:t>
              </a:r>
              <a:r>
                <a:rPr sz="1100" dirty="0">
                  <a:solidFill>
                    <a:srgbClr val="444444"/>
                  </a:solidFill>
                </a:rPr>
                <a:t> </a:t>
              </a:r>
              <a:r>
                <a:rPr sz="1100" dirty="0" err="1">
                  <a:solidFill>
                    <a:srgbClr val="444444"/>
                  </a:solidFill>
                </a:rPr>
                <a:t>결함</a:t>
              </a:r>
              <a:r>
                <a:rPr sz="1100" dirty="0">
                  <a:solidFill>
                    <a:srgbClr val="444444"/>
                  </a:solidFill>
                </a:rPr>
                <a:t> </a:t>
              </a:r>
              <a:r>
                <a:rPr sz="1100" dirty="0" err="1">
                  <a:solidFill>
                    <a:srgbClr val="444444"/>
                  </a:solidFill>
                </a:rPr>
                <a:t>직접</a:t>
              </a:r>
              <a:r>
                <a:rPr sz="1100" dirty="0">
                  <a:solidFill>
                    <a:srgbClr val="444444"/>
                  </a:solidFill>
                </a:rPr>
                <a:t> </a:t>
              </a:r>
              <a:r>
                <a:rPr sz="1100" dirty="0" err="1">
                  <a:solidFill>
                    <a:srgbClr val="444444"/>
                  </a:solidFill>
                </a:rPr>
                <a:t>판별</a:t>
              </a:r>
              <a:endParaRPr sz="1100" dirty="0">
                <a:solidFill>
                  <a:srgbClr val="444444"/>
                </a:solidFill>
              </a:endParaRPr>
            </a:p>
          </p:txBody>
        </p:sp>
        <p:sp>
          <p:nvSpPr>
            <p:cNvPr id="14" name="사각형: 둥근 모서리 13">
              <a:extLst>
                <a:ext uri="{FF2B5EF4-FFF2-40B4-BE49-F238E27FC236}">
                  <a16:creationId xmlns:a16="http://schemas.microsoft.com/office/drawing/2014/main" id="{CA05D5A7-5FFE-4205-A2EB-F052149016EB}"/>
                </a:ext>
              </a:extLst>
            </p:cNvPr>
            <p:cNvSpPr/>
            <p:nvPr/>
          </p:nvSpPr>
          <p:spPr>
            <a:xfrm>
              <a:off x="4106518" y="3945283"/>
              <a:ext cx="3683000" cy="579065"/>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796E16D0-C435-4DC5-B5BF-A0E3B602E14C}"/>
                </a:ext>
              </a:extLst>
            </p:cNvPr>
            <p:cNvSpPr txBox="1"/>
            <p:nvPr/>
          </p:nvSpPr>
          <p:spPr>
            <a:xfrm>
              <a:off x="4258918" y="4096112"/>
              <a:ext cx="3378200" cy="428236"/>
            </a:xfrm>
            <a:prstGeom prst="rect">
              <a:avLst/>
            </a:prstGeom>
            <a:noFill/>
          </p:spPr>
          <p:txBody>
            <a:bodyPr vertOverflow="overflow" vert="horz" wrap="square" rtlCol="0" anchor="t">
              <a:noAutofit/>
            </a:bodyPr>
            <a:lstStyle/>
            <a:p>
              <a:pPr algn="l"/>
              <a:r>
                <a:rPr lang="ko-KR" altLang="en-US" sz="1100" b="1" dirty="0">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시각 정보로 </a:t>
              </a:r>
              <a:r>
                <a:rPr sz="1100" b="1" dirty="0" err="1">
                  <a:solidFill>
                    <a:srgbClr val="E8584F"/>
                  </a:solidFill>
                </a:rPr>
                <a:t>결함</a:t>
              </a:r>
              <a:r>
                <a:rPr sz="1100" b="1" dirty="0">
                  <a:solidFill>
                    <a:srgbClr val="E8584F"/>
                  </a:solidFill>
                </a:rPr>
                <a:t> </a:t>
              </a:r>
              <a:r>
                <a:rPr sz="1100" b="1" dirty="0" err="1">
                  <a:solidFill>
                    <a:srgbClr val="E8584F"/>
                  </a:solidFill>
                </a:rPr>
                <a:t>직접</a:t>
              </a:r>
              <a:r>
                <a:rPr sz="1100" b="1" dirty="0">
                  <a:solidFill>
                    <a:srgbClr val="E8584F"/>
                  </a:solidFill>
                </a:rPr>
                <a:t> </a:t>
              </a:r>
              <a:r>
                <a:rPr sz="1100" b="1" dirty="0" err="1">
                  <a:solidFill>
                    <a:srgbClr val="E8584F"/>
                  </a:solidFill>
                </a:rPr>
                <a:t>포착</a:t>
              </a:r>
              <a:endParaRPr sz="1100" b="1" dirty="0">
                <a:solidFill>
                  <a:srgbClr val="E8584F"/>
                </a:solidFill>
              </a:endParaRPr>
            </a:p>
          </p:txBody>
        </p:sp>
        <p:sp>
          <p:nvSpPr>
            <p:cNvPr id="16" name="사각형: 둥근 모서리 15">
              <a:extLst>
                <a:ext uri="{FF2B5EF4-FFF2-40B4-BE49-F238E27FC236}">
                  <a16:creationId xmlns:a16="http://schemas.microsoft.com/office/drawing/2014/main" id="{116A9196-9330-494A-834F-2B0C2CBA3D66}"/>
                </a:ext>
              </a:extLst>
            </p:cNvPr>
            <p:cNvSpPr/>
            <p:nvPr/>
          </p:nvSpPr>
          <p:spPr>
            <a:xfrm>
              <a:off x="7916518" y="2214568"/>
              <a:ext cx="3683000" cy="4826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융합 — Decision-level</a:t>
              </a:r>
              <a:endParaRPr lang="ko-KR" altLang="en-US" sz="1400" b="1">
                <a:solidFill>
                  <a:srgbClr val="FFFFFF"/>
                </a:solidFill>
              </a:endParaRPr>
            </a:p>
          </p:txBody>
        </p:sp>
        <p:sp>
          <p:nvSpPr>
            <p:cNvPr id="17" name="사각형: 둥근 모서리 16">
              <a:extLst>
                <a:ext uri="{FF2B5EF4-FFF2-40B4-BE49-F238E27FC236}">
                  <a16:creationId xmlns:a16="http://schemas.microsoft.com/office/drawing/2014/main" id="{6E029E81-9A6F-4464-951C-CC79A9F835F7}"/>
                </a:ext>
              </a:extLst>
            </p:cNvPr>
            <p:cNvSpPr/>
            <p:nvPr/>
          </p:nvSpPr>
          <p:spPr>
            <a:xfrm>
              <a:off x="7916518" y="2760668"/>
              <a:ext cx="3683000" cy="1095715"/>
            </a:xfrm>
            <a:prstGeom prst="roundRect">
              <a:avLst>
                <a:gd name="adj" fmla="val 3835"/>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904F73FC-4C57-4C87-9023-B72CE7DC9922}"/>
                </a:ext>
              </a:extLst>
            </p:cNvPr>
            <p:cNvSpPr txBox="1"/>
            <p:nvPr/>
          </p:nvSpPr>
          <p:spPr>
            <a:xfrm>
              <a:off x="8068918" y="2849568"/>
              <a:ext cx="3378200" cy="852758"/>
            </a:xfrm>
            <a:prstGeom prst="rect">
              <a:avLst/>
            </a:prstGeom>
            <a:noFill/>
          </p:spPr>
          <p:txBody>
            <a:bodyPr vertOverflow="overflow" vert="horz" wrap="square" rtlCol="0" anchor="t">
              <a:noAutofit/>
            </a:bodyPr>
            <a:lstStyle/>
            <a:p>
              <a:r>
                <a:rPr lang="en-US" altLang="ko-KR" sz="1100" dirty="0">
                  <a:solidFill>
                    <a:srgbClr val="444444"/>
                  </a:solidFill>
                </a:rPr>
                <a:t>• </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두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모델</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출력</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확률</a:t>
              </a:r>
              <a:r>
                <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100" dirty="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결합</a:t>
              </a:r>
              <a:endParaRPr lang="en-US" altLang="ko-KR" sz="1100" dirty="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a:p>
              <a:r>
                <a:rPr sz="1100" dirty="0">
                  <a:solidFill>
                    <a:srgbClr val="444444"/>
                  </a:solidFill>
                </a:rPr>
                <a:t>• </a:t>
              </a:r>
              <a:r>
                <a:rPr sz="1100" dirty="0" err="1">
                  <a:solidFill>
                    <a:srgbClr val="444444"/>
                  </a:solidFill>
                </a:rPr>
                <a:t>가중치는</a:t>
              </a:r>
              <a:r>
                <a:rPr sz="1100" dirty="0">
                  <a:solidFill>
                    <a:srgbClr val="444444"/>
                  </a:solidFill>
                </a:rPr>
                <a:t> </a:t>
              </a:r>
              <a:r>
                <a:rPr sz="1100" dirty="0" err="1">
                  <a:solidFill>
                    <a:srgbClr val="444444"/>
                  </a:solidFill>
                </a:rPr>
                <a:t>train에서</a:t>
              </a:r>
              <a:r>
                <a:rPr sz="1100" dirty="0">
                  <a:solidFill>
                    <a:srgbClr val="444444"/>
                  </a:solidFill>
                </a:rPr>
                <a:t> </a:t>
              </a:r>
              <a:r>
                <a:rPr sz="1100" dirty="0" err="1">
                  <a:solidFill>
                    <a:srgbClr val="444444"/>
                  </a:solidFill>
                </a:rPr>
                <a:t>결정</a:t>
              </a:r>
              <a:endParaRPr sz="1100" dirty="0">
                <a:solidFill>
                  <a:srgbClr val="444444"/>
                </a:solidFill>
              </a:endParaRPr>
            </a:p>
            <a:p>
              <a:r>
                <a:rPr sz="1100" dirty="0">
                  <a:solidFill>
                    <a:srgbClr val="444444"/>
                  </a:solidFill>
                </a:rPr>
                <a:t>• </a:t>
              </a:r>
              <a:r>
                <a:rPr sz="1100" dirty="0" err="1">
                  <a:solidFill>
                    <a:srgbClr val="444444"/>
                  </a:solidFill>
                </a:rPr>
                <a:t>이미지</a:t>
              </a:r>
              <a:r>
                <a:rPr sz="1100" dirty="0">
                  <a:solidFill>
                    <a:srgbClr val="444444"/>
                  </a:solidFill>
                </a:rPr>
                <a:t> </a:t>
              </a:r>
              <a:r>
                <a:rPr sz="1100" dirty="0" err="1">
                  <a:solidFill>
                    <a:srgbClr val="444444"/>
                  </a:solidFill>
                </a:rPr>
                <a:t>없으면</a:t>
              </a:r>
              <a:r>
                <a:rPr sz="1100" dirty="0">
                  <a:solidFill>
                    <a:srgbClr val="444444"/>
                  </a:solidFill>
                </a:rPr>
                <a:t> </a:t>
              </a:r>
              <a:r>
                <a:rPr sz="1100" dirty="0" err="1">
                  <a:solidFill>
                    <a:srgbClr val="444444"/>
                  </a:solidFill>
                </a:rPr>
                <a:t>센서만</a:t>
              </a:r>
              <a:endParaRPr sz="1100" dirty="0">
                <a:solidFill>
                  <a:srgbClr val="444444"/>
                </a:solidFill>
              </a:endParaRPr>
            </a:p>
            <a:p>
              <a:r>
                <a:rPr sz="1100" dirty="0">
                  <a:solidFill>
                    <a:srgbClr val="444444"/>
                  </a:solidFill>
                </a:rPr>
                <a:t>• </a:t>
              </a:r>
              <a:r>
                <a:rPr sz="1100" dirty="0" err="1">
                  <a:solidFill>
                    <a:srgbClr val="444444"/>
                  </a:solidFill>
                </a:rPr>
                <a:t>결측에</a:t>
              </a:r>
              <a:r>
                <a:rPr sz="1100" dirty="0">
                  <a:solidFill>
                    <a:srgbClr val="444444"/>
                  </a:solidFill>
                </a:rPr>
                <a:t> </a:t>
              </a:r>
              <a:r>
                <a:rPr sz="1100" dirty="0" err="1">
                  <a:solidFill>
                    <a:srgbClr val="444444"/>
                  </a:solidFill>
                </a:rPr>
                <a:t>견고한</a:t>
              </a:r>
              <a:r>
                <a:rPr sz="1100" dirty="0">
                  <a:solidFill>
                    <a:srgbClr val="444444"/>
                  </a:solidFill>
                </a:rPr>
                <a:t> </a:t>
              </a:r>
              <a:r>
                <a:rPr sz="1100" dirty="0" err="1">
                  <a:solidFill>
                    <a:srgbClr val="444444"/>
                  </a:solidFill>
                </a:rPr>
                <a:t>구조</a:t>
              </a:r>
              <a:endParaRPr sz="1100" dirty="0">
                <a:solidFill>
                  <a:srgbClr val="444444"/>
                </a:solidFill>
              </a:endParaRPr>
            </a:p>
          </p:txBody>
        </p:sp>
        <p:sp>
          <p:nvSpPr>
            <p:cNvPr id="19" name="사각형: 둥근 모서리 18">
              <a:extLst>
                <a:ext uri="{FF2B5EF4-FFF2-40B4-BE49-F238E27FC236}">
                  <a16:creationId xmlns:a16="http://schemas.microsoft.com/office/drawing/2014/main" id="{10DFF70D-1BD4-4535-828C-4CBF9985661E}"/>
                </a:ext>
              </a:extLst>
            </p:cNvPr>
            <p:cNvSpPr/>
            <p:nvPr/>
          </p:nvSpPr>
          <p:spPr>
            <a:xfrm>
              <a:off x="7916518" y="3945283"/>
              <a:ext cx="3683000" cy="579065"/>
            </a:xfrm>
            <a:prstGeom prst="roundRect">
              <a:avLst>
                <a:gd name="adj" fmla="val 11519"/>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TextBox 19">
              <a:extLst>
                <a:ext uri="{FF2B5EF4-FFF2-40B4-BE49-F238E27FC236}">
                  <a16:creationId xmlns:a16="http://schemas.microsoft.com/office/drawing/2014/main" id="{08200ACC-F9B7-453E-8D25-84864C768E0D}"/>
                </a:ext>
              </a:extLst>
            </p:cNvPr>
            <p:cNvSpPr txBox="1"/>
            <p:nvPr/>
          </p:nvSpPr>
          <p:spPr>
            <a:xfrm>
              <a:off x="8068918" y="4096112"/>
              <a:ext cx="3378200" cy="428236"/>
            </a:xfrm>
            <a:prstGeom prst="rect">
              <a:avLst/>
            </a:prstGeom>
            <a:noFill/>
          </p:spPr>
          <p:txBody>
            <a:bodyPr vertOverflow="overflow" vert="horz" wrap="square" rtlCol="0" anchor="t">
              <a:noAutofit/>
            </a:bodyPr>
            <a:lstStyle/>
            <a:p>
              <a:pPr algn="l"/>
              <a:r>
                <a:rPr lang="ko-KR" altLang="en-US" sz="1100" b="1" dirty="0">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두 정보 종합 </a:t>
              </a:r>
              <a:r>
                <a:rPr sz="1100" b="1" dirty="0">
                  <a:solidFill>
                    <a:srgbClr val="E8584F"/>
                  </a:solidFill>
                </a:rPr>
                <a:t>+ </a:t>
              </a:r>
              <a:r>
                <a:rPr sz="1100" b="1" dirty="0" err="1">
                  <a:solidFill>
                    <a:srgbClr val="E8584F"/>
                  </a:solidFill>
                </a:rPr>
                <a:t>자동</a:t>
              </a:r>
              <a:r>
                <a:rPr sz="1100" b="1" dirty="0">
                  <a:solidFill>
                    <a:srgbClr val="E8584F"/>
                  </a:solidFill>
                </a:rPr>
                <a:t> </a:t>
              </a:r>
              <a:r>
                <a:rPr sz="1100" b="1" dirty="0" err="1">
                  <a:solidFill>
                    <a:srgbClr val="E8584F"/>
                  </a:solidFill>
                </a:rPr>
                <a:t>폴백</a:t>
              </a:r>
              <a:endParaRPr sz="1100" b="1" dirty="0">
                <a:solidFill>
                  <a:srgbClr val="E8584F"/>
                </a:solidFill>
              </a:endParaRPr>
            </a:p>
          </p:txBody>
        </p:sp>
        <p:sp>
          <p:nvSpPr>
            <p:cNvPr id="21" name="사각형: 둥근 모서리 20">
              <a:extLst>
                <a:ext uri="{FF2B5EF4-FFF2-40B4-BE49-F238E27FC236}">
                  <a16:creationId xmlns:a16="http://schemas.microsoft.com/office/drawing/2014/main" id="{E22FFDF2-E4C6-4A0A-808D-AD162E1B89C7}"/>
                </a:ext>
              </a:extLst>
            </p:cNvPr>
            <p:cNvSpPr/>
            <p:nvPr/>
          </p:nvSpPr>
          <p:spPr>
            <a:xfrm>
              <a:off x="296518" y="4796183"/>
              <a:ext cx="11341813" cy="508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31801983-7CEE-40A2-8D51-4C50978BAF1C}"/>
                </a:ext>
              </a:extLst>
            </p:cNvPr>
            <p:cNvSpPr txBox="1"/>
            <p:nvPr/>
          </p:nvSpPr>
          <p:spPr>
            <a:xfrm>
              <a:off x="550518" y="4885083"/>
              <a:ext cx="10922000" cy="3556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세 모델 모두 같은 학습/테스트 분할로 학습되어 공정한 직접 비교가 가능</a:t>
              </a:r>
            </a:p>
          </p:txBody>
        </p:sp>
      </p:grpSp>
    </p:spTree>
    <p:extLst>
      <p:ext uri="{BB962C8B-B14F-4D97-AF65-F5344CB8AC3E}">
        <p14:creationId xmlns:p14="http://schemas.microsoft.com/office/powerpoint/2010/main" val="368323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BE1E22D-06CF-4359-9924-19C9B34A5E61}"/>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DD25A201-B6C3-4649-8DB9-EF4302B01CD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05</a:t>
            </a:r>
            <a:endParaRPr lang="ko-KR" altLang="en-US" sz="1600" b="1">
              <a:solidFill>
                <a:srgbClr val="FFFFFF"/>
              </a:solidFill>
            </a:endParaRPr>
          </a:p>
        </p:txBody>
      </p:sp>
      <p:sp>
        <p:nvSpPr>
          <p:cNvPr id="5" name="TextBox 4">
            <a:extLst>
              <a:ext uri="{FF2B5EF4-FFF2-40B4-BE49-F238E27FC236}">
                <a16:creationId xmlns:a16="http://schemas.microsoft.com/office/drawing/2014/main" id="{D0824D9D-2C94-4564-B459-7DF5AD17E2EF}"/>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시스템 전체 파이프라인</a:t>
            </a:r>
          </a:p>
        </p:txBody>
      </p:sp>
      <p:grpSp>
        <p:nvGrpSpPr>
          <p:cNvPr id="30" name="그룹 29">
            <a:extLst>
              <a:ext uri="{FF2B5EF4-FFF2-40B4-BE49-F238E27FC236}">
                <a16:creationId xmlns:a16="http://schemas.microsoft.com/office/drawing/2014/main" id="{6EA34650-0C38-F7E2-4F58-538998269DDB}"/>
              </a:ext>
            </a:extLst>
          </p:cNvPr>
          <p:cNvGrpSpPr/>
          <p:nvPr/>
        </p:nvGrpSpPr>
        <p:grpSpPr>
          <a:xfrm>
            <a:off x="444500" y="2160657"/>
            <a:ext cx="11303000" cy="3022600"/>
            <a:chOff x="508000" y="1143000"/>
            <a:chExt cx="11303000" cy="3022600"/>
          </a:xfrm>
        </p:grpSpPr>
        <p:sp>
          <p:nvSpPr>
            <p:cNvPr id="6" name="사각형: 둥근 모서리 5">
              <a:extLst>
                <a:ext uri="{FF2B5EF4-FFF2-40B4-BE49-F238E27FC236}">
                  <a16:creationId xmlns:a16="http://schemas.microsoft.com/office/drawing/2014/main" id="{33121B5B-AC7E-4EB0-8007-DB0275201BA6}"/>
                </a:ext>
              </a:extLst>
            </p:cNvPr>
            <p:cNvSpPr/>
            <p:nvPr/>
          </p:nvSpPr>
          <p:spPr>
            <a:xfrm>
              <a:off x="508000" y="1143000"/>
              <a:ext cx="2286000" cy="6985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Sensor Data</a:t>
              </a:r>
              <a:endParaRPr lang="ko-KR" altLang="en-US" sz="1200" b="1">
                <a:solidFill>
                  <a:srgbClr val="FFFFFF"/>
                </a:solidFill>
              </a:endParaRPr>
            </a:p>
            <a:p>
              <a:r>
                <a:rPr sz="1200" b="1">
                  <a:solidFill>
                    <a:srgbClr val="FFFFFF"/>
                  </a:solidFill>
                </a:rPr>
                <a:t>(All timesteps)</a:t>
              </a:r>
            </a:p>
          </p:txBody>
        </p:sp>
        <p:sp>
          <p:nvSpPr>
            <p:cNvPr id="7" name="화살표: 오른쪽 6">
              <a:extLst>
                <a:ext uri="{FF2B5EF4-FFF2-40B4-BE49-F238E27FC236}">
                  <a16:creationId xmlns:a16="http://schemas.microsoft.com/office/drawing/2014/main" id="{D7F909FE-EA72-4430-84E5-711DDED494E4}"/>
                </a:ext>
              </a:extLst>
            </p:cNvPr>
            <p:cNvSpPr/>
            <p:nvPr/>
          </p:nvSpPr>
          <p:spPr>
            <a:xfrm>
              <a:off x="2895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사각형: 둥근 모서리 7">
              <a:extLst>
                <a:ext uri="{FF2B5EF4-FFF2-40B4-BE49-F238E27FC236}">
                  <a16:creationId xmlns:a16="http://schemas.microsoft.com/office/drawing/2014/main" id="{5C325942-ABD3-4032-9824-5E8B98A01446}"/>
                </a:ext>
              </a:extLst>
            </p:cNvPr>
            <p:cNvSpPr/>
            <p:nvPr/>
          </p:nvSpPr>
          <p:spPr>
            <a:xfrm>
              <a:off x="3429000" y="1143000"/>
              <a:ext cx="2286000" cy="698500"/>
            </a:xfrm>
            <a:prstGeom prst="roundRect">
              <a:avLst/>
            </a:prstGeom>
            <a:solidFill>
              <a:srgbClr val="EBF5FB"/>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2676AC"/>
                  </a:solidFill>
                </a:rPr>
                <a:t>BiLSTM</a:t>
              </a:r>
              <a:endParaRPr lang="ko-KR" altLang="en-US" sz="1200" b="1">
                <a:solidFill>
                  <a:srgbClr val="2676AC"/>
                </a:solidFill>
              </a:endParaRPr>
            </a:p>
            <a:p>
              <a:r>
                <a:rPr sz="1200" b="1">
                  <a:solidFill>
                    <a:srgbClr val="2676AC"/>
                  </a:solidFill>
                </a:rPr>
                <a:t>(2-layer)</a:t>
              </a:r>
            </a:p>
          </p:txBody>
        </p:sp>
        <p:sp>
          <p:nvSpPr>
            <p:cNvPr id="9" name="화살표: 오른쪽 8">
              <a:extLst>
                <a:ext uri="{FF2B5EF4-FFF2-40B4-BE49-F238E27FC236}">
                  <a16:creationId xmlns:a16="http://schemas.microsoft.com/office/drawing/2014/main" id="{505D91E8-F199-4B9F-93A0-3A3C6FB4450D}"/>
                </a:ext>
              </a:extLst>
            </p:cNvPr>
            <p:cNvSpPr/>
            <p:nvPr/>
          </p:nvSpPr>
          <p:spPr>
            <a:xfrm>
              <a:off x="5816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사각형: 둥근 모서리 9">
              <a:extLst>
                <a:ext uri="{FF2B5EF4-FFF2-40B4-BE49-F238E27FC236}">
                  <a16:creationId xmlns:a16="http://schemas.microsoft.com/office/drawing/2014/main" id="{911A605E-621C-477D-BAAC-1865812E62F7}"/>
                </a:ext>
              </a:extLst>
            </p:cNvPr>
            <p:cNvSpPr/>
            <p:nvPr/>
          </p:nvSpPr>
          <p:spPr>
            <a:xfrm>
              <a:off x="6350000" y="1143000"/>
              <a:ext cx="1651000" cy="698500"/>
            </a:xfrm>
            <a:prstGeom prst="roundRect">
              <a:avLst/>
            </a:prstGeom>
            <a:solidFill>
              <a:srgbClr val="D6EA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2676AC"/>
                  </a:solidFill>
                </a:rPr>
                <a:t>Sensor</a:t>
              </a:r>
              <a:endParaRPr lang="ko-KR" altLang="en-US" sz="1100">
                <a:solidFill>
                  <a:srgbClr val="2676AC"/>
                </a:solidFill>
              </a:endParaRPr>
            </a:p>
            <a:p>
              <a:r>
                <a:rPr sz="1100">
                  <a:solidFill>
                    <a:srgbClr val="2676AC"/>
                  </a:solidFill>
                </a:rPr>
                <a:t>Probability</a:t>
              </a:r>
            </a:p>
          </p:txBody>
        </p:sp>
        <p:sp>
          <p:nvSpPr>
            <p:cNvPr id="11" name="사각형: 둥근 모서리 10">
              <a:extLst>
                <a:ext uri="{FF2B5EF4-FFF2-40B4-BE49-F238E27FC236}">
                  <a16:creationId xmlns:a16="http://schemas.microsoft.com/office/drawing/2014/main" id="{0172FC1D-D90A-4E57-8018-A4D693A1840F}"/>
                </a:ext>
              </a:extLst>
            </p:cNvPr>
            <p:cNvSpPr/>
            <p:nvPr/>
          </p:nvSpPr>
          <p:spPr>
            <a:xfrm>
              <a:off x="508000" y="2159000"/>
              <a:ext cx="2286000" cy="6985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Camera Images</a:t>
              </a:r>
              <a:endParaRPr lang="ko-KR" altLang="en-US" sz="1200" b="1">
                <a:solidFill>
                  <a:srgbClr val="FFFFFF"/>
                </a:solidFill>
              </a:endParaRPr>
            </a:p>
            <a:p>
              <a:r>
                <a:rPr sz="1200" b="1">
                  <a:solidFill>
                    <a:srgbClr val="FFFFFF"/>
                  </a:solidFill>
                </a:rPr>
                <a:t>(Cam1 + Cam2)</a:t>
              </a:r>
            </a:p>
          </p:txBody>
        </p:sp>
        <p:sp>
          <p:nvSpPr>
            <p:cNvPr id="12" name="화살표: 오른쪽 11">
              <a:extLst>
                <a:ext uri="{FF2B5EF4-FFF2-40B4-BE49-F238E27FC236}">
                  <a16:creationId xmlns:a16="http://schemas.microsoft.com/office/drawing/2014/main" id="{B4D160E4-B85C-4F6B-992E-79BD9580D8BF}"/>
                </a:ext>
              </a:extLst>
            </p:cNvPr>
            <p:cNvSpPr/>
            <p:nvPr/>
          </p:nvSpPr>
          <p:spPr>
            <a:xfrm>
              <a:off x="2895600" y="2349500"/>
              <a:ext cx="444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사각형: 둥근 모서리 12">
              <a:extLst>
                <a:ext uri="{FF2B5EF4-FFF2-40B4-BE49-F238E27FC236}">
                  <a16:creationId xmlns:a16="http://schemas.microsoft.com/office/drawing/2014/main" id="{56365EAE-1EC0-4680-B1C3-B8BAF769F0F0}"/>
                </a:ext>
              </a:extLst>
            </p:cNvPr>
            <p:cNvSpPr/>
            <p:nvPr/>
          </p:nvSpPr>
          <p:spPr>
            <a:xfrm>
              <a:off x="34290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ResNet18</a:t>
              </a:r>
              <a:endParaRPr lang="ko-KR" altLang="en-US" sz="1200" b="1">
                <a:solidFill>
                  <a:srgbClr val="16A295"/>
                </a:solidFill>
              </a:endParaRPr>
            </a:p>
          </p:txBody>
        </p:sp>
        <p:sp>
          <p:nvSpPr>
            <p:cNvPr id="14" name="화살표: 오른쪽 13">
              <a:extLst>
                <a:ext uri="{FF2B5EF4-FFF2-40B4-BE49-F238E27FC236}">
                  <a16:creationId xmlns:a16="http://schemas.microsoft.com/office/drawing/2014/main" id="{F3B4D038-5F48-47D0-B924-6182A661C3D2}"/>
                </a:ext>
              </a:extLst>
            </p:cNvPr>
            <p:cNvSpPr/>
            <p:nvPr/>
          </p:nvSpPr>
          <p:spPr>
            <a:xfrm>
              <a:off x="46355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사각형: 둥근 모서리 14">
              <a:extLst>
                <a:ext uri="{FF2B5EF4-FFF2-40B4-BE49-F238E27FC236}">
                  <a16:creationId xmlns:a16="http://schemas.microsoft.com/office/drawing/2014/main" id="{32C01469-2A96-4041-8DEA-70BA92E31C2F}"/>
                </a:ext>
              </a:extLst>
            </p:cNvPr>
            <p:cNvSpPr/>
            <p:nvPr/>
          </p:nvSpPr>
          <p:spPr>
            <a:xfrm>
              <a:off x="50165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(shared)</a:t>
              </a:r>
              <a:endParaRPr lang="ko-KR" altLang="en-US" sz="1200" b="1">
                <a:solidFill>
                  <a:srgbClr val="16A295"/>
                </a:solidFill>
              </a:endParaRPr>
            </a:p>
          </p:txBody>
        </p:sp>
        <p:sp>
          <p:nvSpPr>
            <p:cNvPr id="16" name="화살표: 오른쪽 15">
              <a:extLst>
                <a:ext uri="{FF2B5EF4-FFF2-40B4-BE49-F238E27FC236}">
                  <a16:creationId xmlns:a16="http://schemas.microsoft.com/office/drawing/2014/main" id="{A52EA78F-89A1-4DCB-9025-CA3124B9C5C0}"/>
                </a:ext>
              </a:extLst>
            </p:cNvPr>
            <p:cNvSpPr/>
            <p:nvPr/>
          </p:nvSpPr>
          <p:spPr>
            <a:xfrm>
              <a:off x="62230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사각형: 둥근 모서리 16">
              <a:extLst>
                <a:ext uri="{FF2B5EF4-FFF2-40B4-BE49-F238E27FC236}">
                  <a16:creationId xmlns:a16="http://schemas.microsoft.com/office/drawing/2014/main" id="{0D4E11F3-CAAA-4E58-AC71-A87E456D5970}"/>
                </a:ext>
              </a:extLst>
            </p:cNvPr>
            <p:cNvSpPr/>
            <p:nvPr/>
          </p:nvSpPr>
          <p:spPr>
            <a:xfrm>
              <a:off x="6604000" y="2159000"/>
              <a:ext cx="1397000" cy="698500"/>
            </a:xfrm>
            <a:prstGeom prst="roundRect">
              <a:avLst/>
            </a:prstGeom>
            <a:solidFill>
              <a:srgbClr val="D5F5E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16A295"/>
                  </a:solidFill>
                </a:rPr>
                <a:t>Image</a:t>
              </a:r>
              <a:endParaRPr lang="ko-KR" altLang="en-US" sz="1100">
                <a:solidFill>
                  <a:srgbClr val="16A295"/>
                </a:solidFill>
              </a:endParaRPr>
            </a:p>
            <a:p>
              <a:r>
                <a:rPr sz="1100">
                  <a:solidFill>
                    <a:srgbClr val="16A295"/>
                  </a:solidFill>
                </a:rPr>
                <a:t>Probability</a:t>
              </a:r>
            </a:p>
          </p:txBody>
        </p:sp>
        <p:sp>
          <p:nvSpPr>
            <p:cNvPr id="18" name="사각형: 둥근 모서리 17">
              <a:extLst>
                <a:ext uri="{FF2B5EF4-FFF2-40B4-BE49-F238E27FC236}">
                  <a16:creationId xmlns:a16="http://schemas.microsoft.com/office/drawing/2014/main" id="{1A803B99-8160-4851-B53B-38D8ECFFDEF0}"/>
                </a:ext>
              </a:extLst>
            </p:cNvPr>
            <p:cNvSpPr/>
            <p:nvPr/>
          </p:nvSpPr>
          <p:spPr>
            <a:xfrm>
              <a:off x="8382000" y="1333500"/>
              <a:ext cx="1270000" cy="1270000"/>
            </a:xfrm>
            <a:prstGeom prst="roundRect">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Decision
Fusion
[fV ; hT]</a:t>
              </a:r>
              <a:endParaRPr lang="ko-KR" altLang="en-US" sz="1200" b="1">
                <a:solidFill>
                  <a:srgbClr val="FFFFFF"/>
                </a:solidFill>
              </a:endParaRPr>
            </a:p>
          </p:txBody>
        </p:sp>
        <p:sp>
          <p:nvSpPr>
            <p:cNvPr id="19" name="화살표: 오른쪽 18">
              <a:extLst>
                <a:ext uri="{FF2B5EF4-FFF2-40B4-BE49-F238E27FC236}">
                  <a16:creationId xmlns:a16="http://schemas.microsoft.com/office/drawing/2014/main" id="{30E731E0-7D1D-4D66-82D2-7CE3BF61D67E}"/>
                </a:ext>
              </a:extLst>
            </p:cNvPr>
            <p:cNvSpPr/>
            <p:nvPr/>
          </p:nvSpPr>
          <p:spPr>
            <a:xfrm>
              <a:off x="9753600" y="1778000"/>
              <a:ext cx="444500" cy="2794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사각형: 둥근 모서리 19">
              <a:extLst>
                <a:ext uri="{FF2B5EF4-FFF2-40B4-BE49-F238E27FC236}">
                  <a16:creationId xmlns:a16="http://schemas.microsoft.com/office/drawing/2014/main" id="{F6DAF1C8-FEA6-41A1-9071-9BE3E90DF4E6}"/>
                </a:ext>
              </a:extLst>
            </p:cNvPr>
            <p:cNvSpPr/>
            <p:nvPr/>
          </p:nvSpPr>
          <p:spPr>
            <a:xfrm>
              <a:off x="10287000" y="1206500"/>
              <a:ext cx="1524000" cy="6985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FC Layer
+ Classifier</a:t>
              </a:r>
              <a:endParaRPr lang="ko-KR" altLang="en-US" sz="1200" b="1">
                <a:solidFill>
                  <a:srgbClr val="FFFFFF"/>
                </a:solidFill>
              </a:endParaRPr>
            </a:p>
          </p:txBody>
        </p:sp>
        <p:sp>
          <p:nvSpPr>
            <p:cNvPr id="21" name="사각형: 둥근 모서리 20">
              <a:extLst>
                <a:ext uri="{FF2B5EF4-FFF2-40B4-BE49-F238E27FC236}">
                  <a16:creationId xmlns:a16="http://schemas.microsoft.com/office/drawing/2014/main" id="{CAC944CE-4FD8-4E22-97DB-B478F1517300}"/>
                </a:ext>
              </a:extLst>
            </p:cNvPr>
            <p:cNvSpPr/>
            <p:nvPr/>
          </p:nvSpPr>
          <p:spPr>
            <a:xfrm>
              <a:off x="10287000" y="2095500"/>
              <a:ext cx="1524000" cy="635000"/>
            </a:xfrm>
            <a:prstGeom prst="roundRect">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Anomaly
Prediction</a:t>
              </a:r>
              <a:endParaRPr lang="ko-KR" altLang="en-US" sz="1200" b="1">
                <a:solidFill>
                  <a:srgbClr val="FFFFFF"/>
                </a:solidFill>
              </a:endParaRPr>
            </a:p>
          </p:txBody>
        </p:sp>
        <p:sp>
          <p:nvSpPr>
            <p:cNvPr id="22" name="화살표: 오른쪽 21">
              <a:extLst>
                <a:ext uri="{FF2B5EF4-FFF2-40B4-BE49-F238E27FC236}">
                  <a16:creationId xmlns:a16="http://schemas.microsoft.com/office/drawing/2014/main" id="{643DCCE1-B3BE-4827-A6A7-12FF1B638CA9}"/>
                </a:ext>
              </a:extLst>
            </p:cNvPr>
            <p:cNvSpPr/>
            <p:nvPr/>
          </p:nvSpPr>
          <p:spPr>
            <a:xfrm>
              <a:off x="8064500" y="1371600"/>
              <a:ext cx="279400" cy="2286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화살표: 오른쪽 22">
              <a:extLst>
                <a:ext uri="{FF2B5EF4-FFF2-40B4-BE49-F238E27FC236}">
                  <a16:creationId xmlns:a16="http://schemas.microsoft.com/office/drawing/2014/main" id="{9DCE0817-C196-47F5-A78E-415878D487AF}"/>
                </a:ext>
              </a:extLst>
            </p:cNvPr>
            <p:cNvSpPr/>
            <p:nvPr/>
          </p:nvSpPr>
          <p:spPr>
            <a:xfrm>
              <a:off x="8064500" y="2349500"/>
              <a:ext cx="279400" cy="228600"/>
            </a:xfrm>
            <a:prstGeom prst="rightArrow">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사각형: 둥근 모서리 23">
              <a:extLst>
                <a:ext uri="{FF2B5EF4-FFF2-40B4-BE49-F238E27FC236}">
                  <a16:creationId xmlns:a16="http://schemas.microsoft.com/office/drawing/2014/main" id="{12FE88E6-971A-4EAD-991D-C734DF8BE0F7}"/>
                </a:ext>
              </a:extLst>
            </p:cNvPr>
            <p:cNvSpPr/>
            <p:nvPr/>
          </p:nvSpPr>
          <p:spPr>
            <a:xfrm>
              <a:off x="508000" y="3175000"/>
              <a:ext cx="5588000" cy="9906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E18F0ED5-23D1-456C-B55A-210A18A19C31}"/>
                </a:ext>
              </a:extLst>
            </p:cNvPr>
            <p:cNvSpPr txBox="1"/>
            <p:nvPr/>
          </p:nvSpPr>
          <p:spPr>
            <a:xfrm>
              <a:off x="698500" y="3276600"/>
              <a:ext cx="5207000" cy="279400"/>
            </a:xfrm>
            <a:prstGeom prst="rect">
              <a:avLst/>
            </a:prstGeom>
            <a:noFill/>
          </p:spPr>
          <p:txBody>
            <a:bodyPr vertOverflow="overflow" vert="horz" wrap="square" rtlCol="0" anchor="t">
              <a:noAutofit/>
            </a:bodyPr>
            <a:lstStyle/>
            <a:p>
              <a:pPr algn="l"/>
              <a:r>
                <a:rPr lang="en-US" altLang="ko-KR"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이미지가 들어오는 시점</a:t>
              </a:r>
              <a:endPar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6" name="TextBox 25">
              <a:extLst>
                <a:ext uri="{FF2B5EF4-FFF2-40B4-BE49-F238E27FC236}">
                  <a16:creationId xmlns:a16="http://schemas.microsoft.com/office/drawing/2014/main" id="{49E1646C-A8D7-4E7F-99D1-8CD75AD0A484}"/>
                </a:ext>
              </a:extLst>
            </p:cNvPr>
            <p:cNvSpPr txBox="1"/>
            <p:nvPr/>
          </p:nvSpPr>
          <p:spPr>
            <a:xfrm>
              <a:off x="698500" y="3594100"/>
              <a:ext cx="5207000" cy="54483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두 모델의 예측 확률을 가중 평균하여 최종 분류</a:t>
              </a:r>
            </a:p>
            <a:p>
              <a:r>
                <a:rPr sz="1200">
                  <a:solidFill>
                    <a:srgbClr val="555555"/>
                  </a:solidFill>
                </a:rPr>
                <a:t>→ Decision-level Fusion</a:t>
              </a:r>
            </a:p>
          </p:txBody>
        </p:sp>
        <p:sp>
          <p:nvSpPr>
            <p:cNvPr id="27" name="사각형: 둥근 모서리 26">
              <a:extLst>
                <a:ext uri="{FF2B5EF4-FFF2-40B4-BE49-F238E27FC236}">
                  <a16:creationId xmlns:a16="http://schemas.microsoft.com/office/drawing/2014/main" id="{CE3F9BFF-3C3C-4EFD-B579-64D26021D1AF}"/>
                </a:ext>
              </a:extLst>
            </p:cNvPr>
            <p:cNvSpPr/>
            <p:nvPr/>
          </p:nvSpPr>
          <p:spPr>
            <a:xfrm>
              <a:off x="6350000" y="3175000"/>
              <a:ext cx="5461000" cy="9906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E3F29EAC-BBB8-47FE-9F29-225371A168BE}"/>
                </a:ext>
              </a:extLst>
            </p:cNvPr>
            <p:cNvSpPr txBox="1"/>
            <p:nvPr/>
          </p:nvSpPr>
          <p:spPr>
            <a:xfrm>
              <a:off x="6540500" y="3276600"/>
              <a:ext cx="5080000" cy="279400"/>
            </a:xfrm>
            <a:prstGeom prst="rect">
              <a:avLst/>
            </a:prstGeom>
            <a:noFill/>
          </p:spPr>
          <p:txBody>
            <a:bodyPr vertOverflow="overflow" vert="horz" wrap="square" rtlCol="0" anchor="t">
              <a:noAutofit/>
            </a:bodyPr>
            <a:lstStyle/>
            <a:p>
              <a:pPr algn="l"/>
              <a:r>
                <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이미지가 없는 시점</a:t>
              </a:r>
            </a:p>
          </p:txBody>
        </p:sp>
        <p:sp>
          <p:nvSpPr>
            <p:cNvPr id="29" name="TextBox 28">
              <a:extLst>
                <a:ext uri="{FF2B5EF4-FFF2-40B4-BE49-F238E27FC236}">
                  <a16:creationId xmlns:a16="http://schemas.microsoft.com/office/drawing/2014/main" id="{1DAAD64D-E611-4E4E-9F5B-4F5CBD923DF1}"/>
                </a:ext>
              </a:extLst>
            </p:cNvPr>
            <p:cNvSpPr txBox="1"/>
            <p:nvPr/>
          </p:nvSpPr>
          <p:spPr>
            <a:xfrm>
              <a:off x="6540500" y="3594100"/>
              <a:ext cx="5080000" cy="54483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자동으로 센서 확률만 사용</a:t>
              </a:r>
            </a:p>
            <a:p>
              <a:r>
                <a:rPr sz="1200">
                  <a:solidFill>
                    <a:srgbClr val="555555"/>
                  </a:solidFill>
                </a:rPr>
                <a:t>→ 결측에 안정적으로 작동</a:t>
              </a:r>
            </a:p>
          </p:txBody>
        </p:sp>
      </p:grpSp>
    </p:spTree>
    <p:extLst>
      <p:ext uri="{BB962C8B-B14F-4D97-AF65-F5344CB8AC3E}">
        <p14:creationId xmlns:p14="http://schemas.microsoft.com/office/powerpoint/2010/main" val="79786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중간발표 → 최종: 가설과 검증</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중간발표: 융합이 졌음</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276227"/>
            <a:ext cx="3048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전체 구간에서 Fusion F1 0.88 &lt; 센서 0.93</a:t>
            </a:r>
          </a:p>
          <a:p>
            <a:r>
              <a:rPr sz="1100">
                <a:solidFill>
                  <a:srgbClr val="555555"/>
                </a:solidFill>
              </a:rPr>
              <a:t>→ 멀티모달이 단독보다 낮게 나옴</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원인 가설: 데이터 균형</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464878" y="3276227"/>
            <a:ext cx="3389243" cy="635000"/>
          </a:xfrm>
          <a:prstGeom prst="rect">
            <a:avLst/>
          </a:prstGeom>
          <a:noFill/>
        </p:spPr>
        <p:txBody>
          <a:bodyPr vertOverflow="overflow" vert="horz" wrap="square" rtlCol="0" anchor="t">
            <a:noAutofit/>
          </a:bodyPr>
          <a:lstStyle/>
          <a:p>
            <a:pPr algn="l"/>
            <a:r>
              <a:rPr lang="ko-KR" altLang="en-US" sz="11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이미지 9.5천 시점 </a:t>
            </a:r>
            <a:r>
              <a:rPr lang="ko-KR" altLang="en-US" sz="11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vs</a:t>
            </a:r>
            <a:r>
              <a:rPr lang="ko-KR" altLang="en-US" sz="11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센서 12만 시퀀스</a:t>
            </a:r>
          </a:p>
          <a:p>
            <a:r>
              <a:rPr sz="1100" dirty="0">
                <a:solidFill>
                  <a:srgbClr val="555555"/>
                </a:solidFill>
              </a:rPr>
              <a:t>→ </a:t>
            </a:r>
            <a:r>
              <a:rPr sz="1100" dirty="0" err="1">
                <a:solidFill>
                  <a:srgbClr val="555555"/>
                </a:solidFill>
              </a:rPr>
              <a:t>불균형으로</a:t>
            </a:r>
            <a:r>
              <a:rPr sz="1100" dirty="0">
                <a:solidFill>
                  <a:srgbClr val="555555"/>
                </a:solidFill>
              </a:rPr>
              <a:t> </a:t>
            </a:r>
            <a:r>
              <a:rPr sz="1100" dirty="0" err="1">
                <a:solidFill>
                  <a:srgbClr val="555555"/>
                </a:solidFill>
              </a:rPr>
              <a:t>이미지가</a:t>
            </a:r>
            <a:r>
              <a:rPr sz="1100" dirty="0">
                <a:solidFill>
                  <a:srgbClr val="555555"/>
                </a:solidFill>
              </a:rPr>
              <a:t> </a:t>
            </a:r>
            <a:r>
              <a:rPr sz="1100" dirty="0" err="1">
                <a:solidFill>
                  <a:srgbClr val="555555"/>
                </a:solidFill>
              </a:rPr>
              <a:t>노이즈로</a:t>
            </a:r>
            <a:r>
              <a:rPr sz="1100" dirty="0">
                <a:solidFill>
                  <a:srgbClr val="555555"/>
                </a:solidFill>
              </a:rPr>
              <a:t> </a:t>
            </a:r>
            <a:r>
              <a:rPr sz="1100" dirty="0" err="1">
                <a:solidFill>
                  <a:srgbClr val="555555"/>
                </a:solidFill>
              </a:rPr>
              <a:t>작용한다고</a:t>
            </a:r>
            <a:r>
              <a:rPr sz="1100" dirty="0">
                <a:solidFill>
                  <a:srgbClr val="555555"/>
                </a:solidFill>
              </a:rPr>
              <a:t> </a:t>
            </a:r>
            <a:r>
              <a:rPr sz="1100" dirty="0" err="1">
                <a:solidFill>
                  <a:srgbClr val="555555"/>
                </a:solidFill>
              </a:rPr>
              <a:t>진단</a:t>
            </a:r>
            <a:endParaRPr sz="1100" dirty="0">
              <a:solidFill>
                <a:srgbClr val="555555"/>
              </a:solidFill>
            </a:endParaRP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최종: 가설 검증됨</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이미지 커버리지 확장 + 융합전략 개선</a:t>
            </a:r>
          </a:p>
          <a:p>
            <a:r>
              <a:rPr sz="1100">
                <a:solidFill>
                  <a:srgbClr val="555555"/>
                </a:solidFill>
              </a:rPr>
              <a:t>→ 두 모달이 함께 있는 구간에서 Fusion 0.977 &gt; 두 단독 (유의)</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멀티모달은</a:t>
            </a:r>
            <a:r>
              <a:rPr lang="ko-KR" altLang="en-US" sz="14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무조건 이기지 않는다. 두 </a:t>
            </a:r>
            <a:r>
              <a:rPr lang="ko-KR" altLang="en-US" sz="14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모달이</a:t>
            </a:r>
            <a:r>
              <a:rPr lang="ko-KR" altLang="en-US" sz="14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함께·균형</a:t>
            </a:r>
            <a:r>
              <a:rPr lang="ko-KR" altLang="en-US" sz="14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있게 있을 때 </a:t>
            </a:r>
            <a:r>
              <a:rPr lang="ko-KR" altLang="en-US" sz="1400" b="1"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이긴다를</a:t>
            </a:r>
            <a:r>
              <a:rPr lang="ko-KR" altLang="en-US" sz="1400" b="1"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검증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핵심 결과</a:t>
            </a:r>
          </a:p>
        </p:txBody>
      </p:sp>
      <p:sp>
        <p:nvSpPr>
          <p:cNvPr id="6" name="Rounded Rectangle 5"/>
          <p:cNvSpPr/>
          <p:nvPr/>
        </p:nvSpPr>
        <p:spPr>
          <a:xfrm>
            <a:off x="511865" y="1817867"/>
            <a:ext cx="3840480" cy="164592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745" y="1955027"/>
            <a:ext cx="3474720" cy="365760"/>
          </a:xfrm>
          <a:prstGeom prst="rect">
            <a:avLst/>
          </a:prstGeom>
          <a:noFill/>
        </p:spPr>
        <p:txBody>
          <a:bodyPr wrap="square">
            <a:spAutoFit/>
          </a:bodyPr>
          <a:lstStyle/>
          <a:p>
            <a:r>
              <a:rPr sz="1600" b="1">
                <a:solidFill>
                  <a:srgbClr val="1E2A4A"/>
                </a:solidFill>
                <a:latin typeface="맑은 고딕"/>
              </a:rPr>
              <a:t>평가 조건</a:t>
            </a:r>
          </a:p>
        </p:txBody>
      </p:sp>
      <p:sp>
        <p:nvSpPr>
          <p:cNvPr id="8" name="TextBox 7"/>
          <p:cNvSpPr txBox="1"/>
          <p:nvPr/>
        </p:nvSpPr>
        <p:spPr>
          <a:xfrm>
            <a:off x="694745" y="2366507"/>
            <a:ext cx="3566160" cy="646331"/>
          </a:xfrm>
          <a:prstGeom prst="rect">
            <a:avLst/>
          </a:prstGeom>
          <a:noFill/>
        </p:spPr>
        <p:txBody>
          <a:bodyPr wrap="square">
            <a:spAutoFit/>
          </a:bodyPr>
          <a:lstStyle/>
          <a:p>
            <a:r>
              <a:rPr lang="ko-KR" altLang="en-US" sz="1200" b="0" dirty="0" err="1">
                <a:solidFill>
                  <a:srgbClr val="1E2A4A"/>
                </a:solidFill>
                <a:latin typeface="맑은 고딕"/>
              </a:rPr>
              <a:t>평가셋</a:t>
            </a:r>
            <a:r>
              <a:rPr lang="ko-KR" altLang="en-US" sz="1200" b="0" dirty="0">
                <a:solidFill>
                  <a:srgbClr val="1E2A4A"/>
                </a:solidFill>
                <a:latin typeface="맑은 고딕"/>
              </a:rPr>
              <a:t> 중 </a:t>
            </a:r>
            <a:r>
              <a:rPr sz="1200" b="0" dirty="0" err="1">
                <a:solidFill>
                  <a:srgbClr val="1E2A4A"/>
                </a:solidFill>
                <a:latin typeface="맑은 고딕"/>
              </a:rPr>
              <a:t>센서·이미지가</a:t>
            </a:r>
            <a:r>
              <a:rPr sz="1200" b="0" dirty="0">
                <a:solidFill>
                  <a:srgbClr val="1E2A4A"/>
                </a:solidFill>
                <a:latin typeface="맑은 고딕"/>
              </a:rPr>
              <a:t> </a:t>
            </a:r>
            <a:r>
              <a:rPr sz="1200" b="0" dirty="0" err="1">
                <a:solidFill>
                  <a:srgbClr val="1E2A4A"/>
                </a:solidFill>
                <a:latin typeface="맑은 고딕"/>
              </a:rPr>
              <a:t>모두</a:t>
            </a:r>
            <a:r>
              <a:rPr sz="1200" b="0" dirty="0">
                <a:solidFill>
                  <a:srgbClr val="1E2A4A"/>
                </a:solidFill>
                <a:latin typeface="맑은 고딕"/>
              </a:rPr>
              <a:t> </a:t>
            </a:r>
            <a:r>
              <a:rPr sz="1200" b="0" dirty="0" err="1">
                <a:solidFill>
                  <a:srgbClr val="1E2A4A"/>
                </a:solidFill>
                <a:latin typeface="맑은 고딕"/>
              </a:rPr>
              <a:t>있는</a:t>
            </a:r>
            <a:r>
              <a:rPr sz="1200" b="0" dirty="0">
                <a:solidFill>
                  <a:srgbClr val="1E2A4A"/>
                </a:solidFill>
                <a:latin typeface="맑은 고딕"/>
              </a:rPr>
              <a:t> </a:t>
            </a:r>
            <a:r>
              <a:rPr sz="1200" b="0" dirty="0" err="1">
                <a:solidFill>
                  <a:srgbClr val="1E2A4A"/>
                </a:solidFill>
                <a:latin typeface="맑은 고딕"/>
              </a:rPr>
              <a:t>시점</a:t>
            </a:r>
            <a:endParaRPr sz="1200" b="0" dirty="0">
              <a:solidFill>
                <a:srgbClr val="1E2A4A"/>
              </a:solidFill>
              <a:latin typeface="맑은 고딕"/>
            </a:endParaRPr>
          </a:p>
          <a:p>
            <a:r>
              <a:rPr sz="1200" b="0" dirty="0">
                <a:solidFill>
                  <a:srgbClr val="1E2A4A"/>
                </a:solidFill>
                <a:latin typeface="맑은 고딕"/>
              </a:rPr>
              <a:t>3,912개 (Cycle 4·9 중 </a:t>
            </a:r>
            <a:r>
              <a:rPr sz="1200" b="0" dirty="0" err="1">
                <a:solidFill>
                  <a:srgbClr val="1E2A4A"/>
                </a:solidFill>
                <a:latin typeface="맑은 고딕"/>
              </a:rPr>
              <a:t>이미지</a:t>
            </a:r>
            <a:r>
              <a:rPr sz="1200" b="0" dirty="0">
                <a:solidFill>
                  <a:srgbClr val="1E2A4A"/>
                </a:solidFill>
                <a:latin typeface="맑은 고딕"/>
              </a:rPr>
              <a:t> </a:t>
            </a:r>
            <a:r>
              <a:rPr sz="1200" b="0" dirty="0" err="1">
                <a:solidFill>
                  <a:srgbClr val="1E2A4A"/>
                </a:solidFill>
                <a:latin typeface="맑은 고딕"/>
              </a:rPr>
              <a:t>매칭</a:t>
            </a:r>
            <a:r>
              <a:rPr sz="1200" b="0" dirty="0">
                <a:solidFill>
                  <a:srgbClr val="1E2A4A"/>
                </a:solidFill>
                <a:latin typeface="맑은 고딕"/>
              </a:rPr>
              <a:t> 41%)</a:t>
            </a:r>
          </a:p>
          <a:p>
            <a:r>
              <a:rPr sz="1200" b="0" dirty="0" err="1">
                <a:solidFill>
                  <a:srgbClr val="1E2A4A"/>
                </a:solidFill>
                <a:latin typeface="맑은 고딕"/>
              </a:rPr>
              <a:t>지표</a:t>
            </a:r>
            <a:r>
              <a:rPr sz="1200" b="0" dirty="0">
                <a:solidFill>
                  <a:srgbClr val="1E2A4A"/>
                </a:solidFill>
                <a:latin typeface="맑은 고딕"/>
              </a:rPr>
              <a:t>: Weighted F1</a:t>
            </a:r>
          </a:p>
        </p:txBody>
      </p:sp>
      <p:sp>
        <p:nvSpPr>
          <p:cNvPr id="9" name="Rounded Rectangle 8"/>
          <p:cNvSpPr/>
          <p:nvPr/>
        </p:nvSpPr>
        <p:spPr>
          <a:xfrm>
            <a:off x="511865" y="3738107"/>
            <a:ext cx="3840480" cy="1907319"/>
          </a:xfrm>
          <a:prstGeom prst="roundRect">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745" y="3875267"/>
            <a:ext cx="3474720" cy="338554"/>
          </a:xfrm>
          <a:prstGeom prst="rect">
            <a:avLst/>
          </a:prstGeom>
          <a:noFill/>
        </p:spPr>
        <p:txBody>
          <a:bodyPr wrap="square">
            <a:spAutoFit/>
          </a:bodyPr>
          <a:lstStyle/>
          <a:p>
            <a:r>
              <a:rPr lang="ko-KR" altLang="en-US" sz="1600" b="1" dirty="0">
                <a:solidFill>
                  <a:srgbClr val="2E9D8F"/>
                </a:solidFill>
                <a:latin typeface="맑은 고딕"/>
              </a:rPr>
              <a:t>테스트 결과</a:t>
            </a:r>
            <a:endParaRPr sz="1600" b="1" dirty="0">
              <a:solidFill>
                <a:srgbClr val="2E9D8F"/>
              </a:solidFill>
              <a:latin typeface="맑은 고딕"/>
            </a:endParaRPr>
          </a:p>
        </p:txBody>
      </p:sp>
      <p:sp>
        <p:nvSpPr>
          <p:cNvPr id="11" name="TextBox 10"/>
          <p:cNvSpPr txBox="1"/>
          <p:nvPr/>
        </p:nvSpPr>
        <p:spPr>
          <a:xfrm>
            <a:off x="694745" y="4332467"/>
            <a:ext cx="3566160" cy="1092607"/>
          </a:xfrm>
          <a:prstGeom prst="rect">
            <a:avLst/>
          </a:prstGeom>
          <a:noFill/>
        </p:spPr>
        <p:txBody>
          <a:bodyPr wrap="square">
            <a:spAutoFit/>
          </a:bodyPr>
          <a:lstStyle/>
          <a:p>
            <a:r>
              <a:rPr sz="1300" b="0" dirty="0" err="1">
                <a:solidFill>
                  <a:srgbClr val="1E2A4A"/>
                </a:solidFill>
                <a:latin typeface="맑은 고딕"/>
              </a:rPr>
              <a:t>센서</a:t>
            </a:r>
            <a:r>
              <a:rPr sz="1300" b="0" dirty="0">
                <a:solidFill>
                  <a:srgbClr val="1E2A4A"/>
                </a:solidFill>
                <a:latin typeface="맑은 고딕"/>
              </a:rPr>
              <a:t>  0.907</a:t>
            </a:r>
          </a:p>
          <a:p>
            <a:r>
              <a:rPr sz="1300" b="0" dirty="0" err="1">
                <a:solidFill>
                  <a:srgbClr val="1E2A4A"/>
                </a:solidFill>
                <a:latin typeface="맑은 고딕"/>
              </a:rPr>
              <a:t>이미지</a:t>
            </a:r>
            <a:r>
              <a:rPr sz="1300" b="0" dirty="0">
                <a:solidFill>
                  <a:srgbClr val="1E2A4A"/>
                </a:solidFill>
                <a:latin typeface="맑은 고딕"/>
              </a:rPr>
              <a:t>  0.957</a:t>
            </a:r>
          </a:p>
          <a:p>
            <a:r>
              <a:rPr sz="1300" b="0" dirty="0" err="1">
                <a:solidFill>
                  <a:srgbClr val="1E2A4A"/>
                </a:solidFill>
                <a:latin typeface="맑은 고딕"/>
              </a:rPr>
              <a:t>융합</a:t>
            </a:r>
            <a:r>
              <a:rPr sz="1300" b="0" dirty="0">
                <a:solidFill>
                  <a:srgbClr val="1E2A4A"/>
                </a:solidFill>
                <a:latin typeface="맑은 고딕"/>
              </a:rPr>
              <a:t>  0.977</a:t>
            </a:r>
          </a:p>
          <a:p>
            <a:endParaRPr sz="1300" b="0" dirty="0">
              <a:solidFill>
                <a:srgbClr val="1E2A4A"/>
              </a:solidFill>
              <a:latin typeface="맑은 고딕"/>
            </a:endParaRPr>
          </a:p>
          <a:p>
            <a:r>
              <a:rPr sz="1300" b="0" dirty="0">
                <a:solidFill>
                  <a:srgbClr val="1E2A4A"/>
                </a:solidFill>
                <a:latin typeface="맑은 고딕"/>
              </a:rPr>
              <a:t>→ </a:t>
            </a:r>
            <a:r>
              <a:rPr sz="1300" b="0" dirty="0" err="1">
                <a:solidFill>
                  <a:srgbClr val="1E2A4A"/>
                </a:solidFill>
                <a:latin typeface="맑은 고딕"/>
              </a:rPr>
              <a:t>융합이</a:t>
            </a:r>
            <a:r>
              <a:rPr sz="1300" b="0" dirty="0">
                <a:solidFill>
                  <a:srgbClr val="1E2A4A"/>
                </a:solidFill>
                <a:latin typeface="맑은 고딕"/>
              </a:rPr>
              <a:t> 두 </a:t>
            </a:r>
            <a:r>
              <a:rPr sz="1300" b="0" dirty="0" err="1">
                <a:solidFill>
                  <a:srgbClr val="1E2A4A"/>
                </a:solidFill>
                <a:latin typeface="맑은 고딕"/>
              </a:rPr>
              <a:t>단독을</a:t>
            </a:r>
            <a:r>
              <a:rPr sz="1300" b="0" dirty="0">
                <a:solidFill>
                  <a:srgbClr val="1E2A4A"/>
                </a:solidFill>
                <a:latin typeface="맑은 고딕"/>
              </a:rPr>
              <a:t> </a:t>
            </a:r>
            <a:r>
              <a:rPr sz="1300" b="0" dirty="0" err="1">
                <a:solidFill>
                  <a:srgbClr val="1E2A4A"/>
                </a:solidFill>
                <a:latin typeface="맑은 고딕"/>
              </a:rPr>
              <a:t>능가</a:t>
            </a:r>
            <a:endParaRPr sz="1300" b="0" dirty="0">
              <a:solidFill>
                <a:srgbClr val="1E2A4A"/>
              </a:solidFill>
              <a:latin typeface="맑은 고딕"/>
            </a:endParaRPr>
          </a:p>
        </p:txBody>
      </p:sp>
      <p:pic>
        <p:nvPicPr>
          <p:cNvPr id="12" name="Picture 11" descr="res_present.png"/>
          <p:cNvPicPr>
            <a:picLocks noChangeAspect="1"/>
          </p:cNvPicPr>
          <p:nvPr/>
        </p:nvPicPr>
        <p:blipFill>
          <a:blip r:embed="rId4"/>
          <a:stretch>
            <a:fillRect/>
          </a:stretch>
        </p:blipFill>
        <p:spPr>
          <a:xfrm>
            <a:off x="4626665" y="1854646"/>
            <a:ext cx="7132320" cy="3840480"/>
          </a:xfrm>
          <a:prstGeom prst="rect">
            <a:avLst/>
          </a:prstGeom>
        </p:spPr>
      </p:pic>
    </p:spTree>
    <p:extLst>
      <p:ext uri="{BB962C8B-B14F-4D97-AF65-F5344CB8AC3E}">
        <p14:creationId xmlns:p14="http://schemas.microsoft.com/office/powerpoint/2010/main" val="215505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A5DF926-B695-41BD-8FFF-2E98E0FED5D2}"/>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7AFD8D2D-4A8D-4741-AF8C-B51B2CEAECDC}"/>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08</a:t>
            </a:r>
            <a:endParaRPr lang="ko-KR" altLang="en-US" sz="1600" b="1">
              <a:solidFill>
                <a:srgbClr val="FFFFFF"/>
              </a:solidFill>
            </a:endParaRPr>
          </a:p>
        </p:txBody>
      </p:sp>
      <p:sp>
        <p:nvSpPr>
          <p:cNvPr id="5" name="TextBox 4">
            <a:extLst>
              <a:ext uri="{FF2B5EF4-FFF2-40B4-BE49-F238E27FC236}">
                <a16:creationId xmlns:a16="http://schemas.microsoft.com/office/drawing/2014/main" id="{1BFEE3B8-B4B5-4FEB-BC0B-63E7D1069C0C}"/>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dirty="0">
                <a:solidFill>
                  <a:srgbClr val="FFFFFF"/>
                </a:solidFill>
                <a:latin typeface="나눔고딕" panose="020D0604000000000000" pitchFamily="50" charset="-127"/>
                <a:ea typeface="나눔고딕" panose="020D0604000000000000" pitchFamily="50" charset="-127"/>
                <a:cs typeface="Arial" panose="020B0604020202020204" pitchFamily="34" charset="0"/>
              </a:rPr>
              <a:t>추가 검증: 이미지 열화 견고성</a:t>
            </a:r>
          </a:p>
        </p:txBody>
      </p:sp>
      <p:pic>
        <p:nvPicPr>
          <p:cNvPr id="6" name="Picture 5" descr="res_robust.png"/>
          <p:cNvPicPr>
            <a:picLocks noChangeAspect="1"/>
          </p:cNvPicPr>
          <p:nvPr/>
        </p:nvPicPr>
        <p:blipFill>
          <a:blip r:embed="rId6"/>
          <a:stretch>
            <a:fillRect/>
          </a:stretch>
        </p:blipFill>
        <p:spPr>
          <a:xfrm>
            <a:off x="2376280" y="1452107"/>
            <a:ext cx="7439440" cy="4754880"/>
          </a:xfrm>
          <a:prstGeom prst="rect">
            <a:avLst/>
          </a:prstGeom>
        </p:spPr>
      </p:pic>
    </p:spTree>
    <p:extLst>
      <p:ext uri="{BB962C8B-B14F-4D97-AF65-F5344CB8AC3E}">
        <p14:creationId xmlns:p14="http://schemas.microsoft.com/office/powerpoint/2010/main" val="94739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09</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결함 유형별 성능 분석</a:t>
            </a:r>
          </a:p>
        </p:txBody>
      </p:sp>
      <p:pic>
        <p:nvPicPr>
          <p:cNvPr id="6" name="Picture 5" descr="res_byclass.png"/>
          <p:cNvPicPr>
            <a:picLocks noChangeAspect="1"/>
          </p:cNvPicPr>
          <p:nvPr/>
        </p:nvPicPr>
        <p:blipFill>
          <a:blip r:embed="rId4"/>
          <a:stretch>
            <a:fillRect/>
          </a:stretch>
        </p:blipFill>
        <p:spPr>
          <a:xfrm>
            <a:off x="2286000" y="1417320"/>
            <a:ext cx="7589520" cy="42976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AB589446-007F-4E3B-A7FE-92D910E0E2E2}"/>
              </a:ext>
            </a:extLst>
          </p:cNvPr>
          <p:cNvSpPr/>
          <p:nvPr/>
        </p:nvSpPr>
        <p:spPr>
          <a:xfrm>
            <a:off x="0" y="-9989"/>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91E87C97-72F7-424B-B4A5-2568480F102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10</a:t>
            </a:r>
            <a:endParaRPr lang="ko-KR" altLang="en-US" sz="1600" b="1">
              <a:solidFill>
                <a:srgbClr val="FFFFFF"/>
              </a:solidFill>
            </a:endParaRPr>
          </a:p>
        </p:txBody>
      </p:sp>
      <p:sp>
        <p:nvSpPr>
          <p:cNvPr id="5" name="TextBox 4">
            <a:extLst>
              <a:ext uri="{FF2B5EF4-FFF2-40B4-BE49-F238E27FC236}">
                <a16:creationId xmlns:a16="http://schemas.microsoft.com/office/drawing/2014/main" id="{BC1B2A0C-7324-4F06-A534-90FAF346333E}"/>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결론</a:t>
            </a:r>
          </a:p>
        </p:txBody>
      </p:sp>
      <p:grpSp>
        <p:nvGrpSpPr>
          <p:cNvPr id="27" name="그룹 26">
            <a:extLst>
              <a:ext uri="{FF2B5EF4-FFF2-40B4-BE49-F238E27FC236}">
                <a16:creationId xmlns:a16="http://schemas.microsoft.com/office/drawing/2014/main" id="{7298CF3B-A84D-ADF6-3948-50F9EA3D9900}"/>
              </a:ext>
            </a:extLst>
          </p:cNvPr>
          <p:cNvGrpSpPr/>
          <p:nvPr/>
        </p:nvGrpSpPr>
        <p:grpSpPr>
          <a:xfrm>
            <a:off x="503464" y="2167500"/>
            <a:ext cx="11185071" cy="3283023"/>
            <a:chOff x="508000" y="1079500"/>
            <a:chExt cx="11185071" cy="3283023"/>
          </a:xfrm>
        </p:grpSpPr>
        <p:sp>
          <p:nvSpPr>
            <p:cNvPr id="6" name="TextBox 5">
              <a:extLst>
                <a:ext uri="{FF2B5EF4-FFF2-40B4-BE49-F238E27FC236}">
                  <a16:creationId xmlns:a16="http://schemas.microsoft.com/office/drawing/2014/main" id="{BA38A69D-BEEF-4273-B308-C9A310256D24}"/>
                </a:ext>
              </a:extLst>
            </p:cNvPr>
            <p:cNvSpPr txBox="1"/>
            <p:nvPr/>
          </p:nvSpPr>
          <p:spPr>
            <a:xfrm>
              <a:off x="508000" y="1079500"/>
              <a:ext cx="5461000" cy="355600"/>
            </a:xfrm>
            <a:prstGeom prst="rect">
              <a:avLst/>
            </a:prstGeom>
            <a:noFill/>
          </p:spPr>
          <p:txBody>
            <a:bodyPr vertOverflow="overflow" vert="horz" wrap="square" rtlCol="0" anchor="t">
              <a:noAutofit/>
            </a:bodyPr>
            <a:lstStyle/>
            <a:p>
              <a:pPr algn="l"/>
              <a:r>
                <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확인한 것</a:t>
              </a:r>
            </a:p>
          </p:txBody>
        </p:sp>
        <p:sp>
          <p:nvSpPr>
            <p:cNvPr id="7" name="타원 6">
              <a:extLst>
                <a:ext uri="{FF2B5EF4-FFF2-40B4-BE49-F238E27FC236}">
                  <a16:creationId xmlns:a16="http://schemas.microsoft.com/office/drawing/2014/main" id="{189276FD-987D-488F-90C0-C082EF97739C}"/>
                </a:ext>
              </a:extLst>
            </p:cNvPr>
            <p:cNvSpPr/>
            <p:nvPr/>
          </p:nvSpPr>
          <p:spPr>
            <a:xfrm>
              <a:off x="635000" y="1549400"/>
              <a:ext cx="152400" cy="1524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61E512BB-9A60-4A9B-BE4B-95B577BC6DA6}"/>
                </a:ext>
              </a:extLst>
            </p:cNvPr>
            <p:cNvSpPr txBox="1"/>
            <p:nvPr/>
          </p:nvSpPr>
          <p:spPr>
            <a:xfrm>
              <a:off x="889000" y="1498600"/>
              <a:ext cx="5080000" cy="508000"/>
            </a:xfrm>
            <a:prstGeom prst="rect">
              <a:avLst/>
            </a:prstGeom>
            <a:noFill/>
          </p:spPr>
          <p:txBody>
            <a:bodyPr vertOverflow="overflow" vert="horz" wrap="square" rtlCol="0" anchor="t">
              <a:noAutofit/>
            </a:bodyPr>
            <a:lstStyle/>
            <a:p>
              <a:pPr algn="l"/>
              <a:r>
                <a:rPr lang="ko-KR" altLang="en-US" sz="120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모달리티가 함께 입력되는 시점에서 융합이 두 단독을 능가 (F1 0.986 vs 센서 0.907, 이미지 0.925 · 통계적으로 유의)</a:t>
              </a:r>
            </a:p>
          </p:txBody>
        </p:sp>
        <p:sp>
          <p:nvSpPr>
            <p:cNvPr id="9" name="타원 8">
              <a:extLst>
                <a:ext uri="{FF2B5EF4-FFF2-40B4-BE49-F238E27FC236}">
                  <a16:creationId xmlns:a16="http://schemas.microsoft.com/office/drawing/2014/main" id="{BAB5E685-F963-4BBF-A984-6D2AB36D3A0C}"/>
                </a:ext>
              </a:extLst>
            </p:cNvPr>
            <p:cNvSpPr/>
            <p:nvPr/>
          </p:nvSpPr>
          <p:spPr>
            <a:xfrm>
              <a:off x="635000" y="2082800"/>
              <a:ext cx="152400" cy="1524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175F7E2-9C3F-42FE-B2FB-4312B40B2628}"/>
                </a:ext>
              </a:extLst>
            </p:cNvPr>
            <p:cNvSpPr txBox="1"/>
            <p:nvPr/>
          </p:nvSpPr>
          <p:spPr>
            <a:xfrm>
              <a:off x="889000" y="20320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이미지가 약하면 융합이 센서 수준을 안전하게 유지하고, 이미지가 강할수록 이득이 커짐</a:t>
              </a:r>
            </a:p>
          </p:txBody>
        </p:sp>
        <p:sp>
          <p:nvSpPr>
            <p:cNvPr id="11" name="타원 10">
              <a:extLst>
                <a:ext uri="{FF2B5EF4-FFF2-40B4-BE49-F238E27FC236}">
                  <a16:creationId xmlns:a16="http://schemas.microsoft.com/office/drawing/2014/main" id="{E2333871-9B83-422F-868D-B7CEFFB08A02}"/>
                </a:ext>
              </a:extLst>
            </p:cNvPr>
            <p:cNvSpPr/>
            <p:nvPr/>
          </p:nvSpPr>
          <p:spPr>
            <a:xfrm>
              <a:off x="635000" y="2616200"/>
              <a:ext cx="152400" cy="1524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1B69CE7B-D609-419A-8569-338A91169E4F}"/>
                </a:ext>
              </a:extLst>
            </p:cNvPr>
            <p:cNvSpPr txBox="1"/>
            <p:nvPr/>
          </p:nvSpPr>
          <p:spPr>
            <a:xfrm>
              <a:off x="889000" y="25654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이미지가 없는 시점엔 자동으로 센서만 사용 → 결측에 견고한 시스템</a:t>
              </a:r>
            </a:p>
          </p:txBody>
        </p:sp>
        <p:sp>
          <p:nvSpPr>
            <p:cNvPr id="13" name="타원 12">
              <a:extLst>
                <a:ext uri="{FF2B5EF4-FFF2-40B4-BE49-F238E27FC236}">
                  <a16:creationId xmlns:a16="http://schemas.microsoft.com/office/drawing/2014/main" id="{DB01A3C4-731A-4425-9DA1-2243602803F0}"/>
                </a:ext>
              </a:extLst>
            </p:cNvPr>
            <p:cNvSpPr/>
            <p:nvPr/>
          </p:nvSpPr>
          <p:spPr>
            <a:xfrm>
              <a:off x="635000" y="3149600"/>
              <a:ext cx="152400" cy="1524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7EB5D305-AD62-4FB8-B5E9-75A3F59C0578}"/>
                </a:ext>
              </a:extLst>
            </p:cNvPr>
            <p:cNvSpPr txBox="1"/>
            <p:nvPr/>
          </p:nvSpPr>
          <p:spPr>
            <a:xfrm>
              <a:off x="889000" y="3098800"/>
              <a:ext cx="5080000"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‘멀티모달이 좋다’가 아니라 ‘어떤 조건에서 어떻게 좋은가’를 정량적으로 규명</a:t>
              </a:r>
            </a:p>
          </p:txBody>
        </p:sp>
        <p:sp>
          <p:nvSpPr>
            <p:cNvPr id="15" name="TextBox 14">
              <a:extLst>
                <a:ext uri="{FF2B5EF4-FFF2-40B4-BE49-F238E27FC236}">
                  <a16:creationId xmlns:a16="http://schemas.microsoft.com/office/drawing/2014/main" id="{0F363533-564F-4D1A-8877-EB3DF6A0B60C}"/>
                </a:ext>
              </a:extLst>
            </p:cNvPr>
            <p:cNvSpPr txBox="1"/>
            <p:nvPr/>
          </p:nvSpPr>
          <p:spPr>
            <a:xfrm>
              <a:off x="6477000" y="1079500"/>
              <a:ext cx="5207000" cy="355600"/>
            </a:xfrm>
            <a:prstGeom prst="rect">
              <a:avLst/>
            </a:prstGeom>
            <a:noFill/>
          </p:spPr>
          <p:txBody>
            <a:bodyPr vertOverflow="overflow" vert="horz" wrap="square" rtlCol="0" anchor="t">
              <a:noAutofit/>
            </a:bodyPr>
            <a:lstStyle/>
            <a:p>
              <a:pPr algn="l"/>
              <a:r>
                <a:rPr lang="ko-KR" altLang="en-US" sz="1600" b="1">
                  <a:solidFill>
                    <a:srgbClr val="E8584F"/>
                  </a:solidFill>
                  <a:latin typeface="나눔고딕" panose="020D0604000000000000" pitchFamily="50" charset="-127"/>
                  <a:ea typeface="나눔고딕" panose="020D0604000000000000" pitchFamily="50" charset="-127"/>
                  <a:cs typeface="Arial" panose="020B0604020202020204" pitchFamily="34" charset="0"/>
                </a:rPr>
                <a:t>프로젝트 의의</a:t>
              </a:r>
            </a:p>
          </p:txBody>
        </p:sp>
        <p:sp>
          <p:nvSpPr>
            <p:cNvPr id="16" name="타원 15">
              <a:extLst>
                <a:ext uri="{FF2B5EF4-FFF2-40B4-BE49-F238E27FC236}">
                  <a16:creationId xmlns:a16="http://schemas.microsoft.com/office/drawing/2014/main" id="{56DE1520-C052-4F1D-91E9-24FE270FBAB8}"/>
                </a:ext>
              </a:extLst>
            </p:cNvPr>
            <p:cNvSpPr/>
            <p:nvPr/>
          </p:nvSpPr>
          <p:spPr>
            <a:xfrm>
              <a:off x="6604000" y="15494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TextBox 16">
              <a:extLst>
                <a:ext uri="{FF2B5EF4-FFF2-40B4-BE49-F238E27FC236}">
                  <a16:creationId xmlns:a16="http://schemas.microsoft.com/office/drawing/2014/main" id="{02DE8309-9F4D-4C4C-ABB0-911C89EA4E19}"/>
                </a:ext>
              </a:extLst>
            </p:cNvPr>
            <p:cNvSpPr txBox="1"/>
            <p:nvPr/>
          </p:nvSpPr>
          <p:spPr>
            <a:xfrm>
              <a:off x="6858000" y="14886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실제 산업 환경(카메라가 항상 가용하지 않은 상황)에 적용 가능한 견고한 멀티모달 구조 설계</a:t>
              </a:r>
            </a:p>
          </p:txBody>
        </p:sp>
        <p:sp>
          <p:nvSpPr>
            <p:cNvPr id="18" name="타원 17">
              <a:extLst>
                <a:ext uri="{FF2B5EF4-FFF2-40B4-BE49-F238E27FC236}">
                  <a16:creationId xmlns:a16="http://schemas.microsoft.com/office/drawing/2014/main" id="{35F5A69E-92A2-4659-84BF-4DA043AE353C}"/>
                </a:ext>
              </a:extLst>
            </p:cNvPr>
            <p:cNvSpPr/>
            <p:nvPr/>
          </p:nvSpPr>
          <p:spPr>
            <a:xfrm>
              <a:off x="6604000" y="20828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36B1CB5B-7772-4248-8681-713DAD99DA86}"/>
                </a:ext>
              </a:extLst>
            </p:cNvPr>
            <p:cNvSpPr txBox="1"/>
            <p:nvPr/>
          </p:nvSpPr>
          <p:spPr>
            <a:xfrm>
              <a:off x="6858000" y="20220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단계별 통제 실험으로 융합 효과의 발생 조건을 정량적으로 분석</a:t>
              </a:r>
            </a:p>
          </p:txBody>
        </p:sp>
        <p:sp>
          <p:nvSpPr>
            <p:cNvPr id="20" name="타원 19">
              <a:extLst>
                <a:ext uri="{FF2B5EF4-FFF2-40B4-BE49-F238E27FC236}">
                  <a16:creationId xmlns:a16="http://schemas.microsoft.com/office/drawing/2014/main" id="{233A48B4-1A56-4258-ADD7-CAC382C67A28}"/>
                </a:ext>
              </a:extLst>
            </p:cNvPr>
            <p:cNvSpPr/>
            <p:nvPr/>
          </p:nvSpPr>
          <p:spPr>
            <a:xfrm>
              <a:off x="6604000" y="26162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6D0AC1FF-B7C0-4083-8C7E-23F829AF0948}"/>
                </a:ext>
              </a:extLst>
            </p:cNvPr>
            <p:cNvSpPr txBox="1"/>
            <p:nvPr/>
          </p:nvSpPr>
          <p:spPr>
            <a:xfrm>
              <a:off x="6858000" y="25554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강의에서 배운 CNN·LSTM·전이학습·멀티모달 융합을 실제 산업 데이터에 직접 구현·통합</a:t>
              </a:r>
            </a:p>
          </p:txBody>
        </p:sp>
        <p:sp>
          <p:nvSpPr>
            <p:cNvPr id="22" name="타원 21">
              <a:extLst>
                <a:ext uri="{FF2B5EF4-FFF2-40B4-BE49-F238E27FC236}">
                  <a16:creationId xmlns:a16="http://schemas.microsoft.com/office/drawing/2014/main" id="{3716658D-D286-4D58-98B5-5FC0DDA6750C}"/>
                </a:ext>
              </a:extLst>
            </p:cNvPr>
            <p:cNvSpPr/>
            <p:nvPr/>
          </p:nvSpPr>
          <p:spPr>
            <a:xfrm>
              <a:off x="6604000" y="31496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TextBox 22">
              <a:extLst>
                <a:ext uri="{FF2B5EF4-FFF2-40B4-BE49-F238E27FC236}">
                  <a16:creationId xmlns:a16="http://schemas.microsoft.com/office/drawing/2014/main" id="{434C0496-91C1-4F88-AA19-195D1A6CA473}"/>
                </a:ext>
              </a:extLst>
            </p:cNvPr>
            <p:cNvSpPr txBox="1"/>
            <p:nvPr/>
          </p:nvSpPr>
          <p:spPr>
            <a:xfrm>
              <a:off x="6858000" y="3088811"/>
              <a:ext cx="4835071" cy="508000"/>
            </a:xfrm>
            <a:prstGeom prst="rect">
              <a:avLst/>
            </a:prstGeom>
            <a:noFill/>
          </p:spPr>
          <p:txBody>
            <a:bodyPr vertOverflow="overflow" vert="horz" wrap="square" rtlCol="0" anchor="t">
              <a:noAutofit/>
            </a:bodyPr>
            <a:lstStyle/>
            <a:p>
              <a:pPr algn="l"/>
              <a:r>
                <a:rPr lang="ko-KR" altLang="en-US" sz="1200" dirty="0">
                  <a:solidFill>
                    <a:srgbClr val="444444"/>
                  </a:solidFill>
                  <a:latin typeface="나눔고딕" panose="020D0604000000000000" pitchFamily="50" charset="-127"/>
                  <a:ea typeface="나눔고딕" panose="020D0604000000000000" pitchFamily="50" charset="-127"/>
                  <a:cs typeface="Arial" panose="020B0604020202020204" pitchFamily="34" charset="0"/>
                </a:rPr>
                <a:t>중간발표의 ‘데이터 균형’ 가설을 추가 실험으로 검증한 가설–검증형 프로젝트</a:t>
              </a:r>
            </a:p>
          </p:txBody>
        </p:sp>
        <p:sp>
          <p:nvSpPr>
            <p:cNvPr id="24" name="사각형: 둥근 모서리 23">
              <a:extLst>
                <a:ext uri="{FF2B5EF4-FFF2-40B4-BE49-F238E27FC236}">
                  <a16:creationId xmlns:a16="http://schemas.microsoft.com/office/drawing/2014/main" id="{B1D319AA-6843-4098-9661-E3B04AF5CBFA}"/>
                </a:ext>
              </a:extLst>
            </p:cNvPr>
            <p:cNvSpPr/>
            <p:nvPr/>
          </p:nvSpPr>
          <p:spPr>
            <a:xfrm>
              <a:off x="508000" y="3829123"/>
              <a:ext cx="11176000" cy="5334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6" name="TextBox 25">
              <a:extLst>
                <a:ext uri="{FF2B5EF4-FFF2-40B4-BE49-F238E27FC236}">
                  <a16:creationId xmlns:a16="http://schemas.microsoft.com/office/drawing/2014/main" id="{7D8AFD0B-A337-40C3-BA3B-BF2C7795271F}"/>
                </a:ext>
              </a:extLst>
            </p:cNvPr>
            <p:cNvSpPr txBox="1"/>
            <p:nvPr/>
          </p:nvSpPr>
          <p:spPr>
            <a:xfrm>
              <a:off x="635000" y="3950133"/>
              <a:ext cx="10795000" cy="291380"/>
            </a:xfrm>
            <a:prstGeom prst="rect">
              <a:avLst/>
            </a:prstGeom>
            <a:noFill/>
          </p:spPr>
          <p:txBody>
            <a:bodyPr vertOverflow="overflow" vert="horz" wrap="square" rtlCol="0" anchor="t">
              <a:noAutofit/>
            </a:bodyPr>
            <a:lstStyle/>
            <a:p>
              <a:pPr algn="l"/>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단순한</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결합을</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넘어</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언제·어떻게</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효과적인지를</a:t>
              </a:r>
              <a:r>
                <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200" dirty="0" err="1">
                  <a:solidFill>
                    <a:srgbClr val="555555"/>
                  </a:solidFill>
                  <a:latin typeface="나눔고딕" panose="020D0604000000000000" pitchFamily="50" charset="-127"/>
                  <a:ea typeface="나눔고딕" panose="020D0604000000000000" pitchFamily="50" charset="-127"/>
                  <a:cs typeface="Arial" panose="020B0604020202020204" pitchFamily="34" charset="0"/>
                </a:rPr>
                <a:t>실험</a:t>
              </a:r>
              <a:r>
                <a:rPr lang="ko-KR" altLang="en-US"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rPr>
                <a:t>으로 검증</a:t>
              </a:r>
              <a:endParaRPr lang="en-US" altLang="ko-KR" sz="1200" dirty="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4367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11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한계와 향후 방향</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단일 데이터셋 검증</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Future Factories 한 데이터셋에서만 검증 → 다른 제조 환경 일반화 검증 필요</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복합 결함 어려움</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3부품 동시 빠짐 케이스 F1 0.71 → 특화 모델·데이터 증강 필요</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고정 가중 융합의 취약성</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이미지 열화 시 고정 가중 융합은 센서보다 추락 → 신뢰도 기반 적응형 가중치 필요</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도메인 지식(센서 정상 범위) 반영, 결함 유형별 특화 모델 등 후속 연구로 확장 가능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4DE33E0-C7C1-4A9C-3B83-F44A86D4831E}"/>
              </a:ext>
            </a:extLst>
          </p:cNvPr>
          <p:cNvGrpSpPr/>
          <p:nvPr/>
        </p:nvGrpSpPr>
        <p:grpSpPr>
          <a:xfrm>
            <a:off x="2390454" y="2719087"/>
            <a:ext cx="7411092" cy="1306812"/>
            <a:chOff x="1250023" y="1493750"/>
            <a:chExt cx="7411092" cy="1306812"/>
          </a:xfrm>
        </p:grpSpPr>
        <p:sp>
          <p:nvSpPr>
            <p:cNvPr id="4" name="TextBox 3">
              <a:extLst>
                <a:ext uri="{FF2B5EF4-FFF2-40B4-BE49-F238E27FC236}">
                  <a16:creationId xmlns:a16="http://schemas.microsoft.com/office/drawing/2014/main" id="{D590DF89-2A84-E6AC-5F5A-106DD6628239}"/>
                </a:ext>
              </a:extLst>
            </p:cNvPr>
            <p:cNvSpPr txBox="1"/>
            <p:nvPr/>
          </p:nvSpPr>
          <p:spPr>
            <a:xfrm>
              <a:off x="1250023" y="1493750"/>
              <a:ext cx="7411092" cy="918965"/>
            </a:xfrm>
            <a:prstGeom prst="rect">
              <a:avLst/>
            </a:prstGeom>
            <a:noFill/>
          </p:spPr>
          <p:txBody>
            <a:bodyPr vertOverflow="overflow" vert="horz" wrap="square" rtlCol="0" anchor="t">
              <a:noAutofit/>
            </a:bodyPr>
            <a:lstStyle/>
            <a:p>
              <a:pPr algn="ctr"/>
              <a:r>
                <a:rPr lang="en-US" altLang="ko-KR" sz="6000" b="1">
                  <a:solidFill>
                    <a:srgbClr val="1B2A4A"/>
                  </a:solidFill>
                  <a:latin typeface="나눔고딕" panose="020D0604000000000000" pitchFamily="50" charset="-127"/>
                  <a:ea typeface="나눔고딕" panose="020D0604000000000000" pitchFamily="50" charset="-127"/>
                  <a:cs typeface="Arial" panose="020B0604020202020204" pitchFamily="34" charset="0"/>
                </a:rPr>
                <a:t>Thank you</a:t>
              </a:r>
              <a:endParaRPr lang="ko-KR" altLang="en-US" sz="60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5" name="TextBox 4">
              <a:extLst>
                <a:ext uri="{FF2B5EF4-FFF2-40B4-BE49-F238E27FC236}">
                  <a16:creationId xmlns:a16="http://schemas.microsoft.com/office/drawing/2014/main" id="{F2B5A417-0130-FBC3-C785-24284DFF8E7E}"/>
                </a:ext>
              </a:extLst>
            </p:cNvPr>
            <p:cNvSpPr txBox="1"/>
            <p:nvPr/>
          </p:nvSpPr>
          <p:spPr>
            <a:xfrm>
              <a:off x="1470061" y="2427338"/>
              <a:ext cx="6971016" cy="373224"/>
            </a:xfrm>
            <a:prstGeom prst="rect">
              <a:avLst/>
            </a:prstGeom>
            <a:noFill/>
          </p:spPr>
          <p:txBody>
            <a:bodyPr vertOverflow="overflow" vert="horz" wrap="square" rtlCol="0" anchor="t">
              <a:noAutofit/>
            </a:bodyPr>
            <a:lstStyle/>
            <a:p>
              <a:pPr algn="ctr"/>
              <a:r>
                <a:rPr lang="en-US" altLang="ko-KR" sz="1500">
                  <a:solidFill>
                    <a:srgbClr val="555555"/>
                  </a:solidFill>
                  <a:latin typeface="나눔고딕" panose="020D0604000000000000" pitchFamily="50" charset="-127"/>
                  <a:ea typeface="나눔고딕" panose="020D0604000000000000" pitchFamily="50" charset="-127"/>
                  <a:cs typeface="Arial" panose="020B0604020202020204" pitchFamily="34" charset="0"/>
                </a:rPr>
                <a:t>Thank you for your attention</a:t>
              </a:r>
              <a:endParaRPr lang="ko-KR" altLang="en-US" sz="15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1546479590"/>
      </p:ext>
    </p:extLst>
  </p:cSld>
  <p:clrMapOvr>
    <a:masterClrMapping/>
  </p:clrMapOvr>
</p:sld>
</file>

<file path=ppt/theme/theme1.xml><?xml version="1.0" encoding="utf-8"?>
<a:theme xmlns:a="http://schemas.openxmlformats.org/drawingml/2006/main" name="Office 2013 - 2022 테마 [1777720222177]">
  <a:themeElements>
    <a:clrScheme name="Office 2013 - 2022 테마">
      <a:dk1>
        <a:srgbClr val="1B2A4A"/>
      </a:dk1>
      <a:lt1>
        <a:srgbClr val="FFFFFF"/>
      </a:lt1>
      <a:dk2>
        <a:srgbClr val="2C3E5D"/>
      </a:dk2>
      <a:lt2>
        <a:srgbClr val="F0F2F5"/>
      </a:lt2>
      <a:accent1>
        <a:srgbClr val="2676AC"/>
      </a:accent1>
      <a:accent2>
        <a:srgbClr val="16A295"/>
      </a:accent2>
      <a:accent3>
        <a:srgbClr val="E8584F"/>
      </a:accent3>
      <a:accent4>
        <a:srgbClr val="F29E16"/>
      </a:accent4>
      <a:accent5>
        <a:srgbClr val="93B64E"/>
      </a:accent5>
      <a:accent6>
        <a:srgbClr val="AE729E"/>
      </a:accent6>
      <a:hlink>
        <a:srgbClr val="0563C1"/>
      </a:hlink>
      <a:folHlink>
        <a:srgbClr val="954F72"/>
      </a:folHlink>
    </a:clrScheme>
    <a:fontScheme name="사용자 지정 4">
      <a:majorFont>
        <a:latin typeface="Pretendard"/>
        <a:ea typeface=""/>
        <a:cs typeface=""/>
      </a:majorFont>
      <a:minorFont>
        <a:latin typeface="Pretendard"/>
        <a:ea typeface=""/>
        <a:cs typeface=""/>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200" dirty="0" smtClean="0">
            <a:solidFill>
              <a:schemeClr val="tx1">
                <a:lumMod val="65000"/>
                <a:lumOff val="35000"/>
              </a:schemeClr>
            </a:solidFill>
            <a:latin typeface="나눔고딕" panose="020D0604000000000000" pitchFamily="50" charset="-127"/>
            <a:ea typeface="나눔고딕" panose="020D0604000000000000" pitchFamily="50" charset="-127"/>
            <a:cs typeface="Arial" panose="020B0604020202020204" pitchFamily="34" charset="0"/>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8D53C4-EB30-4D06-B415-8CAF9BDD6141}">
  <we:reference id="WA200010001" version="1.0.0.1" store="Omex" storeType="OMEX"/>
  <we:alternateReferences>
    <we:reference id="WA200010001" version="1.0.0.1" store="WA200010001" storeType="OMEX"/>
  </we:alternateReferences>
  <we:properties>
    <we:property name="claude.fileId" value="&quot;c072c8d9-7136-4530-9268-0bffd5bfecc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597F093C87EF87408D5C5F04BCF3A1CB" ma:contentTypeVersion="9" ma:contentTypeDescription="새 문서를 만듭니다." ma:contentTypeScope="" ma:versionID="cd7cd375469c6d4b522ce2b3e8029dd3">
  <xsd:schema xmlns:xsd="http://www.w3.org/2001/XMLSchema" xmlns:xs="http://www.w3.org/2001/XMLSchema" xmlns:p="http://schemas.microsoft.com/office/2006/metadata/properties" xmlns:ns3="1f7d68b1-f69b-49f8-80cd-f995854cf296" xmlns:ns4="362945be-0545-4d77-ba0f-90fd258c610d" targetNamespace="http://schemas.microsoft.com/office/2006/metadata/properties" ma:root="true" ma:fieldsID="3709e7358902c5645f0e406a38b57213" ns3:_="" ns4:_="">
    <xsd:import namespace="1f7d68b1-f69b-49f8-80cd-f995854cf296"/>
    <xsd:import namespace="362945be-0545-4d77-ba0f-90fd258c610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d68b1-f69b-49f8-80cd-f995854cf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2945be-0545-4d77-ba0f-90fd258c610d" elementFormDefault="qualified">
    <xsd:import namespace="http://schemas.microsoft.com/office/2006/documentManagement/types"/>
    <xsd:import namespace="http://schemas.microsoft.com/office/infopath/2007/PartnerControls"/>
    <xsd:element name="SharedWithUsers" ma:index="13"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세부 정보 공유" ma:internalName="SharedWithDetails" ma:readOnly="true">
      <xsd:simpleType>
        <xsd:restriction base="dms:Note">
          <xsd:maxLength value="255"/>
        </xsd:restriction>
      </xsd:simpleType>
    </xsd:element>
    <xsd:element name="SharingHintHash" ma:index="15" nillable="true" ma:displayName="힌트 해시 공유"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f7d68b1-f69b-49f8-80cd-f995854cf296" xsi:nil="true"/>
  </documentManagement>
</p:properties>
</file>

<file path=customXml/itemProps1.xml><?xml version="1.0" encoding="utf-8"?>
<ds:datastoreItem xmlns:ds="http://schemas.openxmlformats.org/officeDocument/2006/customXml" ds:itemID="{D221C8D9-4205-4504-9844-72894E2B915B}">
  <ds:schemaRefs>
    <ds:schemaRef ds:uri="http://schemas.microsoft.com/sharepoint/v3/contenttype/forms"/>
  </ds:schemaRefs>
</ds:datastoreItem>
</file>

<file path=customXml/itemProps2.xml><?xml version="1.0" encoding="utf-8"?>
<ds:datastoreItem xmlns:ds="http://schemas.openxmlformats.org/officeDocument/2006/customXml" ds:itemID="{27312C13-A2B3-4A01-B220-75D5986F7D62}">
  <ds:schemaRefs>
    <ds:schemaRef ds:uri="1f7d68b1-f69b-49f8-80cd-f995854cf296"/>
    <ds:schemaRef ds:uri="362945be-0545-4d77-ba0f-90fd258c61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3D5EEEF-55DE-415E-A824-415CEA62A4FB}">
  <ds:schemaRefs>
    <ds:schemaRef ds:uri="http://schemas.microsoft.com/office/2006/documentManagement/types"/>
    <ds:schemaRef ds:uri="http://schemas.microsoft.com/office/2006/metadata/properties"/>
    <ds:schemaRef ds:uri="http://purl.org/dc/terms/"/>
    <ds:schemaRef ds:uri="1f7d68b1-f69b-49f8-80cd-f995854cf296"/>
    <ds:schemaRef ds:uri="http://schemas.openxmlformats.org/package/2006/metadata/core-properties"/>
    <ds:schemaRef ds:uri="http://purl.org/dc/elements/1.1/"/>
    <ds:schemaRef ds:uri="http://purl.org/dc/dcmitype/"/>
    <ds:schemaRef ds:uri="http://schemas.microsoft.com/office/infopath/2007/PartnerControls"/>
    <ds:schemaRef ds:uri="362945be-0545-4d77-ba0f-90fd258c610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66</TotalTime>
  <Words>1950</Words>
  <Application>Microsoft Office PowerPoint</Application>
  <PresentationFormat>와이드스크린</PresentationFormat>
  <Paragraphs>183</Paragraphs>
  <Slides>13</Slides>
  <Notes>13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13</vt:i4>
      </vt:variant>
    </vt:vector>
  </HeadingPairs>
  <TitlesOfParts>
    <vt:vector size="18" baseType="lpstr">
      <vt:lpstr>Pretendard</vt:lpstr>
      <vt:lpstr>나눔고딕</vt:lpstr>
      <vt:lpstr>맑은 고딕</vt:lpstr>
      <vt:lpstr>Arial</vt:lpstr>
      <vt:lpstr>Office 2013 - 2022 테마 [1777720222177]</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현성 하</dc:creator>
  <cp:lastModifiedBy>하 현성</cp:lastModifiedBy>
  <cp:revision>16</cp:revision>
  <dcterms:created xsi:type="dcterms:W3CDTF">2024-04-02T11:49:31Z</dcterms:created>
  <dcterms:modified xsi:type="dcterms:W3CDTF">2026-06-08T16:00:21Z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0x010100597F093C87EF87408D5C5F04BCF3A1CB</vt:lpwstr>
  </property>
</Properties>
</file>